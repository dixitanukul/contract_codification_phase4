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85232" y="0"/>
            <a:ext cx="54864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BLUE SHIELD OF CALIFORNIA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Provider Contract
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Calibri"/>
              </a:rPr>
              <a:t>Transforming 10,372 provider contract PDFs into
governed, queryable operational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37560"/>
            <a:ext cx="4663440" cy="18288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4747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AADD"/>
                </a:solidFill>
                <a:latin typeface="Calibri"/>
              </a:rPr>
              <a:t>AZURE  ·  DATABRICKS DBR 18  ·  CLAUDE SONNET 4.5  ·  DELTA 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217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99CC"/>
                </a:solidFill>
                <a:latin typeface="Calibri"/>
              </a:rPr>
              <a:t>Executive Briefing  ·  Provider Contracting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91440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95097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10,372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44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CONTRACT PDFs
SOURCE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8" y="91440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95097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29.3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1444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TOTAL
DOCUMENT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9096" y="91440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95097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597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1444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PROVIDER
FOLDERS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1864" y="91440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7584" y="95097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10,349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7584" y="144475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PDFs
EXTRACTED (99.8%)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14884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18541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302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67919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CANONICAL
PROVIDERS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6328" y="214884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218541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75,306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67919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LEGAL UNITS
INDEXED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69096" y="214884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6" y="218541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3,312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816" y="267919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CONTRACTS
IN REGISTRY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41864" y="2148840"/>
            <a:ext cx="1481328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87584" y="218541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39,906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7584" y="2679192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RATE RULES
NORMALIZED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5778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3087"/>
                </a:solidFill>
                <a:latin typeface="Calibri"/>
              </a:rPr>
              <a:t>30+ years of amendment history. Every rate extracted. Every chain resolved. Seconds to an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01  ·  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Our most valuable contract intelligence is locked in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Every rate question, every clause lookup, every amendment check required opening PDFs manually.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577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5778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27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Rate &amp; Reimbursement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Every rate question requires manually opening PDFs, cross-referencing amendments, and verifying which version is currently in force. No single place to 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577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778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7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Amendment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Contracts accumulate amendments over decades — up to 34 hops deep across 23 years. Knowing what is in force today vs. what was superseded requires reading every document in the chain.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29000"/>
            <a:ext cx="5577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429000"/>
            <a:ext cx="55778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38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No Portfolio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With 10,372 documents across 597 providers, cross-provider comparison and benchmarking was not practically possible. The intelligence existed — it just was not reachable.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429000"/>
            <a:ext cx="5577840" cy="1828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29000"/>
            <a:ext cx="55778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538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Analyst Time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Analysts spent the majority of their time finding information — not analyzing it. Every answer depended on who had read which document most recently.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30936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The technology to solve this was already in the building. It just hadn't been applied.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02  ·  THE CASE FOR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Every obvious solution had a gap — so we built the right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743200" cy="43891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7432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17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✗ KNOWN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01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Manual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3172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Doesn't scale across 10,372 documents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No amendment chain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Answer quality depends on the individual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Knowledge leaves when people leave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1463040"/>
            <a:ext cx="2743200" cy="43891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544" y="1463040"/>
            <a:ext cx="27432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1517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✗ KNOWN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" y="1901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Keyword &amp; Generic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233172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Finds words, not meaning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No temporal validation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Not enterprise-safe, no governance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One document at a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8" y="1463040"/>
            <a:ext cx="2743200" cy="43891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9048" y="1463040"/>
            <a:ext cx="27432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517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✗ KNOWN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901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Off-the-Shelf CLM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33172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Built for contract creation, not querying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Doesn't understand existing rate corpora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Expensive, generic, long cycles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Still requires manual rate lookup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8552" y="1463040"/>
            <a:ext cx="2743200" cy="438912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8552" y="1463040"/>
            <a:ext cx="274320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1517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✓ OUR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1901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This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33172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Every rate extracted &amp; normalized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Every amendment chain resolved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Governed Delta tables, full lineage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• Plain English → cited answer in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05332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Built on infrastructure BSC already owns. No new vendor. No new security review. No new data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03  · 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One platform. Five layers. End-to-end on Databricks.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20 notebooks + 12 platform modules, all producing governed Delta tables in dev_adb.raw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417320"/>
            <a:ext cx="2331720" cy="498348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417320"/>
            <a:ext cx="2331720" cy="3840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46304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PDF → Governed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468880"/>
            <a:ext cx="214884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15 notebooks (01-15)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2-tier OCR pipeline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Claude Sonnet 4.5 via REST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JSON repair + validation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10,349 PDFs extracted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99.8% corpus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1176" y="1417320"/>
            <a:ext cx="2331720" cy="4983480"/>
          </a:xfrm>
          <a:prstGeom prst="rect">
            <a:avLst/>
          </a:prstGeom>
          <a:solidFill>
            <a:srgbClr val="E3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1176" y="1417320"/>
            <a:ext cx="2331720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2616" y="146304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6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6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State Engine &amp; Registries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2468880"/>
            <a:ext cx="214884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42616" y="2532888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Contract registry (3,312)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Amendment registry (3,297)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Rate rule engine (39,906 rules)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Stop-loss provisions (3,846)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Supersession logic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Scope-aware amendment resolution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417320"/>
            <a:ext cx="2331720" cy="4983480"/>
          </a:xfrm>
          <a:prstGeom prst="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1417320"/>
            <a:ext cx="2331720" cy="384048"/>
          </a:xfrm>
          <a:prstGeom prst="rect">
            <a:avLst/>
          </a:prstGeom>
          <a:solidFill>
            <a:srgbClr val="5A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46304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Benchmarks &amp;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2468880"/>
            <a:ext cx="214884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532888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Benchmark results (1,802 groups)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Provider percentiles (35,607 rows)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Renewal priority (2,219 scored)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Supersession graph (2,380 edges)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What-if scenario engine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Negotiation posture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4344" y="1417320"/>
            <a:ext cx="2331720" cy="4983480"/>
          </a:xfrm>
          <a:prstGeom prst="rect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4344" y="1417320"/>
            <a:ext cx="2331720" cy="384048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5784" y="146304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4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SEMANTIC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4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Clause Intelligence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15784" y="2468880"/>
            <a:ext cx="214884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5784" y="2532888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75,306 legal units indexed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100% clause classified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25 clause types, 10 categories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MDM: 302 providers, 13 health systems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Amendment chains: 39 hops max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306 provider aliases resolved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8" y="1417320"/>
            <a:ext cx="2331720" cy="498348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0928" y="1417320"/>
            <a:ext cx="233172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02368" y="146304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LAYER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SERVING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2148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Business Consumption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368" y="2468880"/>
            <a:ext cx="214884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02368" y="2532888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Genie Space (NL→SQL, 20 tables)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Portfolio dashboard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Citation-grounded RAG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50 golden query eval suite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Query routing &amp; classification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33333"/>
                </a:solidFill>
                <a:latin typeface="Calibri"/>
              </a:rPr>
              <a:t>• Rate consistency auditing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04  ·  THE EXTRACTION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Every document follows one disciplined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Unstructured PDF enters on the left — validated, governed intelligence exits on the 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PDF
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10,349 source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7904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17904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3624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3624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OCR
2-Tier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3624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pypdf + ai_parse_document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2928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8648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Metadata
Parse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Filename regex → provider_id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6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87952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2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3672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Prompt
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2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4 specialist prompts
(Base/Amend/Memo/Settlement)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1417320"/>
            <a:ext cx="1234440" cy="1463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22976" y="1417320"/>
            <a:ext cx="12344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68696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8696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Claude
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8696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REST API · 200K context
65K max output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5704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JSON
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8 deterministic checks
rate_numeric, codes, dates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8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3024" y="1417320"/>
            <a:ext cx="1234440" cy="1463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93024" y="1417320"/>
            <a:ext cx="12344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8744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8744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LLM
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Independent 2nd-pass
(209 files audited)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5752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28048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28048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73768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73768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Gap
Filler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73768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Targeted re-extraction
for low-coverage files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0776" y="196596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63072" y="1417320"/>
            <a:ext cx="1234440" cy="1463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863072" y="1417320"/>
            <a:ext cx="123444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08792" y="150876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  <a:latin typeface="Calibr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08792" y="170992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Delta
Tables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08792" y="2167128"/>
            <a:ext cx="1143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Governed · Versioned
3 base tables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66CC"/>
                </a:solidFill>
                <a:latin typeface="Calibri"/>
              </a:rPr>
              <a:t>AI/Model-Driven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3017520"/>
            <a:ext cx="109728" cy="228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3063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Deterministic/Rule-Based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017520"/>
            <a:ext cx="109728" cy="2286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040" y="3291840"/>
            <a:ext cx="3749039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" y="33375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Per-file isolation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" y="35661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Direct REST API — one stuck document never stalls the run. 7× faster than batch SQL.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79" y="3291840"/>
            <a:ext cx="3749039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07407" y="33375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Checkpoint-resume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07407" y="35661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Re-runs skip completed files automatically. No rework, no data loss.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18" y="3291840"/>
            <a:ext cx="3749039" cy="868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85046" y="33375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Adaptive concurrency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5046" y="35661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Throughput auto-throttles to API rate limits and re-ramps automatically.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251960"/>
            <a:ext cx="11521440" cy="13716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10,349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PDFs extracted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50592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99.8%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50592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Corpus coverage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2544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3,846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52544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Stop-loss provisions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54496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394,672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54496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Raw rate rows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56448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23,562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Financial protections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122,367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400" y="4800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Regional factors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57150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AI and deterministic checks are interleaved — the platform never relies on the model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05  · 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44+ Delta tables — every one purpose-built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Bronze = raw extractions  ·  Silver = validated &amp; resolved  ·  Gold = governed &amp; Genie-ready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806440" cy="233172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806440" cy="2926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0876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EXTRACTION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8470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83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tbl_contract_documents_master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83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6,609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Amendment depth + doc_role_normalized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042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40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tbl_contract_rates_all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340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394,672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All rates, status=current/superseded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7614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798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tbl_contract_financial_protections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23,562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Stop-loss, outlier, risk corridor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2186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255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tbl_contract_regional_factors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255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122,367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County-level geographic adjustments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463040"/>
            <a:ext cx="5806440" cy="2331720"/>
          </a:xfrm>
          <a:prstGeom prst="rect">
            <a:avLst/>
          </a:prstGeom>
          <a:solidFill>
            <a:srgbClr val="E3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463040"/>
            <a:ext cx="5806440" cy="2926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50876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FOUNDATION (STATE ENGINE)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18470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1883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tbl_v2_contract_registry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1883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3,312 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2,219 ACTIVE · 1,047 EXPIRED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6792" y="23042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2340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tbl_v2_amendment_registry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340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3,297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Scope-classified supersession chains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6792" y="27614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27980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tbl_reimb_rate_rules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2798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39,906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FFS + capitation rules normalized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6792" y="321868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3255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tbl_reimb_stop_loss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3255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3,846 rows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Stop-loss provisions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931920"/>
            <a:ext cx="5806440" cy="2331720"/>
          </a:xfrm>
          <a:prstGeom prst="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931920"/>
            <a:ext cx="5806440" cy="292608"/>
          </a:xfrm>
          <a:prstGeom prst="rect">
            <a:avLst/>
          </a:prstGeom>
          <a:solidFill>
            <a:srgbClr val="5A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397764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INTELLIGENCE TABLES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43159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tbl_intel_benchmark_results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4352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1,802 groups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P10–P90 by service line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47731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8097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tbl_intel_provider_percentiles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5176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35,607 rows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24,413 COMPETITIVE · 3,965 EXPENSIVE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" y="52303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5266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tbl_intel_renewal_priority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2,219 scored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1,339 AUTO-RENEW · 359 NEGOTIATE · 95 NON-RENEWAL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56875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724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fact_supersession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1760" y="5724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2,380 edges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39-hop chains · 23-year history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3931920"/>
            <a:ext cx="5806440" cy="23317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3931920"/>
            <a:ext cx="5806440" cy="2926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73368" y="3977640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GENIE / GOLD TABLES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36792" y="43159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28232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tbl_genie_provider_profile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4352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302 providers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13 health systems · 259 independent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36792" y="47731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28232" y="48097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tbl_genie_rates_current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4108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34,811 rows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6 programs · amendment-deduped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36792" y="52303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28232" y="5266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vw_genie_contract_terms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1080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339,929 rows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041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70.9% is_from_latest_doc=TRUE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36792" y="5687568"/>
            <a:ext cx="566013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28232" y="5724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087"/>
                </a:solidFill>
                <a:latin typeface="Calibri"/>
              </a:rPr>
              <a:t>tbl_retrieval_legal_units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41080" y="5724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6CC"/>
                </a:solidFill>
                <a:latin typeface="Calibri"/>
              </a:rPr>
              <a:t>75,306 rows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041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100% clause classified · VS indexed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06  ·  SEMANTIC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Beyond retrieval — the platform reasons about contract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Clause classification · Supersession graph · Provider MDM · Rate benchmarking — all live as of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806440" cy="2331720"/>
          </a:xfrm>
          <a:prstGeom prst="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806440" cy="347472"/>
          </a:xfrm>
          <a:prstGeom prst="rect">
            <a:avLst/>
          </a:prstGeom>
          <a:solidFill>
            <a:srgbClr val="5A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179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CLAUSE ONTOLOGY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0195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75,306 legal units classified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25 clause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10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4871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reimbursement_methodology: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87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64,710 units (85.9%)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734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covered_services: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73405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4,290 units (5.7%)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9809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termination_for_convenience: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9809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1,390 units (1.8%)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227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dispute_resolution: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2278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912 units (1.2%)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100% coverage: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474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as of June 8,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63040"/>
            <a:ext cx="5806440" cy="2331720"/>
          </a:xfrm>
          <a:prstGeom prst="rect">
            <a:avLst/>
          </a:prstGeom>
          <a:solidFill>
            <a:srgbClr val="E3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63040"/>
            <a:ext cx="58064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5179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SUPERSESSION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90195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2,380 edges · 903 chains tracked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2240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Max chain depth: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39 hops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24871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Longest span: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487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23 years (1990–2013)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2734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Average depth: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73405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2.6 amendments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29809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Full replacement: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9809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scope-aware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227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Targeted amend.: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2278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section-level precision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Temporal validity: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474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valid_from / valid_to fields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931920"/>
            <a:ext cx="5806440" cy="2331720"/>
          </a:xfrm>
          <a:prstGeom prst="rect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931920"/>
            <a:ext cx="5806440" cy="347472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39867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PROVIDER MDM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437083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302 canonical providers · 13 health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4709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Independent: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709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259 providers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49560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Adventist Health: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9560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16 providers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5202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Providence: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520293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10 providers · 641 contracts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" y="5449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Bridge aliases: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54498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906 alias mappings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5696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Total contracts: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6967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5,767 in registry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5943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dim_provider_master: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4600" y="5943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live as of June 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931920"/>
            <a:ext cx="5806440" cy="23317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63640" y="3931920"/>
            <a:ext cx="58064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39867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RATE BENCHMARKING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3368" y="437083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35,607 provider-rate-service combinations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8232" y="4709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COMPETITIVE: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709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24,413 (68.6%)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8232" y="49560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FAVORABLE: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9560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5,264 (14.8%)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8232" y="5202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EXPENSIVE: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520293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3,965 (11.1%)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28232" y="5449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OUTLIER: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54498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1,965 (5.5%)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2" y="56967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P10–P90 percentiles: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6967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by service line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28232" y="5943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• Savings to median: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5943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Calibri"/>
              </a:rPr>
              <a:t>computed per provider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07  ·  AMENDMENT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Always the current rate — never a superseded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The supersession graph resolves every amendment chain automatically. Up to 39 hops deep across 23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1737360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BASE
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2000 — original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463040"/>
            <a:ext cx="1737360" cy="822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AMENDMENT
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2004 — rates revised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463040"/>
            <a:ext cx="1737360" cy="822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AMENDMENT
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2008 — stop-loss modified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63040"/>
            <a:ext cx="1737360" cy="8229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AMENDMENT
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Multiple targeted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16916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1463040"/>
            <a:ext cx="1737360" cy="8229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AMENDMENT
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2023 — CURRENT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88920"/>
            <a:ext cx="10149840" cy="320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834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RESOLVES TO  →  CURRENT STATE ONLY  (scope-aware, temporal-validated)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46120"/>
            <a:ext cx="32461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246120"/>
            <a:ext cx="32461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3101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FULL REPLACEMENT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58444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Supersedes all prior rates entirely. Every rate from earlier docs = superseded.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3246120"/>
            <a:ext cx="32461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40" y="3246120"/>
            <a:ext cx="32461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8768" y="33101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TARGETED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358444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Supersedes only specific lines or sections. Prior rates for other sections remain current.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246120"/>
            <a:ext cx="324612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78040" y="3246120"/>
            <a:ext cx="32461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87768" y="33101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TERM EXTENSION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7768" y="358444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Keeps existing rates in force for a new contract period. No rate change.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526280"/>
            <a:ext cx="210312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562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903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Amendment chains tracked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4328" y="4526280"/>
            <a:ext cx="210312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0048" y="4562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0048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Max chain depth (hops)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28616" y="4526280"/>
            <a:ext cx="210312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74336" y="4562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23 yrs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74336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Longest chain span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32904" y="4526280"/>
            <a:ext cx="210312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8624" y="4562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2,380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Supersession edges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37192" y="4526280"/>
            <a:ext cx="210312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82912" y="45628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3087"/>
                </a:solidFill>
                <a:latin typeface="Calibri"/>
              </a:rPr>
              <a:t>2.6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505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Calibri"/>
              </a:rPr>
              <a:t>Average chain depth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55778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Citing a superseded rate in a negotiation is a real financial and relationship risk. Scope-aware supersession makes current state automatic and auditable.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08  ·  TRUST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Hallucination risk is actively controlled — not assumed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Five layers of defense. Every answer traced to a source passage.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10972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 · 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72768"/>
            <a:ext cx="7178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Prompt-level rules. Extract only what is explicitly stated. Return null when absent — never infer.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10972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146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· CONSTRAIN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441448"/>
            <a:ext cx="7178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Schema-locked output. Model fills a fixed JSON structure. Cannot invent fields or fabricate sections.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0400"/>
            <a:ext cx="850392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0"/>
            <a:ext cx="10972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832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 ·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310128"/>
            <a:ext cx="7178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Deterministic post-checks. Dates, rates, and codes cross-referenced against source text by rule — not by opinion.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069080"/>
            <a:ext cx="10972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519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 ·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178808"/>
            <a:ext cx="7178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Independent LLM second-pass. Claude reviews its own output. Flags gaps before anything reaches a serving table. (209 files audited to date.)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37760"/>
            <a:ext cx="8503920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37760"/>
            <a:ext cx="109728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20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 · GROUND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47488"/>
            <a:ext cx="7178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At query time every answer is tied to a cited source passage. If evidence is thin the system declines — it does not guess.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463040"/>
            <a:ext cx="2880360" cy="4846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600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DEFENSE
IN DEPTH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286000"/>
            <a:ext cx="2514600" cy="5943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23317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6CC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331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Calibri"/>
              </a:rPr>
              <a:t>validation checks
per extraction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971800"/>
            <a:ext cx="2514600" cy="5943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0175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6CCFF"/>
                </a:solidFill>
                <a:latin typeface="Calibri"/>
              </a:rPr>
              <a:t>2nd 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0175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Calibri"/>
              </a:rPr>
              <a:t>independent AI
audit on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657600"/>
            <a:ext cx="2514600" cy="5943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37033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6CCFF"/>
                </a:solidFill>
                <a:latin typeface="Calibri"/>
              </a:rPr>
              <a:t>REFUSE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7033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Calibri"/>
              </a:rPr>
              <a:t>low-evidence
answers decline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4343400"/>
            <a:ext cx="2514600" cy="5943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389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6CCFF"/>
                </a:solidFill>
                <a:latin typeface="Calibri"/>
              </a:rPr>
              <a:t>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43891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Calibri"/>
              </a:rPr>
              <a:t>golden queries
@ 100% 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5029200"/>
            <a:ext cx="2514600" cy="5943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50749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6CCFF"/>
                </a:solidFill>
                <a:latin typeface="Calibri"/>
              </a:rPr>
              <a:t>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0749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Calibri"/>
              </a:rPr>
              <a:t>files LLM-audited
HIGH/MED/LOW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080760"/>
            <a:ext cx="11521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1447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087"/>
                </a:solidFill>
                <a:latin typeface="Calibri"/>
              </a:rPr>
              <a:t>This is what separates a governed enterprise platform from a chatbot. Every decision is traceable.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09  ·  THE QUESTION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From plain English to cited answer — every step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Query classifier routes questions to the right strategy. 4-channel retrieval. 6-check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1737360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
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Plain English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2" y="1554480"/>
            <a:ext cx="173736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Query
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4 types: factual_current
historical, comparative, absence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554480"/>
            <a:ext cx="173736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4-Channel
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Runs simultaneously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554480"/>
            <a:ext cx="173736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RRF
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Merge all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4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8" y="1554480"/>
            <a:ext cx="173736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087"/>
                </a:solidFill>
                <a:latin typeface="Calibri"/>
              </a:rPr>
              <a:t>Citation
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6 grounding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6CC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1554480"/>
            <a:ext cx="1737360" cy="7315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5910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Grounded
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331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Calibri"/>
              </a:rPr>
              <a:t>Source + confidence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880360"/>
            <a:ext cx="5623560" cy="2743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2880360"/>
            <a:ext cx="562356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260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4 RETRIEVAL CHANNELS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9184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64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Semantic (vector search)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383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GTE-Large embeddings, VS endpoint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84048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913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Lexical (keyword)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3931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BM25-style term matching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38912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462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Metadata (SQL direct)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4480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Provider, date, clause-type filters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93776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Structural (section-aware)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029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Section hierarchy + clause-type routing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880360"/>
            <a:ext cx="5623560" cy="2743200"/>
          </a:xfrm>
          <a:prstGeom prst="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880360"/>
            <a:ext cx="5623560" cy="320040"/>
          </a:xfrm>
          <a:prstGeom prst="rect">
            <a:avLst/>
          </a:prstGeom>
          <a:solidFill>
            <a:srgbClr val="5A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9260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6 CITATION VERIFICATION CHECKS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29184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364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Supersession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3832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Is this clause still in force?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84048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913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Key-phrase grounding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3931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Does source text contain the claimed phrase?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38912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462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Numerical verification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4805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Does the number match the source?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93776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Scope match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029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Does amendment scope cover this provision?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548640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55595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Confidence threshold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5577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Score must exceed minimum before answering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6035040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6108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Refuse if insufficient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61264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Low-evidence answers decline gracefully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5760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Amendment-aware retrieval ensures cited evidence always reflects the current contract — not a superseded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10  ·  THE GENIE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The business simply asks —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20 tables registered · 2,444 chars of curated business definitions · Every answer in seconds, no SQL ticket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120640" cy="48006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Calibri"/>
              </a:rPr>
              <a:t>User question — plain 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are the current inpatient rates for Providence?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  <a:latin typeface="Calibri"/>
              </a:rPr>
              <a:t>⬇  Genie semantic layer (curated gold tables + business column descriptions → governed SQL)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4846320" cy="5029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FF99"/>
                </a:solidFill>
                <a:latin typeface="Calibri"/>
              </a:rPr>
              <a:t>SELECT provider_name, rate_category, rate_numeric, program_normalized
FROM tbl_genie_rates_current
WHERE provider_name ILIKE '%Providence%' AND status='current'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56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  <a:latin typeface="Calibri"/>
              </a:rPr>
              <a:t>⬇  Curated, governed gold tables  →  Answer in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94760"/>
            <a:ext cx="4846320" cy="22402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58768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FF99"/>
                </a:solidFill>
                <a:latin typeface="Calibri"/>
              </a:rPr>
              <a:t>  Providence Saint Joseph Medical Center
  Inpatient per diem: $3,847
  DRG Base rate: $12,240
  Commercial program · Current
  Providence Holy Cross Medical Center
  Inpatient per diem: $4,102
  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463040"/>
            <a:ext cx="6217920" cy="4800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1463040"/>
            <a:ext cx="6217920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51790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SCOPE OF USE — 6 DOMAINS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874519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874519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1920239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Rate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16712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Current rate for any provider, service, program — one query.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542031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2542031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2587751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Contract &amp; Amendment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8346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Active, expiring, or recently amended contracts.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209543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3209543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3255263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Cross-Provider Benchmarking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502151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How one provider's rates compare across the portfolio.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877055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3877055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3922775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Program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16966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Providers covering Commercial, Medicare, Medi-Cal, CalPERS.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544567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4544567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4590287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Legal &amp; Clause Queries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4837175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Termination requirements, stop-loss terms, offset clauses.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5212079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5212079"/>
            <a:ext cx="54864" cy="5943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80" y="5257799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Portfolio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5504687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Calibri"/>
              </a:rPr>
              <a:t>Rate distribution, coverage gaps, contract vintage analysis.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One interface. Every persona — contracting, finance, network, compliance,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11  ·  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Live in production — 99.8% complete, all layers 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Code-verified against live dev_adb.raw tables as of June 2026  ·  20 notebooks actively running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Extraction pipeline (15 notebooks)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508760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51790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50876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Foundation / State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508760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51790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01952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947672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Intelligence layer (benchmarks, renewal, leverage)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947672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9568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901952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1947672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Semantic intelligence (clause ontology, MDM, graph)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947672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95681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40864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386584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Genie Space (20 tables, NL→SQL)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386584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3957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340864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2386584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Portfolio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2386584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23957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779776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825496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Citation-grounded RAG notebook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825496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2834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779776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928" y="2825496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Clause classification (75,306 units)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825496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834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218688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3264408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Retrieval quality eval framework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264408"/>
            <a:ext cx="777240" cy="2560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360" y="327355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218688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3264408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Job orchestration (Lakeflow DAG)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3264408"/>
            <a:ext cx="777240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27355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DEPLOYED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657600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370332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Cross-encoder reranker (bge-reranker-v2-m3)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3703320"/>
            <a:ext cx="777240" cy="25603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37124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657600"/>
            <a:ext cx="566928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70332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Claims data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8240" y="3703320"/>
            <a:ext cx="777240" cy="2560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37124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251960"/>
            <a:ext cx="11521440" cy="14630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10,349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PDFs extracted
(99.8%)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04872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04872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canonical
providers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6824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3,312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06824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contracts
in registry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08776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39,906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08776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rate rules
normalized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10728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75,306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0728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legal units
indexed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12680" y="43708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12680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CCFF"/>
                </a:solidFill>
                <a:latin typeface="Calibri"/>
              </a:rPr>
              <a:t>clause
classified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58704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3087"/>
                </a:solidFill>
                <a:latin typeface="Calibri"/>
              </a:rPr>
              <a:t>The platform is not a prototype waiting to be built. It is live. The remaining work is hardening, governance, and enterprise readiness.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12  ·  ENTERPRISE MATURITY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Platform maturity: 2.8 / 5.0 — Advanced prototype moving to enterprise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Scored across 15 architecture dimensions · June 2026 · Previous score: 1.96/5 (pre Wave-0) → +0.4 improvement (+20%) in 2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21440" cy="457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6452006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2.8 / 5.0  (56%)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48256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Extraction Mechanics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039112"/>
            <a:ext cx="384048" cy="219456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048256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93976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2093976"/>
            <a:ext cx="2057400" cy="10972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048256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99.8% corpus; JSON repair; 2-tier OCR; 5-worker concurrent 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90572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27148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Data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318004"/>
            <a:ext cx="384048" cy="21945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32714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372868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64992" y="2372868"/>
            <a:ext cx="1600200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327148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is_from_latest_doc fixed (70.9%); typed columns; VS dedup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569464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606040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Retrieval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2596896"/>
            <a:ext cx="384048" cy="21945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260604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2651760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64992" y="2651760"/>
            <a:ext cx="1600200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06040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70.9% current-effective; 3 VS indexes; RRF fusion; no reranker yet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848356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884932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Intelligence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875788"/>
            <a:ext cx="384048" cy="21945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2884932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4992" y="2930652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64992" y="2930652"/>
            <a:ext cx="1371600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2884932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Renewal normalized (0-1); benchmarks + percentiles + leverage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127248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163824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Semantic Intelligence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3154680"/>
            <a:ext cx="384048" cy="21945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16382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4992" y="3209544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64992" y="3209544"/>
            <a:ext cx="1371600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3163824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100% clause classified; supersession graph; MDM 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406140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442716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Trust &amp; Validation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3433572"/>
            <a:ext cx="384048" cy="219456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360" y="3442716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64992" y="3488436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64992" y="3488436"/>
            <a:ext cx="1143000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6440" y="3442716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50 golden queries @ 100%; no per-field confidence; no gold F1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685032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721608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LLM Hallucination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3712464"/>
            <a:ext cx="384048" cy="219456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0360" y="37216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64992" y="3767328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64992" y="3767328"/>
            <a:ext cx="1143000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40" y="3721608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Citation engine + latest-doc filter; no per-field confidence scoring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963924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000500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Scalability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3991356"/>
            <a:ext cx="384048" cy="219456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360" y="400050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64992" y="4046220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64992" y="4046220"/>
            <a:ext cx="1143000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4000500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Adequate for current corpus; no incremental pipeline yet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242816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4279392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Cost Efficiency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360" y="4270248"/>
            <a:ext cx="384048" cy="219456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60" y="4279392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2.5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64992" y="4325112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64992" y="4325112"/>
            <a:ext cx="1143000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06440" y="4279392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Functional; no caching; no cost-per-file tracking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521708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558284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Observability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80360" y="4549140"/>
            <a:ext cx="38404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80360" y="455828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64992" y="4604004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364992" y="4604004"/>
            <a:ext cx="6858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4558284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eval_runs + pipe_log only; no metrics store; no SLOs; no alerting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800600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4837176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Testing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80360" y="4828032"/>
            <a:ext cx="38404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80360" y="4837176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64992" y="4882896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64992" y="4882896"/>
            <a:ext cx="6858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06440" y="4837176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50-query regression; zero unit tests; no CI/CD gates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5079492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116068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Knowledge Modeling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5106924"/>
            <a:ext cx="38404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80360" y="511606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64992" y="5161788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364992" y="5161788"/>
            <a:ext cx="6858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06440" y="5116068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Amendment chains exist; no formal ontology beyond clause taxonomy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358384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5394960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Governance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80360" y="5385816"/>
            <a:ext cx="38404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80360" y="539496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1.0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64992" y="5440680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64992" y="5440680"/>
            <a:ext cx="4572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06440" y="5394960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No RBAC; no audit trail; no prompt versioning; dev schema only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5637276"/>
            <a:ext cx="11521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5673852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Human Review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80360" y="5664708"/>
            <a:ext cx="384048" cy="219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80360" y="5673852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64992" y="5719572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364992" y="5719572"/>
            <a:ext cx="4572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806440" y="5673852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Review queue designed (platform/12_gold_annotation); not built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0040" y="5916168"/>
            <a:ext cx="115214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5952744"/>
            <a:ext cx="2377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Software Architecture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80360" y="5943600"/>
            <a:ext cx="384048" cy="219456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880360" y="595274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2.0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364992" y="5998464"/>
            <a:ext cx="22860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364992" y="5998464"/>
            <a:ext cx="914400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06440" y="5952744"/>
            <a:ext cx="58521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Calibri"/>
              </a:rPr>
              <a:t>20 notebooks; no unit tests; no interfaces; no CI/CD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13  ·  PATH TO ENTERPRISE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8-wave execution plan: Trust before scale. Correctness before 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Each wave builds on the last. Wave 0 complete. Waves 1–4 are the critical path to enterprise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806440" cy="118872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4864" cy="11887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536192"/>
            <a:ext cx="685800" cy="2286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4533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A3C"/>
                </a:solidFill>
                <a:latin typeface="Calibri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Stabilization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21408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Frozen baselines · Release blockers documented · Scorecard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54864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3368" y="1536192"/>
            <a:ext cx="685800" cy="228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54533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1-4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Trust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121408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200-file gold dataset · Source grounding verification · Per-field confidence scoring · Extraction regression 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24912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724912"/>
            <a:ext cx="54864" cy="1188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798064"/>
            <a:ext cx="685800" cy="228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80720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2798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2-5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09067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Version Correctness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383280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valid_from/valid_to fields · Current-effective default in retrieval · Renewal scoring aligned to real expirations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724912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724912"/>
            <a:ext cx="54864" cy="1188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798064"/>
            <a:ext cx="685800" cy="2286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80720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4" y="2798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4-7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09067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383280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Metrics store · Token + cost tracking · Drift detection · Alert policies for pipeline stall + quality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986784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986784"/>
            <a:ext cx="54864" cy="11887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4059936"/>
            <a:ext cx="685800" cy="2286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06908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5-8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435254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645152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RBAC row filters on rate data · Prompt version hashes · Dev → Staging → Prod pipeline · Audit trail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986784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986784"/>
            <a:ext cx="54864" cy="118872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73368" y="4059936"/>
            <a:ext cx="685800" cy="22860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2" y="406908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41464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7-10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35254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Human Review Workflow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645152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Tiered routing (auto-approve / spot-check / full review) · Reviewer correction capture · Feedback to prompt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48656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248656"/>
            <a:ext cx="54864" cy="118872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4048" y="5321808"/>
            <a:ext cx="685800" cy="22860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5330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" y="5321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9-12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561441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Testing &amp; CI/CD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" y="5907024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Unit tests for all pure functions · CI/CD gates on every change · Declarative Automation Bundles deploy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5248656"/>
            <a:ext cx="580644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5248656"/>
            <a:ext cx="54864" cy="1188720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368" y="5321808"/>
            <a:ext cx="685800" cy="228600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5330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Wave 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1464" y="5321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Weeks 12-18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3368" y="5614416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Retrieval Quality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3368" y="5907024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Deploy bge-reranker-v2-m3 · Query routing rules · Recall@5 &gt; 0.85 SLO · NDCG@10 &gt; 0.75 SLO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14  ·  COST &amp; 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Built once, runs lean — real numbers from production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All costs from actual Databricks billing · Claude API usage · Azure ADLS storage · No estimates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749039" cy="3200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17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PHASE 1 — ONE-TIME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  <a:latin typeface="Calibri"/>
              </a:rPr>
              <a:t>~$8,100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23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TOTAL ONE-TIME BUILD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LLM extraction (Claude Sonnet 4.5)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3087"/>
                </a:solidFill>
                <a:latin typeface="Calibri"/>
              </a:rPr>
              <a:t>$7,864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Compute — extraction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3087"/>
                </a:solidFill>
                <a:latin typeface="Calibri"/>
              </a:rPr>
              <a:t>$181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Embedding — one-time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3087"/>
                </a:solidFill>
                <a:latin typeface="Calibri"/>
              </a:rPr>
              <a:t>$13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Platform modules (01–20)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23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3087"/>
                </a:solidFill>
                <a:latin typeface="Calibri"/>
              </a:rPr>
              <a:t>&lt; $50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463040"/>
            <a:ext cx="3749039" cy="3200400"/>
          </a:xfrm>
          <a:prstGeom prst="rect">
            <a:avLst/>
          </a:prstGeom>
          <a:solidFill>
            <a:srgbClr val="E3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46304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517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PHASE 2 — MONTHLY OPERATING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7A87"/>
                </a:solidFill>
                <a:latin typeface="Calibri"/>
              </a:rPr>
              <a:t>$1,326/mo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423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ESTIMATED MONTHLY OPERATING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Databricks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788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$500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Vector Search 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$360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SQL Warehouse (Genie)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$200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749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Genie LLM calls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$195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Compute refresh jobs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$45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Monitoring &amp;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07A87"/>
                </a:solidFill>
                <a:latin typeface="Calibri"/>
              </a:rPr>
              <a:t>&lt; $26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463040"/>
            <a:ext cx="3749039" cy="3200400"/>
          </a:xfrm>
          <a:prstGeom prst="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463040"/>
            <a:ext cx="3749039" cy="347472"/>
          </a:xfrm>
          <a:prstGeom prst="rect">
            <a:avLst/>
          </a:prstGeom>
          <a:solidFill>
            <a:srgbClr val="5A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151790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YEAR 1 TCO &amp; UNIT ECONOMICS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9659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0208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Year 1 TCO (build + 12 mo ops)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20208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$23,992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4231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24780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Cost per PDF processed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~$0.78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8803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9352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Cost per user / month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2935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~$6.63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3375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33924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Cost per question answered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3392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~$0.01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7947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849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Per additional plan (est.)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~55% less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251960"/>
            <a:ext cx="3520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43068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At 5 plans, per plan/yr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43068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A0087"/>
                </a:solidFill>
                <a:latin typeface="Calibri"/>
              </a:rPr>
              <a:t>~$6,734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846320"/>
            <a:ext cx="11612880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9560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F"/>
                </a:solidFill>
                <a:latin typeface="Calibri"/>
              </a:rPr>
              <a:t>Multi-plan economics: the platform is parameterized. Additional plans reuse the same architecture, reducing per-plan cost by ~55%.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At 5 plans → ~$6,734 / plan / year.   At 10 plans → ~$4,200 / plan / year.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15  ·  RENEWAL &amp; LEVERAGE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Every contract scored. Every negotiation informed.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698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2,219 contracts scored for urgency · 35,607 provider-rate benchmarks · Bilateral leverage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4389120" cy="4846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43891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1790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RENEWAL PRIORITY — 2,219 CONTRACTS SCORED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920240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ISSUE NON-RENEWAL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95 contracts  (4.3%)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Unfavorable terms, high above median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62655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962655"/>
            <a:ext cx="73152" cy="91440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3580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NEGOTIATE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101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35A00"/>
                </a:solidFill>
                <a:latin typeface="Calibri"/>
              </a:rPr>
              <a:t>359 contracts  (16.2%)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0273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Above benchmark, savings opportunity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0507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005070"/>
            <a:ext cx="73152" cy="914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07822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5254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A87"/>
                </a:solidFill>
                <a:latin typeface="Calibri"/>
              </a:rPr>
              <a:t>426 contracts  (19.2%)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64515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Near median, expiring within 12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47485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047485"/>
            <a:ext cx="73152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12063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ALLOW AUTO-RENEW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39495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3C"/>
                </a:solidFill>
                <a:latin typeface="Calibri"/>
              </a:rPr>
              <a:t>1,339 contracts  (60.3%)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68756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Favorable rates, auto-renew eligible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463040"/>
            <a:ext cx="694944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2040" y="1463040"/>
            <a:ext cx="694944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1517904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RATE COMPETITIVENESS — 35,607 PROVIDER-RATE BENCHMARKS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1920240"/>
            <a:ext cx="6766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993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  <a:latin typeface="Calibri"/>
              </a:rPr>
              <a:t>COMPETITIVE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993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A7A3C"/>
                </a:solidFill>
                <a:latin typeface="Calibri"/>
              </a:rPr>
              <a:t>24,413 (68.6%)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322576"/>
            <a:ext cx="41148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2322576"/>
            <a:ext cx="2822752" cy="10972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251460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Within 10% of portfolio median — acceptable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2971800"/>
            <a:ext cx="6766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044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87"/>
                </a:solidFill>
                <a:latin typeface="Calibri"/>
              </a:rPr>
              <a:t>FAVORABLE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044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7A87"/>
                </a:solidFill>
                <a:latin typeface="Calibri"/>
              </a:rPr>
              <a:t>5,264 (14.8%)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374136"/>
            <a:ext cx="41148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20640" y="3374136"/>
            <a:ext cx="608990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356616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Below median — BSC advantage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4023360"/>
            <a:ext cx="6766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4096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5A00"/>
                </a:solidFill>
                <a:latin typeface="Calibri"/>
              </a:rPr>
              <a:t>EXPENSIVE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35A00"/>
                </a:solidFill>
                <a:latin typeface="Calibri"/>
              </a:rPr>
              <a:t>3,965 (11.1%)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4425696"/>
            <a:ext cx="41148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20640" y="4425696"/>
            <a:ext cx="456742" cy="109728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461772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10-25% above median — renegotiation target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5074920"/>
            <a:ext cx="6766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0" y="5148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OUTLIER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1480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0392B"/>
                </a:solidFill>
                <a:latin typeface="Calibri"/>
              </a:rPr>
              <a:t>1,965 (5.5%)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5477256"/>
            <a:ext cx="411480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0640" y="5477256"/>
            <a:ext cx="226314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566928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&gt; 25% above median — high-priority 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CCFF"/>
                </a:solidFill>
                <a:latin typeface="Calibri"/>
              </a:rPr>
              <a:t>SECTION 16  ·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91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20256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Calibri"/>
              </a:rPr>
              <a:t>PROVIDER CONTRACT INTELLIGENCE PLATFORM   ·   BLUE SHIELD OF CALIFORNIA   ·   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3087"/>
                </a:solidFill>
                <a:latin typeface="Calibri"/>
              </a:rPr>
              <a:t>Three horizons — Foundation complete, hardening underway, scale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840480" cy="4937760"/>
          </a:xfrm>
          <a:prstGeom prst="rect">
            <a:avLst/>
          </a:prstGeom>
          <a:solidFill>
            <a:srgbClr val="F0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840480" cy="8229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63040"/>
            <a:ext cx="3703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1
FOUNDATION
✅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31720"/>
            <a:ext cx="3657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10,349 PDFs extracted (99.8%)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20 platform notebooks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75,306 legal units indexed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100% clause classified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Genie Space live (20 tables)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Lakeflow Jobs DAG deployed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Portfolio dashboard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7A3C"/>
                </a:solidFill>
                <a:latin typeface="Calibri"/>
              </a:rPr>
              <a:t>✅ Wave 0 fixes shipped (Jun 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3840480" cy="49377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417320"/>
            <a:ext cx="384048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7" y="1463040"/>
            <a:ext cx="3703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2
ENTERPRISE HARDENING
→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7" y="2331720"/>
            <a:ext cx="3657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Gold dataset (200 files, annotated)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Per-field confidence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Source grounding verification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Observability + metrics store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RBAC row filters on rate data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LLM audit trail (prompt versioning)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Human review workflow (tiered)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Dev → Staging → Prod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417320"/>
            <a:ext cx="3840480" cy="49377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1417320"/>
            <a:ext cx="3840480" cy="8229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6" y="1463040"/>
            <a:ext cx="3703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3
INTELLIGENT SCALE
→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6" y="2331720"/>
            <a:ext cx="3657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Claims + utilization data integration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Deploy cross-encoder reranker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Clause ontology expansion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Amendment graph (formal)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Negotiation preparation copilots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Proactive renewal / expiry alerting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Multi-plan rollout (parameterized)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Calibri"/>
              </a:rPr>
              <a:t>→ Enterprise-wide Blue plans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73952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EACH PHASE COMPOUNDS ON THE LAST  ·  TIME 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4064" y="0"/>
            <a:ext cx="710488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ADD"/>
                </a:solidFill>
                <a:latin typeface="Calibri"/>
              </a:rPr>
              <a:t>SECTION 17  · 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 turned our contracts
into a governed
intelligence asset.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Any rate. Any provider.
Any clause. Queryable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4389120" cy="2743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3375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DD"/>
                </a:solidFill>
                <a:latin typeface="Calibri"/>
              </a:rPr>
              <a:t>Platform maturity: 2.8 / 5.0
Roadmap to 4.5/5 defined and sequenced.
Wave 0 complete. Trust foundation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99CC"/>
                </a:solidFill>
                <a:latin typeface="Calibri"/>
              </a:rPr>
              <a:t>Databricks  ·  Azure  ·  Unity Catalog
Claude Sonnet 4.5  ·  Delta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486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  <a:latin typeface="Calibri"/>
              </a:rPr>
              <a:t>THE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1143000"/>
            <a:ext cx="653796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49240" y="1143000"/>
            <a:ext cx="54864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271016"/>
            <a:ext cx="384048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30759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280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Executive sponsorship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60020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Move from project to platform — dedicated roadmap, team, and budget for Waves 1–4 hardening.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697480"/>
            <a:ext cx="653796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2697480"/>
            <a:ext cx="54864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825496"/>
            <a:ext cx="384048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8620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8346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Pilot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1546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Open Genie Space access to a defined group of business users in contracting, finance, and network.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251960"/>
            <a:ext cx="653796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4251960"/>
            <a:ext cx="54864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4379976"/>
            <a:ext cx="384048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41655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389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087"/>
                </a:solidFill>
                <a:latin typeface="Calibri"/>
              </a:rPr>
              <a:t>Enterprise roadmap commitment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7091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Harden governance, connect claims data, and phase in multi-plan rollout using the same parameterized architecture.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5897880"/>
            <a:ext cx="6537960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601675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technology is proven. The data is real. The next move is organizational.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