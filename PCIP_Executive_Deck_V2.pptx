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0" d="100"/>
          <a:sy n="90" d="100"/>
        </p:scale>
        <p:origin x="37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$/month</c:v>
                </c:pt>
              </c:strCache>
            </c:strRef>
          </c:tx>
          <c:spPr>
            <a:solidFill>
              <a:srgbClr val="0F766E"/>
            </a:solidFill>
            <a:effectLst/>
          </c:spPr>
          <c:invertIfNegative val="0"/>
          <c:dPt>
            <c:idx val="0"/>
            <c:invertIfNegative val="0"/>
            <c:bubble3D val="0"/>
            <c:extLst>
              <c:ext xmlns:c16="http://schemas.microsoft.com/office/drawing/2014/chart" uri="{C3380CC4-5D6E-409C-BE32-E72D297353CC}">
                <c16:uniqueId val="{00000001-B55E-40E2-B25A-ECCBAE2A1096}"/>
              </c:ext>
            </c:extLst>
          </c:dPt>
          <c:dPt>
            <c:idx val="1"/>
            <c:invertIfNegative val="0"/>
            <c:bubble3D val="0"/>
            <c:spPr>
              <a:solidFill>
                <a:srgbClr val="14B8A6"/>
              </a:solidFill>
              <a:effectLst/>
            </c:spPr>
            <c:extLst>
              <c:ext xmlns:c16="http://schemas.microsoft.com/office/drawing/2014/chart" uri="{C3380CC4-5D6E-409C-BE32-E72D297353CC}">
                <c16:uniqueId val="{00000003-B55E-40E2-B25A-ECCBAE2A1096}"/>
              </c:ext>
            </c:extLst>
          </c:dPt>
          <c:dPt>
            <c:idx val="2"/>
            <c:invertIfNegative val="0"/>
            <c:bubble3D val="0"/>
            <c:spPr>
              <a:solidFill>
                <a:srgbClr val="2DD4BF"/>
              </a:solidFill>
              <a:effectLst/>
            </c:spPr>
            <c:extLst>
              <c:ext xmlns:c16="http://schemas.microsoft.com/office/drawing/2014/chart" uri="{C3380CC4-5D6E-409C-BE32-E72D297353CC}">
                <c16:uniqueId val="{00000005-B55E-40E2-B25A-ECCBAE2A1096}"/>
              </c:ext>
            </c:extLst>
          </c:dPt>
          <c:dPt>
            <c:idx val="3"/>
            <c:invertIfNegative val="0"/>
            <c:bubble3D val="0"/>
            <c:spPr>
              <a:solidFill>
                <a:srgbClr val="5EEAD4"/>
              </a:solidFill>
              <a:effectLst/>
            </c:spPr>
            <c:extLst>
              <c:ext xmlns:c16="http://schemas.microsoft.com/office/drawing/2014/chart" uri="{C3380CC4-5D6E-409C-BE32-E72D297353CC}">
                <c16:uniqueId val="{00000007-B55E-40E2-B25A-ECCBAE2A1096}"/>
              </c:ext>
            </c:extLst>
          </c:dPt>
          <c:dPt>
            <c:idx val="4"/>
            <c:invertIfNegative val="0"/>
            <c:bubble3D val="0"/>
            <c:spPr>
              <a:solidFill>
                <a:srgbClr val="99E9DF"/>
              </a:solidFill>
              <a:effectLst/>
            </c:spPr>
            <c:extLst>
              <c:ext xmlns:c16="http://schemas.microsoft.com/office/drawing/2014/chart" uri="{C3380CC4-5D6E-409C-BE32-E72D297353CC}">
                <c16:uniqueId val="{00000009-B55E-40E2-B25A-ECCBAE2A1096}"/>
              </c:ext>
            </c:extLst>
          </c:dPt>
          <c:dPt>
            <c:idx val="5"/>
            <c:invertIfNegative val="0"/>
            <c:bubble3D val="0"/>
            <c:spPr>
              <a:solidFill>
                <a:srgbClr val="CBD5E1"/>
              </a:solidFill>
              <a:effectLst/>
            </c:spPr>
            <c:extLst>
              <c:ext xmlns:c16="http://schemas.microsoft.com/office/drawing/2014/chart" uri="{C3380CC4-5D6E-409C-BE32-E72D297353CC}">
                <c16:uniqueId val="{0000000B-B55E-40E2-B25A-ECCBAE2A1096}"/>
              </c:ext>
            </c:extLst>
          </c:dPt>
          <c:dLbls>
            <c:numFmt formatCode="\$#,##0" sourceLinked="0"/>
            <c:spPr>
              <a:noFill/>
              <a:ln>
                <a:noFill/>
              </a:ln>
              <a:effectLst/>
            </c:spPr>
            <c:txPr>
              <a:bodyPr/>
              <a:lstStyle/>
              <a:p>
                <a:pPr>
                  <a:defRPr sz="900" b="0" i="0" u="none" strike="noStrike">
                    <a:solidFill>
                      <a:srgbClr val="33415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Platform</c:v>
                </c:pt>
                <c:pt idx="1">
                  <c:v>Vector
Search</c:v>
                </c:pt>
                <c:pt idx="2">
                  <c:v>SQL WH</c:v>
                </c:pt>
                <c:pt idx="3">
                  <c:v>Genie
LLM</c:v>
                </c:pt>
                <c:pt idx="4">
                  <c:v>Compute</c:v>
                </c:pt>
                <c:pt idx="5">
                  <c:v>Monitor</c:v>
                </c:pt>
              </c:strCache>
            </c:strRef>
          </c:cat>
          <c:val>
            <c:numRef>
              <c:f>Sheet1!$B$2:$B$7</c:f>
              <c:numCache>
                <c:formatCode>General</c:formatCode>
                <c:ptCount val="6"/>
                <c:pt idx="0">
                  <c:v>500</c:v>
                </c:pt>
                <c:pt idx="1">
                  <c:v>360</c:v>
                </c:pt>
                <c:pt idx="2">
                  <c:v>200</c:v>
                </c:pt>
                <c:pt idx="3">
                  <c:v>195</c:v>
                </c:pt>
                <c:pt idx="4">
                  <c:v>45</c:v>
                </c:pt>
                <c:pt idx="5">
                  <c:v>25</c:v>
                </c:pt>
              </c:numCache>
            </c:numRef>
          </c:val>
          <c:extLst>
            <c:ext xmlns:c16="http://schemas.microsoft.com/office/drawing/2014/chart" uri="{C3380CC4-5D6E-409C-BE32-E72D297353CC}">
              <c16:uniqueId val="{0000000C-B55E-40E2-B25A-ECCBAE2A109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6842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'10,372 provider contracts. 27 gigabytes of legal documents. Every rate, every clause, every amendment — locked in PDFs and inaccessible at scale. This platform changes that.' Do not jump to the solution. Let the scale of the corpus land first.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in business terms only. No technology. No solution yet. Three structural pains: you cannot query, you cannot trust amendment currency, you cannot benchmark. The right panel captures the qualitative reality — not fabricated numbers. Let the pain land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three approaches that fail and exactly why. Right: the transformation arc in three steps. Bottom principle is the responsible AI frame — use it word for word. The message: none of the alternatives gets you all four things simultaneously: full corpus, validated, amendment-aware, governed.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raw PDFs enter at the top; governed intelligence exits at the bottom. The governance rail on the right spans every layer — it is not bolted on at the end. Keep it conceptual; architecture detail comes in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picture. Walk top to bottom: source files → extraction → foundation → retrieval → serving. The governance rail on the right applies to every layer. Key message: 15 extraction notebooks, 12 platform modules, 44 Delta tables — one continuous, auditable path from raw PDF to governed answer.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Highlight the interleaving: teal (AI) steps are wrapped by grey (deterministic) checks at every stage. The three bottom cards are the hard-won engineering decisions that make this production-grade — especially per-file REST API isolation which eliminated multi-hour batch stalls.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Extraction = raw facts. Foundation = resolved business entities (amendment chains computed). Retrieval = indexed for semantic search. Gold = curated serving tables. The bottom bar is the key message: business users only ever touch Gold — validated all the way up.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chain left to right. The last box (dark) is the only one that counts — the platform resolves to the current state only. Explain the three scope types because real amendments behave differently. Land on the right-hand risk message: citing a superseded rate is a real exposure.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this slide. Five independent layers, each catching what the previous might miss. The framing on the right is exact — use it word for word. NEVER say hallucinations are eliminated. Say risk is layered, measured and controlled. The 'refuse rather than guess' behavior is a trust feature, not a limitation.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every stage. The 4-channel box shows why this is more reliable than a simple keyword search. The citation check is what makes output trustworthy — six independent checks before an answer is returned. The refuse behavior is a feature: if evidence is insufficient, the system says so rather than guessing.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left flow once: English question → semantic layer → governed SQL → curated gold tables → answer in seconds. The right scope shows breadth. Key message: not just a rate lookup tool — it covers the full range of contracting intelligence needs across every business persona.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as complementary, not competing. Genie = fast structured answers for business users. RAG = deep citation-grounded legal retrieval for analysts and compliance. Bottom line is the key: both front doors read from the same governed, validated foundation.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green items are genuinely live and production-ready. Amber items are known gaps on the roadmap. The corpus progress bar is key: ~70% complete, ~3,000 files remaining — not starting over, nearly there. The closing statement is important: this is live, not a prototype.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numbers from the platform — no estimates or assumptions. Walk the three phases: build is one-time and bounded, monthly operating is light and predictable, Year 1 TCO is $23,776. The per-unit callouts make the economics visceral: less than a cent per question, less than $7 per user per month.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nearly done — ~3,000 files is a short remaining effort, not a large lift. Phase 2 is where this becomes a product across multiple plans. Phase 3 is the strategic vision — AI copilots built on a foundation that already exists. Each phase compounds on the last.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conviction. Read the title line slowly. Recap the three things they should remember. Make a SPECIFIC ask — not vague sponsorship but the three items listed. End on the final italic line and hand to Q&amp;A.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E"/>
        </a:solidFill>
        <a:effectLst/>
      </p:bgPr>
    </p:bg>
    <p:spTree>
      <p:nvGrpSpPr>
        <p:cNvPr id="1" name=""/>
        <p:cNvGrpSpPr/>
        <p:nvPr/>
      </p:nvGrpSpPr>
      <p:grpSpPr>
        <a:xfrm>
          <a:off x="0" y="0"/>
          <a:ext cx="0" cy="0"/>
          <a:chOff x="0" y="0"/>
          <a:chExt cx="0" cy="0"/>
        </a:xfrm>
      </p:grpSpPr>
      <p:sp>
        <p:nvSpPr>
          <p:cNvPr id="2" name="Shape 0"/>
          <p:cNvSpPr/>
          <p:nvPr/>
        </p:nvSpPr>
        <p:spPr>
          <a:xfrm>
            <a:off x="8366760" y="868680"/>
            <a:ext cx="3337560" cy="658368"/>
          </a:xfrm>
          <a:prstGeom prst="rect">
            <a:avLst/>
          </a:prstGeom>
          <a:solidFill>
            <a:srgbClr val="13283F"/>
          </a:solidFill>
          <a:ln/>
        </p:spPr>
        <p:txBody>
          <a:bodyPr/>
          <a:lstStyle/>
          <a:p>
            <a:endParaRPr lang="en-IN"/>
          </a:p>
        </p:txBody>
      </p:sp>
      <p:sp>
        <p:nvSpPr>
          <p:cNvPr id="3" name="Shape 1"/>
          <p:cNvSpPr/>
          <p:nvPr/>
        </p:nvSpPr>
        <p:spPr>
          <a:xfrm>
            <a:off x="8366760" y="868680"/>
            <a:ext cx="82296" cy="658368"/>
          </a:xfrm>
          <a:prstGeom prst="rect">
            <a:avLst/>
          </a:prstGeom>
          <a:solidFill>
            <a:srgbClr val="14B8A6"/>
          </a:solidFill>
          <a:ln/>
        </p:spPr>
        <p:txBody>
          <a:bodyPr/>
          <a:lstStyle/>
          <a:p>
            <a:endParaRPr lang="en-IN"/>
          </a:p>
        </p:txBody>
      </p:sp>
      <p:sp>
        <p:nvSpPr>
          <p:cNvPr id="4" name="Text 2"/>
          <p:cNvSpPr/>
          <p:nvPr/>
        </p:nvSpPr>
        <p:spPr>
          <a:xfrm>
            <a:off x="8577072" y="868680"/>
            <a:ext cx="3017520" cy="658368"/>
          </a:xfrm>
          <a:prstGeom prst="rect">
            <a:avLst/>
          </a:prstGeom>
          <a:noFill/>
          <a:ln/>
        </p:spPr>
        <p:txBody>
          <a:bodyPr wrap="square" lIns="0" tIns="0" rIns="0" bIns="0" rtlCol="0" anchor="ctr"/>
          <a:lstStyle/>
          <a:p>
            <a:pPr marL="0" indent="0">
              <a:buNone/>
            </a:pPr>
            <a:r>
              <a:rPr lang="en-US" sz="1150" b="1" kern="0" spc="200" dirty="0">
                <a:solidFill>
                  <a:srgbClr val="93A4BD"/>
                </a:solidFill>
                <a:latin typeface="Calibri" pitchFamily="34" charset="0"/>
                <a:ea typeface="Calibri" pitchFamily="34" charset="-122"/>
                <a:cs typeface="Calibri" pitchFamily="34" charset="-120"/>
              </a:rPr>
              <a:t>EXTRACTION</a:t>
            </a:r>
            <a:endParaRPr lang="en-US" sz="1150" dirty="0"/>
          </a:p>
        </p:txBody>
      </p:sp>
      <p:sp>
        <p:nvSpPr>
          <p:cNvPr id="5" name="Shape 3"/>
          <p:cNvSpPr/>
          <p:nvPr/>
        </p:nvSpPr>
        <p:spPr>
          <a:xfrm>
            <a:off x="8366760" y="1709928"/>
            <a:ext cx="3337560" cy="658368"/>
          </a:xfrm>
          <a:prstGeom prst="rect">
            <a:avLst/>
          </a:prstGeom>
          <a:solidFill>
            <a:srgbClr val="13283F"/>
          </a:solidFill>
          <a:ln/>
        </p:spPr>
        <p:txBody>
          <a:bodyPr/>
          <a:lstStyle/>
          <a:p>
            <a:endParaRPr lang="en-IN"/>
          </a:p>
        </p:txBody>
      </p:sp>
      <p:sp>
        <p:nvSpPr>
          <p:cNvPr id="6" name="Shape 4"/>
          <p:cNvSpPr/>
          <p:nvPr/>
        </p:nvSpPr>
        <p:spPr>
          <a:xfrm>
            <a:off x="8366760" y="1709928"/>
            <a:ext cx="82296" cy="658368"/>
          </a:xfrm>
          <a:prstGeom prst="rect">
            <a:avLst/>
          </a:prstGeom>
          <a:solidFill>
            <a:srgbClr val="14B8A6"/>
          </a:solidFill>
          <a:ln/>
        </p:spPr>
        <p:txBody>
          <a:bodyPr/>
          <a:lstStyle/>
          <a:p>
            <a:endParaRPr lang="en-IN"/>
          </a:p>
        </p:txBody>
      </p:sp>
      <p:sp>
        <p:nvSpPr>
          <p:cNvPr id="7" name="Text 5"/>
          <p:cNvSpPr/>
          <p:nvPr/>
        </p:nvSpPr>
        <p:spPr>
          <a:xfrm>
            <a:off x="8577072" y="1709928"/>
            <a:ext cx="3017520" cy="658368"/>
          </a:xfrm>
          <a:prstGeom prst="rect">
            <a:avLst/>
          </a:prstGeom>
          <a:noFill/>
          <a:ln/>
        </p:spPr>
        <p:txBody>
          <a:bodyPr wrap="square" lIns="0" tIns="0" rIns="0" bIns="0" rtlCol="0" anchor="ctr"/>
          <a:lstStyle/>
          <a:p>
            <a:pPr marL="0" indent="0">
              <a:buNone/>
            </a:pPr>
            <a:r>
              <a:rPr lang="en-US" sz="1150" b="1" kern="0" spc="200" dirty="0">
                <a:solidFill>
                  <a:srgbClr val="93A4BD"/>
                </a:solidFill>
                <a:latin typeface="Calibri" pitchFamily="34" charset="0"/>
                <a:ea typeface="Calibri" pitchFamily="34" charset="-122"/>
                <a:cs typeface="Calibri" pitchFamily="34" charset="-120"/>
              </a:rPr>
              <a:t>FOUNDATION</a:t>
            </a:r>
            <a:endParaRPr lang="en-US" sz="1150" dirty="0"/>
          </a:p>
        </p:txBody>
      </p:sp>
      <p:sp>
        <p:nvSpPr>
          <p:cNvPr id="8" name="Shape 6"/>
          <p:cNvSpPr/>
          <p:nvPr/>
        </p:nvSpPr>
        <p:spPr>
          <a:xfrm>
            <a:off x="8366760" y="2551176"/>
            <a:ext cx="3337560" cy="658368"/>
          </a:xfrm>
          <a:prstGeom prst="rect">
            <a:avLst/>
          </a:prstGeom>
          <a:solidFill>
            <a:srgbClr val="13283F"/>
          </a:solidFill>
          <a:ln/>
        </p:spPr>
        <p:txBody>
          <a:bodyPr/>
          <a:lstStyle/>
          <a:p>
            <a:endParaRPr lang="en-IN"/>
          </a:p>
        </p:txBody>
      </p:sp>
      <p:sp>
        <p:nvSpPr>
          <p:cNvPr id="9" name="Shape 7"/>
          <p:cNvSpPr/>
          <p:nvPr/>
        </p:nvSpPr>
        <p:spPr>
          <a:xfrm>
            <a:off x="8366760" y="2551176"/>
            <a:ext cx="82296" cy="658368"/>
          </a:xfrm>
          <a:prstGeom prst="rect">
            <a:avLst/>
          </a:prstGeom>
          <a:solidFill>
            <a:srgbClr val="F26A4B"/>
          </a:solidFill>
          <a:ln/>
        </p:spPr>
        <p:txBody>
          <a:bodyPr/>
          <a:lstStyle/>
          <a:p>
            <a:endParaRPr lang="en-IN"/>
          </a:p>
        </p:txBody>
      </p:sp>
      <p:sp>
        <p:nvSpPr>
          <p:cNvPr id="10" name="Text 8"/>
          <p:cNvSpPr/>
          <p:nvPr/>
        </p:nvSpPr>
        <p:spPr>
          <a:xfrm>
            <a:off x="8577072" y="2551176"/>
            <a:ext cx="3017520" cy="658368"/>
          </a:xfrm>
          <a:prstGeom prst="rect">
            <a:avLst/>
          </a:prstGeom>
          <a:noFill/>
          <a:ln/>
        </p:spPr>
        <p:txBody>
          <a:bodyPr wrap="square" lIns="0" tIns="0" rIns="0" bIns="0" rtlCol="0" anchor="ctr"/>
          <a:lstStyle/>
          <a:p>
            <a:pPr marL="0" indent="0">
              <a:buNone/>
            </a:pPr>
            <a:r>
              <a:rPr lang="en-US" sz="1150" b="1" kern="0" spc="200" dirty="0">
                <a:solidFill>
                  <a:srgbClr val="5EEAD4"/>
                </a:solidFill>
                <a:latin typeface="Calibri" pitchFamily="34" charset="0"/>
                <a:ea typeface="Calibri" pitchFamily="34" charset="-122"/>
                <a:cs typeface="Calibri" pitchFamily="34" charset="-120"/>
              </a:rPr>
              <a:t>RETRIEVAL</a:t>
            </a:r>
            <a:endParaRPr lang="en-US" sz="1150" dirty="0"/>
          </a:p>
        </p:txBody>
      </p:sp>
      <p:sp>
        <p:nvSpPr>
          <p:cNvPr id="11" name="Shape 9"/>
          <p:cNvSpPr/>
          <p:nvPr/>
        </p:nvSpPr>
        <p:spPr>
          <a:xfrm>
            <a:off x="8366760" y="3392424"/>
            <a:ext cx="3337560" cy="658368"/>
          </a:xfrm>
          <a:prstGeom prst="rect">
            <a:avLst/>
          </a:prstGeom>
          <a:solidFill>
            <a:srgbClr val="13283F"/>
          </a:solidFill>
          <a:ln/>
        </p:spPr>
        <p:txBody>
          <a:bodyPr/>
          <a:lstStyle/>
          <a:p>
            <a:endParaRPr lang="en-IN"/>
          </a:p>
        </p:txBody>
      </p:sp>
      <p:sp>
        <p:nvSpPr>
          <p:cNvPr id="12" name="Shape 10"/>
          <p:cNvSpPr/>
          <p:nvPr/>
        </p:nvSpPr>
        <p:spPr>
          <a:xfrm>
            <a:off x="8366760" y="3392424"/>
            <a:ext cx="82296" cy="658368"/>
          </a:xfrm>
          <a:prstGeom prst="rect">
            <a:avLst/>
          </a:prstGeom>
          <a:solidFill>
            <a:srgbClr val="14B8A6"/>
          </a:solidFill>
          <a:ln/>
        </p:spPr>
        <p:txBody>
          <a:bodyPr/>
          <a:lstStyle/>
          <a:p>
            <a:endParaRPr lang="en-IN"/>
          </a:p>
        </p:txBody>
      </p:sp>
      <p:sp>
        <p:nvSpPr>
          <p:cNvPr id="13" name="Text 11"/>
          <p:cNvSpPr/>
          <p:nvPr/>
        </p:nvSpPr>
        <p:spPr>
          <a:xfrm>
            <a:off x="8577072" y="3392424"/>
            <a:ext cx="3017520" cy="658368"/>
          </a:xfrm>
          <a:prstGeom prst="rect">
            <a:avLst/>
          </a:prstGeom>
          <a:noFill/>
          <a:ln/>
        </p:spPr>
        <p:txBody>
          <a:bodyPr wrap="square" lIns="0" tIns="0" rIns="0" bIns="0" rtlCol="0" anchor="ctr"/>
          <a:lstStyle/>
          <a:p>
            <a:pPr marL="0" indent="0">
              <a:buNone/>
            </a:pPr>
            <a:r>
              <a:rPr lang="en-US" sz="1150" b="1" kern="0" spc="200" dirty="0">
                <a:solidFill>
                  <a:srgbClr val="93A4BD"/>
                </a:solidFill>
                <a:latin typeface="Calibri" pitchFamily="34" charset="0"/>
                <a:ea typeface="Calibri" pitchFamily="34" charset="-122"/>
                <a:cs typeface="Calibri" pitchFamily="34" charset="-120"/>
              </a:rPr>
              <a:t>INTELLIGENCE</a:t>
            </a:r>
            <a:endParaRPr lang="en-US" sz="1150" dirty="0"/>
          </a:p>
        </p:txBody>
      </p:sp>
      <p:sp>
        <p:nvSpPr>
          <p:cNvPr id="14" name="Shape 12"/>
          <p:cNvSpPr/>
          <p:nvPr/>
        </p:nvSpPr>
        <p:spPr>
          <a:xfrm>
            <a:off x="8366760" y="4233672"/>
            <a:ext cx="3337560" cy="658368"/>
          </a:xfrm>
          <a:prstGeom prst="rect">
            <a:avLst/>
          </a:prstGeom>
          <a:solidFill>
            <a:srgbClr val="13283F"/>
          </a:solidFill>
          <a:ln/>
        </p:spPr>
        <p:txBody>
          <a:bodyPr/>
          <a:lstStyle/>
          <a:p>
            <a:endParaRPr lang="en-IN"/>
          </a:p>
        </p:txBody>
      </p:sp>
      <p:sp>
        <p:nvSpPr>
          <p:cNvPr id="15" name="Shape 13"/>
          <p:cNvSpPr/>
          <p:nvPr/>
        </p:nvSpPr>
        <p:spPr>
          <a:xfrm>
            <a:off x="8366760" y="4233672"/>
            <a:ext cx="82296" cy="658368"/>
          </a:xfrm>
          <a:prstGeom prst="rect">
            <a:avLst/>
          </a:prstGeom>
          <a:solidFill>
            <a:srgbClr val="14B8A6"/>
          </a:solidFill>
          <a:ln/>
        </p:spPr>
        <p:txBody>
          <a:bodyPr/>
          <a:lstStyle/>
          <a:p>
            <a:endParaRPr lang="en-IN"/>
          </a:p>
        </p:txBody>
      </p:sp>
      <p:sp>
        <p:nvSpPr>
          <p:cNvPr id="16" name="Text 14"/>
          <p:cNvSpPr/>
          <p:nvPr/>
        </p:nvSpPr>
        <p:spPr>
          <a:xfrm>
            <a:off x="8577072" y="4233672"/>
            <a:ext cx="3017520" cy="658368"/>
          </a:xfrm>
          <a:prstGeom prst="rect">
            <a:avLst/>
          </a:prstGeom>
          <a:noFill/>
          <a:ln/>
        </p:spPr>
        <p:txBody>
          <a:bodyPr wrap="square" lIns="0" tIns="0" rIns="0" bIns="0" rtlCol="0" anchor="ctr"/>
          <a:lstStyle/>
          <a:p>
            <a:pPr marL="0" indent="0">
              <a:buNone/>
            </a:pPr>
            <a:r>
              <a:rPr lang="en-US" sz="1150" b="1" kern="0" spc="200" dirty="0">
                <a:solidFill>
                  <a:srgbClr val="93A4BD"/>
                </a:solidFill>
                <a:latin typeface="Calibri" pitchFamily="34" charset="0"/>
                <a:ea typeface="Calibri" pitchFamily="34" charset="-122"/>
                <a:cs typeface="Calibri" pitchFamily="34" charset="-120"/>
              </a:rPr>
              <a:t>SERVING</a:t>
            </a:r>
            <a:endParaRPr lang="en-US" sz="1150" dirty="0"/>
          </a:p>
        </p:txBody>
      </p:sp>
      <p:sp>
        <p:nvSpPr>
          <p:cNvPr id="17" name="Text 15"/>
          <p:cNvSpPr/>
          <p:nvPr/>
        </p:nvSpPr>
        <p:spPr>
          <a:xfrm>
            <a:off x="548640" y="1005840"/>
            <a:ext cx="7589520" cy="256032"/>
          </a:xfrm>
          <a:prstGeom prst="rect">
            <a:avLst/>
          </a:prstGeom>
          <a:noFill/>
          <a:ln/>
        </p:spPr>
        <p:txBody>
          <a:bodyPr wrap="square" lIns="0" tIns="0" rIns="0" bIns="0" rtlCol="0" anchor="ctr"/>
          <a:lstStyle/>
          <a:p>
            <a:pPr marL="0" indent="0">
              <a:buNone/>
            </a:pPr>
            <a:r>
              <a:rPr lang="en-US" sz="950" b="1" kern="0" spc="150" dirty="0">
                <a:solidFill>
                  <a:srgbClr val="14B8A6"/>
                </a:solidFill>
                <a:latin typeface="Calibri" pitchFamily="34" charset="0"/>
                <a:ea typeface="Calibri" pitchFamily="34" charset="-122"/>
                <a:cs typeface="Calibri" pitchFamily="34" charset="-120"/>
              </a:rPr>
              <a:t>BLUE SHIELD OF CALIFORNIA  ·  PROVIDER CONTRACTING ANALYTICS  ·  AZURE  ·  DATABRICKS</a:t>
            </a:r>
            <a:endParaRPr lang="en-US" sz="950" dirty="0"/>
          </a:p>
        </p:txBody>
      </p:sp>
      <p:sp>
        <p:nvSpPr>
          <p:cNvPr id="18" name="Text 16"/>
          <p:cNvSpPr/>
          <p:nvPr/>
        </p:nvSpPr>
        <p:spPr>
          <a:xfrm>
            <a:off x="548640" y="1417320"/>
            <a:ext cx="7498080" cy="2011680"/>
          </a:xfrm>
          <a:prstGeom prst="rect">
            <a:avLst/>
          </a:prstGeom>
          <a:noFill/>
          <a:ln/>
        </p:spPr>
        <p:txBody>
          <a:bodyPr wrap="square" lIns="0" tIns="0" rIns="0" bIns="0" rtlCol="0" anchor="t"/>
          <a:lstStyle/>
          <a:p>
            <a:pPr marL="0" indent="0">
              <a:lnSpc>
                <a:spcPts val="5400"/>
              </a:lnSpc>
              <a:buNone/>
            </a:pPr>
            <a:r>
              <a:rPr lang="en-US" sz="4800" b="1" dirty="0">
                <a:solidFill>
                  <a:srgbClr val="FFFFFF"/>
                </a:solidFill>
                <a:latin typeface="Georgia" pitchFamily="34" charset="0"/>
                <a:ea typeface="Georgia" pitchFamily="34" charset="-122"/>
                <a:cs typeface="Georgia" pitchFamily="34" charset="-120"/>
              </a:rPr>
              <a:t>Provider Contract</a:t>
            </a:r>
            <a:endParaRPr lang="en-US" sz="4800" dirty="0"/>
          </a:p>
          <a:p>
            <a:pPr marL="0" indent="0">
              <a:lnSpc>
                <a:spcPts val="5400"/>
              </a:lnSpc>
              <a:buNone/>
            </a:pPr>
            <a:r>
              <a:rPr lang="en-US" sz="4800" b="1" dirty="0">
                <a:solidFill>
                  <a:srgbClr val="FFFFFF"/>
                </a:solidFill>
                <a:latin typeface="Georgia" pitchFamily="34" charset="0"/>
                <a:ea typeface="Georgia" pitchFamily="34" charset="-122"/>
                <a:cs typeface="Georgia" pitchFamily="34" charset="-120"/>
              </a:rPr>
              <a:t>Intelligence Platform</a:t>
            </a:r>
            <a:endParaRPr lang="en-US" sz="4800" dirty="0"/>
          </a:p>
        </p:txBody>
      </p:sp>
      <p:sp>
        <p:nvSpPr>
          <p:cNvPr id="19" name="Shape 17"/>
          <p:cNvSpPr/>
          <p:nvPr/>
        </p:nvSpPr>
        <p:spPr>
          <a:xfrm>
            <a:off x="548640" y="3493008"/>
            <a:ext cx="822960" cy="54864"/>
          </a:xfrm>
          <a:prstGeom prst="rect">
            <a:avLst/>
          </a:prstGeom>
          <a:solidFill>
            <a:srgbClr val="F26A4B"/>
          </a:solidFill>
          <a:ln/>
        </p:spPr>
        <p:txBody>
          <a:bodyPr/>
          <a:lstStyle/>
          <a:p>
            <a:endParaRPr lang="en-IN"/>
          </a:p>
        </p:txBody>
      </p:sp>
      <p:sp>
        <p:nvSpPr>
          <p:cNvPr id="20" name="Text 18"/>
          <p:cNvSpPr/>
          <p:nvPr/>
        </p:nvSpPr>
        <p:spPr>
          <a:xfrm>
            <a:off x="548640" y="3675888"/>
            <a:ext cx="7498080" cy="685800"/>
          </a:xfrm>
          <a:prstGeom prst="rect">
            <a:avLst/>
          </a:prstGeom>
          <a:noFill/>
          <a:ln/>
        </p:spPr>
        <p:txBody>
          <a:bodyPr wrap="square" lIns="0" tIns="0" rIns="0" bIns="0" rtlCol="0" anchor="ctr"/>
          <a:lstStyle/>
          <a:p>
            <a:pPr marL="0" indent="0">
              <a:lnSpc>
                <a:spcPts val="2100"/>
              </a:lnSpc>
              <a:buNone/>
            </a:pPr>
            <a:r>
              <a:rPr lang="en-US" sz="1550" i="1" dirty="0">
                <a:solidFill>
                  <a:srgbClr val="5EEAD4"/>
                </a:solidFill>
                <a:latin typeface="Calibri" pitchFamily="34" charset="0"/>
                <a:ea typeface="Calibri" pitchFamily="34" charset="-122"/>
                <a:cs typeface="Calibri" pitchFamily="34" charset="-120"/>
              </a:rPr>
              <a:t>Transforming 10,372 provider contract PDFs into governed, queryable operational intelligence.</a:t>
            </a:r>
            <a:endParaRPr lang="en-US" sz="1550" dirty="0"/>
          </a:p>
        </p:txBody>
      </p:sp>
      <p:sp>
        <p:nvSpPr>
          <p:cNvPr id="21" name="Text 19"/>
          <p:cNvSpPr/>
          <p:nvPr/>
        </p:nvSpPr>
        <p:spPr>
          <a:xfrm>
            <a:off x="548640" y="5212080"/>
            <a:ext cx="2606040" cy="566928"/>
          </a:xfrm>
          <a:prstGeom prst="rect">
            <a:avLst/>
          </a:prstGeom>
          <a:noFill/>
          <a:ln/>
        </p:spPr>
        <p:txBody>
          <a:bodyPr wrap="square" lIns="0" tIns="0" rIns="0" bIns="0" rtlCol="0" anchor="ctr"/>
          <a:lstStyle/>
          <a:p>
            <a:pPr marL="0" indent="0">
              <a:buNone/>
            </a:pPr>
            <a:r>
              <a:rPr lang="en-US" sz="2800" b="1" dirty="0">
                <a:solidFill>
                  <a:srgbClr val="F26A4B"/>
                </a:solidFill>
                <a:latin typeface="Georgia" pitchFamily="34" charset="0"/>
                <a:ea typeface="Georgia" pitchFamily="34" charset="-122"/>
                <a:cs typeface="Georgia" pitchFamily="34" charset="-120"/>
              </a:rPr>
              <a:t>10,372</a:t>
            </a:r>
            <a:endParaRPr lang="en-US" sz="2800" dirty="0"/>
          </a:p>
        </p:txBody>
      </p:sp>
      <p:sp>
        <p:nvSpPr>
          <p:cNvPr id="22" name="Text 20"/>
          <p:cNvSpPr/>
          <p:nvPr/>
        </p:nvSpPr>
        <p:spPr>
          <a:xfrm>
            <a:off x="548640" y="5806440"/>
            <a:ext cx="2606040" cy="347472"/>
          </a:xfrm>
          <a:prstGeom prst="rect">
            <a:avLst/>
          </a:prstGeom>
          <a:noFill/>
          <a:ln/>
        </p:spPr>
        <p:txBody>
          <a:bodyPr wrap="square" lIns="0" tIns="0" rIns="0" bIns="0" rtlCol="0" anchor="ctr"/>
          <a:lstStyle/>
          <a:p>
            <a:pPr marL="0" indent="0">
              <a:lnSpc>
                <a:spcPts val="1000"/>
              </a:lnSpc>
              <a:buNone/>
            </a:pPr>
            <a:r>
              <a:rPr lang="en-US" sz="850" b="1" kern="0" spc="100" dirty="0">
                <a:solidFill>
                  <a:srgbClr val="93A4BD"/>
                </a:solidFill>
                <a:latin typeface="Calibri" pitchFamily="34" charset="0"/>
                <a:ea typeface="Calibri" pitchFamily="34" charset="-122"/>
                <a:cs typeface="Calibri" pitchFamily="34" charset="-120"/>
              </a:rPr>
              <a:t>CONTRACT PDFS — THE SOURCE CORPUS</a:t>
            </a:r>
            <a:endParaRPr lang="en-US" sz="850" dirty="0"/>
          </a:p>
        </p:txBody>
      </p:sp>
      <p:sp>
        <p:nvSpPr>
          <p:cNvPr id="23" name="Text 21"/>
          <p:cNvSpPr/>
          <p:nvPr/>
        </p:nvSpPr>
        <p:spPr>
          <a:xfrm>
            <a:off x="3383280" y="5212080"/>
            <a:ext cx="2606040" cy="566928"/>
          </a:xfrm>
          <a:prstGeom prst="rect">
            <a:avLst/>
          </a:prstGeom>
          <a:noFill/>
          <a:ln/>
        </p:spPr>
        <p:txBody>
          <a:bodyPr wrap="square" lIns="0" tIns="0" rIns="0" bIns="0" rtlCol="0" anchor="ctr"/>
          <a:lstStyle/>
          <a:p>
            <a:pPr marL="0" indent="0">
              <a:buNone/>
            </a:pPr>
            <a:r>
              <a:rPr lang="en-US" sz="2800" b="1" dirty="0">
                <a:solidFill>
                  <a:srgbClr val="5EEAD4"/>
                </a:solidFill>
                <a:latin typeface="Georgia" pitchFamily="34" charset="0"/>
                <a:ea typeface="Georgia" pitchFamily="34" charset="-122"/>
                <a:cs typeface="Georgia" pitchFamily="34" charset="-120"/>
              </a:rPr>
              <a:t>27.3 GB</a:t>
            </a:r>
            <a:endParaRPr lang="en-US" sz="2800" dirty="0"/>
          </a:p>
        </p:txBody>
      </p:sp>
      <p:sp>
        <p:nvSpPr>
          <p:cNvPr id="24" name="Text 22"/>
          <p:cNvSpPr/>
          <p:nvPr/>
        </p:nvSpPr>
        <p:spPr>
          <a:xfrm>
            <a:off x="3383280" y="5806440"/>
            <a:ext cx="2606040" cy="347472"/>
          </a:xfrm>
          <a:prstGeom prst="rect">
            <a:avLst/>
          </a:prstGeom>
          <a:noFill/>
          <a:ln/>
        </p:spPr>
        <p:txBody>
          <a:bodyPr wrap="square" lIns="0" tIns="0" rIns="0" bIns="0" rtlCol="0" anchor="ctr"/>
          <a:lstStyle/>
          <a:p>
            <a:pPr marL="0" indent="0">
              <a:lnSpc>
                <a:spcPts val="1000"/>
              </a:lnSpc>
              <a:buNone/>
            </a:pPr>
            <a:r>
              <a:rPr lang="en-US" sz="850" b="1" kern="0" spc="100" dirty="0">
                <a:solidFill>
                  <a:srgbClr val="93A4BD"/>
                </a:solidFill>
                <a:latin typeface="Calibri" pitchFamily="34" charset="0"/>
                <a:ea typeface="Calibri" pitchFamily="34" charset="-122"/>
                <a:cs typeface="Calibri" pitchFamily="34" charset="-120"/>
              </a:rPr>
              <a:t>TOTAL DOCUMENT SIZE</a:t>
            </a:r>
            <a:endParaRPr lang="en-US" sz="850" dirty="0"/>
          </a:p>
        </p:txBody>
      </p:sp>
      <p:sp>
        <p:nvSpPr>
          <p:cNvPr id="25" name="Text 23"/>
          <p:cNvSpPr/>
          <p:nvPr/>
        </p:nvSpPr>
        <p:spPr>
          <a:xfrm>
            <a:off x="6217920" y="5212080"/>
            <a:ext cx="2606040" cy="566928"/>
          </a:xfrm>
          <a:prstGeom prst="rect">
            <a:avLst/>
          </a:prstGeom>
          <a:noFill/>
          <a:ln/>
        </p:spPr>
        <p:txBody>
          <a:bodyPr wrap="square" lIns="0" tIns="0" rIns="0" bIns="0" rtlCol="0" anchor="ctr"/>
          <a:lstStyle/>
          <a:p>
            <a:pPr marL="0" indent="0">
              <a:buNone/>
            </a:pPr>
            <a:r>
              <a:rPr lang="en-US" sz="2800" b="1" dirty="0">
                <a:solidFill>
                  <a:srgbClr val="5EEAD4"/>
                </a:solidFill>
                <a:latin typeface="Georgia" pitchFamily="34" charset="0"/>
                <a:ea typeface="Georgia" pitchFamily="34" charset="-122"/>
                <a:cs typeface="Georgia" pitchFamily="34" charset="-120"/>
              </a:rPr>
              <a:t>597</a:t>
            </a:r>
            <a:endParaRPr lang="en-US" sz="2800" dirty="0"/>
          </a:p>
        </p:txBody>
      </p:sp>
      <p:sp>
        <p:nvSpPr>
          <p:cNvPr id="26" name="Text 24"/>
          <p:cNvSpPr/>
          <p:nvPr/>
        </p:nvSpPr>
        <p:spPr>
          <a:xfrm>
            <a:off x="6217920" y="5806440"/>
            <a:ext cx="2606040" cy="347472"/>
          </a:xfrm>
          <a:prstGeom prst="rect">
            <a:avLst/>
          </a:prstGeom>
          <a:noFill/>
          <a:ln/>
        </p:spPr>
        <p:txBody>
          <a:bodyPr wrap="square" lIns="0" tIns="0" rIns="0" bIns="0" rtlCol="0" anchor="ctr"/>
          <a:lstStyle/>
          <a:p>
            <a:pPr marL="0" indent="0">
              <a:lnSpc>
                <a:spcPts val="1000"/>
              </a:lnSpc>
              <a:buNone/>
            </a:pPr>
            <a:r>
              <a:rPr lang="en-US" sz="850" b="1" kern="0" spc="100" dirty="0">
                <a:solidFill>
                  <a:srgbClr val="93A4BD"/>
                </a:solidFill>
                <a:latin typeface="Calibri" pitchFamily="34" charset="0"/>
                <a:ea typeface="Calibri" pitchFamily="34" charset="-122"/>
                <a:cs typeface="Calibri" pitchFamily="34" charset="-120"/>
              </a:rPr>
              <a:t>PROVIDER FOLDERS</a:t>
            </a:r>
            <a:endParaRPr lang="en-US" sz="850" dirty="0"/>
          </a:p>
        </p:txBody>
      </p:sp>
      <p:sp>
        <p:nvSpPr>
          <p:cNvPr id="27" name="Text 25"/>
          <p:cNvSpPr/>
          <p:nvPr/>
        </p:nvSpPr>
        <p:spPr>
          <a:xfrm>
            <a:off x="9052560" y="5212080"/>
            <a:ext cx="2606040" cy="566928"/>
          </a:xfrm>
          <a:prstGeom prst="rect">
            <a:avLst/>
          </a:prstGeom>
          <a:noFill/>
          <a:ln/>
        </p:spPr>
        <p:txBody>
          <a:bodyPr wrap="square" lIns="0" tIns="0" rIns="0" bIns="0" rtlCol="0" anchor="ctr"/>
          <a:lstStyle/>
          <a:p>
            <a:pPr marL="0" indent="0">
              <a:buNone/>
            </a:pPr>
            <a:r>
              <a:rPr lang="en-US" sz="2800" b="1" dirty="0">
                <a:solidFill>
                  <a:srgbClr val="5EEAD4"/>
                </a:solidFill>
                <a:latin typeface="Georgia" pitchFamily="34" charset="0"/>
                <a:ea typeface="Georgia" pitchFamily="34" charset="-122"/>
                <a:cs typeface="Georgia" pitchFamily="34" charset="-120"/>
              </a:rPr>
              <a:t>30+ yrs</a:t>
            </a:r>
            <a:endParaRPr lang="en-US" sz="2800" dirty="0"/>
          </a:p>
        </p:txBody>
      </p:sp>
      <p:sp>
        <p:nvSpPr>
          <p:cNvPr id="28" name="Text 26"/>
          <p:cNvSpPr/>
          <p:nvPr/>
        </p:nvSpPr>
        <p:spPr>
          <a:xfrm>
            <a:off x="9052560" y="5806440"/>
            <a:ext cx="2606040" cy="347472"/>
          </a:xfrm>
          <a:prstGeom prst="rect">
            <a:avLst/>
          </a:prstGeom>
          <a:noFill/>
          <a:ln/>
        </p:spPr>
        <p:txBody>
          <a:bodyPr wrap="square" lIns="0" tIns="0" rIns="0" bIns="0" rtlCol="0" anchor="ctr"/>
          <a:lstStyle/>
          <a:p>
            <a:pPr marL="0" indent="0">
              <a:lnSpc>
                <a:spcPts val="1000"/>
              </a:lnSpc>
              <a:buNone/>
            </a:pPr>
            <a:r>
              <a:rPr lang="en-US" sz="850" b="1" kern="0" spc="100" dirty="0">
                <a:solidFill>
                  <a:srgbClr val="93A4BD"/>
                </a:solidFill>
                <a:latin typeface="Calibri" pitchFamily="34" charset="0"/>
                <a:ea typeface="Calibri" pitchFamily="34" charset="-122"/>
                <a:cs typeface="Calibri" pitchFamily="34" charset="-120"/>
              </a:rPr>
              <a:t>AMENDMENT HISTORY</a:t>
            </a:r>
            <a:endParaRPr lang="en-US" sz="850" dirty="0"/>
          </a:p>
        </p:txBody>
      </p:sp>
      <p:sp>
        <p:nvSpPr>
          <p:cNvPr id="29" name="Text 27"/>
          <p:cNvSpPr/>
          <p:nvPr/>
        </p:nvSpPr>
        <p:spPr>
          <a:xfrm>
            <a:off x="548640" y="6419088"/>
            <a:ext cx="10058400" cy="256032"/>
          </a:xfrm>
          <a:prstGeom prst="rect">
            <a:avLst/>
          </a:prstGeom>
          <a:noFill/>
          <a:ln/>
        </p:spPr>
        <p:txBody>
          <a:bodyPr wrap="square" lIns="0" tIns="0" rIns="0" bIns="0" rtlCol="0" anchor="ctr"/>
          <a:lstStyle/>
          <a:p>
            <a:pPr marL="0" indent="0">
              <a:buNone/>
            </a:pPr>
            <a:r>
              <a:rPr lang="en-US" sz="950" kern="0" spc="80" dirty="0">
                <a:solidFill>
                  <a:srgbClr val="93A4BD"/>
                </a:solidFill>
                <a:latin typeface="Calibri" pitchFamily="34" charset="0"/>
                <a:ea typeface="Calibri" pitchFamily="34" charset="-122"/>
                <a:cs typeface="Calibri" pitchFamily="34" charset="-120"/>
              </a:rPr>
              <a:t>Executive Briefing  ·  Blue Shield of California  ·  Provider Contracting Analytics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0062DD-38C4-A500-F241-6F0D1D871FDA}"/>
              </a:ext>
            </a:extLst>
          </p:cNvPr>
          <p:cNvPicPr>
            <a:picLocks noChangeAspect="1"/>
          </p:cNvPicPr>
          <p:nvPr/>
        </p:nvPicPr>
        <p:blipFill>
          <a:blip r:embed="rId2"/>
          <a:stretch>
            <a:fillRect/>
          </a:stretch>
        </p:blipFill>
        <p:spPr>
          <a:xfrm>
            <a:off x="447869" y="0"/>
            <a:ext cx="11296262" cy="6767740"/>
          </a:xfrm>
          <a:prstGeom prst="rect">
            <a:avLst/>
          </a:prstGeom>
        </p:spPr>
      </p:pic>
    </p:spTree>
    <p:extLst>
      <p:ext uri="{BB962C8B-B14F-4D97-AF65-F5344CB8AC3E}">
        <p14:creationId xmlns:p14="http://schemas.microsoft.com/office/powerpoint/2010/main" val="1709661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256032"/>
          </a:xfrm>
          <a:prstGeom prst="rect">
            <a:avLst/>
          </a:prstGeom>
          <a:noFill/>
          <a:ln/>
        </p:spPr>
        <p:txBody>
          <a:bodyPr wrap="square" lIns="0" tIns="0" rIns="0" bIns="0" rtlCol="0" anchor="ctr"/>
          <a:lstStyle/>
          <a:p>
            <a:pPr marL="0" indent="0">
              <a:buNone/>
            </a:pPr>
            <a:r>
              <a:rPr lang="en-US" sz="1100" b="1" kern="0" spc="250" dirty="0">
                <a:solidFill>
                  <a:srgbClr val="0F766E"/>
                </a:solidFill>
                <a:latin typeface="Calibri" pitchFamily="34" charset="0"/>
                <a:ea typeface="Calibri" pitchFamily="34" charset="-122"/>
                <a:cs typeface="Calibri" pitchFamily="34" charset="-120"/>
              </a:rPr>
              <a:t>SECTION 01 · THE BUSINESS PROBLEM</a:t>
            </a:r>
            <a:endParaRPr lang="en-US" sz="1100" dirty="0"/>
          </a:p>
        </p:txBody>
      </p:sp>
      <p:sp>
        <p:nvSpPr>
          <p:cNvPr id="3" name="Text 1"/>
          <p:cNvSpPr/>
          <p:nvPr/>
        </p:nvSpPr>
        <p:spPr>
          <a:xfrm>
            <a:off x="548640" y="804672"/>
            <a:ext cx="7987979" cy="1005840"/>
          </a:xfrm>
          <a:prstGeom prst="rect">
            <a:avLst/>
          </a:prstGeom>
          <a:noFill/>
          <a:ln/>
        </p:spPr>
        <p:txBody>
          <a:bodyPr wrap="square" lIns="0" tIns="0" rIns="0" bIns="0" rtlCol="0" anchor="t"/>
          <a:lstStyle/>
          <a:p>
            <a:pPr marL="0" indent="0">
              <a:lnSpc>
                <a:spcPts val="3080"/>
              </a:lnSpc>
              <a:buNone/>
            </a:pPr>
            <a:r>
              <a:rPr lang="en-US" sz="2800" b="1" dirty="0">
                <a:solidFill>
                  <a:srgbClr val="0B1B2E"/>
                </a:solidFill>
                <a:latin typeface="Georgia" pitchFamily="34" charset="0"/>
                <a:ea typeface="Georgia" pitchFamily="34" charset="-122"/>
                <a:cs typeface="Georgia" pitchFamily="34" charset="-120"/>
              </a:rPr>
              <a:t>Our most valuable contract intelligence is locked in documents</a:t>
            </a:r>
            <a:endParaRPr lang="en-US" sz="2800" dirty="0"/>
          </a:p>
        </p:txBody>
      </p:sp>
      <p:sp>
        <p:nvSpPr>
          <p:cNvPr id="4" name="Shape 2"/>
          <p:cNvSpPr/>
          <p:nvPr/>
        </p:nvSpPr>
        <p:spPr>
          <a:xfrm>
            <a:off x="548640" y="1920240"/>
            <a:ext cx="6583680" cy="1115568"/>
          </a:xfrm>
          <a:prstGeom prst="rect">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5" name="Shape 3"/>
          <p:cNvSpPr/>
          <p:nvPr/>
        </p:nvSpPr>
        <p:spPr>
          <a:xfrm>
            <a:off x="548640" y="1920240"/>
            <a:ext cx="82296" cy="1115568"/>
          </a:xfrm>
          <a:prstGeom prst="rect">
            <a:avLst/>
          </a:prstGeom>
          <a:solidFill>
            <a:srgbClr val="F26A4B"/>
          </a:solidFill>
          <a:ln/>
        </p:spPr>
        <p:txBody>
          <a:bodyPr/>
          <a:lstStyle/>
          <a:p>
            <a:endParaRPr lang="en-IN"/>
          </a:p>
        </p:txBody>
      </p:sp>
      <p:sp>
        <p:nvSpPr>
          <p:cNvPr id="6" name="Text 4"/>
          <p:cNvSpPr/>
          <p:nvPr/>
        </p:nvSpPr>
        <p:spPr>
          <a:xfrm>
            <a:off x="804672" y="2066544"/>
            <a:ext cx="6126480" cy="347472"/>
          </a:xfrm>
          <a:prstGeom prst="rect">
            <a:avLst/>
          </a:prstGeom>
          <a:noFill/>
          <a:ln/>
        </p:spPr>
        <p:txBody>
          <a:bodyPr wrap="square" lIns="0" tIns="0" rIns="0" bIns="0" rtlCol="0" anchor="ctr"/>
          <a:lstStyle/>
          <a:p>
            <a:pPr marL="0" indent="0">
              <a:buNone/>
            </a:pPr>
            <a:r>
              <a:rPr lang="en-US" sz="1400" b="1" dirty="0">
                <a:solidFill>
                  <a:srgbClr val="0B1B2E"/>
                </a:solidFill>
                <a:latin typeface="Calibri" pitchFamily="34" charset="0"/>
                <a:ea typeface="Calibri" pitchFamily="34" charset="-122"/>
                <a:cs typeface="Calibri" pitchFamily="34" charset="-120"/>
              </a:rPr>
              <a:t>Rate &amp; reimbursement lookup</a:t>
            </a:r>
            <a:endParaRPr lang="en-US" sz="1400" dirty="0"/>
          </a:p>
        </p:txBody>
      </p:sp>
      <p:sp>
        <p:nvSpPr>
          <p:cNvPr id="7" name="Text 5"/>
          <p:cNvSpPr/>
          <p:nvPr/>
        </p:nvSpPr>
        <p:spPr>
          <a:xfrm>
            <a:off x="804672" y="2432304"/>
            <a:ext cx="6126480" cy="530352"/>
          </a:xfrm>
          <a:prstGeom prst="rect">
            <a:avLst/>
          </a:prstGeom>
          <a:noFill/>
          <a:ln/>
        </p:spPr>
        <p:txBody>
          <a:bodyPr wrap="square" lIns="0" tIns="0" rIns="0" bIns="0" rtlCol="0" anchor="t"/>
          <a:lstStyle/>
          <a:p>
            <a:pPr marL="0" indent="0">
              <a:lnSpc>
                <a:spcPts val="1550"/>
              </a:lnSpc>
              <a:buNone/>
            </a:pPr>
            <a:r>
              <a:rPr lang="en-US" sz="1150" dirty="0">
                <a:solidFill>
                  <a:srgbClr val="33415A"/>
                </a:solidFill>
                <a:latin typeface="Calibri" pitchFamily="34" charset="0"/>
                <a:ea typeface="Calibri" pitchFamily="34" charset="-122"/>
                <a:cs typeface="Calibri" pitchFamily="34" charset="-120"/>
              </a:rPr>
              <a:t>Every rate question requires manually opening PDFs, cross-referencing amendments, and verifying which version is currently in force. There is no single place to ask.</a:t>
            </a:r>
            <a:endParaRPr lang="en-US" sz="1150" dirty="0"/>
          </a:p>
        </p:txBody>
      </p:sp>
      <p:sp>
        <p:nvSpPr>
          <p:cNvPr id="8" name="Shape 6"/>
          <p:cNvSpPr/>
          <p:nvPr/>
        </p:nvSpPr>
        <p:spPr>
          <a:xfrm>
            <a:off x="548640" y="3182112"/>
            <a:ext cx="6583680" cy="1115568"/>
          </a:xfrm>
          <a:prstGeom prst="rect">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9" name="Shape 7"/>
          <p:cNvSpPr/>
          <p:nvPr/>
        </p:nvSpPr>
        <p:spPr>
          <a:xfrm>
            <a:off x="548640" y="3182112"/>
            <a:ext cx="82296" cy="1115568"/>
          </a:xfrm>
          <a:prstGeom prst="rect">
            <a:avLst/>
          </a:prstGeom>
          <a:solidFill>
            <a:srgbClr val="F26A4B"/>
          </a:solidFill>
          <a:ln/>
        </p:spPr>
        <p:txBody>
          <a:bodyPr/>
          <a:lstStyle/>
          <a:p>
            <a:endParaRPr lang="en-IN"/>
          </a:p>
        </p:txBody>
      </p:sp>
      <p:sp>
        <p:nvSpPr>
          <p:cNvPr id="10" name="Text 8"/>
          <p:cNvSpPr/>
          <p:nvPr/>
        </p:nvSpPr>
        <p:spPr>
          <a:xfrm>
            <a:off x="804672" y="3328416"/>
            <a:ext cx="6126480" cy="347472"/>
          </a:xfrm>
          <a:prstGeom prst="rect">
            <a:avLst/>
          </a:prstGeom>
          <a:noFill/>
          <a:ln/>
        </p:spPr>
        <p:txBody>
          <a:bodyPr wrap="square" lIns="0" tIns="0" rIns="0" bIns="0" rtlCol="0" anchor="ctr"/>
          <a:lstStyle/>
          <a:p>
            <a:pPr marL="0" indent="0">
              <a:buNone/>
            </a:pPr>
            <a:r>
              <a:rPr lang="en-US" sz="1400" b="1" dirty="0">
                <a:solidFill>
                  <a:srgbClr val="0B1B2E"/>
                </a:solidFill>
                <a:latin typeface="Calibri" pitchFamily="34" charset="0"/>
                <a:ea typeface="Calibri" pitchFamily="34" charset="-122"/>
                <a:cs typeface="Calibri" pitchFamily="34" charset="-120"/>
              </a:rPr>
              <a:t>Amendment complexity</a:t>
            </a:r>
            <a:endParaRPr lang="en-US" sz="1400" dirty="0"/>
          </a:p>
        </p:txBody>
      </p:sp>
      <p:sp>
        <p:nvSpPr>
          <p:cNvPr id="11" name="Text 9"/>
          <p:cNvSpPr/>
          <p:nvPr/>
        </p:nvSpPr>
        <p:spPr>
          <a:xfrm>
            <a:off x="804672" y="3694176"/>
            <a:ext cx="6126480" cy="530352"/>
          </a:xfrm>
          <a:prstGeom prst="rect">
            <a:avLst/>
          </a:prstGeom>
          <a:noFill/>
          <a:ln/>
        </p:spPr>
        <p:txBody>
          <a:bodyPr wrap="square" lIns="0" tIns="0" rIns="0" bIns="0" rtlCol="0" anchor="t"/>
          <a:lstStyle/>
          <a:p>
            <a:pPr marL="0" indent="0">
              <a:lnSpc>
                <a:spcPts val="1550"/>
              </a:lnSpc>
              <a:buNone/>
            </a:pPr>
            <a:r>
              <a:rPr lang="en-US" sz="1150" dirty="0">
                <a:solidFill>
                  <a:srgbClr val="33415A"/>
                </a:solidFill>
                <a:latin typeface="Calibri" pitchFamily="34" charset="0"/>
                <a:ea typeface="Calibri" pitchFamily="34" charset="-122"/>
                <a:cs typeface="Calibri" pitchFamily="34" charset="-120"/>
              </a:rPr>
              <a:t>Contracts accumulate amendments over decades. Knowing what is actually in force today versus what was superseded requires reading every document in the chain.</a:t>
            </a:r>
            <a:endParaRPr lang="en-US" sz="1150" dirty="0"/>
          </a:p>
        </p:txBody>
      </p:sp>
      <p:sp>
        <p:nvSpPr>
          <p:cNvPr id="12" name="Shape 10"/>
          <p:cNvSpPr/>
          <p:nvPr/>
        </p:nvSpPr>
        <p:spPr>
          <a:xfrm>
            <a:off x="548640" y="4443984"/>
            <a:ext cx="6583680" cy="1115568"/>
          </a:xfrm>
          <a:prstGeom prst="rect">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13" name="Shape 11"/>
          <p:cNvSpPr/>
          <p:nvPr/>
        </p:nvSpPr>
        <p:spPr>
          <a:xfrm>
            <a:off x="548640" y="4443984"/>
            <a:ext cx="82296" cy="1115568"/>
          </a:xfrm>
          <a:prstGeom prst="rect">
            <a:avLst/>
          </a:prstGeom>
          <a:solidFill>
            <a:srgbClr val="F26A4B"/>
          </a:solidFill>
          <a:ln/>
        </p:spPr>
        <p:txBody>
          <a:bodyPr/>
          <a:lstStyle/>
          <a:p>
            <a:endParaRPr lang="en-IN"/>
          </a:p>
        </p:txBody>
      </p:sp>
      <p:sp>
        <p:nvSpPr>
          <p:cNvPr id="14" name="Text 12"/>
          <p:cNvSpPr/>
          <p:nvPr/>
        </p:nvSpPr>
        <p:spPr>
          <a:xfrm>
            <a:off x="804672" y="4590288"/>
            <a:ext cx="6126480" cy="347472"/>
          </a:xfrm>
          <a:prstGeom prst="rect">
            <a:avLst/>
          </a:prstGeom>
          <a:noFill/>
          <a:ln/>
        </p:spPr>
        <p:txBody>
          <a:bodyPr wrap="square" lIns="0" tIns="0" rIns="0" bIns="0" rtlCol="0" anchor="ctr"/>
          <a:lstStyle/>
          <a:p>
            <a:pPr marL="0" indent="0">
              <a:buNone/>
            </a:pPr>
            <a:r>
              <a:rPr lang="en-US" sz="1400" b="1" dirty="0">
                <a:solidFill>
                  <a:srgbClr val="0B1B2E"/>
                </a:solidFill>
                <a:latin typeface="Calibri" pitchFamily="34" charset="0"/>
                <a:ea typeface="Calibri" pitchFamily="34" charset="-122"/>
                <a:cs typeface="Calibri" pitchFamily="34" charset="-120"/>
              </a:rPr>
              <a:t>No portfolio view</a:t>
            </a:r>
            <a:endParaRPr lang="en-US" sz="1400" dirty="0"/>
          </a:p>
        </p:txBody>
      </p:sp>
      <p:sp>
        <p:nvSpPr>
          <p:cNvPr id="15" name="Text 13"/>
          <p:cNvSpPr/>
          <p:nvPr/>
        </p:nvSpPr>
        <p:spPr>
          <a:xfrm>
            <a:off x="804672" y="4956048"/>
            <a:ext cx="6126480" cy="530352"/>
          </a:xfrm>
          <a:prstGeom prst="rect">
            <a:avLst/>
          </a:prstGeom>
          <a:noFill/>
          <a:ln/>
        </p:spPr>
        <p:txBody>
          <a:bodyPr wrap="square" lIns="0" tIns="0" rIns="0" bIns="0" rtlCol="0" anchor="t"/>
          <a:lstStyle/>
          <a:p>
            <a:pPr marL="0" indent="0">
              <a:lnSpc>
                <a:spcPts val="1550"/>
              </a:lnSpc>
              <a:buNone/>
            </a:pPr>
            <a:r>
              <a:rPr lang="en-US" sz="1150" dirty="0">
                <a:solidFill>
                  <a:srgbClr val="33415A"/>
                </a:solidFill>
                <a:latin typeface="Calibri" pitchFamily="34" charset="0"/>
                <a:ea typeface="Calibri" pitchFamily="34" charset="-122"/>
                <a:cs typeface="Calibri" pitchFamily="34" charset="-120"/>
              </a:rPr>
              <a:t>With 10,372 documents across 597 providers, cross-provider comparison and benchmarking was not practically possible. The intelligence existed — it just was not reachable.</a:t>
            </a:r>
            <a:endParaRPr lang="en-US" sz="1150" dirty="0"/>
          </a:p>
        </p:txBody>
      </p:sp>
      <p:sp>
        <p:nvSpPr>
          <p:cNvPr id="16" name="Text 14"/>
          <p:cNvSpPr/>
          <p:nvPr/>
        </p:nvSpPr>
        <p:spPr>
          <a:xfrm>
            <a:off x="548640" y="5715000"/>
            <a:ext cx="6583680" cy="502920"/>
          </a:xfrm>
          <a:prstGeom prst="rect">
            <a:avLst/>
          </a:prstGeom>
          <a:noFill/>
          <a:ln/>
        </p:spPr>
        <p:txBody>
          <a:bodyPr wrap="square" lIns="0" tIns="0" rIns="0" bIns="0" rtlCol="0" anchor="ctr"/>
          <a:lstStyle/>
          <a:p>
            <a:pPr marL="0" indent="0">
              <a:lnSpc>
                <a:spcPts val="1800"/>
              </a:lnSpc>
              <a:buNone/>
            </a:pPr>
            <a:r>
              <a:rPr lang="en-US" sz="1400" i="1" dirty="0">
                <a:solidFill>
                  <a:srgbClr val="0F766E"/>
                </a:solidFill>
                <a:latin typeface="Calibri" pitchFamily="34" charset="0"/>
                <a:ea typeface="Calibri" pitchFamily="34" charset="-122"/>
                <a:cs typeface="Calibri" pitchFamily="34" charset="-120"/>
              </a:rPr>
              <a:t>Analysts spent the majority of their time finding information — not analyzing it.</a:t>
            </a:r>
            <a:endParaRPr lang="en-US" sz="1400" dirty="0"/>
          </a:p>
        </p:txBody>
      </p:sp>
      <p:sp>
        <p:nvSpPr>
          <p:cNvPr id="17" name="Shape 15"/>
          <p:cNvSpPr/>
          <p:nvPr/>
        </p:nvSpPr>
        <p:spPr>
          <a:xfrm>
            <a:off x="7543800" y="1920240"/>
            <a:ext cx="4099255" cy="3703320"/>
          </a:xfrm>
          <a:prstGeom prst="rect">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18" name="Shape 16"/>
          <p:cNvSpPr/>
          <p:nvPr/>
        </p:nvSpPr>
        <p:spPr>
          <a:xfrm>
            <a:off x="7543800" y="1920240"/>
            <a:ext cx="4099255" cy="73152"/>
          </a:xfrm>
          <a:prstGeom prst="rect">
            <a:avLst/>
          </a:prstGeom>
          <a:solidFill>
            <a:srgbClr val="F26A4B"/>
          </a:solidFill>
          <a:ln/>
        </p:spPr>
        <p:txBody>
          <a:bodyPr/>
          <a:lstStyle/>
          <a:p>
            <a:endParaRPr lang="en-IN"/>
          </a:p>
        </p:txBody>
      </p:sp>
      <p:sp>
        <p:nvSpPr>
          <p:cNvPr id="19" name="Text 17"/>
          <p:cNvSpPr/>
          <p:nvPr/>
        </p:nvSpPr>
        <p:spPr>
          <a:xfrm>
            <a:off x="7799832" y="2084832"/>
            <a:ext cx="3733495" cy="658368"/>
          </a:xfrm>
          <a:prstGeom prst="rect">
            <a:avLst/>
          </a:prstGeom>
          <a:noFill/>
          <a:ln/>
        </p:spPr>
        <p:txBody>
          <a:bodyPr wrap="square" lIns="0" tIns="0" rIns="0" bIns="0" rtlCol="0" anchor="ctr"/>
          <a:lstStyle/>
          <a:p>
            <a:pPr marL="0" indent="0">
              <a:lnSpc>
                <a:spcPts val="1500"/>
              </a:lnSpc>
              <a:buNone/>
            </a:pPr>
            <a:r>
              <a:rPr lang="en-US" sz="1200" b="1" kern="0" spc="150" dirty="0">
                <a:solidFill>
                  <a:srgbClr val="F26A4B"/>
                </a:solidFill>
                <a:latin typeface="Calibri" pitchFamily="34" charset="0"/>
                <a:ea typeface="Calibri" pitchFamily="34" charset="-122"/>
                <a:cs typeface="Calibri" pitchFamily="34" charset="-120"/>
              </a:rPr>
              <a:t>THE COST OF THE</a:t>
            </a:r>
            <a:endParaRPr lang="en-US" sz="1200" dirty="0"/>
          </a:p>
          <a:p>
            <a:pPr marL="0" indent="0">
              <a:lnSpc>
                <a:spcPts val="1500"/>
              </a:lnSpc>
              <a:buNone/>
            </a:pPr>
            <a:r>
              <a:rPr lang="en-US" sz="1200" b="1" kern="0" spc="150" dirty="0">
                <a:solidFill>
                  <a:srgbClr val="F26A4B"/>
                </a:solidFill>
                <a:latin typeface="Calibri" pitchFamily="34" charset="0"/>
                <a:ea typeface="Calibri" pitchFamily="34" charset="-122"/>
                <a:cs typeface="Calibri" pitchFamily="34" charset="-120"/>
              </a:rPr>
              <a:t>STATUS QUO</a:t>
            </a:r>
            <a:endParaRPr lang="en-US" sz="1200" dirty="0"/>
          </a:p>
        </p:txBody>
      </p:sp>
      <p:sp>
        <p:nvSpPr>
          <p:cNvPr id="20" name="Shape 18"/>
          <p:cNvSpPr/>
          <p:nvPr/>
        </p:nvSpPr>
        <p:spPr>
          <a:xfrm>
            <a:off x="7799832" y="2980944"/>
            <a:ext cx="128016" cy="128016"/>
          </a:xfrm>
          <a:prstGeom prst="ellipse">
            <a:avLst/>
          </a:prstGeom>
          <a:solidFill>
            <a:srgbClr val="14B8A6"/>
          </a:solidFill>
          <a:ln/>
        </p:spPr>
        <p:txBody>
          <a:bodyPr/>
          <a:lstStyle/>
          <a:p>
            <a:endParaRPr lang="en-IN"/>
          </a:p>
        </p:txBody>
      </p:sp>
      <p:sp>
        <p:nvSpPr>
          <p:cNvPr id="21" name="Text 19"/>
          <p:cNvSpPr/>
          <p:nvPr/>
        </p:nvSpPr>
        <p:spPr>
          <a:xfrm>
            <a:off x="8037576" y="2889504"/>
            <a:ext cx="3459175" cy="502920"/>
          </a:xfrm>
          <a:prstGeom prst="rect">
            <a:avLst/>
          </a:prstGeom>
          <a:noFill/>
          <a:ln/>
        </p:spPr>
        <p:txBody>
          <a:bodyPr wrap="square" lIns="0" tIns="0" rIns="0" bIns="0" rtlCol="0" anchor="t"/>
          <a:lstStyle/>
          <a:p>
            <a:pPr marL="0" indent="0">
              <a:lnSpc>
                <a:spcPts val="1400"/>
              </a:lnSpc>
              <a:buNone/>
            </a:pPr>
            <a:r>
              <a:rPr lang="en-US" sz="1100" dirty="0">
                <a:solidFill>
                  <a:srgbClr val="FFFFFF"/>
                </a:solidFill>
                <a:latin typeface="Calibri" pitchFamily="34" charset="0"/>
                <a:ea typeface="Calibri" pitchFamily="34" charset="-122"/>
                <a:cs typeface="Calibri" pitchFamily="34" charset="-120"/>
              </a:rPr>
              <a:t>No single place to query a rate</a:t>
            </a:r>
            <a:endParaRPr lang="en-US" sz="1100" dirty="0"/>
          </a:p>
        </p:txBody>
      </p:sp>
      <p:sp>
        <p:nvSpPr>
          <p:cNvPr id="22" name="Shape 20"/>
          <p:cNvSpPr/>
          <p:nvPr/>
        </p:nvSpPr>
        <p:spPr>
          <a:xfrm>
            <a:off x="7799832" y="3575304"/>
            <a:ext cx="128016" cy="128016"/>
          </a:xfrm>
          <a:prstGeom prst="ellipse">
            <a:avLst/>
          </a:prstGeom>
          <a:solidFill>
            <a:srgbClr val="14B8A6"/>
          </a:solidFill>
          <a:ln/>
        </p:spPr>
        <p:txBody>
          <a:bodyPr/>
          <a:lstStyle/>
          <a:p>
            <a:endParaRPr lang="en-IN"/>
          </a:p>
        </p:txBody>
      </p:sp>
      <p:sp>
        <p:nvSpPr>
          <p:cNvPr id="23" name="Text 21"/>
          <p:cNvSpPr/>
          <p:nvPr/>
        </p:nvSpPr>
        <p:spPr>
          <a:xfrm>
            <a:off x="8037576" y="3483864"/>
            <a:ext cx="3459175" cy="502920"/>
          </a:xfrm>
          <a:prstGeom prst="rect">
            <a:avLst/>
          </a:prstGeom>
          <a:noFill/>
          <a:ln/>
        </p:spPr>
        <p:txBody>
          <a:bodyPr wrap="square" lIns="0" tIns="0" rIns="0" bIns="0" rtlCol="0" anchor="t"/>
          <a:lstStyle/>
          <a:p>
            <a:pPr marL="0" indent="0">
              <a:lnSpc>
                <a:spcPts val="1400"/>
              </a:lnSpc>
              <a:buNone/>
            </a:pPr>
            <a:r>
              <a:rPr lang="en-US" sz="1100" dirty="0">
                <a:solidFill>
                  <a:srgbClr val="FFFFFF"/>
                </a:solidFill>
                <a:latin typeface="Calibri" pitchFamily="34" charset="0"/>
                <a:ea typeface="Calibri" pitchFamily="34" charset="-122"/>
                <a:cs typeface="Calibri" pitchFamily="34" charset="-120"/>
              </a:rPr>
              <a:t>No way to know which amendment is current without reading the full chain</a:t>
            </a:r>
            <a:endParaRPr lang="en-US" sz="1100" dirty="0"/>
          </a:p>
        </p:txBody>
      </p:sp>
      <p:sp>
        <p:nvSpPr>
          <p:cNvPr id="24" name="Shape 22"/>
          <p:cNvSpPr/>
          <p:nvPr/>
        </p:nvSpPr>
        <p:spPr>
          <a:xfrm>
            <a:off x="7799832" y="4169664"/>
            <a:ext cx="128016" cy="128016"/>
          </a:xfrm>
          <a:prstGeom prst="ellipse">
            <a:avLst/>
          </a:prstGeom>
          <a:solidFill>
            <a:srgbClr val="14B8A6"/>
          </a:solidFill>
          <a:ln/>
        </p:spPr>
        <p:txBody>
          <a:bodyPr/>
          <a:lstStyle/>
          <a:p>
            <a:endParaRPr lang="en-IN"/>
          </a:p>
        </p:txBody>
      </p:sp>
      <p:sp>
        <p:nvSpPr>
          <p:cNvPr id="25" name="Text 23"/>
          <p:cNvSpPr/>
          <p:nvPr/>
        </p:nvSpPr>
        <p:spPr>
          <a:xfrm>
            <a:off x="8037576" y="4078224"/>
            <a:ext cx="3459175" cy="502920"/>
          </a:xfrm>
          <a:prstGeom prst="rect">
            <a:avLst/>
          </a:prstGeom>
          <a:noFill/>
          <a:ln/>
        </p:spPr>
        <p:txBody>
          <a:bodyPr wrap="square" lIns="0" tIns="0" rIns="0" bIns="0" rtlCol="0" anchor="t"/>
          <a:lstStyle/>
          <a:p>
            <a:pPr marL="0" indent="0">
              <a:lnSpc>
                <a:spcPts val="1400"/>
              </a:lnSpc>
              <a:buNone/>
            </a:pPr>
            <a:r>
              <a:rPr lang="en-US" sz="1100" dirty="0">
                <a:solidFill>
                  <a:srgbClr val="FFFFFF"/>
                </a:solidFill>
                <a:latin typeface="Calibri" pitchFamily="34" charset="0"/>
                <a:ea typeface="Calibri" pitchFamily="34" charset="-122"/>
                <a:cs typeface="Calibri" pitchFamily="34" charset="-120"/>
              </a:rPr>
              <a:t>No cross-provider view exists</a:t>
            </a:r>
            <a:endParaRPr lang="en-US" sz="1100" dirty="0"/>
          </a:p>
        </p:txBody>
      </p:sp>
      <p:sp>
        <p:nvSpPr>
          <p:cNvPr id="26" name="Shape 24"/>
          <p:cNvSpPr/>
          <p:nvPr/>
        </p:nvSpPr>
        <p:spPr>
          <a:xfrm>
            <a:off x="7799832" y="4764024"/>
            <a:ext cx="128016" cy="128016"/>
          </a:xfrm>
          <a:prstGeom prst="ellipse">
            <a:avLst/>
          </a:prstGeom>
          <a:solidFill>
            <a:srgbClr val="14B8A6"/>
          </a:solidFill>
          <a:ln/>
        </p:spPr>
        <p:txBody>
          <a:bodyPr/>
          <a:lstStyle/>
          <a:p>
            <a:endParaRPr lang="en-IN"/>
          </a:p>
        </p:txBody>
      </p:sp>
      <p:sp>
        <p:nvSpPr>
          <p:cNvPr id="27" name="Text 25"/>
          <p:cNvSpPr/>
          <p:nvPr/>
        </p:nvSpPr>
        <p:spPr>
          <a:xfrm>
            <a:off x="8037576" y="4672584"/>
            <a:ext cx="3459175" cy="502920"/>
          </a:xfrm>
          <a:prstGeom prst="rect">
            <a:avLst/>
          </a:prstGeom>
          <a:noFill/>
          <a:ln/>
        </p:spPr>
        <p:txBody>
          <a:bodyPr wrap="square" lIns="0" tIns="0" rIns="0" bIns="0" rtlCol="0" anchor="t"/>
          <a:lstStyle/>
          <a:p>
            <a:pPr marL="0" indent="0">
              <a:lnSpc>
                <a:spcPts val="1400"/>
              </a:lnSpc>
              <a:buNone/>
            </a:pPr>
            <a:r>
              <a:rPr lang="en-US" sz="1100" dirty="0">
                <a:solidFill>
                  <a:srgbClr val="FFFFFF"/>
                </a:solidFill>
                <a:latin typeface="Calibri" pitchFamily="34" charset="0"/>
                <a:ea typeface="Calibri" pitchFamily="34" charset="-122"/>
                <a:cs typeface="Calibri" pitchFamily="34" charset="-120"/>
              </a:rPr>
              <a:t>Every answer depends on who has read which document recently</a:t>
            </a:r>
            <a:endParaRPr lang="en-US" sz="1100" dirty="0"/>
          </a:p>
        </p:txBody>
      </p:sp>
      <p:sp>
        <p:nvSpPr>
          <p:cNvPr id="28" name="Text 26"/>
          <p:cNvSpPr/>
          <p:nvPr/>
        </p:nvSpPr>
        <p:spPr>
          <a:xfrm>
            <a:off x="548640" y="6473952"/>
            <a:ext cx="8229600" cy="256032"/>
          </a:xfrm>
          <a:prstGeom prst="rect">
            <a:avLst/>
          </a:prstGeom>
          <a:noFill/>
          <a:ln/>
        </p:spPr>
        <p:txBody>
          <a:bodyPr wrap="square" lIns="0" tIns="0" rIns="0" bIns="0" rtlCol="0" anchor="ctr"/>
          <a:lstStyle/>
          <a:p>
            <a:pPr marL="0" indent="0">
              <a:buNone/>
            </a:pPr>
            <a:r>
              <a:rPr lang="en-US" sz="800" b="1" kern="0" spc="80" dirty="0">
                <a:solidFill>
                  <a:srgbClr val="64748B"/>
                </a:solidFill>
                <a:latin typeface="Calibri" pitchFamily="34" charset="0"/>
                <a:ea typeface="Calibri" pitchFamily="34" charset="-122"/>
                <a:cs typeface="Calibri" pitchFamily="34" charset="-120"/>
              </a:rPr>
              <a:t>PROVIDER CONTRACT INTELLIGENCE PLATFORM</a:t>
            </a:r>
            <a:r>
              <a:rPr lang="en-US" sz="800" kern="0" spc="8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29" name="Text 27"/>
          <p:cNvSpPr/>
          <p:nvPr/>
        </p:nvSpPr>
        <p:spPr>
          <a:xfrm>
            <a:off x="10728655" y="6473952"/>
            <a:ext cx="914400" cy="256032"/>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256032"/>
          </a:xfrm>
          <a:prstGeom prst="rect">
            <a:avLst/>
          </a:prstGeom>
          <a:noFill/>
          <a:ln/>
        </p:spPr>
        <p:txBody>
          <a:bodyPr wrap="square" lIns="0" tIns="0" rIns="0" bIns="0" rtlCol="0" anchor="ctr"/>
          <a:lstStyle/>
          <a:p>
            <a:pPr marL="0" indent="0">
              <a:buNone/>
            </a:pPr>
            <a:r>
              <a:rPr lang="en-US" sz="1100" b="1" kern="0" spc="250" dirty="0">
                <a:solidFill>
                  <a:srgbClr val="0F766E"/>
                </a:solidFill>
                <a:latin typeface="Calibri" pitchFamily="34" charset="0"/>
                <a:ea typeface="Calibri" pitchFamily="34" charset="-122"/>
                <a:cs typeface="Calibri" pitchFamily="34" charset="-120"/>
              </a:rPr>
              <a:t>SECTION 02 · THE CASE FOR CHANGE</a:t>
            </a:r>
            <a:endParaRPr lang="en-US" sz="1100" dirty="0"/>
          </a:p>
        </p:txBody>
      </p:sp>
      <p:sp>
        <p:nvSpPr>
          <p:cNvPr id="3" name="Text 1"/>
          <p:cNvSpPr/>
          <p:nvPr/>
        </p:nvSpPr>
        <p:spPr>
          <a:xfrm>
            <a:off x="548640" y="804672"/>
            <a:ext cx="7987979" cy="1005840"/>
          </a:xfrm>
          <a:prstGeom prst="rect">
            <a:avLst/>
          </a:prstGeom>
          <a:noFill/>
          <a:ln/>
        </p:spPr>
        <p:txBody>
          <a:bodyPr wrap="square" lIns="0" tIns="0" rIns="0" bIns="0" rtlCol="0" anchor="t"/>
          <a:lstStyle/>
          <a:p>
            <a:pPr marL="0" indent="0">
              <a:lnSpc>
                <a:spcPts val="2970"/>
              </a:lnSpc>
              <a:buNone/>
            </a:pPr>
            <a:r>
              <a:rPr lang="en-US" sz="2700" b="1" dirty="0">
                <a:solidFill>
                  <a:srgbClr val="0B1B2E"/>
                </a:solidFill>
                <a:latin typeface="Georgia" pitchFamily="34" charset="0"/>
                <a:ea typeface="Georgia" pitchFamily="34" charset="-122"/>
                <a:cs typeface="Georgia" pitchFamily="34" charset="-120"/>
              </a:rPr>
              <a:t>Every obvious solution had a gap — so we built the right one</a:t>
            </a:r>
            <a:endParaRPr lang="en-US" sz="2700" dirty="0"/>
          </a:p>
        </p:txBody>
      </p:sp>
      <p:sp>
        <p:nvSpPr>
          <p:cNvPr id="4" name="Shape 2"/>
          <p:cNvSpPr/>
          <p:nvPr/>
        </p:nvSpPr>
        <p:spPr>
          <a:xfrm>
            <a:off x="548640" y="1920240"/>
            <a:ext cx="1560576" cy="3108960"/>
          </a:xfrm>
          <a:prstGeom prst="rect">
            <a:avLst/>
          </a:prstGeom>
          <a:solidFill>
            <a:srgbClr val="F2F6F9"/>
          </a:solidFill>
          <a:ln/>
          <a:effectLst>
            <a:outerShdw blurRad="101600" dist="25400" dir="8100000" algn="bl" rotWithShape="0">
              <a:srgbClr val="1E293B">
                <a:alpha val="11000"/>
              </a:srgbClr>
            </a:outerShdw>
          </a:effectLst>
        </p:spPr>
        <p:txBody>
          <a:bodyPr/>
          <a:lstStyle/>
          <a:p>
            <a:endParaRPr lang="en-IN"/>
          </a:p>
        </p:txBody>
      </p:sp>
      <p:sp>
        <p:nvSpPr>
          <p:cNvPr id="5" name="Shape 3"/>
          <p:cNvSpPr/>
          <p:nvPr/>
        </p:nvSpPr>
        <p:spPr>
          <a:xfrm>
            <a:off x="548640" y="1920240"/>
            <a:ext cx="82296" cy="3108960"/>
          </a:xfrm>
          <a:prstGeom prst="rect">
            <a:avLst/>
          </a:prstGeom>
          <a:solidFill>
            <a:srgbClr val="64748B"/>
          </a:solidFill>
          <a:ln/>
        </p:spPr>
        <p:txBody>
          <a:bodyPr/>
          <a:lstStyle/>
          <a:p>
            <a:endParaRPr lang="en-IN"/>
          </a:p>
        </p:txBody>
      </p:sp>
      <p:sp>
        <p:nvSpPr>
          <p:cNvPr id="6" name="Text 4"/>
          <p:cNvSpPr/>
          <p:nvPr/>
        </p:nvSpPr>
        <p:spPr>
          <a:xfrm>
            <a:off x="768096" y="2084832"/>
            <a:ext cx="1213104" cy="594360"/>
          </a:xfrm>
          <a:prstGeom prst="rect">
            <a:avLst/>
          </a:prstGeom>
          <a:noFill/>
          <a:ln/>
        </p:spPr>
        <p:txBody>
          <a:bodyPr wrap="square" lIns="0" tIns="0" rIns="0" bIns="0" rtlCol="0" anchor="ctr"/>
          <a:lstStyle/>
          <a:p>
            <a:pPr marL="0" indent="0">
              <a:lnSpc>
                <a:spcPts val="1600"/>
              </a:lnSpc>
              <a:buNone/>
            </a:pPr>
            <a:r>
              <a:rPr lang="en-US" sz="1350" b="1" dirty="0">
                <a:solidFill>
                  <a:srgbClr val="0B1B2E"/>
                </a:solidFill>
                <a:latin typeface="Calibri" pitchFamily="34" charset="0"/>
                <a:ea typeface="Calibri" pitchFamily="34" charset="-122"/>
                <a:cs typeface="Calibri" pitchFamily="34" charset="-120"/>
              </a:rPr>
              <a:t>Manual Search</a:t>
            </a:r>
            <a:endParaRPr lang="en-US" sz="1350" dirty="0"/>
          </a:p>
        </p:txBody>
      </p:sp>
      <p:sp>
        <p:nvSpPr>
          <p:cNvPr id="7" name="Shape 5"/>
          <p:cNvSpPr/>
          <p:nvPr/>
        </p:nvSpPr>
        <p:spPr>
          <a:xfrm>
            <a:off x="768096" y="2724912"/>
            <a:ext cx="1149096" cy="0"/>
          </a:xfrm>
          <a:prstGeom prst="line">
            <a:avLst/>
          </a:prstGeom>
          <a:noFill/>
          <a:ln w="12700">
            <a:solidFill>
              <a:srgbClr val="E3E9F0"/>
            </a:solidFill>
            <a:prstDash val="solid"/>
          </a:ln>
        </p:spPr>
        <p:txBody>
          <a:bodyPr/>
          <a:lstStyle/>
          <a:p>
            <a:endParaRPr lang="en-IN"/>
          </a:p>
        </p:txBody>
      </p:sp>
      <p:sp>
        <p:nvSpPr>
          <p:cNvPr id="8" name="Text 6"/>
          <p:cNvSpPr/>
          <p:nvPr/>
        </p:nvSpPr>
        <p:spPr>
          <a:xfrm>
            <a:off x="768096" y="2852928"/>
            <a:ext cx="1213104" cy="1841500"/>
          </a:xfrm>
          <a:prstGeom prst="rect">
            <a:avLst/>
          </a:prstGeom>
          <a:noFill/>
          <a:ln/>
        </p:spPr>
        <p:txBody>
          <a:bodyPr wrap="square" lIns="0" tIns="0" rIns="0" bIns="0" rtlCol="0" anchor="t"/>
          <a:lstStyle/>
          <a:p>
            <a:pPr marL="0" indent="0">
              <a:lnSpc>
                <a:spcPts val="1500"/>
              </a:lnSpc>
              <a:buNone/>
            </a:pPr>
            <a:r>
              <a:rPr lang="en-US" sz="1100" dirty="0">
                <a:solidFill>
                  <a:srgbClr val="33415A"/>
                </a:solidFill>
                <a:latin typeface="Calibri" pitchFamily="34" charset="0"/>
                <a:ea typeface="Calibri" pitchFamily="34" charset="-122"/>
                <a:cs typeface="Calibri" pitchFamily="34" charset="-120"/>
              </a:rPr>
              <a:t>Does not scale across 10,372 documents. No amendment awareness. Answer quality depends entirely on the individual.</a:t>
            </a:r>
            <a:endParaRPr lang="en-US" sz="1100" dirty="0"/>
          </a:p>
        </p:txBody>
      </p:sp>
      <p:sp>
        <p:nvSpPr>
          <p:cNvPr id="9" name="Text 7"/>
          <p:cNvSpPr/>
          <p:nvPr/>
        </p:nvSpPr>
        <p:spPr>
          <a:xfrm>
            <a:off x="768096" y="4754880"/>
            <a:ext cx="1213104" cy="274320"/>
          </a:xfrm>
          <a:prstGeom prst="rect">
            <a:avLst/>
          </a:prstGeom>
          <a:noFill/>
          <a:ln/>
        </p:spPr>
        <p:txBody>
          <a:bodyPr wrap="square" lIns="0" tIns="0" rIns="0" bIns="0" rtlCol="0" anchor="ctr"/>
          <a:lstStyle/>
          <a:p>
            <a:pPr marL="0" indent="0">
              <a:buNone/>
            </a:pPr>
            <a:r>
              <a:rPr lang="en-US" sz="1000" b="1" kern="0" spc="200" dirty="0">
                <a:solidFill>
                  <a:srgbClr val="F26A4B"/>
                </a:solidFill>
                <a:latin typeface="Calibri" pitchFamily="34" charset="0"/>
                <a:ea typeface="Calibri" pitchFamily="34" charset="-122"/>
                <a:cs typeface="Calibri" pitchFamily="34" charset="-120"/>
              </a:rPr>
              <a:t>GAP</a:t>
            </a:r>
            <a:endParaRPr lang="en-US" sz="1000" dirty="0"/>
          </a:p>
        </p:txBody>
      </p:sp>
      <p:sp>
        <p:nvSpPr>
          <p:cNvPr id="10" name="Shape 8"/>
          <p:cNvSpPr/>
          <p:nvPr/>
        </p:nvSpPr>
        <p:spPr>
          <a:xfrm>
            <a:off x="2255520" y="1920240"/>
            <a:ext cx="1560576" cy="3108960"/>
          </a:xfrm>
          <a:prstGeom prst="rect">
            <a:avLst/>
          </a:prstGeom>
          <a:solidFill>
            <a:srgbClr val="F2F6F9"/>
          </a:solidFill>
          <a:ln/>
          <a:effectLst>
            <a:outerShdw blurRad="101600" dist="25400" dir="8100000" algn="bl" rotWithShape="0">
              <a:srgbClr val="1E293B">
                <a:alpha val="11000"/>
              </a:srgbClr>
            </a:outerShdw>
          </a:effectLst>
        </p:spPr>
        <p:txBody>
          <a:bodyPr/>
          <a:lstStyle/>
          <a:p>
            <a:endParaRPr lang="en-IN"/>
          </a:p>
        </p:txBody>
      </p:sp>
      <p:sp>
        <p:nvSpPr>
          <p:cNvPr id="11" name="Shape 9"/>
          <p:cNvSpPr/>
          <p:nvPr/>
        </p:nvSpPr>
        <p:spPr>
          <a:xfrm>
            <a:off x="2255520" y="1920240"/>
            <a:ext cx="82296" cy="3108960"/>
          </a:xfrm>
          <a:prstGeom prst="rect">
            <a:avLst/>
          </a:prstGeom>
          <a:solidFill>
            <a:srgbClr val="64748B"/>
          </a:solidFill>
          <a:ln/>
        </p:spPr>
        <p:txBody>
          <a:bodyPr/>
          <a:lstStyle/>
          <a:p>
            <a:endParaRPr lang="en-IN"/>
          </a:p>
        </p:txBody>
      </p:sp>
      <p:sp>
        <p:nvSpPr>
          <p:cNvPr id="12" name="Text 10"/>
          <p:cNvSpPr/>
          <p:nvPr/>
        </p:nvSpPr>
        <p:spPr>
          <a:xfrm>
            <a:off x="2474976" y="2084832"/>
            <a:ext cx="1213104" cy="594360"/>
          </a:xfrm>
          <a:prstGeom prst="rect">
            <a:avLst/>
          </a:prstGeom>
          <a:noFill/>
          <a:ln/>
        </p:spPr>
        <p:txBody>
          <a:bodyPr wrap="square" lIns="0" tIns="0" rIns="0" bIns="0" rtlCol="0" anchor="ctr"/>
          <a:lstStyle/>
          <a:p>
            <a:pPr marL="0" indent="0">
              <a:lnSpc>
                <a:spcPts val="1600"/>
              </a:lnSpc>
              <a:buNone/>
            </a:pPr>
            <a:r>
              <a:rPr lang="en-US" sz="1350" b="1" dirty="0">
                <a:solidFill>
                  <a:srgbClr val="0B1B2E"/>
                </a:solidFill>
                <a:latin typeface="Calibri" pitchFamily="34" charset="0"/>
                <a:ea typeface="Calibri" pitchFamily="34" charset="-122"/>
                <a:cs typeface="Calibri" pitchFamily="34" charset="-120"/>
              </a:rPr>
              <a:t>Keyword &amp; Generic AI</a:t>
            </a:r>
            <a:endParaRPr lang="en-US" sz="1350" dirty="0"/>
          </a:p>
        </p:txBody>
      </p:sp>
      <p:sp>
        <p:nvSpPr>
          <p:cNvPr id="13" name="Shape 11"/>
          <p:cNvSpPr/>
          <p:nvPr/>
        </p:nvSpPr>
        <p:spPr>
          <a:xfrm>
            <a:off x="2474976" y="2724912"/>
            <a:ext cx="1149096" cy="0"/>
          </a:xfrm>
          <a:prstGeom prst="line">
            <a:avLst/>
          </a:prstGeom>
          <a:noFill/>
          <a:ln w="12700">
            <a:solidFill>
              <a:srgbClr val="E3E9F0"/>
            </a:solidFill>
            <a:prstDash val="solid"/>
          </a:ln>
        </p:spPr>
        <p:txBody>
          <a:bodyPr/>
          <a:lstStyle/>
          <a:p>
            <a:endParaRPr lang="en-IN"/>
          </a:p>
        </p:txBody>
      </p:sp>
      <p:sp>
        <p:nvSpPr>
          <p:cNvPr id="14" name="Text 12"/>
          <p:cNvSpPr/>
          <p:nvPr/>
        </p:nvSpPr>
        <p:spPr>
          <a:xfrm>
            <a:off x="2474976" y="2852928"/>
            <a:ext cx="1213104" cy="1841500"/>
          </a:xfrm>
          <a:prstGeom prst="rect">
            <a:avLst/>
          </a:prstGeom>
          <a:noFill/>
          <a:ln/>
        </p:spPr>
        <p:txBody>
          <a:bodyPr wrap="square" lIns="0" tIns="0" rIns="0" bIns="0" rtlCol="0" anchor="t"/>
          <a:lstStyle/>
          <a:p>
            <a:pPr marL="0" indent="0">
              <a:lnSpc>
                <a:spcPts val="1500"/>
              </a:lnSpc>
              <a:buNone/>
            </a:pPr>
            <a:r>
              <a:rPr lang="en-US" sz="1100" dirty="0">
                <a:solidFill>
                  <a:srgbClr val="33415A"/>
                </a:solidFill>
                <a:latin typeface="Calibri" pitchFamily="34" charset="0"/>
                <a:ea typeface="Calibri" pitchFamily="34" charset="-122"/>
                <a:cs typeface="Calibri" pitchFamily="34" charset="-120"/>
              </a:rPr>
              <a:t>Finds words, not meaning. No validation, no governance, not enterprise-safe. One document at a time.</a:t>
            </a:r>
            <a:endParaRPr lang="en-US" sz="1100" dirty="0"/>
          </a:p>
        </p:txBody>
      </p:sp>
      <p:sp>
        <p:nvSpPr>
          <p:cNvPr id="15" name="Text 13"/>
          <p:cNvSpPr/>
          <p:nvPr/>
        </p:nvSpPr>
        <p:spPr>
          <a:xfrm>
            <a:off x="2474976" y="4754880"/>
            <a:ext cx="1213104" cy="274320"/>
          </a:xfrm>
          <a:prstGeom prst="rect">
            <a:avLst/>
          </a:prstGeom>
          <a:noFill/>
          <a:ln/>
        </p:spPr>
        <p:txBody>
          <a:bodyPr wrap="square" lIns="0" tIns="0" rIns="0" bIns="0" rtlCol="0" anchor="ctr"/>
          <a:lstStyle/>
          <a:p>
            <a:pPr marL="0" indent="0">
              <a:buNone/>
            </a:pPr>
            <a:r>
              <a:rPr lang="en-US" sz="1000" b="1" kern="0" spc="200" dirty="0">
                <a:solidFill>
                  <a:srgbClr val="F26A4B"/>
                </a:solidFill>
                <a:latin typeface="Calibri" pitchFamily="34" charset="0"/>
                <a:ea typeface="Calibri" pitchFamily="34" charset="-122"/>
                <a:cs typeface="Calibri" pitchFamily="34" charset="-120"/>
              </a:rPr>
              <a:t>GAP</a:t>
            </a:r>
            <a:endParaRPr lang="en-US" sz="1000" dirty="0"/>
          </a:p>
        </p:txBody>
      </p:sp>
      <p:sp>
        <p:nvSpPr>
          <p:cNvPr id="16" name="Shape 14"/>
          <p:cNvSpPr/>
          <p:nvPr/>
        </p:nvSpPr>
        <p:spPr>
          <a:xfrm>
            <a:off x="3962400" y="1920240"/>
            <a:ext cx="1560576" cy="3108960"/>
          </a:xfrm>
          <a:prstGeom prst="rect">
            <a:avLst/>
          </a:prstGeom>
          <a:solidFill>
            <a:srgbClr val="F2F6F9"/>
          </a:solidFill>
          <a:ln/>
          <a:effectLst>
            <a:outerShdw blurRad="101600" dist="25400" dir="8100000" algn="bl" rotWithShape="0">
              <a:srgbClr val="1E293B">
                <a:alpha val="11000"/>
              </a:srgbClr>
            </a:outerShdw>
          </a:effectLst>
        </p:spPr>
        <p:txBody>
          <a:bodyPr/>
          <a:lstStyle/>
          <a:p>
            <a:endParaRPr lang="en-IN"/>
          </a:p>
        </p:txBody>
      </p:sp>
      <p:sp>
        <p:nvSpPr>
          <p:cNvPr id="17" name="Shape 15"/>
          <p:cNvSpPr/>
          <p:nvPr/>
        </p:nvSpPr>
        <p:spPr>
          <a:xfrm>
            <a:off x="3962400" y="1920240"/>
            <a:ext cx="82296" cy="3108960"/>
          </a:xfrm>
          <a:prstGeom prst="rect">
            <a:avLst/>
          </a:prstGeom>
          <a:solidFill>
            <a:srgbClr val="64748B"/>
          </a:solidFill>
          <a:ln/>
        </p:spPr>
        <p:txBody>
          <a:bodyPr/>
          <a:lstStyle/>
          <a:p>
            <a:endParaRPr lang="en-IN"/>
          </a:p>
        </p:txBody>
      </p:sp>
      <p:sp>
        <p:nvSpPr>
          <p:cNvPr id="18" name="Text 16"/>
          <p:cNvSpPr/>
          <p:nvPr/>
        </p:nvSpPr>
        <p:spPr>
          <a:xfrm>
            <a:off x="4181856" y="2084832"/>
            <a:ext cx="1213104" cy="594360"/>
          </a:xfrm>
          <a:prstGeom prst="rect">
            <a:avLst/>
          </a:prstGeom>
          <a:noFill/>
          <a:ln/>
        </p:spPr>
        <p:txBody>
          <a:bodyPr wrap="square" lIns="0" tIns="0" rIns="0" bIns="0" rtlCol="0" anchor="ctr"/>
          <a:lstStyle/>
          <a:p>
            <a:pPr marL="0" indent="0">
              <a:lnSpc>
                <a:spcPts val="1600"/>
              </a:lnSpc>
              <a:buNone/>
            </a:pPr>
            <a:r>
              <a:rPr lang="en-US" sz="1350" b="1" dirty="0">
                <a:solidFill>
                  <a:srgbClr val="0B1B2E"/>
                </a:solidFill>
                <a:latin typeface="Calibri" pitchFamily="34" charset="0"/>
                <a:ea typeface="Calibri" pitchFamily="34" charset="-122"/>
                <a:cs typeface="Calibri" pitchFamily="34" charset="-120"/>
              </a:rPr>
              <a:t>Off-the-shelf CLM</a:t>
            </a:r>
            <a:endParaRPr lang="en-US" sz="1350" dirty="0"/>
          </a:p>
        </p:txBody>
      </p:sp>
      <p:sp>
        <p:nvSpPr>
          <p:cNvPr id="19" name="Shape 17"/>
          <p:cNvSpPr/>
          <p:nvPr/>
        </p:nvSpPr>
        <p:spPr>
          <a:xfrm>
            <a:off x="4181856" y="2724912"/>
            <a:ext cx="1149096" cy="0"/>
          </a:xfrm>
          <a:prstGeom prst="line">
            <a:avLst/>
          </a:prstGeom>
          <a:noFill/>
          <a:ln w="12700">
            <a:solidFill>
              <a:srgbClr val="E3E9F0"/>
            </a:solidFill>
            <a:prstDash val="solid"/>
          </a:ln>
        </p:spPr>
        <p:txBody>
          <a:bodyPr/>
          <a:lstStyle/>
          <a:p>
            <a:endParaRPr lang="en-IN"/>
          </a:p>
        </p:txBody>
      </p:sp>
      <p:sp>
        <p:nvSpPr>
          <p:cNvPr id="20" name="Text 18"/>
          <p:cNvSpPr/>
          <p:nvPr/>
        </p:nvSpPr>
        <p:spPr>
          <a:xfrm>
            <a:off x="4181856" y="2852928"/>
            <a:ext cx="1213104" cy="1841500"/>
          </a:xfrm>
          <a:prstGeom prst="rect">
            <a:avLst/>
          </a:prstGeom>
          <a:noFill/>
          <a:ln/>
        </p:spPr>
        <p:txBody>
          <a:bodyPr wrap="square" lIns="0" tIns="0" rIns="0" bIns="0" rtlCol="0" anchor="t"/>
          <a:lstStyle/>
          <a:p>
            <a:pPr marL="0" indent="0">
              <a:lnSpc>
                <a:spcPts val="1500"/>
              </a:lnSpc>
              <a:buNone/>
            </a:pPr>
            <a:r>
              <a:rPr lang="en-US" sz="1100" dirty="0">
                <a:solidFill>
                  <a:srgbClr val="33415A"/>
                </a:solidFill>
                <a:latin typeface="Calibri" pitchFamily="34" charset="0"/>
                <a:ea typeface="Calibri" pitchFamily="34" charset="-122"/>
                <a:cs typeface="Calibri" pitchFamily="34" charset="-120"/>
              </a:rPr>
              <a:t>Built for contract creation — not for querying an existing healthcare rate corpus. Expensive, generic, long implementation cycles.</a:t>
            </a:r>
            <a:endParaRPr lang="en-US" sz="1100" dirty="0"/>
          </a:p>
        </p:txBody>
      </p:sp>
      <p:sp>
        <p:nvSpPr>
          <p:cNvPr id="21" name="Text 19"/>
          <p:cNvSpPr/>
          <p:nvPr/>
        </p:nvSpPr>
        <p:spPr>
          <a:xfrm>
            <a:off x="4181856" y="4754880"/>
            <a:ext cx="1213104" cy="274320"/>
          </a:xfrm>
          <a:prstGeom prst="rect">
            <a:avLst/>
          </a:prstGeom>
          <a:noFill/>
          <a:ln/>
        </p:spPr>
        <p:txBody>
          <a:bodyPr wrap="square" lIns="0" tIns="0" rIns="0" bIns="0" rtlCol="0" anchor="ctr"/>
          <a:lstStyle/>
          <a:p>
            <a:pPr marL="0" indent="0">
              <a:buNone/>
            </a:pPr>
            <a:r>
              <a:rPr lang="en-US" sz="1000" b="1" kern="0" spc="200" dirty="0">
                <a:solidFill>
                  <a:srgbClr val="F26A4B"/>
                </a:solidFill>
                <a:latin typeface="Calibri" pitchFamily="34" charset="0"/>
                <a:ea typeface="Calibri" pitchFamily="34" charset="-122"/>
                <a:cs typeface="Calibri" pitchFamily="34" charset="-120"/>
              </a:rPr>
              <a:t>GAP</a:t>
            </a:r>
            <a:endParaRPr lang="en-US" sz="1000" dirty="0"/>
          </a:p>
        </p:txBody>
      </p:sp>
      <p:sp>
        <p:nvSpPr>
          <p:cNvPr id="22" name="Shape 20"/>
          <p:cNvSpPr/>
          <p:nvPr/>
        </p:nvSpPr>
        <p:spPr>
          <a:xfrm>
            <a:off x="6035040" y="1920240"/>
            <a:ext cx="5608015" cy="1078992"/>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23" name="Shape 21"/>
          <p:cNvSpPr/>
          <p:nvPr/>
        </p:nvSpPr>
        <p:spPr>
          <a:xfrm>
            <a:off x="6035040" y="1920240"/>
            <a:ext cx="5608015" cy="73152"/>
          </a:xfrm>
          <a:prstGeom prst="rect">
            <a:avLst/>
          </a:prstGeom>
          <a:solidFill>
            <a:srgbClr val="64748B"/>
          </a:solidFill>
          <a:ln/>
        </p:spPr>
        <p:txBody>
          <a:bodyPr/>
          <a:lstStyle/>
          <a:p>
            <a:endParaRPr lang="en-IN"/>
          </a:p>
        </p:txBody>
      </p:sp>
      <p:sp>
        <p:nvSpPr>
          <p:cNvPr id="24" name="Text 22"/>
          <p:cNvSpPr/>
          <p:nvPr/>
        </p:nvSpPr>
        <p:spPr>
          <a:xfrm>
            <a:off x="6291072" y="2103120"/>
            <a:ext cx="5196535" cy="274320"/>
          </a:xfrm>
          <a:prstGeom prst="rect">
            <a:avLst/>
          </a:prstGeom>
          <a:noFill/>
          <a:ln/>
        </p:spPr>
        <p:txBody>
          <a:bodyPr wrap="square" lIns="0" tIns="0" rIns="0" bIns="0" rtlCol="0" anchor="ctr"/>
          <a:lstStyle/>
          <a:p>
            <a:pPr marL="0" indent="0">
              <a:buNone/>
            </a:pPr>
            <a:r>
              <a:rPr lang="en-US" sz="1000" b="1" kern="0" spc="200" dirty="0">
                <a:solidFill>
                  <a:srgbClr val="0F766E"/>
                </a:solidFill>
                <a:latin typeface="Calibri" pitchFamily="34" charset="0"/>
                <a:ea typeface="Calibri" pitchFamily="34" charset="-122"/>
                <a:cs typeface="Calibri" pitchFamily="34" charset="-120"/>
              </a:rPr>
              <a:t>UNSTRUCTURED</a:t>
            </a:r>
            <a:endParaRPr lang="en-US" sz="1000" dirty="0"/>
          </a:p>
        </p:txBody>
      </p:sp>
      <p:sp>
        <p:nvSpPr>
          <p:cNvPr id="25" name="Text 23"/>
          <p:cNvSpPr/>
          <p:nvPr/>
        </p:nvSpPr>
        <p:spPr>
          <a:xfrm>
            <a:off x="6291072" y="2395728"/>
            <a:ext cx="5196535" cy="548640"/>
          </a:xfrm>
          <a:prstGeom prst="rect">
            <a:avLst/>
          </a:prstGeom>
          <a:noFill/>
          <a:ln/>
        </p:spPr>
        <p:txBody>
          <a:bodyPr wrap="square" lIns="0" tIns="0" rIns="0" bIns="0" rtlCol="0" anchor="t"/>
          <a:lstStyle/>
          <a:p>
            <a:pPr marL="0" indent="0">
              <a:lnSpc>
                <a:spcPts val="1450"/>
              </a:lnSpc>
              <a:buNone/>
            </a:pPr>
            <a:r>
              <a:rPr lang="en-US" sz="1100" dirty="0">
                <a:solidFill>
                  <a:srgbClr val="33415A"/>
                </a:solidFill>
                <a:latin typeface="Calibri" pitchFamily="34" charset="0"/>
                <a:ea typeface="Calibri" pitchFamily="34" charset="-122"/>
                <a:cs typeface="Calibri" pitchFamily="34" charset="-120"/>
              </a:rPr>
              <a:t>10,372 PDFs. Decades of amendments. No structure, no queryability.</a:t>
            </a:r>
            <a:endParaRPr lang="en-US" sz="1100" dirty="0"/>
          </a:p>
        </p:txBody>
      </p:sp>
      <p:sp>
        <p:nvSpPr>
          <p:cNvPr id="26" name="Shape 24"/>
          <p:cNvSpPr/>
          <p:nvPr/>
        </p:nvSpPr>
        <p:spPr>
          <a:xfrm>
            <a:off x="8839048" y="3017520"/>
            <a:ext cx="0" cy="201168"/>
          </a:xfrm>
          <a:prstGeom prst="line">
            <a:avLst/>
          </a:prstGeom>
          <a:noFill/>
          <a:ln w="22860">
            <a:solidFill>
              <a:srgbClr val="0F766E"/>
            </a:solidFill>
            <a:prstDash val="solid"/>
            <a:tailEnd type="triangle"/>
          </a:ln>
        </p:spPr>
        <p:txBody>
          <a:bodyPr/>
          <a:lstStyle/>
          <a:p>
            <a:endParaRPr lang="en-IN"/>
          </a:p>
        </p:txBody>
      </p:sp>
      <p:sp>
        <p:nvSpPr>
          <p:cNvPr id="27" name="Shape 25"/>
          <p:cNvSpPr/>
          <p:nvPr/>
        </p:nvSpPr>
        <p:spPr>
          <a:xfrm>
            <a:off x="6035040" y="3227832"/>
            <a:ext cx="5608015" cy="1078992"/>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28" name="Shape 26"/>
          <p:cNvSpPr/>
          <p:nvPr/>
        </p:nvSpPr>
        <p:spPr>
          <a:xfrm>
            <a:off x="6035040" y="3227832"/>
            <a:ext cx="5608015" cy="73152"/>
          </a:xfrm>
          <a:prstGeom prst="rect">
            <a:avLst/>
          </a:prstGeom>
          <a:solidFill>
            <a:srgbClr val="14B8A6"/>
          </a:solidFill>
          <a:ln/>
        </p:spPr>
        <p:txBody>
          <a:bodyPr/>
          <a:lstStyle/>
          <a:p>
            <a:endParaRPr lang="en-IN"/>
          </a:p>
        </p:txBody>
      </p:sp>
      <p:sp>
        <p:nvSpPr>
          <p:cNvPr id="29" name="Text 27"/>
          <p:cNvSpPr/>
          <p:nvPr/>
        </p:nvSpPr>
        <p:spPr>
          <a:xfrm>
            <a:off x="6291072" y="3410712"/>
            <a:ext cx="5196535" cy="274320"/>
          </a:xfrm>
          <a:prstGeom prst="rect">
            <a:avLst/>
          </a:prstGeom>
          <a:noFill/>
          <a:ln/>
        </p:spPr>
        <p:txBody>
          <a:bodyPr wrap="square" lIns="0" tIns="0" rIns="0" bIns="0" rtlCol="0" anchor="ctr"/>
          <a:lstStyle/>
          <a:p>
            <a:pPr marL="0" indent="0">
              <a:buNone/>
            </a:pPr>
            <a:r>
              <a:rPr lang="en-US" sz="1000" b="1" kern="0" spc="200" dirty="0">
                <a:solidFill>
                  <a:srgbClr val="0F766E"/>
                </a:solidFill>
                <a:latin typeface="Calibri" pitchFamily="34" charset="0"/>
                <a:ea typeface="Calibri" pitchFamily="34" charset="-122"/>
                <a:cs typeface="Calibri" pitchFamily="34" charset="-120"/>
              </a:rPr>
              <a:t>STRUCTURED &amp; GOVERNED</a:t>
            </a:r>
            <a:endParaRPr lang="en-US" sz="1000" dirty="0"/>
          </a:p>
        </p:txBody>
      </p:sp>
      <p:sp>
        <p:nvSpPr>
          <p:cNvPr id="30" name="Text 28"/>
          <p:cNvSpPr/>
          <p:nvPr/>
        </p:nvSpPr>
        <p:spPr>
          <a:xfrm>
            <a:off x="6291072" y="3703320"/>
            <a:ext cx="5196535" cy="548640"/>
          </a:xfrm>
          <a:prstGeom prst="rect">
            <a:avLst/>
          </a:prstGeom>
          <a:noFill/>
          <a:ln/>
        </p:spPr>
        <p:txBody>
          <a:bodyPr wrap="square" lIns="0" tIns="0" rIns="0" bIns="0" rtlCol="0" anchor="t"/>
          <a:lstStyle/>
          <a:p>
            <a:pPr marL="0" indent="0">
              <a:lnSpc>
                <a:spcPts val="1450"/>
              </a:lnSpc>
              <a:buNone/>
            </a:pPr>
            <a:r>
              <a:rPr lang="en-US" sz="1100" dirty="0">
                <a:solidFill>
                  <a:srgbClr val="33415A"/>
                </a:solidFill>
                <a:latin typeface="Calibri" pitchFamily="34" charset="0"/>
                <a:ea typeface="Calibri" pitchFamily="34" charset="-122"/>
                <a:cs typeface="Calibri" pitchFamily="34" charset="-120"/>
              </a:rPr>
              <a:t>Every rate extracted. Every amendment resolved. Validated Delta tables. Lineage tracked.</a:t>
            </a:r>
            <a:endParaRPr lang="en-US" sz="1100" dirty="0"/>
          </a:p>
        </p:txBody>
      </p:sp>
      <p:sp>
        <p:nvSpPr>
          <p:cNvPr id="31" name="Shape 29"/>
          <p:cNvSpPr/>
          <p:nvPr/>
        </p:nvSpPr>
        <p:spPr>
          <a:xfrm>
            <a:off x="8839048" y="4325112"/>
            <a:ext cx="0" cy="201168"/>
          </a:xfrm>
          <a:prstGeom prst="line">
            <a:avLst/>
          </a:prstGeom>
          <a:noFill/>
          <a:ln w="22860">
            <a:solidFill>
              <a:srgbClr val="0F766E"/>
            </a:solidFill>
            <a:prstDash val="solid"/>
            <a:tailEnd type="triangle"/>
          </a:ln>
        </p:spPr>
        <p:txBody>
          <a:bodyPr/>
          <a:lstStyle/>
          <a:p>
            <a:endParaRPr lang="en-IN"/>
          </a:p>
        </p:txBody>
      </p:sp>
      <p:sp>
        <p:nvSpPr>
          <p:cNvPr id="32" name="Shape 30"/>
          <p:cNvSpPr/>
          <p:nvPr/>
        </p:nvSpPr>
        <p:spPr>
          <a:xfrm>
            <a:off x="6035040" y="4535424"/>
            <a:ext cx="5608015" cy="1016000"/>
          </a:xfrm>
          <a:prstGeom prst="rect">
            <a:avLst/>
          </a:prstGeom>
          <a:solidFill>
            <a:srgbClr val="0B1B2E"/>
          </a:solidFill>
          <a:ln w="12700">
            <a:solidFill>
              <a:srgbClr val="0B1B2E"/>
            </a:solidFill>
            <a:prstDash val="solid"/>
          </a:ln>
          <a:effectLst>
            <a:outerShdw blurRad="177800" dist="50800" dir="8100000" algn="bl" rotWithShape="0">
              <a:srgbClr val="000000">
                <a:alpha val="22000"/>
              </a:srgbClr>
            </a:outerShdw>
          </a:effectLst>
        </p:spPr>
        <p:txBody>
          <a:bodyPr/>
          <a:lstStyle/>
          <a:p>
            <a:endParaRPr lang="en-IN"/>
          </a:p>
        </p:txBody>
      </p:sp>
      <p:sp>
        <p:nvSpPr>
          <p:cNvPr id="33" name="Shape 31"/>
          <p:cNvSpPr/>
          <p:nvPr/>
        </p:nvSpPr>
        <p:spPr>
          <a:xfrm>
            <a:off x="6035040" y="4535424"/>
            <a:ext cx="5608015" cy="73152"/>
          </a:xfrm>
          <a:prstGeom prst="rect">
            <a:avLst/>
          </a:prstGeom>
          <a:solidFill>
            <a:srgbClr val="F26A4B"/>
          </a:solidFill>
          <a:ln/>
        </p:spPr>
        <p:txBody>
          <a:bodyPr/>
          <a:lstStyle/>
          <a:p>
            <a:endParaRPr lang="en-IN"/>
          </a:p>
        </p:txBody>
      </p:sp>
      <p:sp>
        <p:nvSpPr>
          <p:cNvPr id="34" name="Text 32"/>
          <p:cNvSpPr/>
          <p:nvPr/>
        </p:nvSpPr>
        <p:spPr>
          <a:xfrm>
            <a:off x="6291072" y="4718304"/>
            <a:ext cx="5196535" cy="274320"/>
          </a:xfrm>
          <a:prstGeom prst="rect">
            <a:avLst/>
          </a:prstGeom>
          <a:noFill/>
          <a:ln/>
        </p:spPr>
        <p:txBody>
          <a:bodyPr wrap="square" lIns="0" tIns="0" rIns="0" bIns="0" rtlCol="0" anchor="ctr"/>
          <a:lstStyle/>
          <a:p>
            <a:pPr marL="0" indent="0">
              <a:buNone/>
            </a:pPr>
            <a:r>
              <a:rPr lang="en-US" sz="1000" b="1" kern="0" spc="200" dirty="0">
                <a:solidFill>
                  <a:srgbClr val="F26A4B"/>
                </a:solidFill>
                <a:latin typeface="Calibri" pitchFamily="34" charset="0"/>
                <a:ea typeface="Calibri" pitchFamily="34" charset="-122"/>
                <a:cs typeface="Calibri" pitchFamily="34" charset="-120"/>
              </a:rPr>
              <a:t>ASKABLE</a:t>
            </a:r>
            <a:endParaRPr lang="en-US" sz="1000" dirty="0"/>
          </a:p>
        </p:txBody>
      </p:sp>
      <p:sp>
        <p:nvSpPr>
          <p:cNvPr id="35" name="Text 33"/>
          <p:cNvSpPr/>
          <p:nvPr/>
        </p:nvSpPr>
        <p:spPr>
          <a:xfrm>
            <a:off x="6291072" y="5010912"/>
            <a:ext cx="5196535" cy="548640"/>
          </a:xfrm>
          <a:prstGeom prst="rect">
            <a:avLst/>
          </a:prstGeom>
          <a:noFill/>
          <a:ln/>
        </p:spPr>
        <p:txBody>
          <a:bodyPr wrap="square" lIns="0" tIns="0" rIns="0" bIns="0" rtlCol="0" anchor="t"/>
          <a:lstStyle/>
          <a:p>
            <a:pPr marL="0" indent="0">
              <a:lnSpc>
                <a:spcPts val="1450"/>
              </a:lnSpc>
              <a:buNone/>
            </a:pPr>
            <a:r>
              <a:rPr lang="en-US" sz="1100" dirty="0">
                <a:solidFill>
                  <a:srgbClr val="FFFFFF"/>
                </a:solidFill>
                <a:latin typeface="Calibri" pitchFamily="34" charset="0"/>
                <a:ea typeface="Calibri" pitchFamily="34" charset="-122"/>
                <a:cs typeface="Calibri" pitchFamily="34" charset="-120"/>
              </a:rPr>
              <a:t>Plain English question. Cited answer. Seconds.</a:t>
            </a:r>
            <a:endParaRPr lang="en-US" sz="1100" dirty="0"/>
          </a:p>
        </p:txBody>
      </p:sp>
      <p:sp>
        <p:nvSpPr>
          <p:cNvPr id="36" name="Shape 34"/>
          <p:cNvSpPr/>
          <p:nvPr/>
        </p:nvSpPr>
        <p:spPr>
          <a:xfrm>
            <a:off x="548640" y="5651500"/>
            <a:ext cx="11094415" cy="698500"/>
          </a:xfrm>
          <a:prstGeom prst="rect">
            <a:avLst/>
          </a:prstGeom>
          <a:solidFill>
            <a:srgbClr val="E7F6F4"/>
          </a:solidFill>
          <a:ln/>
        </p:spPr>
        <p:txBody>
          <a:bodyPr/>
          <a:lstStyle/>
          <a:p>
            <a:endParaRPr lang="en-IN"/>
          </a:p>
        </p:txBody>
      </p:sp>
      <p:sp>
        <p:nvSpPr>
          <p:cNvPr id="37" name="Shape 35"/>
          <p:cNvSpPr/>
          <p:nvPr/>
        </p:nvSpPr>
        <p:spPr>
          <a:xfrm>
            <a:off x="548640" y="5651500"/>
            <a:ext cx="82296" cy="698500"/>
          </a:xfrm>
          <a:prstGeom prst="rect">
            <a:avLst/>
          </a:prstGeom>
          <a:solidFill>
            <a:srgbClr val="0F766E"/>
          </a:solidFill>
          <a:ln/>
        </p:spPr>
        <p:txBody>
          <a:bodyPr/>
          <a:lstStyle/>
          <a:p>
            <a:endParaRPr lang="en-IN"/>
          </a:p>
        </p:txBody>
      </p:sp>
      <p:sp>
        <p:nvSpPr>
          <p:cNvPr id="38" name="Text 36"/>
          <p:cNvSpPr/>
          <p:nvPr/>
        </p:nvSpPr>
        <p:spPr>
          <a:xfrm>
            <a:off x="822960" y="5651500"/>
            <a:ext cx="10637215" cy="698500"/>
          </a:xfrm>
          <a:prstGeom prst="rect">
            <a:avLst/>
          </a:prstGeom>
          <a:noFill/>
          <a:ln/>
        </p:spPr>
        <p:txBody>
          <a:bodyPr wrap="square" lIns="0" tIns="0" rIns="0" bIns="0" rtlCol="0" anchor="ctr"/>
          <a:lstStyle/>
          <a:p>
            <a:pPr marL="0" indent="0">
              <a:buNone/>
            </a:pPr>
            <a:r>
              <a:rPr lang="en-US" sz="1350" b="1" dirty="0">
                <a:solidFill>
                  <a:srgbClr val="0F766E"/>
                </a:solidFill>
                <a:latin typeface="Calibri" pitchFamily="34" charset="0"/>
                <a:ea typeface="Calibri" pitchFamily="34" charset="-122"/>
                <a:cs typeface="Calibri" pitchFamily="34" charset="-120"/>
              </a:rPr>
              <a:t>AI does the reading and structuring.  </a:t>
            </a:r>
            <a:r>
              <a:rPr lang="en-US" sz="1350" dirty="0">
                <a:solidFill>
                  <a:srgbClr val="33415A"/>
                </a:solidFill>
                <a:latin typeface="Calibri" pitchFamily="34" charset="0"/>
                <a:ea typeface="Calibri" pitchFamily="34" charset="-122"/>
                <a:cs typeface="Calibri" pitchFamily="34" charset="-120"/>
              </a:rPr>
              <a:t>Humans make the decisions.  </a:t>
            </a:r>
            <a:r>
              <a:rPr lang="en-US" sz="1350" b="1" dirty="0">
                <a:solidFill>
                  <a:srgbClr val="0F766E"/>
                </a:solidFill>
                <a:latin typeface="Calibri" pitchFamily="34" charset="0"/>
                <a:ea typeface="Calibri" pitchFamily="34" charset="-122"/>
                <a:cs typeface="Calibri" pitchFamily="34" charset="-120"/>
              </a:rPr>
              <a:t>Governance wraps everything.</a:t>
            </a:r>
            <a:endParaRPr lang="en-US" sz="1350" dirty="0"/>
          </a:p>
        </p:txBody>
      </p:sp>
      <p:sp>
        <p:nvSpPr>
          <p:cNvPr id="39" name="Text 37"/>
          <p:cNvSpPr/>
          <p:nvPr/>
        </p:nvSpPr>
        <p:spPr>
          <a:xfrm>
            <a:off x="548640" y="6473952"/>
            <a:ext cx="8229600" cy="256032"/>
          </a:xfrm>
          <a:prstGeom prst="rect">
            <a:avLst/>
          </a:prstGeom>
          <a:noFill/>
          <a:ln/>
        </p:spPr>
        <p:txBody>
          <a:bodyPr wrap="square" lIns="0" tIns="0" rIns="0" bIns="0" rtlCol="0" anchor="ctr"/>
          <a:lstStyle/>
          <a:p>
            <a:pPr marL="0" indent="0">
              <a:buNone/>
            </a:pPr>
            <a:r>
              <a:rPr lang="en-US" sz="800" b="1" kern="0" spc="80" dirty="0">
                <a:solidFill>
                  <a:srgbClr val="64748B"/>
                </a:solidFill>
                <a:latin typeface="Calibri" pitchFamily="34" charset="0"/>
                <a:ea typeface="Calibri" pitchFamily="34" charset="-122"/>
                <a:cs typeface="Calibri" pitchFamily="34" charset="-120"/>
              </a:rPr>
              <a:t>PROVIDER CONTRACT INTELLIGENCE PLATFORM</a:t>
            </a:r>
            <a:r>
              <a:rPr lang="en-US" sz="800" kern="0" spc="8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40" name="Text 38"/>
          <p:cNvSpPr/>
          <p:nvPr/>
        </p:nvSpPr>
        <p:spPr>
          <a:xfrm>
            <a:off x="10728655" y="6473952"/>
            <a:ext cx="914400" cy="256032"/>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256032"/>
          </a:xfrm>
          <a:prstGeom prst="rect">
            <a:avLst/>
          </a:prstGeom>
          <a:noFill/>
          <a:ln/>
        </p:spPr>
        <p:txBody>
          <a:bodyPr wrap="square" lIns="0" tIns="0" rIns="0" bIns="0" rtlCol="0" anchor="ctr"/>
          <a:lstStyle/>
          <a:p>
            <a:pPr marL="0" indent="0">
              <a:buNone/>
            </a:pPr>
            <a:r>
              <a:rPr lang="en-US" sz="1100" b="1" kern="0" spc="250" dirty="0">
                <a:solidFill>
                  <a:srgbClr val="0F766E"/>
                </a:solidFill>
                <a:latin typeface="Calibri" pitchFamily="34" charset="0"/>
                <a:ea typeface="Calibri" pitchFamily="34" charset="-122"/>
                <a:cs typeface="Calibri" pitchFamily="34" charset="-120"/>
              </a:rPr>
              <a:t>SECTION 03 · WHAT WE BUILT</a:t>
            </a:r>
            <a:endParaRPr lang="en-US" sz="1100" dirty="0"/>
          </a:p>
        </p:txBody>
      </p:sp>
      <p:sp>
        <p:nvSpPr>
          <p:cNvPr id="3" name="Text 1"/>
          <p:cNvSpPr/>
          <p:nvPr/>
        </p:nvSpPr>
        <p:spPr>
          <a:xfrm>
            <a:off x="548640" y="804672"/>
            <a:ext cx="7987979" cy="1005840"/>
          </a:xfrm>
          <a:prstGeom prst="rect">
            <a:avLst/>
          </a:prstGeom>
          <a:noFill/>
          <a:ln/>
        </p:spPr>
        <p:txBody>
          <a:bodyPr wrap="square" lIns="0" tIns="0" rIns="0" bIns="0" rtlCol="0" anchor="t"/>
          <a:lstStyle/>
          <a:p>
            <a:pPr marL="0" indent="0">
              <a:lnSpc>
                <a:spcPts val="3080"/>
              </a:lnSpc>
              <a:buNone/>
            </a:pPr>
            <a:r>
              <a:rPr lang="en-US" sz="2800" b="1" dirty="0">
                <a:solidFill>
                  <a:srgbClr val="0B1B2E"/>
                </a:solidFill>
                <a:latin typeface="Georgia" pitchFamily="34" charset="0"/>
                <a:ea typeface="Georgia" pitchFamily="34" charset="-122"/>
                <a:cs typeface="Georgia" pitchFamily="34" charset="-120"/>
              </a:rPr>
              <a:t>One platform, four layers, end to end on Databricks</a:t>
            </a:r>
            <a:endParaRPr lang="en-US" sz="2800" dirty="0"/>
          </a:p>
        </p:txBody>
      </p:sp>
      <p:sp>
        <p:nvSpPr>
          <p:cNvPr id="4" name="Shape 2"/>
          <p:cNvSpPr/>
          <p:nvPr/>
        </p:nvSpPr>
        <p:spPr>
          <a:xfrm>
            <a:off x="548640" y="1828800"/>
            <a:ext cx="9430207" cy="868680"/>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5" name="Shape 3"/>
          <p:cNvSpPr/>
          <p:nvPr/>
        </p:nvSpPr>
        <p:spPr>
          <a:xfrm>
            <a:off x="548640" y="1828800"/>
            <a:ext cx="91440" cy="868680"/>
          </a:xfrm>
          <a:prstGeom prst="rect">
            <a:avLst/>
          </a:prstGeom>
          <a:solidFill>
            <a:srgbClr val="0F766E"/>
          </a:solidFill>
          <a:ln/>
        </p:spPr>
        <p:txBody>
          <a:bodyPr/>
          <a:lstStyle/>
          <a:p>
            <a:endParaRPr lang="en-IN"/>
          </a:p>
        </p:txBody>
      </p:sp>
      <p:sp>
        <p:nvSpPr>
          <p:cNvPr id="6" name="Text 4"/>
          <p:cNvSpPr/>
          <p:nvPr/>
        </p:nvSpPr>
        <p:spPr>
          <a:xfrm>
            <a:off x="822960" y="1947672"/>
            <a:ext cx="3017520" cy="256032"/>
          </a:xfrm>
          <a:prstGeom prst="rect">
            <a:avLst/>
          </a:prstGeom>
          <a:noFill/>
          <a:ln/>
        </p:spPr>
        <p:txBody>
          <a:bodyPr wrap="square" lIns="0" tIns="0" rIns="0" bIns="0" rtlCol="0" anchor="ctr"/>
          <a:lstStyle/>
          <a:p>
            <a:pPr marL="0" indent="0">
              <a:buNone/>
            </a:pPr>
            <a:r>
              <a:rPr lang="en-US" sz="1000" b="1" kern="0" spc="100" dirty="0">
                <a:solidFill>
                  <a:srgbClr val="0F766E"/>
                </a:solidFill>
                <a:latin typeface="Calibri" pitchFamily="34" charset="0"/>
                <a:ea typeface="Calibri" pitchFamily="34" charset="-122"/>
                <a:cs typeface="Calibri" pitchFamily="34" charset="-120"/>
              </a:rPr>
              <a:t>LAYER 1 · EXTRACTION</a:t>
            </a:r>
            <a:endParaRPr lang="en-US" sz="1000" dirty="0"/>
          </a:p>
        </p:txBody>
      </p:sp>
      <p:sp>
        <p:nvSpPr>
          <p:cNvPr id="7" name="Text 5"/>
          <p:cNvSpPr/>
          <p:nvPr/>
        </p:nvSpPr>
        <p:spPr>
          <a:xfrm>
            <a:off x="822960" y="2212848"/>
            <a:ext cx="3017520" cy="411480"/>
          </a:xfrm>
          <a:prstGeom prst="rect">
            <a:avLst/>
          </a:prstGeom>
          <a:noFill/>
          <a:ln/>
        </p:spPr>
        <p:txBody>
          <a:bodyPr wrap="square" lIns="0" tIns="0" rIns="0" bIns="0" rtlCol="0" anchor="ctr"/>
          <a:lstStyle/>
          <a:p>
            <a:pPr marL="0" indent="0">
              <a:lnSpc>
                <a:spcPts val="1600"/>
              </a:lnSpc>
              <a:buNone/>
            </a:pPr>
            <a:r>
              <a:rPr lang="en-US" sz="1450" b="1" dirty="0">
                <a:solidFill>
                  <a:srgbClr val="0B1B2E"/>
                </a:solidFill>
                <a:latin typeface="Georgia" pitchFamily="34" charset="0"/>
                <a:ea typeface="Georgia" pitchFamily="34" charset="-122"/>
                <a:cs typeface="Georgia" pitchFamily="34" charset="-120"/>
              </a:rPr>
              <a:t>Document → structured JSON</a:t>
            </a:r>
            <a:endParaRPr lang="en-US" sz="1450" dirty="0"/>
          </a:p>
        </p:txBody>
      </p:sp>
      <p:sp>
        <p:nvSpPr>
          <p:cNvPr id="8" name="Shape 6"/>
          <p:cNvSpPr/>
          <p:nvPr/>
        </p:nvSpPr>
        <p:spPr>
          <a:xfrm>
            <a:off x="4206240" y="1993392"/>
            <a:ext cx="1817522" cy="539496"/>
          </a:xfrm>
          <a:prstGeom prst="roundRect">
            <a:avLst>
              <a:gd name="adj" fmla="val 11864"/>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9" name="Text 7"/>
          <p:cNvSpPr/>
          <p:nvPr/>
        </p:nvSpPr>
        <p:spPr>
          <a:xfrm>
            <a:off x="4261104" y="1993392"/>
            <a:ext cx="1707794" cy="539496"/>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OCR engine</a:t>
            </a:r>
            <a:endParaRPr lang="en-US" sz="950" dirty="0"/>
          </a:p>
        </p:txBody>
      </p:sp>
      <p:sp>
        <p:nvSpPr>
          <p:cNvPr id="10" name="Shape 8"/>
          <p:cNvSpPr/>
          <p:nvPr/>
        </p:nvSpPr>
        <p:spPr>
          <a:xfrm>
            <a:off x="6115202" y="1993392"/>
            <a:ext cx="1817522" cy="539496"/>
          </a:xfrm>
          <a:prstGeom prst="roundRect">
            <a:avLst>
              <a:gd name="adj" fmla="val 11864"/>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11" name="Text 9"/>
          <p:cNvSpPr/>
          <p:nvPr/>
        </p:nvSpPr>
        <p:spPr>
          <a:xfrm>
            <a:off x="6170066" y="1993392"/>
            <a:ext cx="1707794" cy="539496"/>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Claude Sonnet 4.5</a:t>
            </a:r>
            <a:endParaRPr lang="en-US" sz="950" dirty="0"/>
          </a:p>
        </p:txBody>
      </p:sp>
      <p:sp>
        <p:nvSpPr>
          <p:cNvPr id="12" name="Shape 10"/>
          <p:cNvSpPr/>
          <p:nvPr/>
        </p:nvSpPr>
        <p:spPr>
          <a:xfrm>
            <a:off x="8024165" y="1993392"/>
            <a:ext cx="1817522" cy="539496"/>
          </a:xfrm>
          <a:prstGeom prst="roundRect">
            <a:avLst>
              <a:gd name="adj" fmla="val 11864"/>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13" name="Text 11"/>
          <p:cNvSpPr/>
          <p:nvPr/>
        </p:nvSpPr>
        <p:spPr>
          <a:xfrm>
            <a:off x="8079029" y="1993392"/>
            <a:ext cx="1707794" cy="539496"/>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8-check validation</a:t>
            </a:r>
            <a:endParaRPr lang="en-US" sz="950" dirty="0"/>
          </a:p>
        </p:txBody>
      </p:sp>
      <p:sp>
        <p:nvSpPr>
          <p:cNvPr id="14" name="Shape 12"/>
          <p:cNvSpPr/>
          <p:nvPr/>
        </p:nvSpPr>
        <p:spPr>
          <a:xfrm>
            <a:off x="2194560" y="2706624"/>
            <a:ext cx="0" cy="100584"/>
          </a:xfrm>
          <a:prstGeom prst="line">
            <a:avLst/>
          </a:prstGeom>
          <a:noFill/>
          <a:ln w="22860">
            <a:solidFill>
              <a:srgbClr val="0F766E"/>
            </a:solidFill>
            <a:prstDash val="solid"/>
            <a:tailEnd type="triangle"/>
          </a:ln>
        </p:spPr>
        <p:txBody>
          <a:bodyPr/>
          <a:lstStyle/>
          <a:p>
            <a:endParaRPr lang="en-IN"/>
          </a:p>
        </p:txBody>
      </p:sp>
      <p:sp>
        <p:nvSpPr>
          <p:cNvPr id="15" name="Shape 13"/>
          <p:cNvSpPr/>
          <p:nvPr/>
        </p:nvSpPr>
        <p:spPr>
          <a:xfrm>
            <a:off x="548640" y="2816352"/>
            <a:ext cx="9430207" cy="868680"/>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16" name="Shape 14"/>
          <p:cNvSpPr/>
          <p:nvPr/>
        </p:nvSpPr>
        <p:spPr>
          <a:xfrm>
            <a:off x="548640" y="2816352"/>
            <a:ext cx="91440" cy="868680"/>
          </a:xfrm>
          <a:prstGeom prst="rect">
            <a:avLst/>
          </a:prstGeom>
          <a:solidFill>
            <a:srgbClr val="0F766E"/>
          </a:solidFill>
          <a:ln/>
        </p:spPr>
        <p:txBody>
          <a:bodyPr/>
          <a:lstStyle/>
          <a:p>
            <a:endParaRPr lang="en-IN"/>
          </a:p>
        </p:txBody>
      </p:sp>
      <p:sp>
        <p:nvSpPr>
          <p:cNvPr id="17" name="Text 15"/>
          <p:cNvSpPr/>
          <p:nvPr/>
        </p:nvSpPr>
        <p:spPr>
          <a:xfrm>
            <a:off x="822960" y="2935224"/>
            <a:ext cx="3017520" cy="256032"/>
          </a:xfrm>
          <a:prstGeom prst="rect">
            <a:avLst/>
          </a:prstGeom>
          <a:noFill/>
          <a:ln/>
        </p:spPr>
        <p:txBody>
          <a:bodyPr wrap="square" lIns="0" tIns="0" rIns="0" bIns="0" rtlCol="0" anchor="ctr"/>
          <a:lstStyle/>
          <a:p>
            <a:pPr marL="0" indent="0">
              <a:buNone/>
            </a:pPr>
            <a:r>
              <a:rPr lang="en-US" sz="1000" b="1" kern="0" spc="100" dirty="0">
                <a:solidFill>
                  <a:srgbClr val="0F766E"/>
                </a:solidFill>
                <a:latin typeface="Calibri" pitchFamily="34" charset="0"/>
                <a:ea typeface="Calibri" pitchFamily="34" charset="-122"/>
                <a:cs typeface="Calibri" pitchFamily="34" charset="-120"/>
              </a:rPr>
              <a:t>LAYER 2 · FOUNDATION</a:t>
            </a:r>
            <a:endParaRPr lang="en-US" sz="1000" dirty="0"/>
          </a:p>
        </p:txBody>
      </p:sp>
      <p:sp>
        <p:nvSpPr>
          <p:cNvPr id="18" name="Text 16"/>
          <p:cNvSpPr/>
          <p:nvPr/>
        </p:nvSpPr>
        <p:spPr>
          <a:xfrm>
            <a:off x="822960" y="3200400"/>
            <a:ext cx="3017520" cy="411480"/>
          </a:xfrm>
          <a:prstGeom prst="rect">
            <a:avLst/>
          </a:prstGeom>
          <a:noFill/>
          <a:ln/>
        </p:spPr>
        <p:txBody>
          <a:bodyPr wrap="square" lIns="0" tIns="0" rIns="0" bIns="0" rtlCol="0" anchor="ctr"/>
          <a:lstStyle/>
          <a:p>
            <a:pPr marL="0" indent="0">
              <a:lnSpc>
                <a:spcPts val="1600"/>
              </a:lnSpc>
              <a:buNone/>
            </a:pPr>
            <a:r>
              <a:rPr lang="en-US" sz="1450" b="1" dirty="0">
                <a:solidFill>
                  <a:srgbClr val="0B1B2E"/>
                </a:solidFill>
                <a:latin typeface="Georgia" pitchFamily="34" charset="0"/>
                <a:ea typeface="Georgia" pitchFamily="34" charset="-122"/>
                <a:cs typeface="Georgia" pitchFamily="34" charset="-120"/>
              </a:rPr>
              <a:t>State engine &amp; normalization</a:t>
            </a:r>
            <a:endParaRPr lang="en-US" sz="1450" dirty="0"/>
          </a:p>
        </p:txBody>
      </p:sp>
      <p:sp>
        <p:nvSpPr>
          <p:cNvPr id="19" name="Shape 17"/>
          <p:cNvSpPr/>
          <p:nvPr/>
        </p:nvSpPr>
        <p:spPr>
          <a:xfrm>
            <a:off x="4206240" y="2980944"/>
            <a:ext cx="1817522" cy="539496"/>
          </a:xfrm>
          <a:prstGeom prst="roundRect">
            <a:avLst>
              <a:gd name="adj" fmla="val 11864"/>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20" name="Text 18"/>
          <p:cNvSpPr/>
          <p:nvPr/>
        </p:nvSpPr>
        <p:spPr>
          <a:xfrm>
            <a:off x="4261104" y="2980944"/>
            <a:ext cx="1707794" cy="539496"/>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Contract registry</a:t>
            </a:r>
            <a:endParaRPr lang="en-US" sz="950" dirty="0"/>
          </a:p>
        </p:txBody>
      </p:sp>
      <p:sp>
        <p:nvSpPr>
          <p:cNvPr id="21" name="Shape 19"/>
          <p:cNvSpPr/>
          <p:nvPr/>
        </p:nvSpPr>
        <p:spPr>
          <a:xfrm>
            <a:off x="6115202" y="2980944"/>
            <a:ext cx="1817522" cy="539496"/>
          </a:xfrm>
          <a:prstGeom prst="roundRect">
            <a:avLst>
              <a:gd name="adj" fmla="val 11864"/>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22" name="Text 20"/>
          <p:cNvSpPr/>
          <p:nvPr/>
        </p:nvSpPr>
        <p:spPr>
          <a:xfrm>
            <a:off x="6170066" y="2980944"/>
            <a:ext cx="1707794" cy="539496"/>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Amendment registry</a:t>
            </a:r>
            <a:endParaRPr lang="en-US" sz="950" dirty="0"/>
          </a:p>
        </p:txBody>
      </p:sp>
      <p:sp>
        <p:nvSpPr>
          <p:cNvPr id="23" name="Shape 21"/>
          <p:cNvSpPr/>
          <p:nvPr/>
        </p:nvSpPr>
        <p:spPr>
          <a:xfrm>
            <a:off x="8024165" y="2980944"/>
            <a:ext cx="1817522" cy="539496"/>
          </a:xfrm>
          <a:prstGeom prst="roundRect">
            <a:avLst>
              <a:gd name="adj" fmla="val 11864"/>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24" name="Text 22"/>
          <p:cNvSpPr/>
          <p:nvPr/>
        </p:nvSpPr>
        <p:spPr>
          <a:xfrm>
            <a:off x="8079029" y="2980944"/>
            <a:ext cx="1707794" cy="539496"/>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Rate-rule engine</a:t>
            </a:r>
            <a:endParaRPr lang="en-US" sz="950" dirty="0"/>
          </a:p>
        </p:txBody>
      </p:sp>
      <p:sp>
        <p:nvSpPr>
          <p:cNvPr id="25" name="Shape 23"/>
          <p:cNvSpPr/>
          <p:nvPr/>
        </p:nvSpPr>
        <p:spPr>
          <a:xfrm>
            <a:off x="2194560" y="3694176"/>
            <a:ext cx="0" cy="100584"/>
          </a:xfrm>
          <a:prstGeom prst="line">
            <a:avLst/>
          </a:prstGeom>
          <a:noFill/>
          <a:ln w="22860">
            <a:solidFill>
              <a:srgbClr val="0F766E"/>
            </a:solidFill>
            <a:prstDash val="solid"/>
            <a:tailEnd type="triangle"/>
          </a:ln>
        </p:spPr>
        <p:txBody>
          <a:bodyPr/>
          <a:lstStyle/>
          <a:p>
            <a:endParaRPr lang="en-IN"/>
          </a:p>
        </p:txBody>
      </p:sp>
      <p:sp>
        <p:nvSpPr>
          <p:cNvPr id="26" name="Shape 24"/>
          <p:cNvSpPr/>
          <p:nvPr/>
        </p:nvSpPr>
        <p:spPr>
          <a:xfrm>
            <a:off x="548640" y="3803904"/>
            <a:ext cx="9430207" cy="868680"/>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27" name="Shape 25"/>
          <p:cNvSpPr/>
          <p:nvPr/>
        </p:nvSpPr>
        <p:spPr>
          <a:xfrm>
            <a:off x="548640" y="3803904"/>
            <a:ext cx="91440" cy="868680"/>
          </a:xfrm>
          <a:prstGeom prst="rect">
            <a:avLst/>
          </a:prstGeom>
          <a:solidFill>
            <a:srgbClr val="0F766E"/>
          </a:solidFill>
          <a:ln/>
        </p:spPr>
        <p:txBody>
          <a:bodyPr/>
          <a:lstStyle/>
          <a:p>
            <a:endParaRPr lang="en-IN"/>
          </a:p>
        </p:txBody>
      </p:sp>
      <p:sp>
        <p:nvSpPr>
          <p:cNvPr id="28" name="Text 26"/>
          <p:cNvSpPr/>
          <p:nvPr/>
        </p:nvSpPr>
        <p:spPr>
          <a:xfrm>
            <a:off x="822960" y="3922776"/>
            <a:ext cx="3017520" cy="256032"/>
          </a:xfrm>
          <a:prstGeom prst="rect">
            <a:avLst/>
          </a:prstGeom>
          <a:noFill/>
          <a:ln/>
        </p:spPr>
        <p:txBody>
          <a:bodyPr wrap="square" lIns="0" tIns="0" rIns="0" bIns="0" rtlCol="0" anchor="ctr"/>
          <a:lstStyle/>
          <a:p>
            <a:pPr marL="0" indent="0">
              <a:buNone/>
            </a:pPr>
            <a:r>
              <a:rPr lang="en-US" sz="1000" b="1" kern="0" spc="100" dirty="0">
                <a:solidFill>
                  <a:srgbClr val="0F766E"/>
                </a:solidFill>
                <a:latin typeface="Calibri" pitchFamily="34" charset="0"/>
                <a:ea typeface="Calibri" pitchFamily="34" charset="-122"/>
                <a:cs typeface="Calibri" pitchFamily="34" charset="-120"/>
              </a:rPr>
              <a:t>LAYER 3 · RETRIEVAL &amp; INTELLIGENCE</a:t>
            </a:r>
            <a:endParaRPr lang="en-US" sz="1000" dirty="0"/>
          </a:p>
        </p:txBody>
      </p:sp>
      <p:sp>
        <p:nvSpPr>
          <p:cNvPr id="29" name="Text 27"/>
          <p:cNvSpPr/>
          <p:nvPr/>
        </p:nvSpPr>
        <p:spPr>
          <a:xfrm>
            <a:off x="822960" y="4187952"/>
            <a:ext cx="3017520" cy="411480"/>
          </a:xfrm>
          <a:prstGeom prst="rect">
            <a:avLst/>
          </a:prstGeom>
          <a:noFill/>
          <a:ln/>
        </p:spPr>
        <p:txBody>
          <a:bodyPr wrap="square" lIns="0" tIns="0" rIns="0" bIns="0" rtlCol="0" anchor="ctr"/>
          <a:lstStyle/>
          <a:p>
            <a:pPr marL="0" indent="0">
              <a:lnSpc>
                <a:spcPts val="1600"/>
              </a:lnSpc>
              <a:buNone/>
            </a:pPr>
            <a:r>
              <a:rPr lang="en-US" sz="1450" b="1" dirty="0">
                <a:solidFill>
                  <a:srgbClr val="0B1B2E"/>
                </a:solidFill>
                <a:latin typeface="Georgia" pitchFamily="34" charset="0"/>
                <a:ea typeface="Georgia" pitchFamily="34" charset="-122"/>
                <a:cs typeface="Georgia" pitchFamily="34" charset="-120"/>
              </a:rPr>
              <a:t>Search &amp; analytics</a:t>
            </a:r>
            <a:endParaRPr lang="en-US" sz="1450" dirty="0"/>
          </a:p>
        </p:txBody>
      </p:sp>
      <p:sp>
        <p:nvSpPr>
          <p:cNvPr id="30" name="Shape 28"/>
          <p:cNvSpPr/>
          <p:nvPr/>
        </p:nvSpPr>
        <p:spPr>
          <a:xfrm>
            <a:off x="4206240" y="3968496"/>
            <a:ext cx="1817522" cy="539496"/>
          </a:xfrm>
          <a:prstGeom prst="roundRect">
            <a:avLst>
              <a:gd name="adj" fmla="val 11864"/>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31" name="Text 29"/>
          <p:cNvSpPr/>
          <p:nvPr/>
        </p:nvSpPr>
        <p:spPr>
          <a:xfrm>
            <a:off x="4261104" y="3968496"/>
            <a:ext cx="1707794" cy="539496"/>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Legal chunking</a:t>
            </a:r>
            <a:endParaRPr lang="en-US" sz="950" dirty="0"/>
          </a:p>
        </p:txBody>
      </p:sp>
      <p:sp>
        <p:nvSpPr>
          <p:cNvPr id="32" name="Shape 30"/>
          <p:cNvSpPr/>
          <p:nvPr/>
        </p:nvSpPr>
        <p:spPr>
          <a:xfrm>
            <a:off x="6115202" y="3968496"/>
            <a:ext cx="1817522" cy="539496"/>
          </a:xfrm>
          <a:prstGeom prst="roundRect">
            <a:avLst>
              <a:gd name="adj" fmla="val 11864"/>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33" name="Text 31"/>
          <p:cNvSpPr/>
          <p:nvPr/>
        </p:nvSpPr>
        <p:spPr>
          <a:xfrm>
            <a:off x="6170066" y="3968496"/>
            <a:ext cx="1707794" cy="539496"/>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Vector + 4-channel RAG</a:t>
            </a:r>
            <a:endParaRPr lang="en-US" sz="950" dirty="0"/>
          </a:p>
        </p:txBody>
      </p:sp>
      <p:sp>
        <p:nvSpPr>
          <p:cNvPr id="34" name="Shape 32"/>
          <p:cNvSpPr/>
          <p:nvPr/>
        </p:nvSpPr>
        <p:spPr>
          <a:xfrm>
            <a:off x="8024165" y="3968496"/>
            <a:ext cx="1817522" cy="539496"/>
          </a:xfrm>
          <a:prstGeom prst="roundRect">
            <a:avLst>
              <a:gd name="adj" fmla="val 11864"/>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35" name="Text 33"/>
          <p:cNvSpPr/>
          <p:nvPr/>
        </p:nvSpPr>
        <p:spPr>
          <a:xfrm>
            <a:off x="8079029" y="3968496"/>
            <a:ext cx="1707794" cy="539496"/>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Benchmark intelligence</a:t>
            </a:r>
            <a:endParaRPr lang="en-US" sz="950" dirty="0"/>
          </a:p>
        </p:txBody>
      </p:sp>
      <p:sp>
        <p:nvSpPr>
          <p:cNvPr id="36" name="Shape 34"/>
          <p:cNvSpPr/>
          <p:nvPr/>
        </p:nvSpPr>
        <p:spPr>
          <a:xfrm>
            <a:off x="2194560" y="4681728"/>
            <a:ext cx="0" cy="100584"/>
          </a:xfrm>
          <a:prstGeom prst="line">
            <a:avLst/>
          </a:prstGeom>
          <a:noFill/>
          <a:ln w="22860">
            <a:solidFill>
              <a:srgbClr val="0F766E"/>
            </a:solidFill>
            <a:prstDash val="solid"/>
            <a:tailEnd type="triangle"/>
          </a:ln>
        </p:spPr>
        <p:txBody>
          <a:bodyPr/>
          <a:lstStyle/>
          <a:p>
            <a:endParaRPr lang="en-IN"/>
          </a:p>
        </p:txBody>
      </p:sp>
      <p:sp>
        <p:nvSpPr>
          <p:cNvPr id="37" name="Shape 35"/>
          <p:cNvSpPr/>
          <p:nvPr/>
        </p:nvSpPr>
        <p:spPr>
          <a:xfrm>
            <a:off x="548640" y="4791456"/>
            <a:ext cx="9430207" cy="868680"/>
          </a:xfrm>
          <a:prstGeom prst="rect">
            <a:avLst/>
          </a:prstGeom>
          <a:solidFill>
            <a:srgbClr val="0B1B2E"/>
          </a:solidFill>
          <a:ln w="12700">
            <a:solidFill>
              <a:srgbClr val="0B1B2E"/>
            </a:solidFill>
            <a:prstDash val="solid"/>
          </a:ln>
          <a:effectLst>
            <a:outerShdw blurRad="177800" dist="50800" dir="8100000" algn="bl" rotWithShape="0">
              <a:srgbClr val="000000">
                <a:alpha val="22000"/>
              </a:srgbClr>
            </a:outerShdw>
          </a:effectLst>
        </p:spPr>
        <p:txBody>
          <a:bodyPr/>
          <a:lstStyle/>
          <a:p>
            <a:endParaRPr lang="en-IN"/>
          </a:p>
        </p:txBody>
      </p:sp>
      <p:sp>
        <p:nvSpPr>
          <p:cNvPr id="38" name="Shape 36"/>
          <p:cNvSpPr/>
          <p:nvPr/>
        </p:nvSpPr>
        <p:spPr>
          <a:xfrm>
            <a:off x="548640" y="4791456"/>
            <a:ext cx="91440" cy="868680"/>
          </a:xfrm>
          <a:prstGeom prst="rect">
            <a:avLst/>
          </a:prstGeom>
          <a:solidFill>
            <a:srgbClr val="F26A4B"/>
          </a:solidFill>
          <a:ln/>
        </p:spPr>
        <p:txBody>
          <a:bodyPr/>
          <a:lstStyle/>
          <a:p>
            <a:endParaRPr lang="en-IN"/>
          </a:p>
        </p:txBody>
      </p:sp>
      <p:sp>
        <p:nvSpPr>
          <p:cNvPr id="39" name="Text 37"/>
          <p:cNvSpPr/>
          <p:nvPr/>
        </p:nvSpPr>
        <p:spPr>
          <a:xfrm>
            <a:off x="822960" y="4910328"/>
            <a:ext cx="3017520" cy="256032"/>
          </a:xfrm>
          <a:prstGeom prst="rect">
            <a:avLst/>
          </a:prstGeom>
          <a:noFill/>
          <a:ln/>
        </p:spPr>
        <p:txBody>
          <a:bodyPr wrap="square" lIns="0" tIns="0" rIns="0" bIns="0" rtlCol="0" anchor="ctr"/>
          <a:lstStyle/>
          <a:p>
            <a:pPr marL="0" indent="0">
              <a:buNone/>
            </a:pPr>
            <a:r>
              <a:rPr lang="en-US" sz="1000" b="1" kern="0" spc="100" dirty="0">
                <a:solidFill>
                  <a:srgbClr val="F26A4B"/>
                </a:solidFill>
                <a:latin typeface="Calibri" pitchFamily="34" charset="0"/>
                <a:ea typeface="Calibri" pitchFamily="34" charset="-122"/>
                <a:cs typeface="Calibri" pitchFamily="34" charset="-120"/>
              </a:rPr>
              <a:t>LAYER 4 · SERVING</a:t>
            </a:r>
            <a:endParaRPr lang="en-US" sz="1000" dirty="0"/>
          </a:p>
        </p:txBody>
      </p:sp>
      <p:sp>
        <p:nvSpPr>
          <p:cNvPr id="40" name="Text 38"/>
          <p:cNvSpPr/>
          <p:nvPr/>
        </p:nvSpPr>
        <p:spPr>
          <a:xfrm>
            <a:off x="822960" y="5175504"/>
            <a:ext cx="3017520" cy="411480"/>
          </a:xfrm>
          <a:prstGeom prst="rect">
            <a:avLst/>
          </a:prstGeom>
          <a:noFill/>
          <a:ln/>
        </p:spPr>
        <p:txBody>
          <a:bodyPr wrap="square" lIns="0" tIns="0" rIns="0" bIns="0" rtlCol="0" anchor="ctr"/>
          <a:lstStyle/>
          <a:p>
            <a:pPr marL="0" indent="0">
              <a:lnSpc>
                <a:spcPts val="1600"/>
              </a:lnSpc>
              <a:buNone/>
            </a:pPr>
            <a:r>
              <a:rPr lang="en-US" sz="1450" b="1" dirty="0">
                <a:solidFill>
                  <a:srgbClr val="FFFFFF"/>
                </a:solidFill>
                <a:latin typeface="Georgia" pitchFamily="34" charset="0"/>
                <a:ea typeface="Georgia" pitchFamily="34" charset="-122"/>
                <a:cs typeface="Georgia" pitchFamily="34" charset="-120"/>
              </a:rPr>
              <a:t>Business consumption</a:t>
            </a:r>
            <a:endParaRPr lang="en-US" sz="1450" dirty="0"/>
          </a:p>
        </p:txBody>
      </p:sp>
      <p:sp>
        <p:nvSpPr>
          <p:cNvPr id="41" name="Shape 39"/>
          <p:cNvSpPr/>
          <p:nvPr/>
        </p:nvSpPr>
        <p:spPr>
          <a:xfrm>
            <a:off x="4206240" y="4956048"/>
            <a:ext cx="1817522" cy="539496"/>
          </a:xfrm>
          <a:prstGeom prst="roundRect">
            <a:avLst>
              <a:gd name="adj" fmla="val 11864"/>
            </a:avLst>
          </a:prstGeom>
          <a:solidFill>
            <a:srgbClr val="13283F"/>
          </a:solidFill>
          <a:ln/>
          <a:effectLst>
            <a:outerShdw blurRad="101600" dist="25400" dir="8100000" algn="bl" rotWithShape="0">
              <a:srgbClr val="1E293B">
                <a:alpha val="11000"/>
              </a:srgbClr>
            </a:outerShdw>
          </a:effectLst>
        </p:spPr>
        <p:txBody>
          <a:bodyPr/>
          <a:lstStyle/>
          <a:p>
            <a:endParaRPr lang="en-IN"/>
          </a:p>
        </p:txBody>
      </p:sp>
      <p:sp>
        <p:nvSpPr>
          <p:cNvPr id="42" name="Text 40"/>
          <p:cNvSpPr/>
          <p:nvPr/>
        </p:nvSpPr>
        <p:spPr>
          <a:xfrm>
            <a:off x="4261104" y="4956048"/>
            <a:ext cx="1707794" cy="539496"/>
          </a:xfrm>
          <a:prstGeom prst="rect">
            <a:avLst/>
          </a:prstGeom>
          <a:noFill/>
          <a:ln/>
        </p:spPr>
        <p:txBody>
          <a:bodyPr wrap="square" lIns="0" tIns="0" rIns="0" bIns="0" rtlCol="0" anchor="ctr"/>
          <a:lstStyle/>
          <a:p>
            <a:pPr marL="0" indent="0" algn="ctr">
              <a:lnSpc>
                <a:spcPts val="1064"/>
              </a:lnSpc>
              <a:buNone/>
            </a:pPr>
            <a:r>
              <a:rPr lang="en-US" sz="950" b="1" dirty="0">
                <a:solidFill>
                  <a:srgbClr val="5EEAD4"/>
                </a:solidFill>
                <a:latin typeface="Calibri" pitchFamily="34" charset="0"/>
                <a:ea typeface="Calibri" pitchFamily="34" charset="-122"/>
                <a:cs typeface="Calibri" pitchFamily="34" charset="-120"/>
              </a:rPr>
              <a:t>Genie Space (NL→SQL)</a:t>
            </a:r>
            <a:endParaRPr lang="en-US" sz="950" dirty="0"/>
          </a:p>
        </p:txBody>
      </p:sp>
      <p:sp>
        <p:nvSpPr>
          <p:cNvPr id="43" name="Shape 41"/>
          <p:cNvSpPr/>
          <p:nvPr/>
        </p:nvSpPr>
        <p:spPr>
          <a:xfrm>
            <a:off x="6115202" y="4956048"/>
            <a:ext cx="1817522" cy="539496"/>
          </a:xfrm>
          <a:prstGeom prst="roundRect">
            <a:avLst>
              <a:gd name="adj" fmla="val 11864"/>
            </a:avLst>
          </a:prstGeom>
          <a:solidFill>
            <a:srgbClr val="13283F"/>
          </a:solidFill>
          <a:ln/>
          <a:effectLst>
            <a:outerShdw blurRad="101600" dist="25400" dir="8100000" algn="bl" rotWithShape="0">
              <a:srgbClr val="1E293B">
                <a:alpha val="11000"/>
              </a:srgbClr>
            </a:outerShdw>
          </a:effectLst>
        </p:spPr>
        <p:txBody>
          <a:bodyPr/>
          <a:lstStyle/>
          <a:p>
            <a:endParaRPr lang="en-IN"/>
          </a:p>
        </p:txBody>
      </p:sp>
      <p:sp>
        <p:nvSpPr>
          <p:cNvPr id="44" name="Text 42"/>
          <p:cNvSpPr/>
          <p:nvPr/>
        </p:nvSpPr>
        <p:spPr>
          <a:xfrm>
            <a:off x="6170066" y="4956048"/>
            <a:ext cx="1707794" cy="539496"/>
          </a:xfrm>
          <a:prstGeom prst="rect">
            <a:avLst/>
          </a:prstGeom>
          <a:noFill/>
          <a:ln/>
        </p:spPr>
        <p:txBody>
          <a:bodyPr wrap="square" lIns="0" tIns="0" rIns="0" bIns="0" rtlCol="0" anchor="ctr"/>
          <a:lstStyle/>
          <a:p>
            <a:pPr marL="0" indent="0" algn="ctr">
              <a:lnSpc>
                <a:spcPts val="1064"/>
              </a:lnSpc>
              <a:buNone/>
            </a:pPr>
            <a:r>
              <a:rPr lang="en-US" sz="950" b="1" dirty="0">
                <a:solidFill>
                  <a:srgbClr val="5EEAD4"/>
                </a:solidFill>
                <a:latin typeface="Calibri" pitchFamily="34" charset="0"/>
                <a:ea typeface="Calibri" pitchFamily="34" charset="-122"/>
                <a:cs typeface="Calibri" pitchFamily="34" charset="-120"/>
              </a:rPr>
              <a:t>Portfolio dashboard</a:t>
            </a:r>
            <a:endParaRPr lang="en-US" sz="950" dirty="0"/>
          </a:p>
        </p:txBody>
      </p:sp>
      <p:sp>
        <p:nvSpPr>
          <p:cNvPr id="45" name="Shape 43"/>
          <p:cNvSpPr/>
          <p:nvPr/>
        </p:nvSpPr>
        <p:spPr>
          <a:xfrm>
            <a:off x="8024165" y="4956048"/>
            <a:ext cx="1817522" cy="539496"/>
          </a:xfrm>
          <a:prstGeom prst="roundRect">
            <a:avLst>
              <a:gd name="adj" fmla="val 11864"/>
            </a:avLst>
          </a:prstGeom>
          <a:solidFill>
            <a:srgbClr val="13283F"/>
          </a:solidFill>
          <a:ln/>
          <a:effectLst>
            <a:outerShdw blurRad="101600" dist="25400" dir="8100000" algn="bl" rotWithShape="0">
              <a:srgbClr val="1E293B">
                <a:alpha val="11000"/>
              </a:srgbClr>
            </a:outerShdw>
          </a:effectLst>
        </p:spPr>
        <p:txBody>
          <a:bodyPr/>
          <a:lstStyle/>
          <a:p>
            <a:endParaRPr lang="en-IN"/>
          </a:p>
        </p:txBody>
      </p:sp>
      <p:sp>
        <p:nvSpPr>
          <p:cNvPr id="46" name="Text 44"/>
          <p:cNvSpPr/>
          <p:nvPr/>
        </p:nvSpPr>
        <p:spPr>
          <a:xfrm>
            <a:off x="8079029" y="4956048"/>
            <a:ext cx="1707794" cy="539496"/>
          </a:xfrm>
          <a:prstGeom prst="rect">
            <a:avLst/>
          </a:prstGeom>
          <a:noFill/>
          <a:ln/>
        </p:spPr>
        <p:txBody>
          <a:bodyPr wrap="square" lIns="0" tIns="0" rIns="0" bIns="0" rtlCol="0" anchor="ctr"/>
          <a:lstStyle/>
          <a:p>
            <a:pPr marL="0" indent="0" algn="ctr">
              <a:lnSpc>
                <a:spcPts val="1064"/>
              </a:lnSpc>
              <a:buNone/>
            </a:pPr>
            <a:r>
              <a:rPr lang="en-US" sz="950" b="1" dirty="0">
                <a:solidFill>
                  <a:srgbClr val="5EEAD4"/>
                </a:solidFill>
                <a:latin typeface="Calibri" pitchFamily="34" charset="0"/>
                <a:ea typeface="Calibri" pitchFamily="34" charset="-122"/>
                <a:cs typeface="Calibri" pitchFamily="34" charset="-120"/>
              </a:rPr>
              <a:t>Citation-grounded RAG</a:t>
            </a:r>
            <a:endParaRPr lang="en-US" sz="950" dirty="0"/>
          </a:p>
        </p:txBody>
      </p:sp>
      <p:sp>
        <p:nvSpPr>
          <p:cNvPr id="47" name="Shape 45"/>
          <p:cNvSpPr/>
          <p:nvPr/>
        </p:nvSpPr>
        <p:spPr>
          <a:xfrm>
            <a:off x="10180015" y="1828800"/>
            <a:ext cx="1463040" cy="3831336"/>
          </a:xfrm>
          <a:prstGeom prst="rect">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48" name="Shape 46"/>
          <p:cNvSpPr/>
          <p:nvPr/>
        </p:nvSpPr>
        <p:spPr>
          <a:xfrm>
            <a:off x="10180015" y="1828800"/>
            <a:ext cx="1463040" cy="73152"/>
          </a:xfrm>
          <a:prstGeom prst="rect">
            <a:avLst/>
          </a:prstGeom>
          <a:solidFill>
            <a:srgbClr val="F59E0B"/>
          </a:solidFill>
          <a:ln/>
        </p:spPr>
        <p:txBody>
          <a:bodyPr/>
          <a:lstStyle/>
          <a:p>
            <a:endParaRPr lang="en-IN"/>
          </a:p>
        </p:txBody>
      </p:sp>
      <p:sp>
        <p:nvSpPr>
          <p:cNvPr id="49" name="Text 47"/>
          <p:cNvSpPr/>
          <p:nvPr/>
        </p:nvSpPr>
        <p:spPr>
          <a:xfrm>
            <a:off x="10180015" y="1993392"/>
            <a:ext cx="1463040" cy="274320"/>
          </a:xfrm>
          <a:prstGeom prst="rect">
            <a:avLst/>
          </a:prstGeom>
          <a:noFill/>
          <a:ln/>
        </p:spPr>
        <p:txBody>
          <a:bodyPr wrap="square" lIns="0" tIns="0" rIns="0" bIns="0" rtlCol="0" anchor="ctr"/>
          <a:lstStyle/>
          <a:p>
            <a:pPr marL="0" indent="0" algn="ctr">
              <a:buNone/>
            </a:pPr>
            <a:r>
              <a:rPr lang="en-US" sz="1000" b="1" kern="0" spc="150" dirty="0">
                <a:solidFill>
                  <a:srgbClr val="F59E0B"/>
                </a:solidFill>
                <a:latin typeface="Calibri" pitchFamily="34" charset="0"/>
                <a:ea typeface="Calibri" pitchFamily="34" charset="-122"/>
                <a:cs typeface="Calibri" pitchFamily="34" charset="-120"/>
              </a:rPr>
              <a:t>GOVERNANCE</a:t>
            </a:r>
            <a:endParaRPr lang="en-US" sz="1000" dirty="0"/>
          </a:p>
        </p:txBody>
      </p:sp>
      <p:sp>
        <p:nvSpPr>
          <p:cNvPr id="50" name="Text 48"/>
          <p:cNvSpPr/>
          <p:nvPr/>
        </p:nvSpPr>
        <p:spPr>
          <a:xfrm>
            <a:off x="10289743" y="2395728"/>
            <a:ext cx="1261872" cy="347472"/>
          </a:xfrm>
          <a:prstGeom prst="rect">
            <a:avLst/>
          </a:prstGeom>
          <a:noFill/>
          <a:ln/>
        </p:spPr>
        <p:txBody>
          <a:bodyPr wrap="square" lIns="0" tIns="0" rIns="0" bIns="0" rtlCol="0" anchor="ctr"/>
          <a:lstStyle/>
          <a:p>
            <a:pPr marL="0" indent="0" algn="ctr">
              <a:lnSpc>
                <a:spcPts val="1200"/>
              </a:lnSpc>
              <a:buNone/>
            </a:pPr>
            <a:r>
              <a:rPr lang="en-US" sz="1000" dirty="0">
                <a:solidFill>
                  <a:srgbClr val="93A4BD"/>
                </a:solidFill>
                <a:latin typeface="Calibri" pitchFamily="34" charset="0"/>
                <a:ea typeface="Calibri" pitchFamily="34" charset="-122"/>
                <a:cs typeface="Calibri" pitchFamily="34" charset="-120"/>
              </a:rPr>
              <a:t>Unity Catalog</a:t>
            </a:r>
            <a:endParaRPr lang="en-US" sz="1000" dirty="0"/>
          </a:p>
        </p:txBody>
      </p:sp>
      <p:sp>
        <p:nvSpPr>
          <p:cNvPr id="51" name="Text 49"/>
          <p:cNvSpPr/>
          <p:nvPr/>
        </p:nvSpPr>
        <p:spPr>
          <a:xfrm>
            <a:off x="10289743" y="2816352"/>
            <a:ext cx="1261872" cy="347472"/>
          </a:xfrm>
          <a:prstGeom prst="rect">
            <a:avLst/>
          </a:prstGeom>
          <a:noFill/>
          <a:ln/>
        </p:spPr>
        <p:txBody>
          <a:bodyPr wrap="square" lIns="0" tIns="0" rIns="0" bIns="0" rtlCol="0" anchor="ctr"/>
          <a:lstStyle/>
          <a:p>
            <a:pPr marL="0" indent="0" algn="ctr">
              <a:lnSpc>
                <a:spcPts val="1200"/>
              </a:lnSpc>
              <a:buNone/>
            </a:pPr>
            <a:r>
              <a:rPr lang="en-US" sz="1000" dirty="0">
                <a:solidFill>
                  <a:srgbClr val="93A4BD"/>
                </a:solidFill>
                <a:latin typeface="Calibri" pitchFamily="34" charset="0"/>
                <a:ea typeface="Calibri" pitchFamily="34" charset="-122"/>
                <a:cs typeface="Calibri" pitchFamily="34" charset="-120"/>
              </a:rPr>
              <a:t>Lineage</a:t>
            </a:r>
            <a:endParaRPr lang="en-US" sz="1000" dirty="0"/>
          </a:p>
        </p:txBody>
      </p:sp>
      <p:sp>
        <p:nvSpPr>
          <p:cNvPr id="52" name="Text 50"/>
          <p:cNvSpPr/>
          <p:nvPr/>
        </p:nvSpPr>
        <p:spPr>
          <a:xfrm>
            <a:off x="10289743" y="3236976"/>
            <a:ext cx="1261872" cy="347472"/>
          </a:xfrm>
          <a:prstGeom prst="rect">
            <a:avLst/>
          </a:prstGeom>
          <a:noFill/>
          <a:ln/>
        </p:spPr>
        <p:txBody>
          <a:bodyPr wrap="square" lIns="0" tIns="0" rIns="0" bIns="0" rtlCol="0" anchor="ctr"/>
          <a:lstStyle/>
          <a:p>
            <a:pPr marL="0" indent="0" algn="ctr">
              <a:lnSpc>
                <a:spcPts val="1200"/>
              </a:lnSpc>
              <a:buNone/>
            </a:pPr>
            <a:r>
              <a:rPr lang="en-US" sz="1000" dirty="0">
                <a:solidFill>
                  <a:srgbClr val="93A4BD"/>
                </a:solidFill>
                <a:latin typeface="Calibri" pitchFamily="34" charset="0"/>
                <a:ea typeface="Calibri" pitchFamily="34" charset="-122"/>
                <a:cs typeface="Calibri" pitchFamily="34" charset="-120"/>
              </a:rPr>
              <a:t>Access · masking</a:t>
            </a:r>
            <a:endParaRPr lang="en-US" sz="1000" dirty="0"/>
          </a:p>
        </p:txBody>
      </p:sp>
      <p:sp>
        <p:nvSpPr>
          <p:cNvPr id="53" name="Text 51"/>
          <p:cNvSpPr/>
          <p:nvPr/>
        </p:nvSpPr>
        <p:spPr>
          <a:xfrm>
            <a:off x="10289743" y="3657600"/>
            <a:ext cx="1261872" cy="347472"/>
          </a:xfrm>
          <a:prstGeom prst="rect">
            <a:avLst/>
          </a:prstGeom>
          <a:noFill/>
          <a:ln/>
        </p:spPr>
        <p:txBody>
          <a:bodyPr wrap="square" lIns="0" tIns="0" rIns="0" bIns="0" rtlCol="0" anchor="ctr"/>
          <a:lstStyle/>
          <a:p>
            <a:pPr marL="0" indent="0" algn="ctr">
              <a:lnSpc>
                <a:spcPts val="1200"/>
              </a:lnSpc>
              <a:buNone/>
            </a:pPr>
            <a:r>
              <a:rPr lang="en-US" sz="1000" dirty="0">
                <a:solidFill>
                  <a:srgbClr val="93A4BD"/>
                </a:solidFill>
                <a:latin typeface="Calibri" pitchFamily="34" charset="0"/>
                <a:ea typeface="Calibri" pitchFamily="34" charset="-122"/>
                <a:cs typeface="Calibri" pitchFamily="34" charset="-120"/>
              </a:rPr>
              <a:t>Telemetry</a:t>
            </a:r>
            <a:endParaRPr lang="en-US" sz="1000" dirty="0"/>
          </a:p>
        </p:txBody>
      </p:sp>
      <p:sp>
        <p:nvSpPr>
          <p:cNvPr id="54" name="Text 52"/>
          <p:cNvSpPr/>
          <p:nvPr/>
        </p:nvSpPr>
        <p:spPr>
          <a:xfrm>
            <a:off x="10289743" y="4078224"/>
            <a:ext cx="1261872" cy="347472"/>
          </a:xfrm>
          <a:prstGeom prst="rect">
            <a:avLst/>
          </a:prstGeom>
          <a:noFill/>
          <a:ln/>
        </p:spPr>
        <p:txBody>
          <a:bodyPr wrap="square" lIns="0" tIns="0" rIns="0" bIns="0" rtlCol="0" anchor="ctr"/>
          <a:lstStyle/>
          <a:p>
            <a:pPr marL="0" indent="0" algn="ctr">
              <a:lnSpc>
                <a:spcPts val="1200"/>
              </a:lnSpc>
              <a:buNone/>
            </a:pPr>
            <a:r>
              <a:rPr lang="en-US" sz="1000" dirty="0">
                <a:solidFill>
                  <a:srgbClr val="93A4BD"/>
                </a:solidFill>
                <a:latin typeface="Calibri" pitchFamily="34" charset="0"/>
                <a:ea typeface="Calibri" pitchFamily="34" charset="-122"/>
                <a:cs typeface="Calibri" pitchFamily="34" charset="-120"/>
              </a:rPr>
              <a:t>Delta time-travel</a:t>
            </a:r>
            <a:endParaRPr lang="en-US" sz="1000" dirty="0"/>
          </a:p>
        </p:txBody>
      </p:sp>
      <p:sp>
        <p:nvSpPr>
          <p:cNvPr id="55" name="Shape 53"/>
          <p:cNvSpPr/>
          <p:nvPr/>
        </p:nvSpPr>
        <p:spPr>
          <a:xfrm>
            <a:off x="548640" y="5687568"/>
            <a:ext cx="11094415" cy="566928"/>
          </a:xfrm>
          <a:prstGeom prst="rect">
            <a:avLst/>
          </a:prstGeom>
          <a:solidFill>
            <a:srgbClr val="E7F6F4"/>
          </a:solidFill>
          <a:ln/>
        </p:spPr>
        <p:txBody>
          <a:bodyPr/>
          <a:lstStyle/>
          <a:p>
            <a:endParaRPr lang="en-IN"/>
          </a:p>
        </p:txBody>
      </p:sp>
      <p:sp>
        <p:nvSpPr>
          <p:cNvPr id="56" name="Shape 54"/>
          <p:cNvSpPr/>
          <p:nvPr/>
        </p:nvSpPr>
        <p:spPr>
          <a:xfrm>
            <a:off x="548640" y="5687568"/>
            <a:ext cx="82296" cy="566928"/>
          </a:xfrm>
          <a:prstGeom prst="rect">
            <a:avLst/>
          </a:prstGeom>
          <a:solidFill>
            <a:srgbClr val="0F766E"/>
          </a:solidFill>
          <a:ln/>
        </p:spPr>
        <p:txBody>
          <a:bodyPr/>
          <a:lstStyle/>
          <a:p>
            <a:endParaRPr lang="en-IN"/>
          </a:p>
        </p:txBody>
      </p:sp>
      <p:sp>
        <p:nvSpPr>
          <p:cNvPr id="57" name="Text 55"/>
          <p:cNvSpPr/>
          <p:nvPr/>
        </p:nvSpPr>
        <p:spPr>
          <a:xfrm>
            <a:off x="822960" y="5687568"/>
            <a:ext cx="10637215" cy="566928"/>
          </a:xfrm>
          <a:prstGeom prst="rect">
            <a:avLst/>
          </a:prstGeom>
          <a:noFill/>
          <a:ln/>
        </p:spPr>
        <p:txBody>
          <a:bodyPr wrap="square" lIns="0" tIns="0" rIns="0" bIns="0" rtlCol="0" anchor="ctr"/>
          <a:lstStyle/>
          <a:p>
            <a:pPr marL="0" indent="0">
              <a:buNone/>
            </a:pPr>
            <a:r>
              <a:rPr lang="en-US" sz="1300" i="1" dirty="0">
                <a:solidFill>
                  <a:srgbClr val="0F766E"/>
                </a:solidFill>
                <a:latin typeface="Calibri" pitchFamily="34" charset="0"/>
                <a:ea typeface="Calibri" pitchFamily="34" charset="-122"/>
                <a:cs typeface="Calibri" pitchFamily="34" charset="-120"/>
              </a:rPr>
              <a:t>Built on infrastructure BSC already owns and trusts — no new vendor, no new security review.</a:t>
            </a:r>
            <a:endParaRPr lang="en-US" sz="1300" dirty="0"/>
          </a:p>
        </p:txBody>
      </p:sp>
      <p:sp>
        <p:nvSpPr>
          <p:cNvPr id="58" name="Text 56"/>
          <p:cNvSpPr/>
          <p:nvPr/>
        </p:nvSpPr>
        <p:spPr>
          <a:xfrm>
            <a:off x="548640" y="6473952"/>
            <a:ext cx="8229600" cy="256032"/>
          </a:xfrm>
          <a:prstGeom prst="rect">
            <a:avLst/>
          </a:prstGeom>
          <a:noFill/>
          <a:ln/>
        </p:spPr>
        <p:txBody>
          <a:bodyPr wrap="square" lIns="0" tIns="0" rIns="0" bIns="0" rtlCol="0" anchor="ctr"/>
          <a:lstStyle/>
          <a:p>
            <a:pPr marL="0" indent="0">
              <a:buNone/>
            </a:pPr>
            <a:r>
              <a:rPr lang="en-US" sz="800" b="1" kern="0" spc="80" dirty="0">
                <a:solidFill>
                  <a:srgbClr val="64748B"/>
                </a:solidFill>
                <a:latin typeface="Calibri" pitchFamily="34" charset="0"/>
                <a:ea typeface="Calibri" pitchFamily="34" charset="-122"/>
                <a:cs typeface="Calibri" pitchFamily="34" charset="-120"/>
              </a:rPr>
              <a:t>PROVIDER CONTRACT INTELLIGENCE PLATFORM</a:t>
            </a:r>
            <a:r>
              <a:rPr lang="en-US" sz="800" kern="0" spc="8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59" name="Text 57"/>
          <p:cNvSpPr/>
          <p:nvPr/>
        </p:nvSpPr>
        <p:spPr>
          <a:xfrm>
            <a:off x="10728655" y="6473952"/>
            <a:ext cx="914400" cy="256032"/>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256032"/>
          </a:xfrm>
          <a:prstGeom prst="rect">
            <a:avLst/>
          </a:prstGeom>
          <a:noFill/>
          <a:ln/>
        </p:spPr>
        <p:txBody>
          <a:bodyPr wrap="square" lIns="0" tIns="0" rIns="0" bIns="0" rtlCol="0" anchor="ctr"/>
          <a:lstStyle/>
          <a:p>
            <a:pPr marL="0" indent="0">
              <a:buNone/>
            </a:pPr>
            <a:r>
              <a:rPr lang="en-US" sz="1100" b="1" kern="0" spc="250" dirty="0">
                <a:solidFill>
                  <a:srgbClr val="0F766E"/>
                </a:solidFill>
                <a:latin typeface="Calibri" pitchFamily="34" charset="0"/>
                <a:ea typeface="Calibri" pitchFamily="34" charset="-122"/>
                <a:cs typeface="Calibri" pitchFamily="34" charset="-120"/>
              </a:rPr>
              <a:t>SECTION 03 · END-TO-END ARCHITECTURE</a:t>
            </a:r>
            <a:endParaRPr lang="en-US" sz="1100" dirty="0"/>
          </a:p>
        </p:txBody>
      </p:sp>
      <p:sp>
        <p:nvSpPr>
          <p:cNvPr id="3" name="Text 1"/>
          <p:cNvSpPr/>
          <p:nvPr/>
        </p:nvSpPr>
        <p:spPr>
          <a:xfrm>
            <a:off x="548640" y="804672"/>
            <a:ext cx="7987979" cy="1005840"/>
          </a:xfrm>
          <a:prstGeom prst="rect">
            <a:avLst/>
          </a:prstGeom>
          <a:noFill/>
          <a:ln/>
        </p:spPr>
        <p:txBody>
          <a:bodyPr wrap="square" lIns="0" tIns="0" rIns="0" bIns="0" rtlCol="0" anchor="t"/>
          <a:lstStyle/>
          <a:p>
            <a:pPr marL="0" indent="0">
              <a:lnSpc>
                <a:spcPts val="3080"/>
              </a:lnSpc>
              <a:buNone/>
            </a:pPr>
            <a:r>
              <a:rPr lang="en-US" sz="2800" b="1" dirty="0">
                <a:solidFill>
                  <a:srgbClr val="0B1B2E"/>
                </a:solidFill>
                <a:latin typeface="Georgia" pitchFamily="34" charset="0"/>
                <a:ea typeface="Georgia" pitchFamily="34" charset="-122"/>
                <a:cs typeface="Georgia" pitchFamily="34" charset="-120"/>
              </a:rPr>
              <a:t>Every component, every connection, one system</a:t>
            </a:r>
            <a:endParaRPr lang="en-US" sz="2800" dirty="0"/>
          </a:p>
        </p:txBody>
      </p:sp>
      <p:sp>
        <p:nvSpPr>
          <p:cNvPr id="4" name="Text 2"/>
          <p:cNvSpPr/>
          <p:nvPr/>
        </p:nvSpPr>
        <p:spPr>
          <a:xfrm>
            <a:off x="548640" y="1874520"/>
            <a:ext cx="1828800" cy="228600"/>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SOURCE</a:t>
            </a:r>
            <a:endParaRPr lang="en-US" sz="950" dirty="0"/>
          </a:p>
        </p:txBody>
      </p:sp>
      <p:sp>
        <p:nvSpPr>
          <p:cNvPr id="5" name="Shape 3"/>
          <p:cNvSpPr/>
          <p:nvPr/>
        </p:nvSpPr>
        <p:spPr>
          <a:xfrm>
            <a:off x="548640" y="2121408"/>
            <a:ext cx="2331720" cy="530352"/>
          </a:xfrm>
          <a:prstGeom prst="roundRect">
            <a:avLst>
              <a:gd name="adj" fmla="val 12069"/>
            </a:avLst>
          </a:prstGeom>
          <a:solidFill>
            <a:srgbClr val="F2F6F9"/>
          </a:solidFill>
          <a:ln/>
          <a:effectLst>
            <a:outerShdw blurRad="101600" dist="25400" dir="8100000" algn="bl" rotWithShape="0">
              <a:srgbClr val="1E293B">
                <a:alpha val="11000"/>
              </a:srgbClr>
            </a:outerShdw>
          </a:effectLst>
        </p:spPr>
        <p:txBody>
          <a:bodyPr/>
          <a:lstStyle/>
          <a:p>
            <a:endParaRPr lang="en-IN"/>
          </a:p>
        </p:txBody>
      </p:sp>
      <p:sp>
        <p:nvSpPr>
          <p:cNvPr id="6" name="Text 4"/>
          <p:cNvSpPr/>
          <p:nvPr/>
        </p:nvSpPr>
        <p:spPr>
          <a:xfrm>
            <a:off x="603504" y="2121408"/>
            <a:ext cx="2221992" cy="530352"/>
          </a:xfrm>
          <a:prstGeom prst="rect">
            <a:avLst/>
          </a:prstGeom>
          <a:noFill/>
          <a:ln/>
        </p:spPr>
        <p:txBody>
          <a:bodyPr wrap="square" lIns="0" tIns="0" rIns="0" bIns="0" rtlCol="0" anchor="ctr"/>
          <a:lstStyle/>
          <a:p>
            <a:pPr marL="0" indent="0" algn="ctr">
              <a:lnSpc>
                <a:spcPts val="1176"/>
              </a:lnSpc>
              <a:buNone/>
            </a:pPr>
            <a:r>
              <a:rPr lang="en-US" sz="1050" b="1" dirty="0">
                <a:solidFill>
                  <a:srgbClr val="33415A"/>
                </a:solidFill>
                <a:latin typeface="Calibri" pitchFamily="34" charset="0"/>
                <a:ea typeface="Calibri" pitchFamily="34" charset="-122"/>
                <a:cs typeface="Calibri" pitchFamily="34" charset="-120"/>
              </a:rPr>
              <a:t>Azure ADLS</a:t>
            </a:r>
            <a:endParaRPr lang="en-US" sz="1050" dirty="0"/>
          </a:p>
        </p:txBody>
      </p:sp>
      <p:sp>
        <p:nvSpPr>
          <p:cNvPr id="7" name="Shape 5"/>
          <p:cNvSpPr/>
          <p:nvPr/>
        </p:nvSpPr>
        <p:spPr>
          <a:xfrm>
            <a:off x="2907792" y="2386584"/>
            <a:ext cx="146304" cy="0"/>
          </a:xfrm>
          <a:prstGeom prst="line">
            <a:avLst/>
          </a:prstGeom>
          <a:noFill/>
          <a:ln w="22860">
            <a:solidFill>
              <a:srgbClr val="64748B"/>
            </a:solidFill>
            <a:prstDash val="solid"/>
            <a:tailEnd type="triangle"/>
          </a:ln>
        </p:spPr>
        <p:txBody>
          <a:bodyPr/>
          <a:lstStyle/>
          <a:p>
            <a:endParaRPr lang="en-IN"/>
          </a:p>
        </p:txBody>
      </p:sp>
      <p:sp>
        <p:nvSpPr>
          <p:cNvPr id="8" name="Shape 6"/>
          <p:cNvSpPr/>
          <p:nvPr/>
        </p:nvSpPr>
        <p:spPr>
          <a:xfrm>
            <a:off x="3081528" y="2121408"/>
            <a:ext cx="2331720" cy="530352"/>
          </a:xfrm>
          <a:prstGeom prst="roundRect">
            <a:avLst>
              <a:gd name="adj" fmla="val 12069"/>
            </a:avLst>
          </a:prstGeom>
          <a:solidFill>
            <a:srgbClr val="F2F6F9"/>
          </a:solidFill>
          <a:ln/>
          <a:effectLst>
            <a:outerShdw blurRad="101600" dist="25400" dir="8100000" algn="bl" rotWithShape="0">
              <a:srgbClr val="1E293B">
                <a:alpha val="11000"/>
              </a:srgbClr>
            </a:outerShdw>
          </a:effectLst>
        </p:spPr>
        <p:txBody>
          <a:bodyPr/>
          <a:lstStyle/>
          <a:p>
            <a:endParaRPr lang="en-IN"/>
          </a:p>
        </p:txBody>
      </p:sp>
      <p:sp>
        <p:nvSpPr>
          <p:cNvPr id="9" name="Text 7"/>
          <p:cNvSpPr/>
          <p:nvPr/>
        </p:nvSpPr>
        <p:spPr>
          <a:xfrm>
            <a:off x="3136392" y="2121408"/>
            <a:ext cx="2221992" cy="530352"/>
          </a:xfrm>
          <a:prstGeom prst="rect">
            <a:avLst/>
          </a:prstGeom>
          <a:noFill/>
          <a:ln/>
        </p:spPr>
        <p:txBody>
          <a:bodyPr wrap="square" lIns="0" tIns="0" rIns="0" bIns="0" rtlCol="0" anchor="ctr"/>
          <a:lstStyle/>
          <a:p>
            <a:pPr marL="0" indent="0" algn="ctr">
              <a:lnSpc>
                <a:spcPts val="1176"/>
              </a:lnSpc>
              <a:buNone/>
            </a:pPr>
            <a:r>
              <a:rPr lang="en-US" sz="1050" b="1" dirty="0">
                <a:solidFill>
                  <a:srgbClr val="33415A"/>
                </a:solidFill>
                <a:latin typeface="Calibri" pitchFamily="34" charset="0"/>
                <a:ea typeface="Calibri" pitchFamily="34" charset="-122"/>
                <a:cs typeface="Calibri" pitchFamily="34" charset="-120"/>
              </a:rPr>
              <a:t>597 Provider Folders</a:t>
            </a:r>
            <a:endParaRPr lang="en-US" sz="1050" dirty="0"/>
          </a:p>
        </p:txBody>
      </p:sp>
      <p:sp>
        <p:nvSpPr>
          <p:cNvPr id="10" name="Shape 8"/>
          <p:cNvSpPr/>
          <p:nvPr/>
        </p:nvSpPr>
        <p:spPr>
          <a:xfrm>
            <a:off x="5440680" y="2386584"/>
            <a:ext cx="146304" cy="0"/>
          </a:xfrm>
          <a:prstGeom prst="line">
            <a:avLst/>
          </a:prstGeom>
          <a:noFill/>
          <a:ln w="22860">
            <a:solidFill>
              <a:srgbClr val="64748B"/>
            </a:solidFill>
            <a:prstDash val="solid"/>
            <a:tailEnd type="triangle"/>
          </a:ln>
        </p:spPr>
        <p:txBody>
          <a:bodyPr/>
          <a:lstStyle/>
          <a:p>
            <a:endParaRPr lang="en-IN"/>
          </a:p>
        </p:txBody>
      </p:sp>
      <p:sp>
        <p:nvSpPr>
          <p:cNvPr id="11" name="Shape 9"/>
          <p:cNvSpPr/>
          <p:nvPr/>
        </p:nvSpPr>
        <p:spPr>
          <a:xfrm>
            <a:off x="5614416" y="2121408"/>
            <a:ext cx="2331720" cy="530352"/>
          </a:xfrm>
          <a:prstGeom prst="roundRect">
            <a:avLst>
              <a:gd name="adj" fmla="val 12069"/>
            </a:avLst>
          </a:prstGeom>
          <a:solidFill>
            <a:srgbClr val="F2F6F9"/>
          </a:solidFill>
          <a:ln/>
          <a:effectLst>
            <a:outerShdw blurRad="101600" dist="25400" dir="8100000" algn="bl" rotWithShape="0">
              <a:srgbClr val="1E293B">
                <a:alpha val="11000"/>
              </a:srgbClr>
            </a:outerShdw>
          </a:effectLst>
        </p:spPr>
        <p:txBody>
          <a:bodyPr/>
          <a:lstStyle/>
          <a:p>
            <a:endParaRPr lang="en-IN"/>
          </a:p>
        </p:txBody>
      </p:sp>
      <p:sp>
        <p:nvSpPr>
          <p:cNvPr id="12" name="Text 10"/>
          <p:cNvSpPr/>
          <p:nvPr/>
        </p:nvSpPr>
        <p:spPr>
          <a:xfrm>
            <a:off x="5669280" y="2121408"/>
            <a:ext cx="2221992" cy="530352"/>
          </a:xfrm>
          <a:prstGeom prst="rect">
            <a:avLst/>
          </a:prstGeom>
          <a:noFill/>
          <a:ln/>
        </p:spPr>
        <p:txBody>
          <a:bodyPr wrap="square" lIns="0" tIns="0" rIns="0" bIns="0" rtlCol="0" anchor="ctr"/>
          <a:lstStyle/>
          <a:p>
            <a:pPr marL="0" indent="0" algn="ctr">
              <a:lnSpc>
                <a:spcPts val="1176"/>
              </a:lnSpc>
              <a:buNone/>
            </a:pPr>
            <a:r>
              <a:rPr lang="en-US" sz="1050" b="1" dirty="0">
                <a:solidFill>
                  <a:srgbClr val="33415A"/>
                </a:solidFill>
                <a:latin typeface="Calibri" pitchFamily="34" charset="0"/>
                <a:ea typeface="Calibri" pitchFamily="34" charset="-122"/>
                <a:cs typeface="Calibri" pitchFamily="34" charset="-120"/>
              </a:rPr>
              <a:t>10,372 PDFs</a:t>
            </a:r>
            <a:endParaRPr lang="en-US" sz="1050" dirty="0"/>
          </a:p>
        </p:txBody>
      </p:sp>
      <p:sp>
        <p:nvSpPr>
          <p:cNvPr id="13" name="Shape 11"/>
          <p:cNvSpPr/>
          <p:nvPr/>
        </p:nvSpPr>
        <p:spPr>
          <a:xfrm>
            <a:off x="1714500" y="2670048"/>
            <a:ext cx="0" cy="201168"/>
          </a:xfrm>
          <a:prstGeom prst="line">
            <a:avLst/>
          </a:prstGeom>
          <a:noFill/>
          <a:ln w="22860">
            <a:solidFill>
              <a:srgbClr val="0F766E"/>
            </a:solidFill>
            <a:prstDash val="solid"/>
            <a:tailEnd type="triangle"/>
          </a:ln>
        </p:spPr>
        <p:txBody>
          <a:bodyPr/>
          <a:lstStyle/>
          <a:p>
            <a:endParaRPr lang="en-IN"/>
          </a:p>
        </p:txBody>
      </p:sp>
      <p:sp>
        <p:nvSpPr>
          <p:cNvPr id="14" name="Shape 12"/>
          <p:cNvSpPr/>
          <p:nvPr/>
        </p:nvSpPr>
        <p:spPr>
          <a:xfrm>
            <a:off x="548640" y="2907792"/>
            <a:ext cx="8382000" cy="713232"/>
          </a:xfrm>
          <a:prstGeom prst="rect">
            <a:avLst/>
          </a:prstGeom>
          <a:solidFill>
            <a:srgbClr val="E7F6F4"/>
          </a:solidFill>
          <a:ln w="12700">
            <a:solidFill>
              <a:srgbClr val="0F766E"/>
            </a:solidFill>
            <a:prstDash val="solid"/>
          </a:ln>
          <a:effectLst>
            <a:outerShdw blurRad="101600" dist="25400" dir="8100000" algn="bl" rotWithShape="0">
              <a:srgbClr val="1E293B">
                <a:alpha val="11000"/>
              </a:srgbClr>
            </a:outerShdw>
          </a:effectLst>
        </p:spPr>
        <p:txBody>
          <a:bodyPr/>
          <a:lstStyle/>
          <a:p>
            <a:endParaRPr lang="en-IN"/>
          </a:p>
        </p:txBody>
      </p:sp>
      <p:sp>
        <p:nvSpPr>
          <p:cNvPr id="15" name="Shape 13"/>
          <p:cNvSpPr/>
          <p:nvPr/>
        </p:nvSpPr>
        <p:spPr>
          <a:xfrm>
            <a:off x="548640" y="2907792"/>
            <a:ext cx="82550" cy="713232"/>
          </a:xfrm>
          <a:prstGeom prst="rect">
            <a:avLst/>
          </a:prstGeom>
          <a:solidFill>
            <a:srgbClr val="14B8A6"/>
          </a:solidFill>
          <a:ln/>
        </p:spPr>
        <p:txBody>
          <a:bodyPr/>
          <a:lstStyle/>
          <a:p>
            <a:endParaRPr lang="en-IN"/>
          </a:p>
        </p:txBody>
      </p:sp>
      <p:sp>
        <p:nvSpPr>
          <p:cNvPr id="16" name="Text 14"/>
          <p:cNvSpPr/>
          <p:nvPr/>
        </p:nvSpPr>
        <p:spPr>
          <a:xfrm>
            <a:off x="749808" y="2907792"/>
            <a:ext cx="1417320" cy="713232"/>
          </a:xfrm>
          <a:prstGeom prst="rect">
            <a:avLst/>
          </a:prstGeom>
          <a:noFill/>
          <a:ln/>
        </p:spPr>
        <p:txBody>
          <a:bodyPr wrap="square" lIns="0" tIns="0" rIns="0" bIns="0" rtlCol="0" anchor="ctr"/>
          <a:lstStyle/>
          <a:p>
            <a:pPr marL="0" indent="0">
              <a:buNone/>
            </a:pPr>
            <a:r>
              <a:rPr lang="en-US" sz="1000" b="1" kern="0" spc="100" dirty="0">
                <a:solidFill>
                  <a:srgbClr val="0F766E"/>
                </a:solidFill>
                <a:latin typeface="Calibri" pitchFamily="34" charset="0"/>
                <a:ea typeface="Calibri" pitchFamily="34" charset="-122"/>
                <a:cs typeface="Calibri" pitchFamily="34" charset="-120"/>
              </a:rPr>
              <a:t>EXTRACTION</a:t>
            </a:r>
            <a:endParaRPr lang="en-US" sz="1000" dirty="0"/>
          </a:p>
        </p:txBody>
      </p:sp>
      <p:sp>
        <p:nvSpPr>
          <p:cNvPr id="17" name="Shape 15"/>
          <p:cNvSpPr/>
          <p:nvPr/>
        </p:nvSpPr>
        <p:spPr>
          <a:xfrm>
            <a:off x="2240280" y="2980944"/>
            <a:ext cx="1261872" cy="566928"/>
          </a:xfrm>
          <a:prstGeom prst="roundRect">
            <a:avLst>
              <a:gd name="adj" fmla="val 11290"/>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18" name="Text 16"/>
          <p:cNvSpPr/>
          <p:nvPr/>
        </p:nvSpPr>
        <p:spPr>
          <a:xfrm>
            <a:off x="2295144" y="2980944"/>
            <a:ext cx="1152144" cy="566928"/>
          </a:xfrm>
          <a:prstGeom prst="rect">
            <a:avLst/>
          </a:prstGeom>
          <a:noFill/>
          <a:ln/>
        </p:spPr>
        <p:txBody>
          <a:bodyPr wrap="square" lIns="0" tIns="0" rIns="0" bIns="0" rtlCol="0" anchor="ctr"/>
          <a:lstStyle/>
          <a:p>
            <a:pPr marL="0" indent="0" algn="ctr">
              <a:lnSpc>
                <a:spcPts val="1008"/>
              </a:lnSpc>
              <a:buNone/>
            </a:pPr>
            <a:r>
              <a:rPr lang="en-US" sz="900" b="1" dirty="0">
                <a:solidFill>
                  <a:srgbClr val="33415A"/>
                </a:solidFill>
                <a:latin typeface="Calibri" pitchFamily="34" charset="0"/>
                <a:ea typeface="Calibri" pitchFamily="34" charset="-122"/>
                <a:cs typeface="Calibri" pitchFamily="34" charset="-120"/>
              </a:rPr>
              <a:t>File Discovery</a:t>
            </a:r>
            <a:endParaRPr lang="en-US" sz="900" dirty="0"/>
          </a:p>
        </p:txBody>
      </p:sp>
      <p:sp>
        <p:nvSpPr>
          <p:cNvPr id="19" name="Shape 17"/>
          <p:cNvSpPr/>
          <p:nvPr/>
        </p:nvSpPr>
        <p:spPr>
          <a:xfrm>
            <a:off x="3511296" y="3264408"/>
            <a:ext cx="64008" cy="0"/>
          </a:xfrm>
          <a:prstGeom prst="line">
            <a:avLst/>
          </a:prstGeom>
          <a:noFill/>
          <a:ln w="22860">
            <a:solidFill>
              <a:srgbClr val="0F766E"/>
            </a:solidFill>
            <a:prstDash val="solid"/>
            <a:tailEnd type="triangle"/>
          </a:ln>
        </p:spPr>
        <p:txBody>
          <a:bodyPr/>
          <a:lstStyle/>
          <a:p>
            <a:endParaRPr lang="en-IN"/>
          </a:p>
        </p:txBody>
      </p:sp>
      <p:sp>
        <p:nvSpPr>
          <p:cNvPr id="20" name="Shape 18"/>
          <p:cNvSpPr/>
          <p:nvPr/>
        </p:nvSpPr>
        <p:spPr>
          <a:xfrm>
            <a:off x="3584448" y="2980944"/>
            <a:ext cx="1261872" cy="566928"/>
          </a:xfrm>
          <a:prstGeom prst="roundRect">
            <a:avLst>
              <a:gd name="adj" fmla="val 11290"/>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21" name="Text 19"/>
          <p:cNvSpPr/>
          <p:nvPr/>
        </p:nvSpPr>
        <p:spPr>
          <a:xfrm>
            <a:off x="3639312" y="2980944"/>
            <a:ext cx="1152144" cy="566928"/>
          </a:xfrm>
          <a:prstGeom prst="rect">
            <a:avLst/>
          </a:prstGeom>
          <a:noFill/>
          <a:ln/>
        </p:spPr>
        <p:txBody>
          <a:bodyPr wrap="square" lIns="0" tIns="0" rIns="0" bIns="0" rtlCol="0" anchor="ctr"/>
          <a:lstStyle/>
          <a:p>
            <a:pPr marL="0" indent="0" algn="ctr">
              <a:lnSpc>
                <a:spcPts val="1008"/>
              </a:lnSpc>
              <a:buNone/>
            </a:pPr>
            <a:r>
              <a:rPr lang="en-US" sz="900" b="1" dirty="0">
                <a:solidFill>
                  <a:srgbClr val="33415A"/>
                </a:solidFill>
                <a:latin typeface="Calibri" pitchFamily="34" charset="0"/>
                <a:ea typeface="Calibri" pitchFamily="34" charset="-122"/>
                <a:cs typeface="Calibri" pitchFamily="34" charset="-120"/>
              </a:rPr>
              <a:t>OCR 2-tier</a:t>
            </a:r>
            <a:endParaRPr lang="en-US" sz="900" dirty="0"/>
          </a:p>
        </p:txBody>
      </p:sp>
      <p:sp>
        <p:nvSpPr>
          <p:cNvPr id="22" name="Shape 20"/>
          <p:cNvSpPr/>
          <p:nvPr/>
        </p:nvSpPr>
        <p:spPr>
          <a:xfrm>
            <a:off x="4855464" y="3264408"/>
            <a:ext cx="64008" cy="0"/>
          </a:xfrm>
          <a:prstGeom prst="line">
            <a:avLst/>
          </a:prstGeom>
          <a:noFill/>
          <a:ln w="22860">
            <a:solidFill>
              <a:srgbClr val="0F766E"/>
            </a:solidFill>
            <a:prstDash val="solid"/>
            <a:tailEnd type="triangle"/>
          </a:ln>
        </p:spPr>
        <p:txBody>
          <a:bodyPr/>
          <a:lstStyle/>
          <a:p>
            <a:endParaRPr lang="en-IN"/>
          </a:p>
        </p:txBody>
      </p:sp>
      <p:sp>
        <p:nvSpPr>
          <p:cNvPr id="23" name="Shape 21"/>
          <p:cNvSpPr/>
          <p:nvPr/>
        </p:nvSpPr>
        <p:spPr>
          <a:xfrm>
            <a:off x="4928616" y="2980944"/>
            <a:ext cx="1261872" cy="566928"/>
          </a:xfrm>
          <a:prstGeom prst="roundRect">
            <a:avLst>
              <a:gd name="adj" fmla="val 11290"/>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24" name="Text 22"/>
          <p:cNvSpPr/>
          <p:nvPr/>
        </p:nvSpPr>
        <p:spPr>
          <a:xfrm>
            <a:off x="4983480" y="2980944"/>
            <a:ext cx="1152144" cy="566928"/>
          </a:xfrm>
          <a:prstGeom prst="rect">
            <a:avLst/>
          </a:prstGeom>
          <a:noFill/>
          <a:ln/>
        </p:spPr>
        <p:txBody>
          <a:bodyPr wrap="square" lIns="0" tIns="0" rIns="0" bIns="0" rtlCol="0" anchor="ctr"/>
          <a:lstStyle/>
          <a:p>
            <a:pPr marL="0" indent="0" algn="ctr">
              <a:lnSpc>
                <a:spcPts val="1008"/>
              </a:lnSpc>
              <a:buNone/>
            </a:pPr>
            <a:r>
              <a:rPr lang="en-US" sz="900" b="1" dirty="0">
                <a:solidFill>
                  <a:srgbClr val="33415A"/>
                </a:solidFill>
                <a:latin typeface="Calibri" pitchFamily="34" charset="0"/>
                <a:ea typeface="Calibri" pitchFamily="34" charset="-122"/>
                <a:cs typeface="Calibri" pitchFamily="34" charset="-120"/>
              </a:rPr>
              <a:t>Metadata Parse</a:t>
            </a:r>
            <a:endParaRPr lang="en-US" sz="900" dirty="0"/>
          </a:p>
        </p:txBody>
      </p:sp>
      <p:sp>
        <p:nvSpPr>
          <p:cNvPr id="25" name="Shape 23"/>
          <p:cNvSpPr/>
          <p:nvPr/>
        </p:nvSpPr>
        <p:spPr>
          <a:xfrm>
            <a:off x="6199632" y="3264408"/>
            <a:ext cx="64008" cy="0"/>
          </a:xfrm>
          <a:prstGeom prst="line">
            <a:avLst/>
          </a:prstGeom>
          <a:noFill/>
          <a:ln w="22860">
            <a:solidFill>
              <a:srgbClr val="0F766E"/>
            </a:solidFill>
            <a:prstDash val="solid"/>
            <a:tailEnd type="triangle"/>
          </a:ln>
        </p:spPr>
        <p:txBody>
          <a:bodyPr/>
          <a:lstStyle/>
          <a:p>
            <a:endParaRPr lang="en-IN"/>
          </a:p>
        </p:txBody>
      </p:sp>
      <p:sp>
        <p:nvSpPr>
          <p:cNvPr id="26" name="Shape 24"/>
          <p:cNvSpPr/>
          <p:nvPr/>
        </p:nvSpPr>
        <p:spPr>
          <a:xfrm>
            <a:off x="6272784" y="2980944"/>
            <a:ext cx="1261872" cy="566928"/>
          </a:xfrm>
          <a:prstGeom prst="roundRect">
            <a:avLst>
              <a:gd name="adj" fmla="val 11290"/>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27" name="Text 25"/>
          <p:cNvSpPr/>
          <p:nvPr/>
        </p:nvSpPr>
        <p:spPr>
          <a:xfrm>
            <a:off x="6327648" y="2980944"/>
            <a:ext cx="1152144" cy="566928"/>
          </a:xfrm>
          <a:prstGeom prst="rect">
            <a:avLst/>
          </a:prstGeom>
          <a:noFill/>
          <a:ln/>
        </p:spPr>
        <p:txBody>
          <a:bodyPr wrap="square" lIns="0" tIns="0" rIns="0" bIns="0" rtlCol="0" anchor="ctr"/>
          <a:lstStyle/>
          <a:p>
            <a:pPr marL="0" indent="0" algn="ctr">
              <a:lnSpc>
                <a:spcPts val="1008"/>
              </a:lnSpc>
              <a:buNone/>
            </a:pPr>
            <a:r>
              <a:rPr lang="en-US" sz="900" b="1" dirty="0">
                <a:solidFill>
                  <a:srgbClr val="33415A"/>
                </a:solidFill>
                <a:latin typeface="Calibri" pitchFamily="34" charset="0"/>
                <a:ea typeface="Calibri" pitchFamily="34" charset="-122"/>
                <a:cs typeface="Calibri" pitchFamily="34" charset="-120"/>
              </a:rPr>
              <a:t>Prompt Router</a:t>
            </a:r>
            <a:endParaRPr lang="en-US" sz="900" dirty="0"/>
          </a:p>
        </p:txBody>
      </p:sp>
      <p:sp>
        <p:nvSpPr>
          <p:cNvPr id="28" name="Shape 26"/>
          <p:cNvSpPr/>
          <p:nvPr/>
        </p:nvSpPr>
        <p:spPr>
          <a:xfrm>
            <a:off x="7543800" y="3264408"/>
            <a:ext cx="64008" cy="0"/>
          </a:xfrm>
          <a:prstGeom prst="line">
            <a:avLst/>
          </a:prstGeom>
          <a:noFill/>
          <a:ln w="22860">
            <a:solidFill>
              <a:srgbClr val="0F766E"/>
            </a:solidFill>
            <a:prstDash val="solid"/>
            <a:tailEnd type="triangle"/>
          </a:ln>
        </p:spPr>
        <p:txBody>
          <a:bodyPr/>
          <a:lstStyle/>
          <a:p>
            <a:endParaRPr lang="en-IN"/>
          </a:p>
        </p:txBody>
      </p:sp>
      <p:sp>
        <p:nvSpPr>
          <p:cNvPr id="29" name="Shape 27"/>
          <p:cNvSpPr/>
          <p:nvPr/>
        </p:nvSpPr>
        <p:spPr>
          <a:xfrm>
            <a:off x="7616952" y="2980944"/>
            <a:ext cx="1261872" cy="566928"/>
          </a:xfrm>
          <a:prstGeom prst="roundRect">
            <a:avLst>
              <a:gd name="adj" fmla="val 11290"/>
            </a:avLst>
          </a:prstGeom>
          <a:solidFill>
            <a:srgbClr val="0B1B2E"/>
          </a:solidFill>
          <a:ln/>
          <a:effectLst>
            <a:outerShdw blurRad="101600" dist="25400" dir="8100000" algn="bl" rotWithShape="0">
              <a:srgbClr val="1E293B">
                <a:alpha val="11000"/>
              </a:srgbClr>
            </a:outerShdw>
          </a:effectLst>
        </p:spPr>
        <p:txBody>
          <a:bodyPr/>
          <a:lstStyle/>
          <a:p>
            <a:endParaRPr lang="en-IN"/>
          </a:p>
        </p:txBody>
      </p:sp>
      <p:sp>
        <p:nvSpPr>
          <p:cNvPr id="30" name="Text 28"/>
          <p:cNvSpPr/>
          <p:nvPr/>
        </p:nvSpPr>
        <p:spPr>
          <a:xfrm>
            <a:off x="7671816" y="2980944"/>
            <a:ext cx="1152144" cy="566928"/>
          </a:xfrm>
          <a:prstGeom prst="rect">
            <a:avLst/>
          </a:prstGeom>
          <a:noFill/>
          <a:ln/>
        </p:spPr>
        <p:txBody>
          <a:bodyPr wrap="square" lIns="0" tIns="0" rIns="0" bIns="0" rtlCol="0" anchor="ctr"/>
          <a:lstStyle/>
          <a:p>
            <a:pPr marL="0" indent="0" algn="ctr">
              <a:lnSpc>
                <a:spcPts val="1008"/>
              </a:lnSpc>
              <a:buNone/>
            </a:pPr>
            <a:r>
              <a:rPr lang="en-US" sz="900" b="1" dirty="0">
                <a:solidFill>
                  <a:srgbClr val="5EEAD4"/>
                </a:solidFill>
                <a:latin typeface="Calibri" pitchFamily="34" charset="0"/>
                <a:ea typeface="Calibri" pitchFamily="34" charset="-122"/>
                <a:cs typeface="Calibri" pitchFamily="34" charset="-120"/>
              </a:rPr>
              <a:t>Claude Sonnet 4.5</a:t>
            </a:r>
            <a:endParaRPr lang="en-US" sz="900" dirty="0"/>
          </a:p>
        </p:txBody>
      </p:sp>
      <p:sp>
        <p:nvSpPr>
          <p:cNvPr id="31" name="Shape 29"/>
          <p:cNvSpPr/>
          <p:nvPr/>
        </p:nvSpPr>
        <p:spPr>
          <a:xfrm>
            <a:off x="8887968" y="3264408"/>
            <a:ext cx="64008" cy="0"/>
          </a:xfrm>
          <a:prstGeom prst="line">
            <a:avLst/>
          </a:prstGeom>
          <a:noFill/>
          <a:ln w="22860">
            <a:solidFill>
              <a:srgbClr val="0F766E"/>
            </a:solidFill>
            <a:prstDash val="solid"/>
            <a:tailEnd type="triangle"/>
          </a:ln>
        </p:spPr>
        <p:txBody>
          <a:bodyPr/>
          <a:lstStyle/>
          <a:p>
            <a:endParaRPr lang="en-IN"/>
          </a:p>
        </p:txBody>
      </p:sp>
      <p:sp>
        <p:nvSpPr>
          <p:cNvPr id="32" name="Shape 30"/>
          <p:cNvSpPr/>
          <p:nvPr/>
        </p:nvSpPr>
        <p:spPr>
          <a:xfrm>
            <a:off x="8961120" y="2980944"/>
            <a:ext cx="1261872" cy="566928"/>
          </a:xfrm>
          <a:prstGeom prst="roundRect">
            <a:avLst>
              <a:gd name="adj" fmla="val 11290"/>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33" name="Text 31"/>
          <p:cNvSpPr/>
          <p:nvPr/>
        </p:nvSpPr>
        <p:spPr>
          <a:xfrm>
            <a:off x="9015984" y="2980944"/>
            <a:ext cx="1152144" cy="566928"/>
          </a:xfrm>
          <a:prstGeom prst="rect">
            <a:avLst/>
          </a:prstGeom>
          <a:noFill/>
          <a:ln/>
        </p:spPr>
        <p:txBody>
          <a:bodyPr wrap="square" lIns="0" tIns="0" rIns="0" bIns="0" rtlCol="0" anchor="ctr"/>
          <a:lstStyle/>
          <a:p>
            <a:pPr marL="0" indent="0" algn="ctr">
              <a:lnSpc>
                <a:spcPts val="1008"/>
              </a:lnSpc>
              <a:buNone/>
            </a:pPr>
            <a:r>
              <a:rPr lang="en-US" sz="900" b="1" dirty="0">
                <a:solidFill>
                  <a:srgbClr val="33415A"/>
                </a:solidFill>
                <a:latin typeface="Calibri" pitchFamily="34" charset="0"/>
                <a:ea typeface="Calibri" pitchFamily="34" charset="-122"/>
                <a:cs typeface="Calibri" pitchFamily="34" charset="-120"/>
              </a:rPr>
              <a:t>JSON Output</a:t>
            </a:r>
            <a:endParaRPr lang="en-US" sz="900" dirty="0"/>
          </a:p>
        </p:txBody>
      </p:sp>
      <p:sp>
        <p:nvSpPr>
          <p:cNvPr id="34" name="Shape 32"/>
          <p:cNvSpPr/>
          <p:nvPr/>
        </p:nvSpPr>
        <p:spPr>
          <a:xfrm>
            <a:off x="4663440" y="3639312"/>
            <a:ext cx="0" cy="182880"/>
          </a:xfrm>
          <a:prstGeom prst="line">
            <a:avLst/>
          </a:prstGeom>
          <a:noFill/>
          <a:ln w="22860">
            <a:solidFill>
              <a:srgbClr val="0F766E"/>
            </a:solidFill>
            <a:prstDash val="solid"/>
            <a:tailEnd type="triangle"/>
          </a:ln>
        </p:spPr>
        <p:txBody>
          <a:bodyPr/>
          <a:lstStyle/>
          <a:p>
            <a:endParaRPr lang="en-IN"/>
          </a:p>
        </p:txBody>
      </p:sp>
      <p:sp>
        <p:nvSpPr>
          <p:cNvPr id="35" name="Shape 33"/>
          <p:cNvSpPr/>
          <p:nvPr/>
        </p:nvSpPr>
        <p:spPr>
          <a:xfrm>
            <a:off x="548640" y="3858768"/>
            <a:ext cx="8382000" cy="658368"/>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36" name="Shape 34"/>
          <p:cNvSpPr/>
          <p:nvPr/>
        </p:nvSpPr>
        <p:spPr>
          <a:xfrm>
            <a:off x="548640" y="3858768"/>
            <a:ext cx="82550" cy="658368"/>
          </a:xfrm>
          <a:prstGeom prst="rect">
            <a:avLst/>
          </a:prstGeom>
          <a:solidFill>
            <a:srgbClr val="14B8A6"/>
          </a:solidFill>
          <a:ln/>
        </p:spPr>
        <p:txBody>
          <a:bodyPr/>
          <a:lstStyle/>
          <a:p>
            <a:endParaRPr lang="en-IN"/>
          </a:p>
        </p:txBody>
      </p:sp>
      <p:sp>
        <p:nvSpPr>
          <p:cNvPr id="37" name="Text 35"/>
          <p:cNvSpPr/>
          <p:nvPr/>
        </p:nvSpPr>
        <p:spPr>
          <a:xfrm>
            <a:off x="749808" y="3858768"/>
            <a:ext cx="1417320" cy="658368"/>
          </a:xfrm>
          <a:prstGeom prst="rect">
            <a:avLst/>
          </a:prstGeom>
          <a:noFill/>
          <a:ln/>
        </p:spPr>
        <p:txBody>
          <a:bodyPr wrap="square" lIns="0" tIns="0" rIns="0" bIns="0" rtlCol="0" anchor="ctr"/>
          <a:lstStyle/>
          <a:p>
            <a:pPr marL="0" indent="0">
              <a:buNone/>
            </a:pPr>
            <a:r>
              <a:rPr lang="en-US" sz="1000" b="1" kern="0" spc="100" dirty="0">
                <a:solidFill>
                  <a:srgbClr val="0F766E"/>
                </a:solidFill>
                <a:latin typeface="Calibri" pitchFamily="34" charset="0"/>
                <a:ea typeface="Calibri" pitchFamily="34" charset="-122"/>
                <a:cs typeface="Calibri" pitchFamily="34" charset="-120"/>
              </a:rPr>
              <a:t>FOUNDATION</a:t>
            </a:r>
            <a:endParaRPr lang="en-US" sz="1000" dirty="0"/>
          </a:p>
        </p:txBody>
      </p:sp>
      <p:sp>
        <p:nvSpPr>
          <p:cNvPr id="38" name="Shape 36"/>
          <p:cNvSpPr/>
          <p:nvPr/>
        </p:nvSpPr>
        <p:spPr>
          <a:xfrm>
            <a:off x="2240280" y="3931920"/>
            <a:ext cx="2029968" cy="512064"/>
          </a:xfrm>
          <a:prstGeom prst="roundRect">
            <a:avLst>
              <a:gd name="adj" fmla="val 12500"/>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39" name="Text 37"/>
          <p:cNvSpPr/>
          <p:nvPr/>
        </p:nvSpPr>
        <p:spPr>
          <a:xfrm>
            <a:off x="2295144" y="3931920"/>
            <a:ext cx="1920240" cy="512064"/>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Contract Registry</a:t>
            </a:r>
            <a:endParaRPr lang="en-US" sz="950" dirty="0"/>
          </a:p>
        </p:txBody>
      </p:sp>
      <p:sp>
        <p:nvSpPr>
          <p:cNvPr id="40" name="Shape 38"/>
          <p:cNvSpPr/>
          <p:nvPr/>
        </p:nvSpPr>
        <p:spPr>
          <a:xfrm>
            <a:off x="4279392" y="4187952"/>
            <a:ext cx="109728" cy="0"/>
          </a:xfrm>
          <a:prstGeom prst="line">
            <a:avLst/>
          </a:prstGeom>
          <a:noFill/>
          <a:ln w="22860">
            <a:solidFill>
              <a:srgbClr val="0F766E"/>
            </a:solidFill>
            <a:prstDash val="solid"/>
            <a:tailEnd type="triangle"/>
          </a:ln>
        </p:spPr>
        <p:txBody>
          <a:bodyPr/>
          <a:lstStyle/>
          <a:p>
            <a:endParaRPr lang="en-IN"/>
          </a:p>
        </p:txBody>
      </p:sp>
      <p:sp>
        <p:nvSpPr>
          <p:cNvPr id="41" name="Shape 39"/>
          <p:cNvSpPr/>
          <p:nvPr/>
        </p:nvSpPr>
        <p:spPr>
          <a:xfrm>
            <a:off x="4398264" y="3931920"/>
            <a:ext cx="2029968" cy="512064"/>
          </a:xfrm>
          <a:prstGeom prst="roundRect">
            <a:avLst>
              <a:gd name="adj" fmla="val 12500"/>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42" name="Text 40"/>
          <p:cNvSpPr/>
          <p:nvPr/>
        </p:nvSpPr>
        <p:spPr>
          <a:xfrm>
            <a:off x="4453128" y="3931920"/>
            <a:ext cx="1920240" cy="512064"/>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Amendment Registry</a:t>
            </a:r>
            <a:endParaRPr lang="en-US" sz="950" dirty="0"/>
          </a:p>
        </p:txBody>
      </p:sp>
      <p:sp>
        <p:nvSpPr>
          <p:cNvPr id="43" name="Shape 41"/>
          <p:cNvSpPr/>
          <p:nvPr/>
        </p:nvSpPr>
        <p:spPr>
          <a:xfrm>
            <a:off x="6437376" y="4187952"/>
            <a:ext cx="109728" cy="0"/>
          </a:xfrm>
          <a:prstGeom prst="line">
            <a:avLst/>
          </a:prstGeom>
          <a:noFill/>
          <a:ln w="22860">
            <a:solidFill>
              <a:srgbClr val="0F766E"/>
            </a:solidFill>
            <a:prstDash val="solid"/>
            <a:tailEnd type="triangle"/>
          </a:ln>
        </p:spPr>
        <p:txBody>
          <a:bodyPr/>
          <a:lstStyle/>
          <a:p>
            <a:endParaRPr lang="en-IN"/>
          </a:p>
        </p:txBody>
      </p:sp>
      <p:sp>
        <p:nvSpPr>
          <p:cNvPr id="44" name="Shape 42"/>
          <p:cNvSpPr/>
          <p:nvPr/>
        </p:nvSpPr>
        <p:spPr>
          <a:xfrm>
            <a:off x="6556248" y="3931920"/>
            <a:ext cx="863600" cy="512064"/>
          </a:xfrm>
          <a:prstGeom prst="roundRect">
            <a:avLst>
              <a:gd name="adj" fmla="val 12500"/>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45" name="Text 43"/>
          <p:cNvSpPr/>
          <p:nvPr/>
        </p:nvSpPr>
        <p:spPr>
          <a:xfrm>
            <a:off x="6611112" y="3931920"/>
            <a:ext cx="800100" cy="512064"/>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Rate Rule Engine</a:t>
            </a:r>
            <a:endParaRPr lang="en-US" sz="950" dirty="0"/>
          </a:p>
        </p:txBody>
      </p:sp>
      <p:sp>
        <p:nvSpPr>
          <p:cNvPr id="46" name="Shape 44"/>
          <p:cNvSpPr/>
          <p:nvPr/>
        </p:nvSpPr>
        <p:spPr>
          <a:xfrm>
            <a:off x="8595360" y="4187952"/>
            <a:ext cx="109728" cy="0"/>
          </a:xfrm>
          <a:prstGeom prst="line">
            <a:avLst/>
          </a:prstGeom>
          <a:noFill/>
          <a:ln w="22860">
            <a:solidFill>
              <a:srgbClr val="0F766E"/>
            </a:solidFill>
            <a:prstDash val="solid"/>
            <a:tailEnd type="triangle"/>
          </a:ln>
        </p:spPr>
        <p:txBody>
          <a:bodyPr/>
          <a:lstStyle/>
          <a:p>
            <a:endParaRPr lang="en-IN"/>
          </a:p>
        </p:txBody>
      </p:sp>
      <p:sp>
        <p:nvSpPr>
          <p:cNvPr id="47" name="Shape 45"/>
          <p:cNvSpPr/>
          <p:nvPr/>
        </p:nvSpPr>
        <p:spPr>
          <a:xfrm>
            <a:off x="7470140" y="3931920"/>
            <a:ext cx="1460500" cy="512064"/>
          </a:xfrm>
          <a:prstGeom prst="roundRect">
            <a:avLst>
              <a:gd name="adj" fmla="val 12500"/>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48" name="Text 46"/>
          <p:cNvSpPr/>
          <p:nvPr/>
        </p:nvSpPr>
        <p:spPr>
          <a:xfrm>
            <a:off x="7524750" y="3931920"/>
            <a:ext cx="1397000" cy="512064"/>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Supersession Logic</a:t>
            </a:r>
            <a:endParaRPr lang="en-US" sz="950" dirty="0"/>
          </a:p>
        </p:txBody>
      </p:sp>
      <p:sp>
        <p:nvSpPr>
          <p:cNvPr id="49" name="Shape 47"/>
          <p:cNvSpPr/>
          <p:nvPr/>
        </p:nvSpPr>
        <p:spPr>
          <a:xfrm>
            <a:off x="4663440" y="4535424"/>
            <a:ext cx="0" cy="164592"/>
          </a:xfrm>
          <a:prstGeom prst="line">
            <a:avLst/>
          </a:prstGeom>
          <a:noFill/>
          <a:ln w="22860">
            <a:solidFill>
              <a:srgbClr val="0F766E"/>
            </a:solidFill>
            <a:prstDash val="solid"/>
            <a:tailEnd type="triangle"/>
          </a:ln>
        </p:spPr>
        <p:txBody>
          <a:bodyPr/>
          <a:lstStyle/>
          <a:p>
            <a:endParaRPr lang="en-IN"/>
          </a:p>
        </p:txBody>
      </p:sp>
      <p:sp>
        <p:nvSpPr>
          <p:cNvPr id="50" name="Shape 48"/>
          <p:cNvSpPr/>
          <p:nvPr/>
        </p:nvSpPr>
        <p:spPr>
          <a:xfrm>
            <a:off x="548640" y="4736592"/>
            <a:ext cx="8382000" cy="658368"/>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51" name="Shape 49"/>
          <p:cNvSpPr/>
          <p:nvPr/>
        </p:nvSpPr>
        <p:spPr>
          <a:xfrm>
            <a:off x="548640" y="4736592"/>
            <a:ext cx="82550" cy="658368"/>
          </a:xfrm>
          <a:prstGeom prst="rect">
            <a:avLst/>
          </a:prstGeom>
          <a:solidFill>
            <a:srgbClr val="14B8A6"/>
          </a:solidFill>
          <a:ln/>
        </p:spPr>
        <p:txBody>
          <a:bodyPr/>
          <a:lstStyle/>
          <a:p>
            <a:endParaRPr lang="en-IN"/>
          </a:p>
        </p:txBody>
      </p:sp>
      <p:sp>
        <p:nvSpPr>
          <p:cNvPr id="52" name="Text 50"/>
          <p:cNvSpPr/>
          <p:nvPr/>
        </p:nvSpPr>
        <p:spPr>
          <a:xfrm>
            <a:off x="749808" y="4736592"/>
            <a:ext cx="1417320" cy="658368"/>
          </a:xfrm>
          <a:prstGeom prst="rect">
            <a:avLst/>
          </a:prstGeom>
          <a:noFill/>
          <a:ln/>
        </p:spPr>
        <p:txBody>
          <a:bodyPr wrap="square" lIns="0" tIns="0" rIns="0" bIns="0" rtlCol="0" anchor="ctr"/>
          <a:lstStyle/>
          <a:p>
            <a:pPr marL="0" indent="0">
              <a:buNone/>
            </a:pPr>
            <a:r>
              <a:rPr lang="en-US" sz="1000" b="1" kern="0" spc="100" dirty="0">
                <a:solidFill>
                  <a:srgbClr val="0F766E"/>
                </a:solidFill>
                <a:latin typeface="Calibri" pitchFamily="34" charset="0"/>
                <a:ea typeface="Calibri" pitchFamily="34" charset="-122"/>
                <a:cs typeface="Calibri" pitchFamily="34" charset="-120"/>
              </a:rPr>
              <a:t>RETRIEVAL</a:t>
            </a:r>
            <a:endParaRPr lang="en-US" sz="1000" dirty="0"/>
          </a:p>
        </p:txBody>
      </p:sp>
      <p:sp>
        <p:nvSpPr>
          <p:cNvPr id="53" name="Shape 51"/>
          <p:cNvSpPr/>
          <p:nvPr/>
        </p:nvSpPr>
        <p:spPr>
          <a:xfrm>
            <a:off x="2240280" y="4809744"/>
            <a:ext cx="2029968" cy="512064"/>
          </a:xfrm>
          <a:prstGeom prst="roundRect">
            <a:avLst>
              <a:gd name="adj" fmla="val 12500"/>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54" name="Text 52"/>
          <p:cNvSpPr/>
          <p:nvPr/>
        </p:nvSpPr>
        <p:spPr>
          <a:xfrm>
            <a:off x="2295144" y="4809744"/>
            <a:ext cx="1920240" cy="512064"/>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Legal Chunking</a:t>
            </a:r>
            <a:endParaRPr lang="en-US" sz="950" dirty="0"/>
          </a:p>
        </p:txBody>
      </p:sp>
      <p:sp>
        <p:nvSpPr>
          <p:cNvPr id="55" name="Shape 53"/>
          <p:cNvSpPr/>
          <p:nvPr/>
        </p:nvSpPr>
        <p:spPr>
          <a:xfrm>
            <a:off x="4279392" y="5065776"/>
            <a:ext cx="109728" cy="0"/>
          </a:xfrm>
          <a:prstGeom prst="line">
            <a:avLst/>
          </a:prstGeom>
          <a:noFill/>
          <a:ln w="22860">
            <a:solidFill>
              <a:srgbClr val="0F766E"/>
            </a:solidFill>
            <a:prstDash val="solid"/>
            <a:tailEnd type="triangle"/>
          </a:ln>
        </p:spPr>
        <p:txBody>
          <a:bodyPr/>
          <a:lstStyle/>
          <a:p>
            <a:endParaRPr lang="en-IN"/>
          </a:p>
        </p:txBody>
      </p:sp>
      <p:sp>
        <p:nvSpPr>
          <p:cNvPr id="56" name="Shape 54"/>
          <p:cNvSpPr/>
          <p:nvPr/>
        </p:nvSpPr>
        <p:spPr>
          <a:xfrm>
            <a:off x="4398264" y="4809744"/>
            <a:ext cx="2029968" cy="512064"/>
          </a:xfrm>
          <a:prstGeom prst="roundRect">
            <a:avLst>
              <a:gd name="adj" fmla="val 12500"/>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57" name="Text 55"/>
          <p:cNvSpPr/>
          <p:nvPr/>
        </p:nvSpPr>
        <p:spPr>
          <a:xfrm>
            <a:off x="4453128" y="4809744"/>
            <a:ext cx="1920240" cy="512064"/>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GTE-Large Embedding</a:t>
            </a:r>
            <a:endParaRPr lang="en-US" sz="950" dirty="0"/>
          </a:p>
        </p:txBody>
      </p:sp>
      <p:sp>
        <p:nvSpPr>
          <p:cNvPr id="58" name="Shape 56"/>
          <p:cNvSpPr/>
          <p:nvPr/>
        </p:nvSpPr>
        <p:spPr>
          <a:xfrm>
            <a:off x="6437376" y="5065776"/>
            <a:ext cx="109728" cy="0"/>
          </a:xfrm>
          <a:prstGeom prst="line">
            <a:avLst/>
          </a:prstGeom>
          <a:noFill/>
          <a:ln w="22860">
            <a:solidFill>
              <a:srgbClr val="0F766E"/>
            </a:solidFill>
            <a:prstDash val="solid"/>
            <a:tailEnd type="triangle"/>
          </a:ln>
        </p:spPr>
        <p:txBody>
          <a:bodyPr/>
          <a:lstStyle/>
          <a:p>
            <a:endParaRPr lang="en-IN"/>
          </a:p>
        </p:txBody>
      </p:sp>
      <p:sp>
        <p:nvSpPr>
          <p:cNvPr id="59" name="Shape 57"/>
          <p:cNvSpPr/>
          <p:nvPr/>
        </p:nvSpPr>
        <p:spPr>
          <a:xfrm>
            <a:off x="6556248" y="4809744"/>
            <a:ext cx="863600" cy="512064"/>
          </a:xfrm>
          <a:prstGeom prst="roundRect">
            <a:avLst>
              <a:gd name="adj" fmla="val 12500"/>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60" name="Text 58"/>
          <p:cNvSpPr/>
          <p:nvPr/>
        </p:nvSpPr>
        <p:spPr>
          <a:xfrm>
            <a:off x="6611112" y="4809744"/>
            <a:ext cx="800100" cy="512064"/>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Vector Search Index</a:t>
            </a:r>
            <a:endParaRPr lang="en-US" sz="950" dirty="0"/>
          </a:p>
        </p:txBody>
      </p:sp>
      <p:sp>
        <p:nvSpPr>
          <p:cNvPr id="61" name="Shape 59"/>
          <p:cNvSpPr/>
          <p:nvPr/>
        </p:nvSpPr>
        <p:spPr>
          <a:xfrm>
            <a:off x="8595360" y="5065776"/>
            <a:ext cx="109728" cy="0"/>
          </a:xfrm>
          <a:prstGeom prst="line">
            <a:avLst/>
          </a:prstGeom>
          <a:noFill/>
          <a:ln w="22860">
            <a:solidFill>
              <a:srgbClr val="0F766E"/>
            </a:solidFill>
            <a:prstDash val="solid"/>
            <a:tailEnd type="triangle"/>
          </a:ln>
        </p:spPr>
        <p:txBody>
          <a:bodyPr/>
          <a:lstStyle/>
          <a:p>
            <a:endParaRPr lang="en-IN"/>
          </a:p>
        </p:txBody>
      </p:sp>
      <p:sp>
        <p:nvSpPr>
          <p:cNvPr id="62" name="Shape 60"/>
          <p:cNvSpPr/>
          <p:nvPr/>
        </p:nvSpPr>
        <p:spPr>
          <a:xfrm>
            <a:off x="7470140" y="4809744"/>
            <a:ext cx="1460500" cy="512064"/>
          </a:xfrm>
          <a:prstGeom prst="roundRect">
            <a:avLst>
              <a:gd name="adj" fmla="val 12500"/>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63" name="Text 61"/>
          <p:cNvSpPr/>
          <p:nvPr/>
        </p:nvSpPr>
        <p:spPr>
          <a:xfrm>
            <a:off x="7524750" y="4809744"/>
            <a:ext cx="1397000" cy="512064"/>
          </a:xfrm>
          <a:prstGeom prst="rect">
            <a:avLst/>
          </a:prstGeom>
          <a:noFill/>
          <a:ln/>
        </p:spPr>
        <p:txBody>
          <a:bodyPr wrap="square" lIns="0" tIns="0" rIns="0" bIns="0" rtlCol="0" anchor="ctr"/>
          <a:lstStyle/>
          <a:p>
            <a:pPr marL="0" indent="0" algn="ctr">
              <a:lnSpc>
                <a:spcPts val="1064"/>
              </a:lnSpc>
              <a:buNone/>
            </a:pPr>
            <a:r>
              <a:rPr lang="en-US" sz="950" b="1" dirty="0">
                <a:solidFill>
                  <a:srgbClr val="33415A"/>
                </a:solidFill>
                <a:latin typeface="Calibri" pitchFamily="34" charset="0"/>
                <a:ea typeface="Calibri" pitchFamily="34" charset="-122"/>
                <a:cs typeface="Calibri" pitchFamily="34" charset="-120"/>
              </a:rPr>
              <a:t>Benchmark Engine</a:t>
            </a:r>
            <a:endParaRPr lang="en-US" sz="950" dirty="0"/>
          </a:p>
        </p:txBody>
      </p:sp>
      <p:sp>
        <p:nvSpPr>
          <p:cNvPr id="64" name="Shape 62"/>
          <p:cNvSpPr/>
          <p:nvPr/>
        </p:nvSpPr>
        <p:spPr>
          <a:xfrm>
            <a:off x="4663440" y="5413248"/>
            <a:ext cx="0" cy="164592"/>
          </a:xfrm>
          <a:prstGeom prst="line">
            <a:avLst/>
          </a:prstGeom>
          <a:noFill/>
          <a:ln w="22860">
            <a:solidFill>
              <a:srgbClr val="0F766E"/>
            </a:solidFill>
            <a:prstDash val="solid"/>
            <a:tailEnd type="triangle"/>
          </a:ln>
        </p:spPr>
        <p:txBody>
          <a:bodyPr/>
          <a:lstStyle/>
          <a:p>
            <a:endParaRPr lang="en-IN"/>
          </a:p>
        </p:txBody>
      </p:sp>
      <p:sp>
        <p:nvSpPr>
          <p:cNvPr id="65" name="Shape 63"/>
          <p:cNvSpPr/>
          <p:nvPr/>
        </p:nvSpPr>
        <p:spPr>
          <a:xfrm>
            <a:off x="548640" y="5614416"/>
            <a:ext cx="8382000" cy="621792"/>
          </a:xfrm>
          <a:prstGeom prst="rect">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66" name="Shape 64"/>
          <p:cNvSpPr/>
          <p:nvPr/>
        </p:nvSpPr>
        <p:spPr>
          <a:xfrm>
            <a:off x="548640" y="5614416"/>
            <a:ext cx="82550" cy="621792"/>
          </a:xfrm>
          <a:prstGeom prst="rect">
            <a:avLst/>
          </a:prstGeom>
          <a:solidFill>
            <a:srgbClr val="F26A4B"/>
          </a:solidFill>
          <a:ln/>
        </p:spPr>
        <p:txBody>
          <a:bodyPr/>
          <a:lstStyle/>
          <a:p>
            <a:endParaRPr lang="en-IN"/>
          </a:p>
        </p:txBody>
      </p:sp>
      <p:sp>
        <p:nvSpPr>
          <p:cNvPr id="67" name="Text 65"/>
          <p:cNvSpPr/>
          <p:nvPr/>
        </p:nvSpPr>
        <p:spPr>
          <a:xfrm>
            <a:off x="749808" y="5614416"/>
            <a:ext cx="1417320" cy="621792"/>
          </a:xfrm>
          <a:prstGeom prst="rect">
            <a:avLst/>
          </a:prstGeom>
          <a:noFill/>
          <a:ln/>
        </p:spPr>
        <p:txBody>
          <a:bodyPr wrap="square" lIns="0" tIns="0" rIns="0" bIns="0" rtlCol="0" anchor="ctr"/>
          <a:lstStyle/>
          <a:p>
            <a:pPr marL="0" indent="0">
              <a:buNone/>
            </a:pPr>
            <a:r>
              <a:rPr lang="en-US" sz="1000" b="1" kern="0" spc="100" dirty="0">
                <a:solidFill>
                  <a:srgbClr val="F26A4B"/>
                </a:solidFill>
                <a:latin typeface="Calibri" pitchFamily="34" charset="0"/>
                <a:ea typeface="Calibri" pitchFamily="34" charset="-122"/>
                <a:cs typeface="Calibri" pitchFamily="34" charset="-120"/>
              </a:rPr>
              <a:t>SERVING</a:t>
            </a:r>
            <a:endParaRPr lang="en-US" sz="1000" dirty="0"/>
          </a:p>
        </p:txBody>
      </p:sp>
      <p:sp>
        <p:nvSpPr>
          <p:cNvPr id="68" name="Shape 66"/>
          <p:cNvSpPr/>
          <p:nvPr/>
        </p:nvSpPr>
        <p:spPr>
          <a:xfrm>
            <a:off x="2331720" y="5669280"/>
            <a:ext cx="2834640" cy="512064"/>
          </a:xfrm>
          <a:prstGeom prst="roundRect">
            <a:avLst>
              <a:gd name="adj" fmla="val 12500"/>
            </a:avLst>
          </a:prstGeom>
          <a:solidFill>
            <a:srgbClr val="13283F"/>
          </a:solidFill>
          <a:ln/>
          <a:effectLst>
            <a:outerShdw blurRad="101600" dist="25400" dir="8100000" algn="bl" rotWithShape="0">
              <a:srgbClr val="1E293B">
                <a:alpha val="11000"/>
              </a:srgbClr>
            </a:outerShdw>
          </a:effectLst>
        </p:spPr>
        <p:txBody>
          <a:bodyPr/>
          <a:lstStyle/>
          <a:p>
            <a:endParaRPr lang="en-IN"/>
          </a:p>
        </p:txBody>
      </p:sp>
      <p:sp>
        <p:nvSpPr>
          <p:cNvPr id="69" name="Text 67"/>
          <p:cNvSpPr/>
          <p:nvPr/>
        </p:nvSpPr>
        <p:spPr>
          <a:xfrm>
            <a:off x="2386584" y="5669280"/>
            <a:ext cx="2724912" cy="512064"/>
          </a:xfrm>
          <a:prstGeom prst="rect">
            <a:avLst/>
          </a:prstGeom>
          <a:noFill/>
          <a:ln/>
        </p:spPr>
        <p:txBody>
          <a:bodyPr wrap="square" lIns="0" tIns="0" rIns="0" bIns="0" rtlCol="0" anchor="ctr"/>
          <a:lstStyle/>
          <a:p>
            <a:pPr marL="0" indent="0" algn="ctr">
              <a:lnSpc>
                <a:spcPts val="1176"/>
              </a:lnSpc>
              <a:buNone/>
            </a:pPr>
            <a:r>
              <a:rPr lang="en-US" sz="1050" b="1" dirty="0">
                <a:solidFill>
                  <a:srgbClr val="5EEAD4"/>
                </a:solidFill>
                <a:latin typeface="Calibri" pitchFamily="34" charset="0"/>
                <a:ea typeface="Calibri" pitchFamily="34" charset="-122"/>
                <a:cs typeface="Calibri" pitchFamily="34" charset="-120"/>
              </a:rPr>
              <a:t>Genie Space</a:t>
            </a:r>
            <a:endParaRPr lang="en-US" sz="1050" dirty="0"/>
          </a:p>
        </p:txBody>
      </p:sp>
      <p:sp>
        <p:nvSpPr>
          <p:cNvPr id="70" name="Shape 68"/>
          <p:cNvSpPr/>
          <p:nvPr/>
        </p:nvSpPr>
        <p:spPr>
          <a:xfrm>
            <a:off x="5184648" y="5925312"/>
            <a:ext cx="146304" cy="0"/>
          </a:xfrm>
          <a:prstGeom prst="line">
            <a:avLst/>
          </a:prstGeom>
          <a:noFill/>
          <a:ln w="22860">
            <a:solidFill>
              <a:srgbClr val="5EEAD4"/>
            </a:solidFill>
            <a:prstDash val="solid"/>
            <a:tailEnd type="triangle"/>
          </a:ln>
        </p:spPr>
        <p:txBody>
          <a:bodyPr/>
          <a:lstStyle/>
          <a:p>
            <a:endParaRPr lang="en-IN"/>
          </a:p>
        </p:txBody>
      </p:sp>
      <p:sp>
        <p:nvSpPr>
          <p:cNvPr id="71" name="Shape 69"/>
          <p:cNvSpPr/>
          <p:nvPr/>
        </p:nvSpPr>
        <p:spPr>
          <a:xfrm>
            <a:off x="5330952" y="5669280"/>
            <a:ext cx="863600" cy="512064"/>
          </a:xfrm>
          <a:prstGeom prst="roundRect">
            <a:avLst>
              <a:gd name="adj" fmla="val 12500"/>
            </a:avLst>
          </a:prstGeom>
          <a:solidFill>
            <a:srgbClr val="13283F"/>
          </a:solidFill>
          <a:ln/>
          <a:effectLst>
            <a:outerShdw blurRad="101600" dist="25400" dir="8100000" algn="bl" rotWithShape="0">
              <a:srgbClr val="1E293B">
                <a:alpha val="11000"/>
              </a:srgbClr>
            </a:outerShdw>
          </a:effectLst>
        </p:spPr>
        <p:txBody>
          <a:bodyPr/>
          <a:lstStyle/>
          <a:p>
            <a:endParaRPr lang="en-IN"/>
          </a:p>
        </p:txBody>
      </p:sp>
      <p:sp>
        <p:nvSpPr>
          <p:cNvPr id="72" name="Text 70"/>
          <p:cNvSpPr/>
          <p:nvPr/>
        </p:nvSpPr>
        <p:spPr>
          <a:xfrm>
            <a:off x="5385816" y="5669280"/>
            <a:ext cx="800100" cy="512064"/>
          </a:xfrm>
          <a:prstGeom prst="rect">
            <a:avLst/>
          </a:prstGeom>
          <a:noFill/>
          <a:ln/>
        </p:spPr>
        <p:txBody>
          <a:bodyPr wrap="square" lIns="0" tIns="0" rIns="0" bIns="0" rtlCol="0" anchor="ctr"/>
          <a:lstStyle/>
          <a:p>
            <a:pPr marL="0" indent="0" algn="ctr">
              <a:lnSpc>
                <a:spcPts val="1176"/>
              </a:lnSpc>
              <a:buNone/>
            </a:pPr>
            <a:r>
              <a:rPr lang="en-US" sz="1050" b="1" dirty="0">
                <a:solidFill>
                  <a:srgbClr val="5EEAD4"/>
                </a:solidFill>
                <a:latin typeface="Calibri" pitchFamily="34" charset="0"/>
                <a:ea typeface="Calibri" pitchFamily="34" charset="-122"/>
                <a:cs typeface="Calibri" pitchFamily="34" charset="-120"/>
              </a:rPr>
              <a:t>RAG Notebook</a:t>
            </a:r>
            <a:endParaRPr lang="en-US" sz="1050" dirty="0"/>
          </a:p>
        </p:txBody>
      </p:sp>
      <p:sp>
        <p:nvSpPr>
          <p:cNvPr id="73" name="Shape 71"/>
          <p:cNvSpPr/>
          <p:nvPr/>
        </p:nvSpPr>
        <p:spPr>
          <a:xfrm>
            <a:off x="8183880" y="5925312"/>
            <a:ext cx="146304" cy="0"/>
          </a:xfrm>
          <a:prstGeom prst="line">
            <a:avLst/>
          </a:prstGeom>
          <a:noFill/>
          <a:ln w="22860">
            <a:solidFill>
              <a:srgbClr val="5EEAD4"/>
            </a:solidFill>
            <a:prstDash val="solid"/>
            <a:tailEnd type="triangle"/>
          </a:ln>
        </p:spPr>
        <p:txBody>
          <a:bodyPr/>
          <a:lstStyle/>
          <a:p>
            <a:endParaRPr lang="en-IN"/>
          </a:p>
        </p:txBody>
      </p:sp>
      <p:sp>
        <p:nvSpPr>
          <p:cNvPr id="74" name="Shape 72"/>
          <p:cNvSpPr/>
          <p:nvPr/>
        </p:nvSpPr>
        <p:spPr>
          <a:xfrm>
            <a:off x="7470140" y="5669280"/>
            <a:ext cx="1460500" cy="512064"/>
          </a:xfrm>
          <a:prstGeom prst="roundRect">
            <a:avLst>
              <a:gd name="adj" fmla="val 12500"/>
            </a:avLst>
          </a:prstGeom>
          <a:solidFill>
            <a:srgbClr val="13283F"/>
          </a:solidFill>
          <a:ln/>
          <a:effectLst>
            <a:outerShdw blurRad="101600" dist="25400" dir="8100000" algn="bl" rotWithShape="0">
              <a:srgbClr val="1E293B">
                <a:alpha val="11000"/>
              </a:srgbClr>
            </a:outerShdw>
          </a:effectLst>
        </p:spPr>
        <p:txBody>
          <a:bodyPr/>
          <a:lstStyle/>
          <a:p>
            <a:endParaRPr lang="en-IN"/>
          </a:p>
        </p:txBody>
      </p:sp>
      <p:sp>
        <p:nvSpPr>
          <p:cNvPr id="75" name="Text 73"/>
          <p:cNvSpPr/>
          <p:nvPr/>
        </p:nvSpPr>
        <p:spPr>
          <a:xfrm>
            <a:off x="7524750" y="5669280"/>
            <a:ext cx="1397000" cy="512064"/>
          </a:xfrm>
          <a:prstGeom prst="rect">
            <a:avLst/>
          </a:prstGeom>
          <a:noFill/>
          <a:ln/>
        </p:spPr>
        <p:txBody>
          <a:bodyPr wrap="square" lIns="0" tIns="0" rIns="0" bIns="0" rtlCol="0" anchor="ctr"/>
          <a:lstStyle/>
          <a:p>
            <a:pPr marL="0" indent="0" algn="ctr">
              <a:lnSpc>
                <a:spcPts val="1176"/>
              </a:lnSpc>
              <a:buNone/>
            </a:pPr>
            <a:r>
              <a:rPr lang="en-US" sz="1050" b="1" dirty="0">
                <a:solidFill>
                  <a:srgbClr val="5EEAD4"/>
                </a:solidFill>
                <a:latin typeface="Calibri" pitchFamily="34" charset="0"/>
                <a:ea typeface="Calibri" pitchFamily="34" charset="-122"/>
                <a:cs typeface="Calibri" pitchFamily="34" charset="-120"/>
              </a:rPr>
              <a:t>Portfolio Dashboard</a:t>
            </a:r>
            <a:endParaRPr lang="en-US" sz="1050" dirty="0"/>
          </a:p>
        </p:txBody>
      </p:sp>
      <p:sp>
        <p:nvSpPr>
          <p:cNvPr id="76" name="Shape 74"/>
          <p:cNvSpPr/>
          <p:nvPr/>
        </p:nvSpPr>
        <p:spPr>
          <a:xfrm>
            <a:off x="10225735" y="2121408"/>
            <a:ext cx="1417320" cy="4114800"/>
          </a:xfrm>
          <a:prstGeom prst="rect">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77" name="Shape 75"/>
          <p:cNvSpPr/>
          <p:nvPr/>
        </p:nvSpPr>
        <p:spPr>
          <a:xfrm>
            <a:off x="10225735" y="2121408"/>
            <a:ext cx="1417320" cy="73152"/>
          </a:xfrm>
          <a:prstGeom prst="rect">
            <a:avLst/>
          </a:prstGeom>
          <a:solidFill>
            <a:srgbClr val="F59E0B"/>
          </a:solidFill>
          <a:ln/>
        </p:spPr>
        <p:txBody>
          <a:bodyPr/>
          <a:lstStyle/>
          <a:p>
            <a:endParaRPr lang="en-IN"/>
          </a:p>
        </p:txBody>
      </p:sp>
      <p:sp>
        <p:nvSpPr>
          <p:cNvPr id="78" name="Text 76"/>
          <p:cNvSpPr/>
          <p:nvPr/>
        </p:nvSpPr>
        <p:spPr>
          <a:xfrm>
            <a:off x="10317175" y="2240280"/>
            <a:ext cx="1261872" cy="594360"/>
          </a:xfrm>
          <a:prstGeom prst="rect">
            <a:avLst/>
          </a:prstGeom>
          <a:noFill/>
          <a:ln/>
        </p:spPr>
        <p:txBody>
          <a:bodyPr wrap="square" lIns="0" tIns="0" rIns="0" bIns="0" rtlCol="0" anchor="ctr"/>
          <a:lstStyle/>
          <a:p>
            <a:pPr marL="0" indent="0" algn="ctr">
              <a:lnSpc>
                <a:spcPts val="1300"/>
              </a:lnSpc>
              <a:buNone/>
            </a:pPr>
            <a:r>
              <a:rPr lang="en-US" sz="950" b="1" kern="0" spc="100" dirty="0">
                <a:solidFill>
                  <a:srgbClr val="F59E0B"/>
                </a:solidFill>
                <a:latin typeface="Calibri" pitchFamily="34" charset="0"/>
                <a:ea typeface="Calibri" pitchFamily="34" charset="-122"/>
                <a:cs typeface="Calibri" pitchFamily="34" charset="-120"/>
              </a:rPr>
              <a:t>UNITY CATALOG</a:t>
            </a:r>
            <a:endParaRPr lang="en-US" sz="950" dirty="0"/>
          </a:p>
          <a:p>
            <a:pPr marL="0" indent="0" algn="ctr">
              <a:lnSpc>
                <a:spcPts val="1300"/>
              </a:lnSpc>
              <a:buNone/>
            </a:pPr>
            <a:r>
              <a:rPr lang="en-US" sz="950" b="1" kern="0" spc="100" dirty="0">
                <a:solidFill>
                  <a:srgbClr val="F59E0B"/>
                </a:solidFill>
                <a:latin typeface="Calibri" pitchFamily="34" charset="0"/>
                <a:ea typeface="Calibri" pitchFamily="34" charset="-122"/>
                <a:cs typeface="Calibri" pitchFamily="34" charset="-120"/>
              </a:rPr>
              <a:t>GOVERNANCE</a:t>
            </a:r>
            <a:endParaRPr lang="en-US" sz="950" dirty="0"/>
          </a:p>
        </p:txBody>
      </p:sp>
      <p:sp>
        <p:nvSpPr>
          <p:cNvPr id="79" name="Text 77"/>
          <p:cNvSpPr/>
          <p:nvPr/>
        </p:nvSpPr>
        <p:spPr>
          <a:xfrm>
            <a:off x="10317175" y="2971800"/>
            <a:ext cx="1261872" cy="384048"/>
          </a:xfrm>
          <a:prstGeom prst="rect">
            <a:avLst/>
          </a:prstGeom>
          <a:noFill/>
          <a:ln/>
        </p:spPr>
        <p:txBody>
          <a:bodyPr wrap="square" lIns="0" tIns="0" rIns="0" bIns="0" rtlCol="0" anchor="ctr"/>
          <a:lstStyle/>
          <a:p>
            <a:pPr marL="0" indent="0" algn="ctr">
              <a:buNone/>
            </a:pPr>
            <a:r>
              <a:rPr lang="en-US" sz="950" dirty="0">
                <a:solidFill>
                  <a:srgbClr val="93A4BD"/>
                </a:solidFill>
                <a:latin typeface="Calibri" pitchFamily="34" charset="0"/>
                <a:ea typeface="Calibri" pitchFamily="34" charset="-122"/>
                <a:cs typeface="Calibri" pitchFamily="34" charset="-120"/>
              </a:rPr>
              <a:t>Access Control</a:t>
            </a:r>
            <a:endParaRPr lang="en-US" sz="950" dirty="0"/>
          </a:p>
        </p:txBody>
      </p:sp>
      <p:sp>
        <p:nvSpPr>
          <p:cNvPr id="80" name="Text 78"/>
          <p:cNvSpPr/>
          <p:nvPr/>
        </p:nvSpPr>
        <p:spPr>
          <a:xfrm>
            <a:off x="10317175" y="3410712"/>
            <a:ext cx="1261872" cy="384048"/>
          </a:xfrm>
          <a:prstGeom prst="rect">
            <a:avLst/>
          </a:prstGeom>
          <a:noFill/>
          <a:ln/>
        </p:spPr>
        <p:txBody>
          <a:bodyPr wrap="square" lIns="0" tIns="0" rIns="0" bIns="0" rtlCol="0" anchor="ctr"/>
          <a:lstStyle/>
          <a:p>
            <a:pPr marL="0" indent="0" algn="ctr">
              <a:buNone/>
            </a:pPr>
            <a:r>
              <a:rPr lang="en-US" sz="950" dirty="0">
                <a:solidFill>
                  <a:srgbClr val="93A4BD"/>
                </a:solidFill>
                <a:latin typeface="Calibri" pitchFamily="34" charset="0"/>
                <a:ea typeface="Calibri" pitchFamily="34" charset="-122"/>
                <a:cs typeface="Calibri" pitchFamily="34" charset="-120"/>
              </a:rPr>
              <a:t>Column Masking</a:t>
            </a:r>
            <a:endParaRPr lang="en-US" sz="950" dirty="0"/>
          </a:p>
        </p:txBody>
      </p:sp>
      <p:sp>
        <p:nvSpPr>
          <p:cNvPr id="81" name="Text 79"/>
          <p:cNvSpPr/>
          <p:nvPr/>
        </p:nvSpPr>
        <p:spPr>
          <a:xfrm>
            <a:off x="10317175" y="3849624"/>
            <a:ext cx="1261872" cy="384048"/>
          </a:xfrm>
          <a:prstGeom prst="rect">
            <a:avLst/>
          </a:prstGeom>
          <a:noFill/>
          <a:ln/>
        </p:spPr>
        <p:txBody>
          <a:bodyPr wrap="square" lIns="0" tIns="0" rIns="0" bIns="0" rtlCol="0" anchor="ctr"/>
          <a:lstStyle/>
          <a:p>
            <a:pPr marL="0" indent="0" algn="ctr">
              <a:buNone/>
            </a:pPr>
            <a:r>
              <a:rPr lang="en-US" sz="950" dirty="0">
                <a:solidFill>
                  <a:srgbClr val="93A4BD"/>
                </a:solidFill>
                <a:latin typeface="Calibri" pitchFamily="34" charset="0"/>
                <a:ea typeface="Calibri" pitchFamily="34" charset="-122"/>
                <a:cs typeface="Calibri" pitchFamily="34" charset="-120"/>
              </a:rPr>
              <a:t>Lineage</a:t>
            </a:r>
            <a:endParaRPr lang="en-US" sz="950" dirty="0"/>
          </a:p>
        </p:txBody>
      </p:sp>
      <p:sp>
        <p:nvSpPr>
          <p:cNvPr id="82" name="Text 80"/>
          <p:cNvSpPr/>
          <p:nvPr/>
        </p:nvSpPr>
        <p:spPr>
          <a:xfrm>
            <a:off x="10317175" y="4288536"/>
            <a:ext cx="1261872" cy="384048"/>
          </a:xfrm>
          <a:prstGeom prst="rect">
            <a:avLst/>
          </a:prstGeom>
          <a:noFill/>
          <a:ln/>
        </p:spPr>
        <p:txBody>
          <a:bodyPr wrap="square" lIns="0" tIns="0" rIns="0" bIns="0" rtlCol="0" anchor="ctr"/>
          <a:lstStyle/>
          <a:p>
            <a:pPr marL="0" indent="0" algn="ctr">
              <a:buNone/>
            </a:pPr>
            <a:r>
              <a:rPr lang="en-US" sz="950" dirty="0">
                <a:solidFill>
                  <a:srgbClr val="93A4BD"/>
                </a:solidFill>
                <a:latin typeface="Calibri" pitchFamily="34" charset="0"/>
                <a:ea typeface="Calibri" pitchFamily="34" charset="-122"/>
                <a:cs typeface="Calibri" pitchFamily="34" charset="-120"/>
              </a:rPr>
              <a:t>Audit Logs</a:t>
            </a:r>
            <a:endParaRPr lang="en-US" sz="950" dirty="0"/>
          </a:p>
        </p:txBody>
      </p:sp>
      <p:sp>
        <p:nvSpPr>
          <p:cNvPr id="83" name="Text 81"/>
          <p:cNvSpPr/>
          <p:nvPr/>
        </p:nvSpPr>
        <p:spPr>
          <a:xfrm>
            <a:off x="10317175" y="4727448"/>
            <a:ext cx="1261872" cy="384048"/>
          </a:xfrm>
          <a:prstGeom prst="rect">
            <a:avLst/>
          </a:prstGeom>
          <a:noFill/>
          <a:ln/>
        </p:spPr>
        <p:txBody>
          <a:bodyPr wrap="square" lIns="0" tIns="0" rIns="0" bIns="0" rtlCol="0" anchor="ctr"/>
          <a:lstStyle/>
          <a:p>
            <a:pPr marL="0" indent="0" algn="ctr">
              <a:buNone/>
            </a:pPr>
            <a:r>
              <a:rPr lang="en-US" sz="950" dirty="0">
                <a:solidFill>
                  <a:srgbClr val="93A4BD"/>
                </a:solidFill>
                <a:latin typeface="Calibri" pitchFamily="34" charset="0"/>
                <a:ea typeface="Calibri" pitchFamily="34" charset="-122"/>
                <a:cs typeface="Calibri" pitchFamily="34" charset="-120"/>
              </a:rPr>
              <a:t>Delta Time-Travel</a:t>
            </a:r>
            <a:endParaRPr lang="en-US" sz="950" dirty="0"/>
          </a:p>
        </p:txBody>
      </p:sp>
      <p:sp>
        <p:nvSpPr>
          <p:cNvPr id="84" name="Text 82"/>
          <p:cNvSpPr/>
          <p:nvPr/>
        </p:nvSpPr>
        <p:spPr>
          <a:xfrm>
            <a:off x="548640" y="6473952"/>
            <a:ext cx="8229600" cy="256032"/>
          </a:xfrm>
          <a:prstGeom prst="rect">
            <a:avLst/>
          </a:prstGeom>
          <a:noFill/>
          <a:ln/>
        </p:spPr>
        <p:txBody>
          <a:bodyPr wrap="square" lIns="0" tIns="0" rIns="0" bIns="0" rtlCol="0" anchor="ctr"/>
          <a:lstStyle/>
          <a:p>
            <a:pPr marL="0" indent="0">
              <a:buNone/>
            </a:pPr>
            <a:r>
              <a:rPr lang="en-US" sz="800" b="1" kern="0" spc="80" dirty="0">
                <a:solidFill>
                  <a:srgbClr val="64748B"/>
                </a:solidFill>
                <a:latin typeface="Calibri" pitchFamily="34" charset="0"/>
                <a:ea typeface="Calibri" pitchFamily="34" charset="-122"/>
                <a:cs typeface="Calibri" pitchFamily="34" charset="-120"/>
              </a:rPr>
              <a:t>PROVIDER CONTRACT INTELLIGENCE PLATFORM</a:t>
            </a:r>
            <a:r>
              <a:rPr lang="en-US" sz="800" kern="0" spc="8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85" name="Text 83"/>
          <p:cNvSpPr/>
          <p:nvPr/>
        </p:nvSpPr>
        <p:spPr>
          <a:xfrm>
            <a:off x="10728655" y="6473952"/>
            <a:ext cx="914400" cy="256032"/>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256032"/>
          </a:xfrm>
          <a:prstGeom prst="rect">
            <a:avLst/>
          </a:prstGeom>
          <a:noFill/>
          <a:ln/>
        </p:spPr>
        <p:txBody>
          <a:bodyPr wrap="square" lIns="0" tIns="0" rIns="0" bIns="0" rtlCol="0" anchor="ctr"/>
          <a:lstStyle/>
          <a:p>
            <a:pPr marL="0" indent="0">
              <a:buNone/>
            </a:pPr>
            <a:r>
              <a:rPr lang="en-US" sz="1100" b="1" kern="0" spc="250" dirty="0">
                <a:solidFill>
                  <a:srgbClr val="0F766E"/>
                </a:solidFill>
                <a:latin typeface="Calibri" pitchFamily="34" charset="0"/>
                <a:ea typeface="Calibri" pitchFamily="34" charset="-122"/>
                <a:cs typeface="Calibri" pitchFamily="34" charset="-120"/>
              </a:rPr>
              <a:t>SECTION 04 · THE AI EXTRACTION PIPELINE</a:t>
            </a:r>
            <a:endParaRPr lang="en-US" sz="1100" dirty="0"/>
          </a:p>
        </p:txBody>
      </p:sp>
      <p:sp>
        <p:nvSpPr>
          <p:cNvPr id="3" name="Text 1"/>
          <p:cNvSpPr/>
          <p:nvPr/>
        </p:nvSpPr>
        <p:spPr>
          <a:xfrm>
            <a:off x="548640" y="804672"/>
            <a:ext cx="7987979" cy="635000"/>
          </a:xfrm>
          <a:prstGeom prst="rect">
            <a:avLst/>
          </a:prstGeom>
          <a:noFill/>
          <a:ln/>
        </p:spPr>
        <p:txBody>
          <a:bodyPr wrap="square" lIns="0" tIns="0" rIns="0" bIns="0" rtlCol="0" anchor="t"/>
          <a:lstStyle/>
          <a:p>
            <a:pPr marL="0" indent="0">
              <a:lnSpc>
                <a:spcPts val="3080"/>
              </a:lnSpc>
              <a:buNone/>
            </a:pPr>
            <a:r>
              <a:rPr lang="en-US" sz="2800" b="1" dirty="0">
                <a:solidFill>
                  <a:srgbClr val="0B1B2E"/>
                </a:solidFill>
                <a:latin typeface="Georgia" pitchFamily="34" charset="0"/>
                <a:ea typeface="Georgia" pitchFamily="34" charset="-122"/>
                <a:cs typeface="Georgia" pitchFamily="34" charset="-120"/>
              </a:rPr>
              <a:t>Every document follows one disciplined path</a:t>
            </a:r>
            <a:endParaRPr lang="en-US" sz="2800" dirty="0"/>
          </a:p>
        </p:txBody>
      </p:sp>
      <p:sp>
        <p:nvSpPr>
          <p:cNvPr id="4" name="Text 2"/>
          <p:cNvSpPr/>
          <p:nvPr/>
        </p:nvSpPr>
        <p:spPr>
          <a:xfrm>
            <a:off x="548640" y="1481328"/>
            <a:ext cx="11094415" cy="228600"/>
          </a:xfrm>
          <a:prstGeom prst="rect">
            <a:avLst/>
          </a:prstGeom>
          <a:noFill/>
          <a:ln/>
        </p:spPr>
        <p:txBody>
          <a:bodyPr wrap="square" lIns="0" tIns="0" rIns="0" bIns="0" rtlCol="0" anchor="ctr"/>
          <a:lstStyle/>
          <a:p>
            <a:pPr marL="0" indent="0">
              <a:buNone/>
            </a:pPr>
            <a:r>
              <a:rPr lang="en-US" sz="1250" i="1" dirty="0">
                <a:solidFill>
                  <a:srgbClr val="0F766E"/>
                </a:solidFill>
                <a:latin typeface="Calibri" pitchFamily="34" charset="0"/>
                <a:ea typeface="Calibri" pitchFamily="34" charset="-122"/>
                <a:cs typeface="Calibri" pitchFamily="34" charset="-120"/>
              </a:rPr>
              <a:t>Unstructured PDF enters on the left — governed, validated intelligence exits on the right.</a:t>
            </a:r>
            <a:endParaRPr lang="en-US" sz="1250" dirty="0"/>
          </a:p>
        </p:txBody>
      </p:sp>
      <p:sp>
        <p:nvSpPr>
          <p:cNvPr id="5" name="Shape 3"/>
          <p:cNvSpPr/>
          <p:nvPr/>
        </p:nvSpPr>
        <p:spPr>
          <a:xfrm>
            <a:off x="609448" y="1901952"/>
            <a:ext cx="1097280" cy="1078992"/>
          </a:xfrm>
          <a:prstGeom prst="roundRect">
            <a:avLst>
              <a:gd name="adj" fmla="val 6780"/>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6" name="Shape 4"/>
          <p:cNvSpPr/>
          <p:nvPr/>
        </p:nvSpPr>
        <p:spPr>
          <a:xfrm>
            <a:off x="1002640" y="1746504"/>
            <a:ext cx="310896" cy="310896"/>
          </a:xfrm>
          <a:prstGeom prst="ellipse">
            <a:avLst/>
          </a:prstGeom>
          <a:solidFill>
            <a:srgbClr val="64748B"/>
          </a:solidFill>
          <a:ln w="19050">
            <a:solidFill>
              <a:srgbClr val="FFFFFF"/>
            </a:solidFill>
            <a:prstDash val="solid"/>
          </a:ln>
        </p:spPr>
        <p:txBody>
          <a:bodyPr/>
          <a:lstStyle/>
          <a:p>
            <a:endParaRPr lang="en-IN"/>
          </a:p>
        </p:txBody>
      </p:sp>
      <p:sp>
        <p:nvSpPr>
          <p:cNvPr id="7" name="Text 5"/>
          <p:cNvSpPr/>
          <p:nvPr/>
        </p:nvSpPr>
        <p:spPr>
          <a:xfrm>
            <a:off x="1002640" y="174650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655168" y="2130552"/>
            <a:ext cx="1005840" cy="548640"/>
          </a:xfrm>
          <a:prstGeom prst="rect">
            <a:avLst/>
          </a:prstGeom>
          <a:noFill/>
          <a:ln/>
        </p:spPr>
        <p:txBody>
          <a:bodyPr wrap="square" lIns="0" tIns="0" rIns="0" bIns="0" rtlCol="0" anchor="ctr"/>
          <a:lstStyle/>
          <a:p>
            <a:pPr marL="0" indent="0" algn="ctr">
              <a:lnSpc>
                <a:spcPts val="1200"/>
              </a:lnSpc>
              <a:buNone/>
            </a:pPr>
            <a:r>
              <a:rPr lang="en-US" sz="1050" b="1" dirty="0">
                <a:solidFill>
                  <a:srgbClr val="0B1B2E"/>
                </a:solidFill>
                <a:latin typeface="Calibri" pitchFamily="34" charset="0"/>
                <a:ea typeface="Calibri" pitchFamily="34" charset="-122"/>
                <a:cs typeface="Calibri" pitchFamily="34" charset="-120"/>
              </a:rPr>
              <a:t>PDF</a:t>
            </a:r>
            <a:endParaRPr lang="en-US" sz="1050" dirty="0"/>
          </a:p>
        </p:txBody>
      </p:sp>
      <p:sp>
        <p:nvSpPr>
          <p:cNvPr id="9" name="Text 7"/>
          <p:cNvSpPr/>
          <p:nvPr/>
        </p:nvSpPr>
        <p:spPr>
          <a:xfrm>
            <a:off x="646024" y="2688336"/>
            <a:ext cx="1024128" cy="256032"/>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Source document</a:t>
            </a:r>
            <a:endParaRPr lang="en-US" sz="850" dirty="0"/>
          </a:p>
        </p:txBody>
      </p:sp>
      <p:sp>
        <p:nvSpPr>
          <p:cNvPr id="10" name="Shape 8"/>
          <p:cNvSpPr/>
          <p:nvPr/>
        </p:nvSpPr>
        <p:spPr>
          <a:xfrm>
            <a:off x="1725016" y="2441448"/>
            <a:ext cx="100584" cy="0"/>
          </a:xfrm>
          <a:prstGeom prst="line">
            <a:avLst/>
          </a:prstGeom>
          <a:noFill/>
          <a:ln w="22860">
            <a:solidFill>
              <a:srgbClr val="0F766E"/>
            </a:solidFill>
            <a:prstDash val="solid"/>
            <a:tailEnd type="triangle"/>
          </a:ln>
        </p:spPr>
        <p:txBody>
          <a:bodyPr/>
          <a:lstStyle/>
          <a:p>
            <a:endParaRPr lang="en-IN"/>
          </a:p>
        </p:txBody>
      </p:sp>
      <p:sp>
        <p:nvSpPr>
          <p:cNvPr id="11" name="Shape 9"/>
          <p:cNvSpPr/>
          <p:nvPr/>
        </p:nvSpPr>
        <p:spPr>
          <a:xfrm>
            <a:off x="1843888" y="1901952"/>
            <a:ext cx="1097280" cy="1078992"/>
          </a:xfrm>
          <a:prstGeom prst="roundRect">
            <a:avLst>
              <a:gd name="adj" fmla="val 6780"/>
            </a:avLst>
          </a:prstGeom>
          <a:solidFill>
            <a:srgbClr val="0B1B2E"/>
          </a:solidFill>
          <a:ln w="12700">
            <a:solidFill>
              <a:srgbClr val="0B1B2E"/>
            </a:solidFill>
            <a:prstDash val="solid"/>
          </a:ln>
          <a:effectLst>
            <a:outerShdw blurRad="101600" dist="25400" dir="8100000" algn="bl" rotWithShape="0">
              <a:srgbClr val="1E293B">
                <a:alpha val="11000"/>
              </a:srgbClr>
            </a:outerShdw>
          </a:effectLst>
        </p:spPr>
        <p:txBody>
          <a:bodyPr/>
          <a:lstStyle/>
          <a:p>
            <a:endParaRPr lang="en-IN"/>
          </a:p>
        </p:txBody>
      </p:sp>
      <p:sp>
        <p:nvSpPr>
          <p:cNvPr id="12" name="Shape 10"/>
          <p:cNvSpPr/>
          <p:nvPr/>
        </p:nvSpPr>
        <p:spPr>
          <a:xfrm>
            <a:off x="2237080" y="1746504"/>
            <a:ext cx="310896" cy="310896"/>
          </a:xfrm>
          <a:prstGeom prst="ellipse">
            <a:avLst/>
          </a:prstGeom>
          <a:solidFill>
            <a:srgbClr val="14B8A6"/>
          </a:solidFill>
          <a:ln w="19050">
            <a:solidFill>
              <a:srgbClr val="FFFFFF"/>
            </a:solidFill>
            <a:prstDash val="solid"/>
          </a:ln>
        </p:spPr>
        <p:txBody>
          <a:bodyPr/>
          <a:lstStyle/>
          <a:p>
            <a:endParaRPr lang="en-IN"/>
          </a:p>
        </p:txBody>
      </p:sp>
      <p:sp>
        <p:nvSpPr>
          <p:cNvPr id="13" name="Text 11"/>
          <p:cNvSpPr/>
          <p:nvPr/>
        </p:nvSpPr>
        <p:spPr>
          <a:xfrm>
            <a:off x="2237080" y="174650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1889608" y="2130552"/>
            <a:ext cx="1005840" cy="548640"/>
          </a:xfrm>
          <a:prstGeom prst="rect">
            <a:avLst/>
          </a:prstGeom>
          <a:noFill/>
          <a:ln/>
        </p:spPr>
        <p:txBody>
          <a:bodyPr wrap="square" lIns="0" tIns="0" rIns="0" bIns="0" rtlCol="0" anchor="ctr"/>
          <a:lstStyle/>
          <a:p>
            <a:pPr marL="0" indent="0" algn="ctr">
              <a:lnSpc>
                <a:spcPts val="1200"/>
              </a:lnSpc>
              <a:buNone/>
            </a:pPr>
            <a:r>
              <a:rPr lang="en-US" sz="1050" b="1" dirty="0">
                <a:solidFill>
                  <a:srgbClr val="FFFFFF"/>
                </a:solidFill>
                <a:latin typeface="Calibri" pitchFamily="34" charset="0"/>
                <a:ea typeface="Calibri" pitchFamily="34" charset="-122"/>
                <a:cs typeface="Calibri" pitchFamily="34" charset="-120"/>
              </a:rPr>
              <a:t>OCR</a:t>
            </a:r>
            <a:endParaRPr lang="en-US" sz="1050" dirty="0"/>
          </a:p>
        </p:txBody>
      </p:sp>
      <p:sp>
        <p:nvSpPr>
          <p:cNvPr id="15" name="Text 13"/>
          <p:cNvSpPr/>
          <p:nvPr/>
        </p:nvSpPr>
        <p:spPr>
          <a:xfrm>
            <a:off x="1880464" y="2688336"/>
            <a:ext cx="1024128" cy="256032"/>
          </a:xfrm>
          <a:prstGeom prst="rect">
            <a:avLst/>
          </a:prstGeom>
          <a:noFill/>
          <a:ln/>
        </p:spPr>
        <p:txBody>
          <a:bodyPr wrap="square" lIns="0" tIns="0" rIns="0" bIns="0" rtlCol="0" anchor="ctr"/>
          <a:lstStyle/>
          <a:p>
            <a:pPr marL="0" indent="0" algn="ctr">
              <a:buNone/>
            </a:pPr>
            <a:r>
              <a:rPr lang="en-US" sz="850" dirty="0">
                <a:solidFill>
                  <a:srgbClr val="5EEAD4"/>
                </a:solidFill>
                <a:latin typeface="Calibri" pitchFamily="34" charset="0"/>
                <a:ea typeface="Calibri" pitchFamily="34" charset="-122"/>
                <a:cs typeface="Calibri" pitchFamily="34" charset="-120"/>
              </a:rPr>
              <a:t>2-tier text capture</a:t>
            </a:r>
            <a:endParaRPr lang="en-US" sz="850" dirty="0"/>
          </a:p>
        </p:txBody>
      </p:sp>
      <p:sp>
        <p:nvSpPr>
          <p:cNvPr id="16" name="Shape 14"/>
          <p:cNvSpPr/>
          <p:nvPr/>
        </p:nvSpPr>
        <p:spPr>
          <a:xfrm>
            <a:off x="2959456" y="2441448"/>
            <a:ext cx="100584" cy="0"/>
          </a:xfrm>
          <a:prstGeom prst="line">
            <a:avLst/>
          </a:prstGeom>
          <a:noFill/>
          <a:ln w="22860">
            <a:solidFill>
              <a:srgbClr val="0F766E"/>
            </a:solidFill>
            <a:prstDash val="solid"/>
            <a:tailEnd type="triangle"/>
          </a:ln>
        </p:spPr>
        <p:txBody>
          <a:bodyPr/>
          <a:lstStyle/>
          <a:p>
            <a:endParaRPr lang="en-IN"/>
          </a:p>
        </p:txBody>
      </p:sp>
      <p:sp>
        <p:nvSpPr>
          <p:cNvPr id="17" name="Shape 15"/>
          <p:cNvSpPr/>
          <p:nvPr/>
        </p:nvSpPr>
        <p:spPr>
          <a:xfrm>
            <a:off x="3078328" y="1901952"/>
            <a:ext cx="1097280" cy="1078992"/>
          </a:xfrm>
          <a:prstGeom prst="roundRect">
            <a:avLst>
              <a:gd name="adj" fmla="val 6780"/>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18" name="Shape 16"/>
          <p:cNvSpPr/>
          <p:nvPr/>
        </p:nvSpPr>
        <p:spPr>
          <a:xfrm>
            <a:off x="3471520" y="1746504"/>
            <a:ext cx="310896" cy="310896"/>
          </a:xfrm>
          <a:prstGeom prst="ellipse">
            <a:avLst/>
          </a:prstGeom>
          <a:solidFill>
            <a:srgbClr val="64748B"/>
          </a:solidFill>
          <a:ln w="19050">
            <a:solidFill>
              <a:srgbClr val="FFFFFF"/>
            </a:solidFill>
            <a:prstDash val="solid"/>
          </a:ln>
        </p:spPr>
        <p:txBody>
          <a:bodyPr/>
          <a:lstStyle/>
          <a:p>
            <a:endParaRPr lang="en-IN"/>
          </a:p>
        </p:txBody>
      </p:sp>
      <p:sp>
        <p:nvSpPr>
          <p:cNvPr id="19" name="Text 17"/>
          <p:cNvSpPr/>
          <p:nvPr/>
        </p:nvSpPr>
        <p:spPr>
          <a:xfrm>
            <a:off x="3471520" y="174650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3124048" y="2130552"/>
            <a:ext cx="1005840" cy="548640"/>
          </a:xfrm>
          <a:prstGeom prst="rect">
            <a:avLst/>
          </a:prstGeom>
          <a:noFill/>
          <a:ln/>
        </p:spPr>
        <p:txBody>
          <a:bodyPr wrap="square" lIns="0" tIns="0" rIns="0" bIns="0" rtlCol="0" anchor="ctr"/>
          <a:lstStyle/>
          <a:p>
            <a:pPr marL="0" indent="0" algn="ctr">
              <a:lnSpc>
                <a:spcPts val="1200"/>
              </a:lnSpc>
              <a:buNone/>
            </a:pPr>
            <a:r>
              <a:rPr lang="en-US" sz="1050" b="1" dirty="0">
                <a:solidFill>
                  <a:srgbClr val="0B1B2E"/>
                </a:solidFill>
                <a:latin typeface="Calibri" pitchFamily="34" charset="0"/>
                <a:ea typeface="Calibri" pitchFamily="34" charset="-122"/>
                <a:cs typeface="Calibri" pitchFamily="34" charset="-120"/>
              </a:rPr>
              <a:t>Metadata</a:t>
            </a:r>
            <a:endParaRPr lang="en-US" sz="1050" dirty="0"/>
          </a:p>
        </p:txBody>
      </p:sp>
      <p:sp>
        <p:nvSpPr>
          <p:cNvPr id="21" name="Text 19"/>
          <p:cNvSpPr/>
          <p:nvPr/>
        </p:nvSpPr>
        <p:spPr>
          <a:xfrm>
            <a:off x="3114904" y="2688336"/>
            <a:ext cx="1024128" cy="256032"/>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Document type identified</a:t>
            </a:r>
            <a:endParaRPr lang="en-US" sz="850" dirty="0"/>
          </a:p>
        </p:txBody>
      </p:sp>
      <p:sp>
        <p:nvSpPr>
          <p:cNvPr id="22" name="Shape 20"/>
          <p:cNvSpPr/>
          <p:nvPr/>
        </p:nvSpPr>
        <p:spPr>
          <a:xfrm>
            <a:off x="4193896" y="2441448"/>
            <a:ext cx="100584" cy="0"/>
          </a:xfrm>
          <a:prstGeom prst="line">
            <a:avLst/>
          </a:prstGeom>
          <a:noFill/>
          <a:ln w="22860">
            <a:solidFill>
              <a:srgbClr val="0F766E"/>
            </a:solidFill>
            <a:prstDash val="solid"/>
            <a:tailEnd type="triangle"/>
          </a:ln>
        </p:spPr>
        <p:txBody>
          <a:bodyPr/>
          <a:lstStyle/>
          <a:p>
            <a:endParaRPr lang="en-IN"/>
          </a:p>
        </p:txBody>
      </p:sp>
      <p:sp>
        <p:nvSpPr>
          <p:cNvPr id="23" name="Shape 21"/>
          <p:cNvSpPr/>
          <p:nvPr/>
        </p:nvSpPr>
        <p:spPr>
          <a:xfrm>
            <a:off x="4312768" y="1901952"/>
            <a:ext cx="1097280" cy="1078992"/>
          </a:xfrm>
          <a:prstGeom prst="roundRect">
            <a:avLst>
              <a:gd name="adj" fmla="val 6780"/>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24" name="Shape 22"/>
          <p:cNvSpPr/>
          <p:nvPr/>
        </p:nvSpPr>
        <p:spPr>
          <a:xfrm>
            <a:off x="4705960" y="1746504"/>
            <a:ext cx="310896" cy="310896"/>
          </a:xfrm>
          <a:prstGeom prst="ellipse">
            <a:avLst/>
          </a:prstGeom>
          <a:solidFill>
            <a:srgbClr val="64748B"/>
          </a:solidFill>
          <a:ln w="19050">
            <a:solidFill>
              <a:srgbClr val="FFFFFF"/>
            </a:solidFill>
            <a:prstDash val="solid"/>
          </a:ln>
        </p:spPr>
        <p:txBody>
          <a:bodyPr/>
          <a:lstStyle/>
          <a:p>
            <a:endParaRPr lang="en-IN"/>
          </a:p>
        </p:txBody>
      </p:sp>
      <p:sp>
        <p:nvSpPr>
          <p:cNvPr id="25" name="Text 23"/>
          <p:cNvSpPr/>
          <p:nvPr/>
        </p:nvSpPr>
        <p:spPr>
          <a:xfrm>
            <a:off x="4705960" y="174650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4"/>
          <p:cNvSpPr/>
          <p:nvPr/>
        </p:nvSpPr>
        <p:spPr>
          <a:xfrm>
            <a:off x="4358488" y="2130552"/>
            <a:ext cx="1005840" cy="548640"/>
          </a:xfrm>
          <a:prstGeom prst="rect">
            <a:avLst/>
          </a:prstGeom>
          <a:noFill/>
          <a:ln/>
        </p:spPr>
        <p:txBody>
          <a:bodyPr wrap="square" lIns="0" tIns="0" rIns="0" bIns="0" rtlCol="0" anchor="ctr"/>
          <a:lstStyle/>
          <a:p>
            <a:pPr marL="0" indent="0" algn="ctr">
              <a:lnSpc>
                <a:spcPts val="1200"/>
              </a:lnSpc>
              <a:buNone/>
            </a:pPr>
            <a:r>
              <a:rPr lang="en-US" sz="1050" b="1" dirty="0">
                <a:solidFill>
                  <a:srgbClr val="0B1B2E"/>
                </a:solidFill>
                <a:latin typeface="Calibri" pitchFamily="34" charset="0"/>
                <a:ea typeface="Calibri" pitchFamily="34" charset="-122"/>
                <a:cs typeface="Calibri" pitchFamily="34" charset="-120"/>
              </a:rPr>
              <a:t>Prompt</a:t>
            </a:r>
            <a:endParaRPr lang="en-US" sz="1050" dirty="0"/>
          </a:p>
          <a:p>
            <a:pPr marL="0" indent="0" algn="ctr">
              <a:lnSpc>
                <a:spcPts val="1200"/>
              </a:lnSpc>
              <a:buNone/>
            </a:pPr>
            <a:r>
              <a:rPr lang="en-US" sz="1050" b="1" dirty="0">
                <a:solidFill>
                  <a:srgbClr val="0B1B2E"/>
                </a:solidFill>
                <a:latin typeface="Calibri" pitchFamily="34" charset="0"/>
                <a:ea typeface="Calibri" pitchFamily="34" charset="-122"/>
                <a:cs typeface="Calibri" pitchFamily="34" charset="-120"/>
              </a:rPr>
              <a:t>Routing</a:t>
            </a:r>
            <a:endParaRPr lang="en-US" sz="1050" dirty="0"/>
          </a:p>
        </p:txBody>
      </p:sp>
      <p:sp>
        <p:nvSpPr>
          <p:cNvPr id="27" name="Text 25"/>
          <p:cNvSpPr/>
          <p:nvPr/>
        </p:nvSpPr>
        <p:spPr>
          <a:xfrm>
            <a:off x="4349344" y="2688336"/>
            <a:ext cx="1024128" cy="256032"/>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4 specialist prompts</a:t>
            </a:r>
            <a:endParaRPr lang="en-US" sz="850" dirty="0"/>
          </a:p>
        </p:txBody>
      </p:sp>
      <p:sp>
        <p:nvSpPr>
          <p:cNvPr id="28" name="Shape 26"/>
          <p:cNvSpPr/>
          <p:nvPr/>
        </p:nvSpPr>
        <p:spPr>
          <a:xfrm>
            <a:off x="5428336" y="2441448"/>
            <a:ext cx="100584" cy="0"/>
          </a:xfrm>
          <a:prstGeom prst="line">
            <a:avLst/>
          </a:prstGeom>
          <a:noFill/>
          <a:ln w="22860">
            <a:solidFill>
              <a:srgbClr val="0F766E"/>
            </a:solidFill>
            <a:prstDash val="solid"/>
            <a:tailEnd type="triangle"/>
          </a:ln>
        </p:spPr>
        <p:txBody>
          <a:bodyPr/>
          <a:lstStyle/>
          <a:p>
            <a:endParaRPr lang="en-IN"/>
          </a:p>
        </p:txBody>
      </p:sp>
      <p:sp>
        <p:nvSpPr>
          <p:cNvPr id="29" name="Shape 27"/>
          <p:cNvSpPr/>
          <p:nvPr/>
        </p:nvSpPr>
        <p:spPr>
          <a:xfrm>
            <a:off x="5547208" y="1901952"/>
            <a:ext cx="1097280" cy="1078992"/>
          </a:xfrm>
          <a:prstGeom prst="roundRect">
            <a:avLst>
              <a:gd name="adj" fmla="val 6780"/>
            </a:avLst>
          </a:prstGeom>
          <a:solidFill>
            <a:srgbClr val="0B1B2E"/>
          </a:solidFill>
          <a:ln w="12700">
            <a:solidFill>
              <a:srgbClr val="0B1B2E"/>
            </a:solidFill>
            <a:prstDash val="solid"/>
          </a:ln>
          <a:effectLst>
            <a:outerShdw blurRad="101600" dist="25400" dir="8100000" algn="bl" rotWithShape="0">
              <a:srgbClr val="1E293B">
                <a:alpha val="11000"/>
              </a:srgbClr>
            </a:outerShdw>
          </a:effectLst>
        </p:spPr>
        <p:txBody>
          <a:bodyPr/>
          <a:lstStyle/>
          <a:p>
            <a:endParaRPr lang="en-IN"/>
          </a:p>
        </p:txBody>
      </p:sp>
      <p:sp>
        <p:nvSpPr>
          <p:cNvPr id="30" name="Shape 28"/>
          <p:cNvSpPr/>
          <p:nvPr/>
        </p:nvSpPr>
        <p:spPr>
          <a:xfrm>
            <a:off x="5940400" y="1746504"/>
            <a:ext cx="310896" cy="310896"/>
          </a:xfrm>
          <a:prstGeom prst="ellipse">
            <a:avLst/>
          </a:prstGeom>
          <a:solidFill>
            <a:srgbClr val="14B8A6"/>
          </a:solidFill>
          <a:ln w="19050">
            <a:solidFill>
              <a:srgbClr val="FFFFFF"/>
            </a:solidFill>
            <a:prstDash val="solid"/>
          </a:ln>
        </p:spPr>
        <p:txBody>
          <a:bodyPr/>
          <a:lstStyle/>
          <a:p>
            <a:endParaRPr lang="en-IN"/>
          </a:p>
        </p:txBody>
      </p:sp>
      <p:sp>
        <p:nvSpPr>
          <p:cNvPr id="31" name="Text 29"/>
          <p:cNvSpPr/>
          <p:nvPr/>
        </p:nvSpPr>
        <p:spPr>
          <a:xfrm>
            <a:off x="5940400" y="174650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2" name="Text 30"/>
          <p:cNvSpPr/>
          <p:nvPr/>
        </p:nvSpPr>
        <p:spPr>
          <a:xfrm>
            <a:off x="5592928" y="2130552"/>
            <a:ext cx="1005840" cy="548640"/>
          </a:xfrm>
          <a:prstGeom prst="rect">
            <a:avLst/>
          </a:prstGeom>
          <a:noFill/>
          <a:ln/>
        </p:spPr>
        <p:txBody>
          <a:bodyPr wrap="square" lIns="0" tIns="0" rIns="0" bIns="0" rtlCol="0" anchor="ctr"/>
          <a:lstStyle/>
          <a:p>
            <a:pPr marL="0" indent="0" algn="ctr">
              <a:lnSpc>
                <a:spcPts val="1200"/>
              </a:lnSpc>
              <a:buNone/>
            </a:pPr>
            <a:r>
              <a:rPr lang="en-US" sz="1050" b="1" dirty="0">
                <a:solidFill>
                  <a:srgbClr val="FFFFFF"/>
                </a:solidFill>
                <a:latin typeface="Calibri" pitchFamily="34" charset="0"/>
                <a:ea typeface="Calibri" pitchFamily="34" charset="-122"/>
                <a:cs typeface="Calibri" pitchFamily="34" charset="-120"/>
              </a:rPr>
              <a:t>Claude</a:t>
            </a:r>
            <a:endParaRPr lang="en-US" sz="1050" dirty="0"/>
          </a:p>
          <a:p>
            <a:pPr marL="0" indent="0" algn="ctr">
              <a:lnSpc>
                <a:spcPts val="1200"/>
              </a:lnSpc>
              <a:buNone/>
            </a:pPr>
            <a:r>
              <a:rPr lang="en-US" sz="1050" b="1" dirty="0">
                <a:solidFill>
                  <a:srgbClr val="FFFFFF"/>
                </a:solidFill>
                <a:latin typeface="Calibri" pitchFamily="34" charset="0"/>
                <a:ea typeface="Calibri" pitchFamily="34" charset="-122"/>
                <a:cs typeface="Calibri" pitchFamily="34" charset="-120"/>
              </a:rPr>
              <a:t>Extraction</a:t>
            </a:r>
            <a:endParaRPr lang="en-US" sz="1050" dirty="0"/>
          </a:p>
        </p:txBody>
      </p:sp>
      <p:sp>
        <p:nvSpPr>
          <p:cNvPr id="33" name="Text 31"/>
          <p:cNvSpPr/>
          <p:nvPr/>
        </p:nvSpPr>
        <p:spPr>
          <a:xfrm>
            <a:off x="5583784" y="2688336"/>
            <a:ext cx="1024128" cy="256032"/>
          </a:xfrm>
          <a:prstGeom prst="rect">
            <a:avLst/>
          </a:prstGeom>
          <a:noFill/>
          <a:ln/>
        </p:spPr>
        <p:txBody>
          <a:bodyPr wrap="square" lIns="0" tIns="0" rIns="0" bIns="0" rtlCol="0" anchor="ctr"/>
          <a:lstStyle/>
          <a:p>
            <a:pPr marL="0" indent="0" algn="ctr">
              <a:buNone/>
            </a:pPr>
            <a:r>
              <a:rPr lang="en-US" sz="850" dirty="0">
                <a:solidFill>
                  <a:srgbClr val="5EEAD4"/>
                </a:solidFill>
                <a:latin typeface="Calibri" pitchFamily="34" charset="0"/>
                <a:ea typeface="Calibri" pitchFamily="34" charset="-122"/>
                <a:cs typeface="Calibri" pitchFamily="34" charset="-120"/>
              </a:rPr>
              <a:t>20-section JSON</a:t>
            </a:r>
            <a:endParaRPr lang="en-US" sz="850" dirty="0"/>
          </a:p>
        </p:txBody>
      </p:sp>
      <p:sp>
        <p:nvSpPr>
          <p:cNvPr id="34" name="Shape 32"/>
          <p:cNvSpPr/>
          <p:nvPr/>
        </p:nvSpPr>
        <p:spPr>
          <a:xfrm>
            <a:off x="6662776" y="2441448"/>
            <a:ext cx="100584" cy="0"/>
          </a:xfrm>
          <a:prstGeom prst="line">
            <a:avLst/>
          </a:prstGeom>
          <a:noFill/>
          <a:ln w="22860">
            <a:solidFill>
              <a:srgbClr val="0F766E"/>
            </a:solidFill>
            <a:prstDash val="solid"/>
            <a:tailEnd type="triangle"/>
          </a:ln>
        </p:spPr>
        <p:txBody>
          <a:bodyPr/>
          <a:lstStyle/>
          <a:p>
            <a:endParaRPr lang="en-IN"/>
          </a:p>
        </p:txBody>
      </p:sp>
      <p:sp>
        <p:nvSpPr>
          <p:cNvPr id="35" name="Shape 33"/>
          <p:cNvSpPr/>
          <p:nvPr/>
        </p:nvSpPr>
        <p:spPr>
          <a:xfrm>
            <a:off x="6781648" y="1901952"/>
            <a:ext cx="1097280" cy="1078992"/>
          </a:xfrm>
          <a:prstGeom prst="roundRect">
            <a:avLst>
              <a:gd name="adj" fmla="val 6780"/>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36" name="Shape 34"/>
          <p:cNvSpPr/>
          <p:nvPr/>
        </p:nvSpPr>
        <p:spPr>
          <a:xfrm>
            <a:off x="7174840" y="1746504"/>
            <a:ext cx="310896" cy="310896"/>
          </a:xfrm>
          <a:prstGeom prst="ellipse">
            <a:avLst/>
          </a:prstGeom>
          <a:solidFill>
            <a:srgbClr val="64748B"/>
          </a:solidFill>
          <a:ln w="19050">
            <a:solidFill>
              <a:srgbClr val="FFFFFF"/>
            </a:solidFill>
            <a:prstDash val="solid"/>
          </a:ln>
        </p:spPr>
        <p:txBody>
          <a:bodyPr/>
          <a:lstStyle/>
          <a:p>
            <a:endParaRPr lang="en-IN"/>
          </a:p>
        </p:txBody>
      </p:sp>
      <p:sp>
        <p:nvSpPr>
          <p:cNvPr id="37" name="Text 35"/>
          <p:cNvSpPr/>
          <p:nvPr/>
        </p:nvSpPr>
        <p:spPr>
          <a:xfrm>
            <a:off x="7174840" y="174650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8" name="Text 36"/>
          <p:cNvSpPr/>
          <p:nvPr/>
        </p:nvSpPr>
        <p:spPr>
          <a:xfrm>
            <a:off x="6827368" y="2130552"/>
            <a:ext cx="1005840" cy="548640"/>
          </a:xfrm>
          <a:prstGeom prst="rect">
            <a:avLst/>
          </a:prstGeom>
          <a:noFill/>
          <a:ln/>
        </p:spPr>
        <p:txBody>
          <a:bodyPr wrap="square" lIns="0" tIns="0" rIns="0" bIns="0" rtlCol="0" anchor="ctr"/>
          <a:lstStyle/>
          <a:p>
            <a:pPr marL="0" indent="0" algn="ctr">
              <a:lnSpc>
                <a:spcPts val="1200"/>
              </a:lnSpc>
              <a:buNone/>
            </a:pPr>
            <a:r>
              <a:rPr lang="en-US" sz="1050" b="1" dirty="0">
                <a:solidFill>
                  <a:srgbClr val="0B1B2E"/>
                </a:solidFill>
                <a:latin typeface="Calibri" pitchFamily="34" charset="0"/>
                <a:ea typeface="Calibri" pitchFamily="34" charset="-122"/>
                <a:cs typeface="Calibri" pitchFamily="34" charset="-120"/>
              </a:rPr>
              <a:t>Validation</a:t>
            </a:r>
            <a:endParaRPr lang="en-US" sz="1050" dirty="0"/>
          </a:p>
        </p:txBody>
      </p:sp>
      <p:sp>
        <p:nvSpPr>
          <p:cNvPr id="39" name="Text 37"/>
          <p:cNvSpPr/>
          <p:nvPr/>
        </p:nvSpPr>
        <p:spPr>
          <a:xfrm>
            <a:off x="6818224" y="2688336"/>
            <a:ext cx="1024128" cy="256032"/>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8 deterministic checks</a:t>
            </a:r>
            <a:endParaRPr lang="en-US" sz="850" dirty="0"/>
          </a:p>
        </p:txBody>
      </p:sp>
      <p:sp>
        <p:nvSpPr>
          <p:cNvPr id="40" name="Shape 38"/>
          <p:cNvSpPr/>
          <p:nvPr/>
        </p:nvSpPr>
        <p:spPr>
          <a:xfrm>
            <a:off x="7897216" y="2441448"/>
            <a:ext cx="100584" cy="0"/>
          </a:xfrm>
          <a:prstGeom prst="line">
            <a:avLst/>
          </a:prstGeom>
          <a:noFill/>
          <a:ln w="22860">
            <a:solidFill>
              <a:srgbClr val="0F766E"/>
            </a:solidFill>
            <a:prstDash val="solid"/>
            <a:tailEnd type="triangle"/>
          </a:ln>
        </p:spPr>
        <p:txBody>
          <a:bodyPr/>
          <a:lstStyle/>
          <a:p>
            <a:endParaRPr lang="en-IN"/>
          </a:p>
        </p:txBody>
      </p:sp>
      <p:sp>
        <p:nvSpPr>
          <p:cNvPr id="41" name="Shape 39"/>
          <p:cNvSpPr/>
          <p:nvPr/>
        </p:nvSpPr>
        <p:spPr>
          <a:xfrm>
            <a:off x="8016088" y="1901952"/>
            <a:ext cx="1097280" cy="1078992"/>
          </a:xfrm>
          <a:prstGeom prst="roundRect">
            <a:avLst>
              <a:gd name="adj" fmla="val 6780"/>
            </a:avLst>
          </a:prstGeom>
          <a:solidFill>
            <a:srgbClr val="0B1B2E"/>
          </a:solidFill>
          <a:ln w="12700">
            <a:solidFill>
              <a:srgbClr val="0B1B2E"/>
            </a:solidFill>
            <a:prstDash val="solid"/>
          </a:ln>
          <a:effectLst>
            <a:outerShdw blurRad="101600" dist="25400" dir="8100000" algn="bl" rotWithShape="0">
              <a:srgbClr val="1E293B">
                <a:alpha val="11000"/>
              </a:srgbClr>
            </a:outerShdw>
          </a:effectLst>
        </p:spPr>
        <p:txBody>
          <a:bodyPr/>
          <a:lstStyle/>
          <a:p>
            <a:endParaRPr lang="en-IN"/>
          </a:p>
        </p:txBody>
      </p:sp>
      <p:sp>
        <p:nvSpPr>
          <p:cNvPr id="42" name="Shape 40"/>
          <p:cNvSpPr/>
          <p:nvPr/>
        </p:nvSpPr>
        <p:spPr>
          <a:xfrm>
            <a:off x="8409280" y="1746504"/>
            <a:ext cx="310896" cy="310896"/>
          </a:xfrm>
          <a:prstGeom prst="ellipse">
            <a:avLst/>
          </a:prstGeom>
          <a:solidFill>
            <a:srgbClr val="14B8A6"/>
          </a:solidFill>
          <a:ln w="19050">
            <a:solidFill>
              <a:srgbClr val="FFFFFF"/>
            </a:solidFill>
            <a:prstDash val="solid"/>
          </a:ln>
        </p:spPr>
        <p:txBody>
          <a:bodyPr/>
          <a:lstStyle/>
          <a:p>
            <a:endParaRPr lang="en-IN"/>
          </a:p>
        </p:txBody>
      </p:sp>
      <p:sp>
        <p:nvSpPr>
          <p:cNvPr id="43" name="Text 41"/>
          <p:cNvSpPr/>
          <p:nvPr/>
        </p:nvSpPr>
        <p:spPr>
          <a:xfrm>
            <a:off x="8409280" y="174650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4" name="Text 42"/>
          <p:cNvSpPr/>
          <p:nvPr/>
        </p:nvSpPr>
        <p:spPr>
          <a:xfrm>
            <a:off x="8061808" y="2130552"/>
            <a:ext cx="1005840" cy="548640"/>
          </a:xfrm>
          <a:prstGeom prst="rect">
            <a:avLst/>
          </a:prstGeom>
          <a:noFill/>
          <a:ln/>
        </p:spPr>
        <p:txBody>
          <a:bodyPr wrap="square" lIns="0" tIns="0" rIns="0" bIns="0" rtlCol="0" anchor="ctr"/>
          <a:lstStyle/>
          <a:p>
            <a:pPr marL="0" indent="0" algn="ctr">
              <a:lnSpc>
                <a:spcPts val="1200"/>
              </a:lnSpc>
              <a:buNone/>
            </a:pPr>
            <a:r>
              <a:rPr lang="en-US" sz="1050" b="1" dirty="0">
                <a:solidFill>
                  <a:srgbClr val="FFFFFF"/>
                </a:solidFill>
                <a:latin typeface="Calibri" pitchFamily="34" charset="0"/>
                <a:ea typeface="Calibri" pitchFamily="34" charset="-122"/>
                <a:cs typeface="Calibri" pitchFamily="34" charset="-120"/>
              </a:rPr>
              <a:t>AI Audit</a:t>
            </a:r>
            <a:endParaRPr lang="en-US" sz="1050" dirty="0"/>
          </a:p>
        </p:txBody>
      </p:sp>
      <p:sp>
        <p:nvSpPr>
          <p:cNvPr id="45" name="Text 43"/>
          <p:cNvSpPr/>
          <p:nvPr/>
        </p:nvSpPr>
        <p:spPr>
          <a:xfrm>
            <a:off x="8052664" y="2688336"/>
            <a:ext cx="1024128" cy="256032"/>
          </a:xfrm>
          <a:prstGeom prst="rect">
            <a:avLst/>
          </a:prstGeom>
          <a:noFill/>
          <a:ln/>
        </p:spPr>
        <p:txBody>
          <a:bodyPr wrap="square" lIns="0" tIns="0" rIns="0" bIns="0" rtlCol="0" anchor="ctr"/>
          <a:lstStyle/>
          <a:p>
            <a:pPr marL="0" indent="0" algn="ctr">
              <a:buNone/>
            </a:pPr>
            <a:r>
              <a:rPr lang="en-US" sz="850" dirty="0">
                <a:solidFill>
                  <a:srgbClr val="5EEAD4"/>
                </a:solidFill>
                <a:latin typeface="Calibri" pitchFamily="34" charset="0"/>
                <a:ea typeface="Calibri" pitchFamily="34" charset="-122"/>
                <a:cs typeface="Calibri" pitchFamily="34" charset="-120"/>
              </a:rPr>
              <a:t>Independent 2nd pass</a:t>
            </a:r>
            <a:endParaRPr lang="en-US" sz="850" dirty="0"/>
          </a:p>
        </p:txBody>
      </p:sp>
      <p:sp>
        <p:nvSpPr>
          <p:cNvPr id="46" name="Shape 44"/>
          <p:cNvSpPr/>
          <p:nvPr/>
        </p:nvSpPr>
        <p:spPr>
          <a:xfrm>
            <a:off x="9131656" y="2441448"/>
            <a:ext cx="100584" cy="0"/>
          </a:xfrm>
          <a:prstGeom prst="line">
            <a:avLst/>
          </a:prstGeom>
          <a:noFill/>
          <a:ln w="22860">
            <a:solidFill>
              <a:srgbClr val="0F766E"/>
            </a:solidFill>
            <a:prstDash val="solid"/>
            <a:tailEnd type="triangle"/>
          </a:ln>
        </p:spPr>
        <p:txBody>
          <a:bodyPr/>
          <a:lstStyle/>
          <a:p>
            <a:endParaRPr lang="en-IN"/>
          </a:p>
        </p:txBody>
      </p:sp>
      <p:sp>
        <p:nvSpPr>
          <p:cNvPr id="47" name="Shape 45"/>
          <p:cNvSpPr/>
          <p:nvPr/>
        </p:nvSpPr>
        <p:spPr>
          <a:xfrm>
            <a:off x="9250528" y="1901952"/>
            <a:ext cx="1097280" cy="1078992"/>
          </a:xfrm>
          <a:prstGeom prst="roundRect">
            <a:avLst>
              <a:gd name="adj" fmla="val 6780"/>
            </a:avLst>
          </a:prstGeom>
          <a:solidFill>
            <a:srgbClr val="0B1B2E"/>
          </a:solidFill>
          <a:ln w="12700">
            <a:solidFill>
              <a:srgbClr val="0B1B2E"/>
            </a:solidFill>
            <a:prstDash val="solid"/>
          </a:ln>
          <a:effectLst>
            <a:outerShdw blurRad="101600" dist="25400" dir="8100000" algn="bl" rotWithShape="0">
              <a:srgbClr val="1E293B">
                <a:alpha val="11000"/>
              </a:srgbClr>
            </a:outerShdw>
          </a:effectLst>
        </p:spPr>
        <p:txBody>
          <a:bodyPr/>
          <a:lstStyle/>
          <a:p>
            <a:endParaRPr lang="en-IN"/>
          </a:p>
        </p:txBody>
      </p:sp>
      <p:sp>
        <p:nvSpPr>
          <p:cNvPr id="48" name="Shape 46"/>
          <p:cNvSpPr/>
          <p:nvPr/>
        </p:nvSpPr>
        <p:spPr>
          <a:xfrm>
            <a:off x="9643720" y="1746504"/>
            <a:ext cx="310896" cy="310896"/>
          </a:xfrm>
          <a:prstGeom prst="ellipse">
            <a:avLst/>
          </a:prstGeom>
          <a:solidFill>
            <a:srgbClr val="14B8A6"/>
          </a:solidFill>
          <a:ln w="19050">
            <a:solidFill>
              <a:srgbClr val="FFFFFF"/>
            </a:solidFill>
            <a:prstDash val="solid"/>
          </a:ln>
        </p:spPr>
        <p:txBody>
          <a:bodyPr/>
          <a:lstStyle/>
          <a:p>
            <a:endParaRPr lang="en-IN"/>
          </a:p>
        </p:txBody>
      </p:sp>
      <p:sp>
        <p:nvSpPr>
          <p:cNvPr id="49" name="Text 47"/>
          <p:cNvSpPr/>
          <p:nvPr/>
        </p:nvSpPr>
        <p:spPr>
          <a:xfrm>
            <a:off x="9643720" y="174650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0" name="Text 48"/>
          <p:cNvSpPr/>
          <p:nvPr/>
        </p:nvSpPr>
        <p:spPr>
          <a:xfrm>
            <a:off x="9296248" y="2130552"/>
            <a:ext cx="1005840" cy="548640"/>
          </a:xfrm>
          <a:prstGeom prst="rect">
            <a:avLst/>
          </a:prstGeom>
          <a:noFill/>
          <a:ln/>
        </p:spPr>
        <p:txBody>
          <a:bodyPr wrap="square" lIns="0" tIns="0" rIns="0" bIns="0" rtlCol="0" anchor="ctr"/>
          <a:lstStyle/>
          <a:p>
            <a:pPr marL="0" indent="0" algn="ctr">
              <a:lnSpc>
                <a:spcPts val="1200"/>
              </a:lnSpc>
              <a:buNone/>
            </a:pPr>
            <a:r>
              <a:rPr lang="en-US" sz="1050" b="1" dirty="0">
                <a:solidFill>
                  <a:srgbClr val="FFFFFF"/>
                </a:solidFill>
                <a:latin typeface="Calibri" pitchFamily="34" charset="0"/>
                <a:ea typeface="Calibri" pitchFamily="34" charset="-122"/>
                <a:cs typeface="Calibri" pitchFamily="34" charset="-120"/>
              </a:rPr>
              <a:t>Gap Fill</a:t>
            </a:r>
            <a:endParaRPr lang="en-US" sz="1050" dirty="0"/>
          </a:p>
        </p:txBody>
      </p:sp>
      <p:sp>
        <p:nvSpPr>
          <p:cNvPr id="51" name="Text 49"/>
          <p:cNvSpPr/>
          <p:nvPr/>
        </p:nvSpPr>
        <p:spPr>
          <a:xfrm>
            <a:off x="9287104" y="2688336"/>
            <a:ext cx="1024128" cy="256032"/>
          </a:xfrm>
          <a:prstGeom prst="rect">
            <a:avLst/>
          </a:prstGeom>
          <a:noFill/>
          <a:ln/>
        </p:spPr>
        <p:txBody>
          <a:bodyPr wrap="square" lIns="0" tIns="0" rIns="0" bIns="0" rtlCol="0" anchor="ctr"/>
          <a:lstStyle/>
          <a:p>
            <a:pPr marL="0" indent="0" algn="ctr">
              <a:buNone/>
            </a:pPr>
            <a:r>
              <a:rPr lang="en-US" sz="850" dirty="0">
                <a:solidFill>
                  <a:srgbClr val="5EEAD4"/>
                </a:solidFill>
                <a:latin typeface="Calibri" pitchFamily="34" charset="0"/>
                <a:ea typeface="Calibri" pitchFamily="34" charset="-122"/>
                <a:cs typeface="Calibri" pitchFamily="34" charset="-120"/>
              </a:rPr>
              <a:t>Targeted re-extract</a:t>
            </a:r>
            <a:endParaRPr lang="en-US" sz="850" dirty="0"/>
          </a:p>
        </p:txBody>
      </p:sp>
      <p:sp>
        <p:nvSpPr>
          <p:cNvPr id="52" name="Shape 50"/>
          <p:cNvSpPr/>
          <p:nvPr/>
        </p:nvSpPr>
        <p:spPr>
          <a:xfrm>
            <a:off x="10366096" y="2441448"/>
            <a:ext cx="100584" cy="0"/>
          </a:xfrm>
          <a:prstGeom prst="line">
            <a:avLst/>
          </a:prstGeom>
          <a:noFill/>
          <a:ln w="22860">
            <a:solidFill>
              <a:srgbClr val="0F766E"/>
            </a:solidFill>
            <a:prstDash val="solid"/>
            <a:tailEnd type="triangle"/>
          </a:ln>
        </p:spPr>
        <p:txBody>
          <a:bodyPr/>
          <a:lstStyle/>
          <a:p>
            <a:endParaRPr lang="en-IN"/>
          </a:p>
        </p:txBody>
      </p:sp>
      <p:sp>
        <p:nvSpPr>
          <p:cNvPr id="53" name="Shape 51"/>
          <p:cNvSpPr/>
          <p:nvPr/>
        </p:nvSpPr>
        <p:spPr>
          <a:xfrm>
            <a:off x="10484968" y="1901952"/>
            <a:ext cx="1097280" cy="1078992"/>
          </a:xfrm>
          <a:prstGeom prst="roundRect">
            <a:avLst>
              <a:gd name="adj" fmla="val 6780"/>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54" name="Shape 52"/>
          <p:cNvSpPr/>
          <p:nvPr/>
        </p:nvSpPr>
        <p:spPr>
          <a:xfrm>
            <a:off x="10878160" y="1746504"/>
            <a:ext cx="310896" cy="310896"/>
          </a:xfrm>
          <a:prstGeom prst="ellipse">
            <a:avLst/>
          </a:prstGeom>
          <a:solidFill>
            <a:srgbClr val="64748B"/>
          </a:solidFill>
          <a:ln w="19050">
            <a:solidFill>
              <a:srgbClr val="FFFFFF"/>
            </a:solidFill>
            <a:prstDash val="solid"/>
          </a:ln>
        </p:spPr>
        <p:txBody>
          <a:bodyPr/>
          <a:lstStyle/>
          <a:p>
            <a:endParaRPr lang="en-IN"/>
          </a:p>
        </p:txBody>
      </p:sp>
      <p:sp>
        <p:nvSpPr>
          <p:cNvPr id="55" name="Text 53"/>
          <p:cNvSpPr/>
          <p:nvPr/>
        </p:nvSpPr>
        <p:spPr>
          <a:xfrm>
            <a:off x="10878160" y="174650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6" name="Text 54"/>
          <p:cNvSpPr/>
          <p:nvPr/>
        </p:nvSpPr>
        <p:spPr>
          <a:xfrm>
            <a:off x="10530688" y="2130552"/>
            <a:ext cx="1005840" cy="548640"/>
          </a:xfrm>
          <a:prstGeom prst="rect">
            <a:avLst/>
          </a:prstGeom>
          <a:noFill/>
          <a:ln/>
        </p:spPr>
        <p:txBody>
          <a:bodyPr wrap="square" lIns="0" tIns="0" rIns="0" bIns="0" rtlCol="0" anchor="ctr"/>
          <a:lstStyle/>
          <a:p>
            <a:pPr marL="0" indent="0" algn="ctr">
              <a:lnSpc>
                <a:spcPts val="1200"/>
              </a:lnSpc>
              <a:buNone/>
            </a:pPr>
            <a:r>
              <a:rPr lang="en-US" sz="1050" b="1" dirty="0">
                <a:solidFill>
                  <a:srgbClr val="0B1B2E"/>
                </a:solidFill>
                <a:latin typeface="Calibri" pitchFamily="34" charset="0"/>
                <a:ea typeface="Calibri" pitchFamily="34" charset="-122"/>
                <a:cs typeface="Calibri" pitchFamily="34" charset="-120"/>
              </a:rPr>
              <a:t>Delta</a:t>
            </a:r>
            <a:endParaRPr lang="en-US" sz="1050" dirty="0"/>
          </a:p>
          <a:p>
            <a:pPr marL="0" indent="0" algn="ctr">
              <a:lnSpc>
                <a:spcPts val="1200"/>
              </a:lnSpc>
              <a:buNone/>
            </a:pPr>
            <a:r>
              <a:rPr lang="en-US" sz="1050" b="1" dirty="0">
                <a:solidFill>
                  <a:srgbClr val="0B1B2E"/>
                </a:solidFill>
                <a:latin typeface="Calibri" pitchFamily="34" charset="0"/>
                <a:ea typeface="Calibri" pitchFamily="34" charset="-122"/>
                <a:cs typeface="Calibri" pitchFamily="34" charset="-120"/>
              </a:rPr>
              <a:t>Tables</a:t>
            </a:r>
            <a:endParaRPr lang="en-US" sz="1050" dirty="0"/>
          </a:p>
        </p:txBody>
      </p:sp>
      <p:sp>
        <p:nvSpPr>
          <p:cNvPr id="57" name="Text 55"/>
          <p:cNvSpPr/>
          <p:nvPr/>
        </p:nvSpPr>
        <p:spPr>
          <a:xfrm>
            <a:off x="10521544" y="2688336"/>
            <a:ext cx="1024128" cy="256032"/>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Governed &amp; versioned</a:t>
            </a:r>
            <a:endParaRPr lang="en-US" sz="850" dirty="0"/>
          </a:p>
        </p:txBody>
      </p:sp>
      <p:sp>
        <p:nvSpPr>
          <p:cNvPr id="58" name="Shape 56"/>
          <p:cNvSpPr/>
          <p:nvPr/>
        </p:nvSpPr>
        <p:spPr>
          <a:xfrm>
            <a:off x="548640" y="3401568"/>
            <a:ext cx="146304" cy="146304"/>
          </a:xfrm>
          <a:prstGeom prst="ellipse">
            <a:avLst/>
          </a:prstGeom>
          <a:solidFill>
            <a:srgbClr val="14B8A6"/>
          </a:solidFill>
          <a:ln/>
        </p:spPr>
        <p:txBody>
          <a:bodyPr/>
          <a:lstStyle/>
          <a:p>
            <a:endParaRPr lang="en-IN"/>
          </a:p>
        </p:txBody>
      </p:sp>
      <p:sp>
        <p:nvSpPr>
          <p:cNvPr id="59" name="Text 57"/>
          <p:cNvSpPr/>
          <p:nvPr/>
        </p:nvSpPr>
        <p:spPr>
          <a:xfrm>
            <a:off x="786384" y="3355848"/>
            <a:ext cx="2011680" cy="256032"/>
          </a:xfrm>
          <a:prstGeom prst="rect">
            <a:avLst/>
          </a:prstGeom>
          <a:noFill/>
          <a:ln/>
        </p:spPr>
        <p:txBody>
          <a:bodyPr wrap="square" lIns="0" tIns="0" rIns="0" bIns="0" rtlCol="0" anchor="ctr"/>
          <a:lstStyle/>
          <a:p>
            <a:pPr marL="0" indent="0">
              <a:buNone/>
            </a:pPr>
            <a:r>
              <a:rPr lang="en-US" sz="1100" b="1" dirty="0">
                <a:solidFill>
                  <a:srgbClr val="33415A"/>
                </a:solidFill>
                <a:latin typeface="Calibri" pitchFamily="34" charset="0"/>
                <a:ea typeface="Calibri" pitchFamily="34" charset="-122"/>
                <a:cs typeface="Calibri" pitchFamily="34" charset="-120"/>
              </a:rPr>
              <a:t>AI / model-driven</a:t>
            </a:r>
            <a:endParaRPr lang="en-US" sz="1100" dirty="0"/>
          </a:p>
        </p:txBody>
      </p:sp>
      <p:sp>
        <p:nvSpPr>
          <p:cNvPr id="60" name="Shape 58"/>
          <p:cNvSpPr/>
          <p:nvPr/>
        </p:nvSpPr>
        <p:spPr>
          <a:xfrm>
            <a:off x="3017520" y="3401568"/>
            <a:ext cx="146304" cy="146304"/>
          </a:xfrm>
          <a:prstGeom prst="ellipse">
            <a:avLst/>
          </a:prstGeom>
          <a:solidFill>
            <a:srgbClr val="64748B"/>
          </a:solidFill>
          <a:ln/>
        </p:spPr>
        <p:txBody>
          <a:bodyPr/>
          <a:lstStyle/>
          <a:p>
            <a:endParaRPr lang="en-IN"/>
          </a:p>
        </p:txBody>
      </p:sp>
      <p:sp>
        <p:nvSpPr>
          <p:cNvPr id="61" name="Text 59"/>
          <p:cNvSpPr/>
          <p:nvPr/>
        </p:nvSpPr>
        <p:spPr>
          <a:xfrm>
            <a:off x="3255264" y="3355848"/>
            <a:ext cx="2560320" cy="256032"/>
          </a:xfrm>
          <a:prstGeom prst="rect">
            <a:avLst/>
          </a:prstGeom>
          <a:noFill/>
          <a:ln/>
        </p:spPr>
        <p:txBody>
          <a:bodyPr wrap="square" lIns="0" tIns="0" rIns="0" bIns="0" rtlCol="0" anchor="ctr"/>
          <a:lstStyle/>
          <a:p>
            <a:pPr marL="0" indent="0">
              <a:buNone/>
            </a:pPr>
            <a:r>
              <a:rPr lang="en-US" sz="1100" b="1" dirty="0">
                <a:solidFill>
                  <a:srgbClr val="33415A"/>
                </a:solidFill>
                <a:latin typeface="Calibri" pitchFamily="34" charset="0"/>
                <a:ea typeface="Calibri" pitchFamily="34" charset="-122"/>
                <a:cs typeface="Calibri" pitchFamily="34" charset="-120"/>
              </a:rPr>
              <a:t>Deterministic / rule-based</a:t>
            </a:r>
            <a:endParaRPr lang="en-US" sz="1100" dirty="0"/>
          </a:p>
        </p:txBody>
      </p:sp>
      <p:sp>
        <p:nvSpPr>
          <p:cNvPr id="62" name="Shape 60"/>
          <p:cNvSpPr/>
          <p:nvPr/>
        </p:nvSpPr>
        <p:spPr>
          <a:xfrm>
            <a:off x="548640" y="3886200"/>
            <a:ext cx="3545738" cy="1261872"/>
          </a:xfrm>
          <a:prstGeom prst="rect">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63" name="Shape 61"/>
          <p:cNvSpPr/>
          <p:nvPr/>
        </p:nvSpPr>
        <p:spPr>
          <a:xfrm>
            <a:off x="548640" y="3886200"/>
            <a:ext cx="82296" cy="1261872"/>
          </a:xfrm>
          <a:prstGeom prst="rect">
            <a:avLst/>
          </a:prstGeom>
          <a:solidFill>
            <a:srgbClr val="F26A4B"/>
          </a:solidFill>
          <a:ln/>
        </p:spPr>
        <p:txBody>
          <a:bodyPr/>
          <a:lstStyle/>
          <a:p>
            <a:endParaRPr lang="en-IN"/>
          </a:p>
        </p:txBody>
      </p:sp>
      <p:sp>
        <p:nvSpPr>
          <p:cNvPr id="64" name="Text 62"/>
          <p:cNvSpPr/>
          <p:nvPr/>
        </p:nvSpPr>
        <p:spPr>
          <a:xfrm>
            <a:off x="777240" y="4041648"/>
            <a:ext cx="3198266" cy="347472"/>
          </a:xfrm>
          <a:prstGeom prst="rect">
            <a:avLst/>
          </a:prstGeom>
          <a:noFill/>
          <a:ln/>
        </p:spPr>
        <p:txBody>
          <a:bodyPr wrap="square" lIns="0" tIns="0" rIns="0" bIns="0" rtlCol="0" anchor="ctr"/>
          <a:lstStyle/>
          <a:p>
            <a:pPr marL="0" indent="0">
              <a:buNone/>
            </a:pPr>
            <a:r>
              <a:rPr lang="en-US" sz="1300" b="1" dirty="0">
                <a:solidFill>
                  <a:srgbClr val="0B1B2E"/>
                </a:solidFill>
                <a:latin typeface="Calibri" pitchFamily="34" charset="0"/>
                <a:ea typeface="Calibri" pitchFamily="34" charset="-122"/>
                <a:cs typeface="Calibri" pitchFamily="34" charset="-120"/>
              </a:rPr>
              <a:t>Per-file isolation</a:t>
            </a:r>
            <a:endParaRPr lang="en-US" sz="1300" dirty="0"/>
          </a:p>
        </p:txBody>
      </p:sp>
      <p:sp>
        <p:nvSpPr>
          <p:cNvPr id="65" name="Text 63"/>
          <p:cNvSpPr/>
          <p:nvPr/>
        </p:nvSpPr>
        <p:spPr>
          <a:xfrm>
            <a:off x="777240" y="4407408"/>
            <a:ext cx="3198266" cy="658368"/>
          </a:xfrm>
          <a:prstGeom prst="rect">
            <a:avLst/>
          </a:prstGeom>
          <a:noFill/>
          <a:ln/>
        </p:spPr>
        <p:txBody>
          <a:bodyPr wrap="square" lIns="0" tIns="0" rIns="0" bIns="0" rtlCol="0" anchor="t"/>
          <a:lstStyle/>
          <a:p>
            <a:pPr marL="0" indent="0">
              <a:lnSpc>
                <a:spcPts val="1500"/>
              </a:lnSpc>
              <a:buNone/>
            </a:pPr>
            <a:r>
              <a:rPr lang="en-US" sz="1100" dirty="0">
                <a:solidFill>
                  <a:srgbClr val="33415A"/>
                </a:solidFill>
                <a:latin typeface="Calibri" pitchFamily="34" charset="0"/>
                <a:ea typeface="Calibri" pitchFamily="34" charset="-122"/>
                <a:cs typeface="Calibri" pitchFamily="34" charset="-120"/>
              </a:rPr>
              <a:t>Direct REST API — one stuck document never stalls the run. 7× faster than batch SQL.</a:t>
            </a:r>
            <a:endParaRPr lang="en-US" sz="1100" dirty="0"/>
          </a:p>
        </p:txBody>
      </p:sp>
      <p:sp>
        <p:nvSpPr>
          <p:cNvPr id="66" name="Shape 64"/>
          <p:cNvSpPr/>
          <p:nvPr/>
        </p:nvSpPr>
        <p:spPr>
          <a:xfrm>
            <a:off x="4322978" y="3886200"/>
            <a:ext cx="3545738" cy="1261872"/>
          </a:xfrm>
          <a:prstGeom prst="rect">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67" name="Shape 65"/>
          <p:cNvSpPr/>
          <p:nvPr/>
        </p:nvSpPr>
        <p:spPr>
          <a:xfrm>
            <a:off x="4322978" y="3886200"/>
            <a:ext cx="82296" cy="1261872"/>
          </a:xfrm>
          <a:prstGeom prst="rect">
            <a:avLst/>
          </a:prstGeom>
          <a:solidFill>
            <a:srgbClr val="F26A4B"/>
          </a:solidFill>
          <a:ln/>
        </p:spPr>
        <p:txBody>
          <a:bodyPr/>
          <a:lstStyle/>
          <a:p>
            <a:endParaRPr lang="en-IN"/>
          </a:p>
        </p:txBody>
      </p:sp>
      <p:sp>
        <p:nvSpPr>
          <p:cNvPr id="68" name="Text 66"/>
          <p:cNvSpPr/>
          <p:nvPr/>
        </p:nvSpPr>
        <p:spPr>
          <a:xfrm>
            <a:off x="4551578" y="4041648"/>
            <a:ext cx="3198266" cy="347472"/>
          </a:xfrm>
          <a:prstGeom prst="rect">
            <a:avLst/>
          </a:prstGeom>
          <a:noFill/>
          <a:ln/>
        </p:spPr>
        <p:txBody>
          <a:bodyPr wrap="square" lIns="0" tIns="0" rIns="0" bIns="0" rtlCol="0" anchor="ctr"/>
          <a:lstStyle/>
          <a:p>
            <a:pPr marL="0" indent="0">
              <a:buNone/>
            </a:pPr>
            <a:r>
              <a:rPr lang="en-US" sz="1300" b="1" dirty="0">
                <a:solidFill>
                  <a:srgbClr val="0B1B2E"/>
                </a:solidFill>
                <a:latin typeface="Calibri" pitchFamily="34" charset="0"/>
                <a:ea typeface="Calibri" pitchFamily="34" charset="-122"/>
                <a:cs typeface="Calibri" pitchFamily="34" charset="-120"/>
              </a:rPr>
              <a:t>Checkpoint-resume</a:t>
            </a:r>
            <a:endParaRPr lang="en-US" sz="1300" dirty="0"/>
          </a:p>
        </p:txBody>
      </p:sp>
      <p:sp>
        <p:nvSpPr>
          <p:cNvPr id="69" name="Text 67"/>
          <p:cNvSpPr/>
          <p:nvPr/>
        </p:nvSpPr>
        <p:spPr>
          <a:xfrm>
            <a:off x="4551578" y="4407408"/>
            <a:ext cx="3198266" cy="658368"/>
          </a:xfrm>
          <a:prstGeom prst="rect">
            <a:avLst/>
          </a:prstGeom>
          <a:noFill/>
          <a:ln/>
        </p:spPr>
        <p:txBody>
          <a:bodyPr wrap="square" lIns="0" tIns="0" rIns="0" bIns="0" rtlCol="0" anchor="t"/>
          <a:lstStyle/>
          <a:p>
            <a:pPr marL="0" indent="0">
              <a:lnSpc>
                <a:spcPts val="1500"/>
              </a:lnSpc>
              <a:buNone/>
            </a:pPr>
            <a:r>
              <a:rPr lang="en-US" sz="1100" dirty="0">
                <a:solidFill>
                  <a:srgbClr val="33415A"/>
                </a:solidFill>
                <a:latin typeface="Calibri" pitchFamily="34" charset="0"/>
                <a:ea typeface="Calibri" pitchFamily="34" charset="-122"/>
                <a:cs typeface="Calibri" pitchFamily="34" charset="-120"/>
              </a:rPr>
              <a:t>Re-runs skip completed files automatically. No rework, no data loss.</a:t>
            </a:r>
            <a:endParaRPr lang="en-US" sz="1100" dirty="0"/>
          </a:p>
        </p:txBody>
      </p:sp>
      <p:sp>
        <p:nvSpPr>
          <p:cNvPr id="70" name="Shape 68"/>
          <p:cNvSpPr/>
          <p:nvPr/>
        </p:nvSpPr>
        <p:spPr>
          <a:xfrm>
            <a:off x="8097317" y="3886200"/>
            <a:ext cx="3545738" cy="1261872"/>
          </a:xfrm>
          <a:prstGeom prst="rect">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71" name="Shape 69"/>
          <p:cNvSpPr/>
          <p:nvPr/>
        </p:nvSpPr>
        <p:spPr>
          <a:xfrm>
            <a:off x="8097317" y="3886200"/>
            <a:ext cx="82296" cy="1261872"/>
          </a:xfrm>
          <a:prstGeom prst="rect">
            <a:avLst/>
          </a:prstGeom>
          <a:solidFill>
            <a:srgbClr val="F26A4B"/>
          </a:solidFill>
          <a:ln/>
        </p:spPr>
        <p:txBody>
          <a:bodyPr/>
          <a:lstStyle/>
          <a:p>
            <a:endParaRPr lang="en-IN"/>
          </a:p>
        </p:txBody>
      </p:sp>
      <p:sp>
        <p:nvSpPr>
          <p:cNvPr id="72" name="Text 70"/>
          <p:cNvSpPr/>
          <p:nvPr/>
        </p:nvSpPr>
        <p:spPr>
          <a:xfrm>
            <a:off x="8325917" y="4041648"/>
            <a:ext cx="3198266" cy="347472"/>
          </a:xfrm>
          <a:prstGeom prst="rect">
            <a:avLst/>
          </a:prstGeom>
          <a:noFill/>
          <a:ln/>
        </p:spPr>
        <p:txBody>
          <a:bodyPr wrap="square" lIns="0" tIns="0" rIns="0" bIns="0" rtlCol="0" anchor="ctr"/>
          <a:lstStyle/>
          <a:p>
            <a:pPr marL="0" indent="0">
              <a:buNone/>
            </a:pPr>
            <a:r>
              <a:rPr lang="en-US" sz="1300" b="1" dirty="0">
                <a:solidFill>
                  <a:srgbClr val="0B1B2E"/>
                </a:solidFill>
                <a:latin typeface="Calibri" pitchFamily="34" charset="0"/>
                <a:ea typeface="Calibri" pitchFamily="34" charset="-122"/>
                <a:cs typeface="Calibri" pitchFamily="34" charset="-120"/>
              </a:rPr>
              <a:t>Adaptive concurrency</a:t>
            </a:r>
            <a:endParaRPr lang="en-US" sz="1300" dirty="0"/>
          </a:p>
        </p:txBody>
      </p:sp>
      <p:sp>
        <p:nvSpPr>
          <p:cNvPr id="73" name="Text 71"/>
          <p:cNvSpPr/>
          <p:nvPr/>
        </p:nvSpPr>
        <p:spPr>
          <a:xfrm>
            <a:off x="8325917" y="4407408"/>
            <a:ext cx="3198266" cy="658368"/>
          </a:xfrm>
          <a:prstGeom prst="rect">
            <a:avLst/>
          </a:prstGeom>
          <a:noFill/>
          <a:ln/>
        </p:spPr>
        <p:txBody>
          <a:bodyPr wrap="square" lIns="0" tIns="0" rIns="0" bIns="0" rtlCol="0" anchor="t"/>
          <a:lstStyle/>
          <a:p>
            <a:pPr marL="0" indent="0">
              <a:lnSpc>
                <a:spcPts val="1500"/>
              </a:lnSpc>
              <a:buNone/>
            </a:pPr>
            <a:r>
              <a:rPr lang="en-US" sz="1100" dirty="0">
                <a:solidFill>
                  <a:srgbClr val="33415A"/>
                </a:solidFill>
                <a:latin typeface="Calibri" pitchFamily="34" charset="0"/>
                <a:ea typeface="Calibri" pitchFamily="34" charset="-122"/>
                <a:cs typeface="Calibri" pitchFamily="34" charset="-120"/>
              </a:rPr>
              <a:t>Throughput auto-throttles to API rate limits and re-ramps automatically.</a:t>
            </a:r>
            <a:endParaRPr lang="en-US" sz="1100" dirty="0"/>
          </a:p>
        </p:txBody>
      </p:sp>
      <p:sp>
        <p:nvSpPr>
          <p:cNvPr id="74" name="Text 72"/>
          <p:cNvSpPr/>
          <p:nvPr/>
        </p:nvSpPr>
        <p:spPr>
          <a:xfrm>
            <a:off x="548640" y="5321808"/>
            <a:ext cx="11094415" cy="347472"/>
          </a:xfrm>
          <a:prstGeom prst="rect">
            <a:avLst/>
          </a:prstGeom>
          <a:noFill/>
          <a:ln/>
        </p:spPr>
        <p:txBody>
          <a:bodyPr wrap="square" lIns="0" tIns="0" rIns="0" bIns="0" rtlCol="0" anchor="ctr"/>
          <a:lstStyle/>
          <a:p>
            <a:pPr marL="0" indent="0">
              <a:buNone/>
            </a:pPr>
            <a:r>
              <a:rPr lang="en-US" sz="1250" i="1" dirty="0">
                <a:solidFill>
                  <a:srgbClr val="0F766E"/>
                </a:solidFill>
                <a:latin typeface="Calibri" pitchFamily="34" charset="0"/>
                <a:ea typeface="Calibri" pitchFamily="34" charset="-122"/>
                <a:cs typeface="Calibri" pitchFamily="34" charset="-120"/>
              </a:rPr>
              <a:t>AI and deterministic checks are interleaved — the platform never relies on the model alone.</a:t>
            </a:r>
            <a:endParaRPr lang="en-US" sz="1250" dirty="0"/>
          </a:p>
        </p:txBody>
      </p:sp>
      <p:sp>
        <p:nvSpPr>
          <p:cNvPr id="75" name="Text 73"/>
          <p:cNvSpPr/>
          <p:nvPr/>
        </p:nvSpPr>
        <p:spPr>
          <a:xfrm>
            <a:off x="548640" y="6473952"/>
            <a:ext cx="8229600" cy="256032"/>
          </a:xfrm>
          <a:prstGeom prst="rect">
            <a:avLst/>
          </a:prstGeom>
          <a:noFill/>
          <a:ln/>
        </p:spPr>
        <p:txBody>
          <a:bodyPr wrap="square" lIns="0" tIns="0" rIns="0" bIns="0" rtlCol="0" anchor="ctr"/>
          <a:lstStyle/>
          <a:p>
            <a:pPr marL="0" indent="0">
              <a:buNone/>
            </a:pPr>
            <a:r>
              <a:rPr lang="en-US" sz="800" b="1" kern="0" spc="80" dirty="0">
                <a:solidFill>
                  <a:srgbClr val="64748B"/>
                </a:solidFill>
                <a:latin typeface="Calibri" pitchFamily="34" charset="0"/>
                <a:ea typeface="Calibri" pitchFamily="34" charset="-122"/>
                <a:cs typeface="Calibri" pitchFamily="34" charset="-120"/>
              </a:rPr>
              <a:t>PROVIDER CONTRACT INTELLIGENCE PLATFORM</a:t>
            </a:r>
            <a:r>
              <a:rPr lang="en-US" sz="800" kern="0" spc="8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76" name="Text 74"/>
          <p:cNvSpPr/>
          <p:nvPr/>
        </p:nvSpPr>
        <p:spPr>
          <a:xfrm>
            <a:off x="10728655" y="6473952"/>
            <a:ext cx="914400" cy="256032"/>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256032"/>
          </a:xfrm>
          <a:prstGeom prst="rect">
            <a:avLst/>
          </a:prstGeom>
          <a:noFill/>
          <a:ln/>
        </p:spPr>
        <p:txBody>
          <a:bodyPr wrap="square" lIns="0" tIns="0" rIns="0" bIns="0" rtlCol="0" anchor="ctr"/>
          <a:lstStyle/>
          <a:p>
            <a:pPr marL="0" indent="0">
              <a:buNone/>
            </a:pPr>
            <a:r>
              <a:rPr lang="en-US" sz="1100" b="1" kern="0" spc="250" dirty="0">
                <a:solidFill>
                  <a:srgbClr val="0F766E"/>
                </a:solidFill>
                <a:latin typeface="Calibri" pitchFamily="34" charset="0"/>
                <a:ea typeface="Calibri" pitchFamily="34" charset="-122"/>
                <a:cs typeface="Calibri" pitchFamily="34" charset="-120"/>
              </a:rPr>
              <a:t>SECTION 04 · THE INTELLIGENCE LAYER</a:t>
            </a:r>
            <a:endParaRPr lang="en-US" sz="1100" dirty="0"/>
          </a:p>
        </p:txBody>
      </p:sp>
      <p:sp>
        <p:nvSpPr>
          <p:cNvPr id="3" name="Text 1"/>
          <p:cNvSpPr/>
          <p:nvPr/>
        </p:nvSpPr>
        <p:spPr>
          <a:xfrm>
            <a:off x="548640" y="804672"/>
            <a:ext cx="7987979" cy="660400"/>
          </a:xfrm>
          <a:prstGeom prst="rect">
            <a:avLst/>
          </a:prstGeom>
          <a:noFill/>
          <a:ln/>
        </p:spPr>
        <p:txBody>
          <a:bodyPr wrap="square" lIns="0" tIns="0" rIns="0" bIns="0" rtlCol="0" anchor="t"/>
          <a:lstStyle/>
          <a:p>
            <a:pPr marL="0" indent="0">
              <a:lnSpc>
                <a:spcPts val="2970"/>
              </a:lnSpc>
              <a:buNone/>
            </a:pPr>
            <a:r>
              <a:rPr lang="en-US" sz="2700" b="1" dirty="0">
                <a:solidFill>
                  <a:srgbClr val="0B1B2E"/>
                </a:solidFill>
                <a:latin typeface="Georgia" pitchFamily="34" charset="0"/>
                <a:ea typeface="Georgia" pitchFamily="34" charset="-122"/>
                <a:cs typeface="Georgia" pitchFamily="34" charset="-120"/>
              </a:rPr>
              <a:t>What lives in the platform — 44 Delta tables, four purposes</a:t>
            </a:r>
            <a:endParaRPr lang="en-US" sz="2700" dirty="0"/>
          </a:p>
        </p:txBody>
      </p:sp>
      <p:sp>
        <p:nvSpPr>
          <p:cNvPr id="4" name="Text 2"/>
          <p:cNvSpPr/>
          <p:nvPr/>
        </p:nvSpPr>
        <p:spPr>
          <a:xfrm>
            <a:off x="548640" y="1508760"/>
            <a:ext cx="11094415" cy="228600"/>
          </a:xfrm>
          <a:prstGeom prst="rect">
            <a:avLst/>
          </a:prstGeom>
          <a:noFill/>
          <a:ln/>
        </p:spPr>
        <p:txBody>
          <a:bodyPr wrap="square" lIns="0" tIns="0" rIns="0" bIns="0" rtlCol="0" anchor="ctr"/>
          <a:lstStyle/>
          <a:p>
            <a:pPr marL="0" indent="0">
              <a:buNone/>
            </a:pPr>
            <a:r>
              <a:rPr lang="en-US" sz="1250" i="1" dirty="0">
                <a:solidFill>
                  <a:srgbClr val="0F766E"/>
                </a:solidFill>
                <a:latin typeface="Calibri" pitchFamily="34" charset="0"/>
                <a:ea typeface="Calibri" pitchFamily="34" charset="-122"/>
                <a:cs typeface="Calibri" pitchFamily="34" charset="-120"/>
              </a:rPr>
              <a:t>Delta Lake is not just storage. Every table has a defined job — extraction, state, retrieval or serving.</a:t>
            </a:r>
            <a:endParaRPr lang="en-US" sz="1250" dirty="0"/>
          </a:p>
        </p:txBody>
      </p:sp>
      <p:sp>
        <p:nvSpPr>
          <p:cNvPr id="5" name="Shape 3"/>
          <p:cNvSpPr/>
          <p:nvPr/>
        </p:nvSpPr>
        <p:spPr>
          <a:xfrm>
            <a:off x="548640" y="1938528"/>
            <a:ext cx="2636444" cy="4187952"/>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6" name="Shape 4"/>
          <p:cNvSpPr/>
          <p:nvPr/>
        </p:nvSpPr>
        <p:spPr>
          <a:xfrm>
            <a:off x="548640" y="1938528"/>
            <a:ext cx="2636444" cy="73152"/>
          </a:xfrm>
          <a:prstGeom prst="rect">
            <a:avLst/>
          </a:prstGeom>
          <a:solidFill>
            <a:srgbClr val="64748B"/>
          </a:solidFill>
          <a:ln/>
        </p:spPr>
        <p:txBody>
          <a:bodyPr/>
          <a:lstStyle/>
          <a:p>
            <a:endParaRPr lang="en-IN"/>
          </a:p>
        </p:txBody>
      </p:sp>
      <p:sp>
        <p:nvSpPr>
          <p:cNvPr id="7" name="Text 5"/>
          <p:cNvSpPr/>
          <p:nvPr/>
        </p:nvSpPr>
        <p:spPr>
          <a:xfrm>
            <a:off x="713232" y="2048256"/>
            <a:ext cx="2362124" cy="475488"/>
          </a:xfrm>
          <a:prstGeom prst="rect">
            <a:avLst/>
          </a:prstGeom>
          <a:noFill/>
          <a:ln/>
        </p:spPr>
        <p:txBody>
          <a:bodyPr wrap="square" lIns="0" tIns="0" rIns="0" bIns="0" rtlCol="0" anchor="ctr"/>
          <a:lstStyle/>
          <a:p>
            <a:pPr marL="0" indent="0">
              <a:lnSpc>
                <a:spcPts val="1300"/>
              </a:lnSpc>
              <a:buNone/>
            </a:pPr>
            <a:r>
              <a:rPr lang="en-US" sz="1000" b="1" kern="0" spc="100" dirty="0">
                <a:solidFill>
                  <a:srgbClr val="0F766E"/>
                </a:solidFill>
                <a:latin typeface="Calibri" pitchFamily="34" charset="0"/>
                <a:ea typeface="Calibri" pitchFamily="34" charset="-122"/>
                <a:cs typeface="Calibri" pitchFamily="34" charset="-120"/>
              </a:rPr>
              <a:t>EXTRACTION TABLES</a:t>
            </a:r>
            <a:endParaRPr lang="en-US" sz="1000" dirty="0"/>
          </a:p>
        </p:txBody>
      </p:sp>
      <p:sp>
        <p:nvSpPr>
          <p:cNvPr id="8" name="Shape 6"/>
          <p:cNvSpPr/>
          <p:nvPr/>
        </p:nvSpPr>
        <p:spPr>
          <a:xfrm>
            <a:off x="713232" y="2578608"/>
            <a:ext cx="2343836" cy="0"/>
          </a:xfrm>
          <a:prstGeom prst="line">
            <a:avLst/>
          </a:prstGeom>
          <a:noFill/>
          <a:ln w="12700">
            <a:solidFill>
              <a:srgbClr val="E3E9F0"/>
            </a:solidFill>
            <a:prstDash val="solid"/>
          </a:ln>
        </p:spPr>
        <p:txBody>
          <a:bodyPr/>
          <a:lstStyle/>
          <a:p>
            <a:endParaRPr lang="en-IN"/>
          </a:p>
        </p:txBody>
      </p:sp>
      <p:sp>
        <p:nvSpPr>
          <p:cNvPr id="9" name="Text 7"/>
          <p:cNvSpPr/>
          <p:nvPr/>
        </p:nvSpPr>
        <p:spPr>
          <a:xfrm>
            <a:off x="713232" y="2651760"/>
            <a:ext cx="2362124" cy="914400"/>
          </a:xfrm>
          <a:prstGeom prst="rect">
            <a:avLst/>
          </a:prstGeom>
          <a:noFill/>
          <a:ln/>
        </p:spPr>
        <p:txBody>
          <a:bodyPr wrap="square" lIns="0" tIns="0" rIns="0" bIns="0" rtlCol="0" anchor="t"/>
          <a:lstStyle/>
          <a:p>
            <a:pPr marL="0" indent="0">
              <a:lnSpc>
                <a:spcPts val="1400"/>
              </a:lnSpc>
              <a:buNone/>
            </a:pPr>
            <a:r>
              <a:rPr lang="en-US" sz="1000" dirty="0">
                <a:solidFill>
                  <a:srgbClr val="33415A"/>
                </a:solidFill>
                <a:latin typeface="Calibri" pitchFamily="34" charset="0"/>
                <a:ea typeface="Calibri" pitchFamily="34" charset="-122"/>
                <a:cs typeface="Calibri" pitchFamily="34" charset="-120"/>
              </a:rPr>
              <a:t>Raw structured JSON output per document — one record per PDF. Every field extracted by Claude. Every field with a source reference.</a:t>
            </a:r>
            <a:endParaRPr lang="en-US" sz="1000" dirty="0"/>
          </a:p>
        </p:txBody>
      </p:sp>
      <p:sp>
        <p:nvSpPr>
          <p:cNvPr id="10" name="Text 8"/>
          <p:cNvSpPr/>
          <p:nvPr/>
        </p:nvSpPr>
        <p:spPr>
          <a:xfrm>
            <a:off x="713232" y="3675888"/>
            <a:ext cx="2362124" cy="256032"/>
          </a:xfrm>
          <a:prstGeom prst="rect">
            <a:avLst/>
          </a:prstGeom>
          <a:noFill/>
          <a:ln/>
        </p:spPr>
        <p:txBody>
          <a:bodyPr wrap="square" lIns="0" tIns="0" rIns="0" bIns="0" rtlCol="0" anchor="ctr"/>
          <a:lstStyle/>
          <a:p>
            <a:pPr marL="0" indent="0">
              <a:buNone/>
            </a:pPr>
            <a:r>
              <a:rPr lang="en-US" sz="900" b="1" kern="0" spc="150" dirty="0">
                <a:solidFill>
                  <a:srgbClr val="0F766E"/>
                </a:solidFill>
                <a:latin typeface="Calibri" pitchFamily="34" charset="0"/>
                <a:ea typeface="Calibri" pitchFamily="34" charset="-122"/>
                <a:cs typeface="Calibri" pitchFamily="34" charset="-120"/>
              </a:rPr>
              <a:t>KEY TABLES</a:t>
            </a:r>
            <a:endParaRPr lang="en-US" sz="900" dirty="0"/>
          </a:p>
        </p:txBody>
      </p:sp>
      <p:sp>
        <p:nvSpPr>
          <p:cNvPr id="11" name="Shape 9"/>
          <p:cNvSpPr/>
          <p:nvPr/>
        </p:nvSpPr>
        <p:spPr>
          <a:xfrm>
            <a:off x="713232" y="4023360"/>
            <a:ext cx="109728" cy="109728"/>
          </a:xfrm>
          <a:prstGeom prst="ellipse">
            <a:avLst/>
          </a:prstGeom>
          <a:solidFill>
            <a:srgbClr val="14B8A6"/>
          </a:solidFill>
          <a:ln/>
        </p:spPr>
        <p:txBody>
          <a:bodyPr/>
          <a:lstStyle/>
          <a:p>
            <a:endParaRPr lang="en-IN"/>
          </a:p>
        </p:txBody>
      </p:sp>
      <p:sp>
        <p:nvSpPr>
          <p:cNvPr id="12" name="Text 10"/>
          <p:cNvSpPr/>
          <p:nvPr/>
        </p:nvSpPr>
        <p:spPr>
          <a:xfrm>
            <a:off x="896112" y="3941064"/>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Contract documents master</a:t>
            </a:r>
            <a:endParaRPr lang="en-US" sz="950" dirty="0"/>
          </a:p>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(3,416 → 10,372)</a:t>
            </a:r>
            <a:endParaRPr lang="en-US" sz="950" dirty="0"/>
          </a:p>
        </p:txBody>
      </p:sp>
      <p:sp>
        <p:nvSpPr>
          <p:cNvPr id="13" name="Shape 11"/>
          <p:cNvSpPr/>
          <p:nvPr/>
        </p:nvSpPr>
        <p:spPr>
          <a:xfrm>
            <a:off x="713232" y="4553712"/>
            <a:ext cx="109728" cy="109728"/>
          </a:xfrm>
          <a:prstGeom prst="ellipse">
            <a:avLst/>
          </a:prstGeom>
          <a:solidFill>
            <a:srgbClr val="14B8A6"/>
          </a:solidFill>
          <a:ln/>
        </p:spPr>
        <p:txBody>
          <a:bodyPr/>
          <a:lstStyle/>
          <a:p>
            <a:endParaRPr lang="en-IN"/>
          </a:p>
        </p:txBody>
      </p:sp>
      <p:sp>
        <p:nvSpPr>
          <p:cNvPr id="14" name="Text 12"/>
          <p:cNvSpPr/>
          <p:nvPr/>
        </p:nvSpPr>
        <p:spPr>
          <a:xfrm>
            <a:off x="896112" y="4471416"/>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Contract rates all</a:t>
            </a:r>
            <a:endParaRPr lang="en-US" sz="950" dirty="0"/>
          </a:p>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(81,892 rate lines)</a:t>
            </a:r>
            <a:endParaRPr lang="en-US" sz="950" dirty="0"/>
          </a:p>
        </p:txBody>
      </p:sp>
      <p:sp>
        <p:nvSpPr>
          <p:cNvPr id="15" name="Shape 13"/>
          <p:cNvSpPr/>
          <p:nvPr/>
        </p:nvSpPr>
        <p:spPr>
          <a:xfrm>
            <a:off x="713232" y="5084064"/>
            <a:ext cx="109728" cy="109728"/>
          </a:xfrm>
          <a:prstGeom prst="ellipse">
            <a:avLst/>
          </a:prstGeom>
          <a:solidFill>
            <a:srgbClr val="14B8A6"/>
          </a:solidFill>
          <a:ln/>
        </p:spPr>
        <p:txBody>
          <a:bodyPr/>
          <a:lstStyle/>
          <a:p>
            <a:endParaRPr lang="en-IN"/>
          </a:p>
        </p:txBody>
      </p:sp>
      <p:sp>
        <p:nvSpPr>
          <p:cNvPr id="16" name="Text 14"/>
          <p:cNvSpPr/>
          <p:nvPr/>
        </p:nvSpPr>
        <p:spPr>
          <a:xfrm>
            <a:off x="896112" y="5001768"/>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Contract clauses &amp; terms</a:t>
            </a:r>
            <a:endParaRPr lang="en-US" sz="950" dirty="0"/>
          </a:p>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(53,390+ rows)</a:t>
            </a:r>
            <a:endParaRPr lang="en-US" sz="950" dirty="0"/>
          </a:p>
        </p:txBody>
      </p:sp>
      <p:sp>
        <p:nvSpPr>
          <p:cNvPr id="17" name="Shape 15"/>
          <p:cNvSpPr/>
          <p:nvPr/>
        </p:nvSpPr>
        <p:spPr>
          <a:xfrm>
            <a:off x="713232" y="5614416"/>
            <a:ext cx="109728" cy="109728"/>
          </a:xfrm>
          <a:prstGeom prst="ellipse">
            <a:avLst/>
          </a:prstGeom>
          <a:solidFill>
            <a:srgbClr val="14B8A6"/>
          </a:solidFill>
          <a:ln/>
        </p:spPr>
        <p:txBody>
          <a:bodyPr/>
          <a:lstStyle/>
          <a:p>
            <a:endParaRPr lang="en-IN"/>
          </a:p>
        </p:txBody>
      </p:sp>
      <p:sp>
        <p:nvSpPr>
          <p:cNvPr id="18" name="Text 16"/>
          <p:cNvSpPr/>
          <p:nvPr/>
        </p:nvSpPr>
        <p:spPr>
          <a:xfrm>
            <a:off x="896112" y="5532120"/>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Contract codes &amp; events</a:t>
            </a:r>
            <a:endParaRPr lang="en-US" sz="950" dirty="0"/>
          </a:p>
        </p:txBody>
      </p:sp>
      <p:sp>
        <p:nvSpPr>
          <p:cNvPr id="19" name="Shape 17"/>
          <p:cNvSpPr/>
          <p:nvPr/>
        </p:nvSpPr>
        <p:spPr>
          <a:xfrm>
            <a:off x="3367964" y="1938528"/>
            <a:ext cx="2636444" cy="4187952"/>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20" name="Shape 18"/>
          <p:cNvSpPr/>
          <p:nvPr/>
        </p:nvSpPr>
        <p:spPr>
          <a:xfrm>
            <a:off x="3367964" y="1938528"/>
            <a:ext cx="2636444" cy="73152"/>
          </a:xfrm>
          <a:prstGeom prst="rect">
            <a:avLst/>
          </a:prstGeom>
          <a:solidFill>
            <a:srgbClr val="14B8A6"/>
          </a:solidFill>
          <a:ln/>
        </p:spPr>
        <p:txBody>
          <a:bodyPr/>
          <a:lstStyle/>
          <a:p>
            <a:endParaRPr lang="en-IN"/>
          </a:p>
        </p:txBody>
      </p:sp>
      <p:sp>
        <p:nvSpPr>
          <p:cNvPr id="21" name="Text 19"/>
          <p:cNvSpPr/>
          <p:nvPr/>
        </p:nvSpPr>
        <p:spPr>
          <a:xfrm>
            <a:off x="3532556" y="2048256"/>
            <a:ext cx="2362124" cy="475488"/>
          </a:xfrm>
          <a:prstGeom prst="rect">
            <a:avLst/>
          </a:prstGeom>
          <a:noFill/>
          <a:ln/>
        </p:spPr>
        <p:txBody>
          <a:bodyPr wrap="square" lIns="0" tIns="0" rIns="0" bIns="0" rtlCol="0" anchor="ctr"/>
          <a:lstStyle/>
          <a:p>
            <a:pPr marL="0" indent="0">
              <a:lnSpc>
                <a:spcPts val="1300"/>
              </a:lnSpc>
              <a:buNone/>
            </a:pPr>
            <a:r>
              <a:rPr lang="en-US" sz="1000" b="1" kern="0" spc="100" dirty="0">
                <a:solidFill>
                  <a:srgbClr val="0F766E"/>
                </a:solidFill>
                <a:latin typeface="Calibri" pitchFamily="34" charset="0"/>
                <a:ea typeface="Calibri" pitchFamily="34" charset="-122"/>
                <a:cs typeface="Calibri" pitchFamily="34" charset="-120"/>
              </a:rPr>
              <a:t>FOUNDATION (STATE ENGINE)</a:t>
            </a:r>
            <a:endParaRPr lang="en-US" sz="1000" dirty="0"/>
          </a:p>
        </p:txBody>
      </p:sp>
      <p:sp>
        <p:nvSpPr>
          <p:cNvPr id="22" name="Shape 20"/>
          <p:cNvSpPr/>
          <p:nvPr/>
        </p:nvSpPr>
        <p:spPr>
          <a:xfrm>
            <a:off x="3532556" y="2578608"/>
            <a:ext cx="2343836" cy="0"/>
          </a:xfrm>
          <a:prstGeom prst="line">
            <a:avLst/>
          </a:prstGeom>
          <a:noFill/>
          <a:ln w="12700">
            <a:solidFill>
              <a:srgbClr val="E3E9F0"/>
            </a:solidFill>
            <a:prstDash val="solid"/>
          </a:ln>
        </p:spPr>
        <p:txBody>
          <a:bodyPr/>
          <a:lstStyle/>
          <a:p>
            <a:endParaRPr lang="en-IN"/>
          </a:p>
        </p:txBody>
      </p:sp>
      <p:sp>
        <p:nvSpPr>
          <p:cNvPr id="23" name="Text 21"/>
          <p:cNvSpPr/>
          <p:nvPr/>
        </p:nvSpPr>
        <p:spPr>
          <a:xfrm>
            <a:off x="3532556" y="2651760"/>
            <a:ext cx="2362124" cy="914400"/>
          </a:xfrm>
          <a:prstGeom prst="rect">
            <a:avLst/>
          </a:prstGeom>
          <a:noFill/>
          <a:ln/>
        </p:spPr>
        <p:txBody>
          <a:bodyPr wrap="square" lIns="0" tIns="0" rIns="0" bIns="0" rtlCol="0" anchor="t"/>
          <a:lstStyle/>
          <a:p>
            <a:pPr marL="0" indent="0">
              <a:lnSpc>
                <a:spcPts val="1400"/>
              </a:lnSpc>
              <a:buNone/>
            </a:pPr>
            <a:r>
              <a:rPr lang="en-US" sz="1000" dirty="0">
                <a:solidFill>
                  <a:srgbClr val="33415A"/>
                </a:solidFill>
                <a:latin typeface="Calibri" pitchFamily="34" charset="0"/>
                <a:ea typeface="Calibri" pitchFamily="34" charset="-122"/>
                <a:cs typeface="Calibri" pitchFamily="34" charset="-120"/>
              </a:rPr>
              <a:t>Resolved business entities. Amendment chains computed. What is in force today — not what was written years ago.</a:t>
            </a:r>
            <a:endParaRPr lang="en-US" sz="1000" dirty="0"/>
          </a:p>
        </p:txBody>
      </p:sp>
      <p:sp>
        <p:nvSpPr>
          <p:cNvPr id="24" name="Text 22"/>
          <p:cNvSpPr/>
          <p:nvPr/>
        </p:nvSpPr>
        <p:spPr>
          <a:xfrm>
            <a:off x="3532556" y="3675888"/>
            <a:ext cx="2362124" cy="256032"/>
          </a:xfrm>
          <a:prstGeom prst="rect">
            <a:avLst/>
          </a:prstGeom>
          <a:noFill/>
          <a:ln/>
        </p:spPr>
        <p:txBody>
          <a:bodyPr wrap="square" lIns="0" tIns="0" rIns="0" bIns="0" rtlCol="0" anchor="ctr"/>
          <a:lstStyle/>
          <a:p>
            <a:pPr marL="0" indent="0">
              <a:buNone/>
            </a:pPr>
            <a:r>
              <a:rPr lang="en-US" sz="900" b="1" kern="0" spc="150" dirty="0">
                <a:solidFill>
                  <a:srgbClr val="0F766E"/>
                </a:solidFill>
                <a:latin typeface="Calibri" pitchFamily="34" charset="0"/>
                <a:ea typeface="Calibri" pitchFamily="34" charset="-122"/>
                <a:cs typeface="Calibri" pitchFamily="34" charset="-120"/>
              </a:rPr>
              <a:t>KEY TABLES</a:t>
            </a:r>
            <a:endParaRPr lang="en-US" sz="900" dirty="0"/>
          </a:p>
        </p:txBody>
      </p:sp>
      <p:sp>
        <p:nvSpPr>
          <p:cNvPr id="25" name="Shape 23"/>
          <p:cNvSpPr/>
          <p:nvPr/>
        </p:nvSpPr>
        <p:spPr>
          <a:xfrm>
            <a:off x="3532556" y="4023360"/>
            <a:ext cx="109728" cy="109728"/>
          </a:xfrm>
          <a:prstGeom prst="ellipse">
            <a:avLst/>
          </a:prstGeom>
          <a:solidFill>
            <a:srgbClr val="14B8A6"/>
          </a:solidFill>
          <a:ln/>
        </p:spPr>
        <p:txBody>
          <a:bodyPr/>
          <a:lstStyle/>
          <a:p>
            <a:endParaRPr lang="en-IN"/>
          </a:p>
        </p:txBody>
      </p:sp>
      <p:sp>
        <p:nvSpPr>
          <p:cNvPr id="26" name="Text 24"/>
          <p:cNvSpPr/>
          <p:nvPr/>
        </p:nvSpPr>
        <p:spPr>
          <a:xfrm>
            <a:off x="3715436" y="3941064"/>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Contract registry</a:t>
            </a:r>
            <a:endParaRPr lang="en-US" sz="950" dirty="0"/>
          </a:p>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(tracks every agreement)</a:t>
            </a:r>
            <a:endParaRPr lang="en-US" sz="950" dirty="0"/>
          </a:p>
        </p:txBody>
      </p:sp>
      <p:sp>
        <p:nvSpPr>
          <p:cNvPr id="27" name="Shape 25"/>
          <p:cNvSpPr/>
          <p:nvPr/>
        </p:nvSpPr>
        <p:spPr>
          <a:xfrm>
            <a:off x="3532556" y="4553712"/>
            <a:ext cx="109728" cy="109728"/>
          </a:xfrm>
          <a:prstGeom prst="ellipse">
            <a:avLst/>
          </a:prstGeom>
          <a:solidFill>
            <a:srgbClr val="14B8A6"/>
          </a:solidFill>
          <a:ln/>
        </p:spPr>
        <p:txBody>
          <a:bodyPr/>
          <a:lstStyle/>
          <a:p>
            <a:endParaRPr lang="en-IN"/>
          </a:p>
        </p:txBody>
      </p:sp>
      <p:sp>
        <p:nvSpPr>
          <p:cNvPr id="28" name="Text 26"/>
          <p:cNvSpPr/>
          <p:nvPr/>
        </p:nvSpPr>
        <p:spPr>
          <a:xfrm>
            <a:off x="3715436" y="4471416"/>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Amendment registry</a:t>
            </a:r>
            <a:endParaRPr lang="en-US" sz="950" dirty="0"/>
          </a:p>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(scope + supersession)</a:t>
            </a:r>
            <a:endParaRPr lang="en-US" sz="950" dirty="0"/>
          </a:p>
        </p:txBody>
      </p:sp>
      <p:sp>
        <p:nvSpPr>
          <p:cNvPr id="29" name="Shape 27"/>
          <p:cNvSpPr/>
          <p:nvPr/>
        </p:nvSpPr>
        <p:spPr>
          <a:xfrm>
            <a:off x="3532556" y="5084064"/>
            <a:ext cx="109728" cy="109728"/>
          </a:xfrm>
          <a:prstGeom prst="ellipse">
            <a:avLst/>
          </a:prstGeom>
          <a:solidFill>
            <a:srgbClr val="14B8A6"/>
          </a:solidFill>
          <a:ln/>
        </p:spPr>
        <p:txBody>
          <a:bodyPr/>
          <a:lstStyle/>
          <a:p>
            <a:endParaRPr lang="en-IN"/>
          </a:p>
        </p:txBody>
      </p:sp>
      <p:sp>
        <p:nvSpPr>
          <p:cNvPr id="30" name="Text 28"/>
          <p:cNvSpPr/>
          <p:nvPr/>
        </p:nvSpPr>
        <p:spPr>
          <a:xfrm>
            <a:off x="3715436" y="5001768"/>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Rate rule engine</a:t>
            </a:r>
            <a:endParaRPr lang="en-US" sz="950" dirty="0"/>
          </a:p>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(21,074 normalized rules)</a:t>
            </a:r>
            <a:endParaRPr lang="en-US" sz="950" dirty="0"/>
          </a:p>
        </p:txBody>
      </p:sp>
      <p:sp>
        <p:nvSpPr>
          <p:cNvPr id="31" name="Shape 29"/>
          <p:cNvSpPr/>
          <p:nvPr/>
        </p:nvSpPr>
        <p:spPr>
          <a:xfrm>
            <a:off x="3532556" y="5614416"/>
            <a:ext cx="109728" cy="109728"/>
          </a:xfrm>
          <a:prstGeom prst="ellipse">
            <a:avLst/>
          </a:prstGeom>
          <a:solidFill>
            <a:srgbClr val="14B8A6"/>
          </a:solidFill>
          <a:ln/>
        </p:spPr>
        <p:txBody>
          <a:bodyPr/>
          <a:lstStyle/>
          <a:p>
            <a:endParaRPr lang="en-IN"/>
          </a:p>
        </p:txBody>
      </p:sp>
      <p:sp>
        <p:nvSpPr>
          <p:cNvPr id="32" name="Text 30"/>
          <p:cNvSpPr/>
          <p:nvPr/>
        </p:nvSpPr>
        <p:spPr>
          <a:xfrm>
            <a:off x="3715436" y="5532120"/>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Stop-loss, carve-outs, escalators</a:t>
            </a:r>
            <a:endParaRPr lang="en-US" sz="950" dirty="0"/>
          </a:p>
        </p:txBody>
      </p:sp>
      <p:sp>
        <p:nvSpPr>
          <p:cNvPr id="33" name="Shape 31"/>
          <p:cNvSpPr/>
          <p:nvPr/>
        </p:nvSpPr>
        <p:spPr>
          <a:xfrm>
            <a:off x="6187288" y="1938528"/>
            <a:ext cx="2636444" cy="4187952"/>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34" name="Shape 32"/>
          <p:cNvSpPr/>
          <p:nvPr/>
        </p:nvSpPr>
        <p:spPr>
          <a:xfrm>
            <a:off x="6187288" y="1938528"/>
            <a:ext cx="2636444" cy="73152"/>
          </a:xfrm>
          <a:prstGeom prst="rect">
            <a:avLst/>
          </a:prstGeom>
          <a:solidFill>
            <a:srgbClr val="14B8A6"/>
          </a:solidFill>
          <a:ln/>
        </p:spPr>
        <p:txBody>
          <a:bodyPr/>
          <a:lstStyle/>
          <a:p>
            <a:endParaRPr lang="en-IN"/>
          </a:p>
        </p:txBody>
      </p:sp>
      <p:sp>
        <p:nvSpPr>
          <p:cNvPr id="35" name="Text 33"/>
          <p:cNvSpPr/>
          <p:nvPr/>
        </p:nvSpPr>
        <p:spPr>
          <a:xfrm>
            <a:off x="6351880" y="2048256"/>
            <a:ext cx="2362124" cy="475488"/>
          </a:xfrm>
          <a:prstGeom prst="rect">
            <a:avLst/>
          </a:prstGeom>
          <a:noFill/>
          <a:ln/>
        </p:spPr>
        <p:txBody>
          <a:bodyPr wrap="square" lIns="0" tIns="0" rIns="0" bIns="0" rtlCol="0" anchor="ctr"/>
          <a:lstStyle/>
          <a:p>
            <a:pPr marL="0" indent="0">
              <a:lnSpc>
                <a:spcPts val="1300"/>
              </a:lnSpc>
              <a:buNone/>
            </a:pPr>
            <a:r>
              <a:rPr lang="en-US" sz="1000" b="1" kern="0" spc="100" dirty="0">
                <a:solidFill>
                  <a:srgbClr val="0F766E"/>
                </a:solidFill>
                <a:latin typeface="Calibri" pitchFamily="34" charset="0"/>
                <a:ea typeface="Calibri" pitchFamily="34" charset="-122"/>
                <a:cs typeface="Calibri" pitchFamily="34" charset="-120"/>
              </a:rPr>
              <a:t>RETRIEVAL TABLES</a:t>
            </a:r>
            <a:endParaRPr lang="en-US" sz="1000" dirty="0"/>
          </a:p>
        </p:txBody>
      </p:sp>
      <p:sp>
        <p:nvSpPr>
          <p:cNvPr id="36" name="Shape 34"/>
          <p:cNvSpPr/>
          <p:nvPr/>
        </p:nvSpPr>
        <p:spPr>
          <a:xfrm>
            <a:off x="6351880" y="2578608"/>
            <a:ext cx="2343836" cy="0"/>
          </a:xfrm>
          <a:prstGeom prst="line">
            <a:avLst/>
          </a:prstGeom>
          <a:noFill/>
          <a:ln w="12700">
            <a:solidFill>
              <a:srgbClr val="E3E9F0"/>
            </a:solidFill>
            <a:prstDash val="solid"/>
          </a:ln>
        </p:spPr>
        <p:txBody>
          <a:bodyPr/>
          <a:lstStyle/>
          <a:p>
            <a:endParaRPr lang="en-IN"/>
          </a:p>
        </p:txBody>
      </p:sp>
      <p:sp>
        <p:nvSpPr>
          <p:cNvPr id="37" name="Text 35"/>
          <p:cNvSpPr/>
          <p:nvPr/>
        </p:nvSpPr>
        <p:spPr>
          <a:xfrm>
            <a:off x="6351880" y="2651760"/>
            <a:ext cx="2362124" cy="914400"/>
          </a:xfrm>
          <a:prstGeom prst="rect">
            <a:avLst/>
          </a:prstGeom>
          <a:noFill/>
          <a:ln/>
        </p:spPr>
        <p:txBody>
          <a:bodyPr wrap="square" lIns="0" tIns="0" rIns="0" bIns="0" rtlCol="0" anchor="t"/>
          <a:lstStyle/>
          <a:p>
            <a:pPr marL="0" indent="0">
              <a:lnSpc>
                <a:spcPts val="1400"/>
              </a:lnSpc>
              <a:buNone/>
            </a:pPr>
            <a:r>
              <a:rPr lang="en-US" sz="1000" dirty="0">
                <a:solidFill>
                  <a:srgbClr val="33415A"/>
                </a:solidFill>
                <a:latin typeface="Calibri" pitchFamily="34" charset="0"/>
                <a:ea typeface="Calibri" pitchFamily="34" charset="-122"/>
                <a:cs typeface="Calibri" pitchFamily="34" charset="-120"/>
              </a:rPr>
              <a:t>83,008 legal units semantically chunked, embedded and indexed. Every unit traceable to its source document and section.</a:t>
            </a:r>
            <a:endParaRPr lang="en-US" sz="1000" dirty="0"/>
          </a:p>
        </p:txBody>
      </p:sp>
      <p:sp>
        <p:nvSpPr>
          <p:cNvPr id="38" name="Text 36"/>
          <p:cNvSpPr/>
          <p:nvPr/>
        </p:nvSpPr>
        <p:spPr>
          <a:xfrm>
            <a:off x="6351880" y="3675888"/>
            <a:ext cx="2362124" cy="256032"/>
          </a:xfrm>
          <a:prstGeom prst="rect">
            <a:avLst/>
          </a:prstGeom>
          <a:noFill/>
          <a:ln/>
        </p:spPr>
        <p:txBody>
          <a:bodyPr wrap="square" lIns="0" tIns="0" rIns="0" bIns="0" rtlCol="0" anchor="ctr"/>
          <a:lstStyle/>
          <a:p>
            <a:pPr marL="0" indent="0">
              <a:buNone/>
            </a:pPr>
            <a:r>
              <a:rPr lang="en-US" sz="900" b="1" kern="0" spc="150" dirty="0">
                <a:solidFill>
                  <a:srgbClr val="0F766E"/>
                </a:solidFill>
                <a:latin typeface="Calibri" pitchFamily="34" charset="0"/>
                <a:ea typeface="Calibri" pitchFamily="34" charset="-122"/>
                <a:cs typeface="Calibri" pitchFamily="34" charset="-120"/>
              </a:rPr>
              <a:t>KEY TABLES</a:t>
            </a:r>
            <a:endParaRPr lang="en-US" sz="900" dirty="0"/>
          </a:p>
        </p:txBody>
      </p:sp>
      <p:sp>
        <p:nvSpPr>
          <p:cNvPr id="39" name="Shape 37"/>
          <p:cNvSpPr/>
          <p:nvPr/>
        </p:nvSpPr>
        <p:spPr>
          <a:xfrm>
            <a:off x="6351880" y="4023360"/>
            <a:ext cx="109728" cy="109728"/>
          </a:xfrm>
          <a:prstGeom prst="ellipse">
            <a:avLst/>
          </a:prstGeom>
          <a:solidFill>
            <a:srgbClr val="14B8A6"/>
          </a:solidFill>
          <a:ln/>
        </p:spPr>
        <p:txBody>
          <a:bodyPr/>
          <a:lstStyle/>
          <a:p>
            <a:endParaRPr lang="en-IN"/>
          </a:p>
        </p:txBody>
      </p:sp>
      <p:sp>
        <p:nvSpPr>
          <p:cNvPr id="40" name="Text 38"/>
          <p:cNvSpPr/>
          <p:nvPr/>
        </p:nvSpPr>
        <p:spPr>
          <a:xfrm>
            <a:off x="6534760" y="3941064"/>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Legal retrieval units</a:t>
            </a:r>
            <a:endParaRPr lang="en-US" sz="950" dirty="0"/>
          </a:p>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(83,008 rows)</a:t>
            </a:r>
            <a:endParaRPr lang="en-US" sz="950" dirty="0"/>
          </a:p>
        </p:txBody>
      </p:sp>
      <p:sp>
        <p:nvSpPr>
          <p:cNvPr id="41" name="Shape 39"/>
          <p:cNvSpPr/>
          <p:nvPr/>
        </p:nvSpPr>
        <p:spPr>
          <a:xfrm>
            <a:off x="6351880" y="4553712"/>
            <a:ext cx="109728" cy="109728"/>
          </a:xfrm>
          <a:prstGeom prst="ellipse">
            <a:avLst/>
          </a:prstGeom>
          <a:solidFill>
            <a:srgbClr val="14B8A6"/>
          </a:solidFill>
          <a:ln/>
        </p:spPr>
        <p:txBody>
          <a:bodyPr/>
          <a:lstStyle/>
          <a:p>
            <a:endParaRPr lang="en-IN"/>
          </a:p>
        </p:txBody>
      </p:sp>
      <p:sp>
        <p:nvSpPr>
          <p:cNvPr id="42" name="Text 40"/>
          <p:cNvSpPr/>
          <p:nvPr/>
        </p:nvSpPr>
        <p:spPr>
          <a:xfrm>
            <a:off x="6534760" y="4471416"/>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Vector Search index</a:t>
            </a:r>
            <a:endParaRPr lang="en-US" sz="950" dirty="0"/>
          </a:p>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(GTE-Large embeddings)</a:t>
            </a:r>
            <a:endParaRPr lang="en-US" sz="950" dirty="0"/>
          </a:p>
        </p:txBody>
      </p:sp>
      <p:sp>
        <p:nvSpPr>
          <p:cNvPr id="43" name="Shape 41"/>
          <p:cNvSpPr/>
          <p:nvPr/>
        </p:nvSpPr>
        <p:spPr>
          <a:xfrm>
            <a:off x="6351880" y="5084064"/>
            <a:ext cx="109728" cy="109728"/>
          </a:xfrm>
          <a:prstGeom prst="ellipse">
            <a:avLst/>
          </a:prstGeom>
          <a:solidFill>
            <a:srgbClr val="14B8A6"/>
          </a:solidFill>
          <a:ln/>
        </p:spPr>
        <p:txBody>
          <a:bodyPr/>
          <a:lstStyle/>
          <a:p>
            <a:endParaRPr lang="en-IN"/>
          </a:p>
        </p:txBody>
      </p:sp>
      <p:sp>
        <p:nvSpPr>
          <p:cNvPr id="44" name="Text 42"/>
          <p:cNvSpPr/>
          <p:nvPr/>
        </p:nvSpPr>
        <p:spPr>
          <a:xfrm>
            <a:off x="6534760" y="5001768"/>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4-channel search layer</a:t>
            </a:r>
            <a:endParaRPr lang="en-US" sz="950" dirty="0"/>
          </a:p>
        </p:txBody>
      </p:sp>
      <p:sp>
        <p:nvSpPr>
          <p:cNvPr id="45" name="Shape 43"/>
          <p:cNvSpPr/>
          <p:nvPr/>
        </p:nvSpPr>
        <p:spPr>
          <a:xfrm>
            <a:off x="6351880" y="5614416"/>
            <a:ext cx="109728" cy="109728"/>
          </a:xfrm>
          <a:prstGeom prst="ellipse">
            <a:avLst/>
          </a:prstGeom>
          <a:solidFill>
            <a:srgbClr val="14B8A6"/>
          </a:solidFill>
          <a:ln/>
        </p:spPr>
        <p:txBody>
          <a:bodyPr/>
          <a:lstStyle/>
          <a:p>
            <a:endParaRPr lang="en-IN"/>
          </a:p>
        </p:txBody>
      </p:sp>
      <p:sp>
        <p:nvSpPr>
          <p:cNvPr id="46" name="Text 44"/>
          <p:cNvSpPr/>
          <p:nvPr/>
        </p:nvSpPr>
        <p:spPr>
          <a:xfrm>
            <a:off x="6534760" y="5532120"/>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33415A"/>
                </a:solidFill>
                <a:latin typeface="Calibri" pitchFamily="34" charset="0"/>
                <a:ea typeface="Calibri" pitchFamily="34" charset="-122"/>
                <a:cs typeface="Calibri" pitchFamily="34" charset="-120"/>
              </a:rPr>
              <a:t>Citation verification layer</a:t>
            </a:r>
            <a:endParaRPr lang="en-US" sz="950" dirty="0"/>
          </a:p>
        </p:txBody>
      </p:sp>
      <p:sp>
        <p:nvSpPr>
          <p:cNvPr id="47" name="Shape 45"/>
          <p:cNvSpPr/>
          <p:nvPr/>
        </p:nvSpPr>
        <p:spPr>
          <a:xfrm>
            <a:off x="9006611" y="1938528"/>
            <a:ext cx="2636444" cy="4187952"/>
          </a:xfrm>
          <a:prstGeom prst="rect">
            <a:avLst/>
          </a:prstGeom>
          <a:solidFill>
            <a:srgbClr val="0B1B2E"/>
          </a:solidFill>
          <a:ln w="12700">
            <a:solidFill>
              <a:srgbClr val="0B1B2E"/>
            </a:solidFill>
            <a:prstDash val="solid"/>
          </a:ln>
          <a:effectLst>
            <a:outerShdw blurRad="177800" dist="50800" dir="8100000" algn="bl" rotWithShape="0">
              <a:srgbClr val="000000">
                <a:alpha val="22000"/>
              </a:srgbClr>
            </a:outerShdw>
          </a:effectLst>
        </p:spPr>
        <p:txBody>
          <a:bodyPr/>
          <a:lstStyle/>
          <a:p>
            <a:endParaRPr lang="en-IN"/>
          </a:p>
        </p:txBody>
      </p:sp>
      <p:sp>
        <p:nvSpPr>
          <p:cNvPr id="48" name="Shape 46"/>
          <p:cNvSpPr/>
          <p:nvPr/>
        </p:nvSpPr>
        <p:spPr>
          <a:xfrm>
            <a:off x="9006611" y="1938528"/>
            <a:ext cx="2636444" cy="73152"/>
          </a:xfrm>
          <a:prstGeom prst="rect">
            <a:avLst/>
          </a:prstGeom>
          <a:solidFill>
            <a:srgbClr val="F26A4B"/>
          </a:solidFill>
          <a:ln/>
        </p:spPr>
        <p:txBody>
          <a:bodyPr/>
          <a:lstStyle/>
          <a:p>
            <a:endParaRPr lang="en-IN"/>
          </a:p>
        </p:txBody>
      </p:sp>
      <p:sp>
        <p:nvSpPr>
          <p:cNvPr id="49" name="Text 47"/>
          <p:cNvSpPr/>
          <p:nvPr/>
        </p:nvSpPr>
        <p:spPr>
          <a:xfrm>
            <a:off x="9171203" y="2048256"/>
            <a:ext cx="2362124" cy="475488"/>
          </a:xfrm>
          <a:prstGeom prst="rect">
            <a:avLst/>
          </a:prstGeom>
          <a:noFill/>
          <a:ln/>
        </p:spPr>
        <p:txBody>
          <a:bodyPr wrap="square" lIns="0" tIns="0" rIns="0" bIns="0" rtlCol="0" anchor="ctr"/>
          <a:lstStyle/>
          <a:p>
            <a:pPr marL="0" indent="0">
              <a:lnSpc>
                <a:spcPts val="1300"/>
              </a:lnSpc>
              <a:buNone/>
            </a:pPr>
            <a:r>
              <a:rPr lang="en-US" sz="1000" b="1" kern="0" spc="100" dirty="0">
                <a:solidFill>
                  <a:srgbClr val="F26A4B"/>
                </a:solidFill>
                <a:latin typeface="Calibri" pitchFamily="34" charset="0"/>
                <a:ea typeface="Calibri" pitchFamily="34" charset="-122"/>
                <a:cs typeface="Calibri" pitchFamily="34" charset="-120"/>
              </a:rPr>
              <a:t>SERVING / GOLD TABLES</a:t>
            </a:r>
            <a:endParaRPr lang="en-US" sz="1000" dirty="0"/>
          </a:p>
        </p:txBody>
      </p:sp>
      <p:sp>
        <p:nvSpPr>
          <p:cNvPr id="50" name="Shape 48"/>
          <p:cNvSpPr/>
          <p:nvPr/>
        </p:nvSpPr>
        <p:spPr>
          <a:xfrm>
            <a:off x="9171203" y="2578608"/>
            <a:ext cx="2343836" cy="0"/>
          </a:xfrm>
          <a:prstGeom prst="line">
            <a:avLst/>
          </a:prstGeom>
          <a:noFill/>
          <a:ln w="12700">
            <a:solidFill>
              <a:srgbClr val="27405E"/>
            </a:solidFill>
            <a:prstDash val="solid"/>
          </a:ln>
        </p:spPr>
        <p:txBody>
          <a:bodyPr/>
          <a:lstStyle/>
          <a:p>
            <a:endParaRPr lang="en-IN"/>
          </a:p>
        </p:txBody>
      </p:sp>
      <p:sp>
        <p:nvSpPr>
          <p:cNvPr id="51" name="Text 49"/>
          <p:cNvSpPr/>
          <p:nvPr/>
        </p:nvSpPr>
        <p:spPr>
          <a:xfrm>
            <a:off x="9171203" y="2651760"/>
            <a:ext cx="2362124" cy="914400"/>
          </a:xfrm>
          <a:prstGeom prst="rect">
            <a:avLst/>
          </a:prstGeom>
          <a:noFill/>
          <a:ln/>
        </p:spPr>
        <p:txBody>
          <a:bodyPr wrap="square" lIns="0" tIns="0" rIns="0" bIns="0" rtlCol="0" anchor="t"/>
          <a:lstStyle/>
          <a:p>
            <a:pPr marL="0" indent="0">
              <a:lnSpc>
                <a:spcPts val="1400"/>
              </a:lnSpc>
              <a:buNone/>
            </a:pPr>
            <a:r>
              <a:rPr lang="en-US" sz="1000" dirty="0">
                <a:solidFill>
                  <a:srgbClr val="93A4BD"/>
                </a:solidFill>
                <a:latin typeface="Calibri" pitchFamily="34" charset="0"/>
                <a:ea typeface="Calibri" pitchFamily="34" charset="-122"/>
                <a:cs typeface="Calibri" pitchFamily="34" charset="-120"/>
              </a:rPr>
              <a:t>Curated, governed, business-ready tables purpose-built for Genie. Small, well-described, canonical — what business users query.</a:t>
            </a:r>
            <a:endParaRPr lang="en-US" sz="1000" dirty="0"/>
          </a:p>
        </p:txBody>
      </p:sp>
      <p:sp>
        <p:nvSpPr>
          <p:cNvPr id="52" name="Text 50"/>
          <p:cNvSpPr/>
          <p:nvPr/>
        </p:nvSpPr>
        <p:spPr>
          <a:xfrm>
            <a:off x="9171203" y="3675888"/>
            <a:ext cx="2362124" cy="256032"/>
          </a:xfrm>
          <a:prstGeom prst="rect">
            <a:avLst/>
          </a:prstGeom>
          <a:noFill/>
          <a:ln/>
        </p:spPr>
        <p:txBody>
          <a:bodyPr wrap="square" lIns="0" tIns="0" rIns="0" bIns="0" rtlCol="0" anchor="ctr"/>
          <a:lstStyle/>
          <a:p>
            <a:pPr marL="0" indent="0">
              <a:buNone/>
            </a:pPr>
            <a:r>
              <a:rPr lang="en-US" sz="900" b="1" kern="0" spc="150" dirty="0">
                <a:solidFill>
                  <a:srgbClr val="5EEAD4"/>
                </a:solidFill>
                <a:latin typeface="Calibri" pitchFamily="34" charset="0"/>
                <a:ea typeface="Calibri" pitchFamily="34" charset="-122"/>
                <a:cs typeface="Calibri" pitchFamily="34" charset="-120"/>
              </a:rPr>
              <a:t>KEY TABLES</a:t>
            </a:r>
            <a:endParaRPr lang="en-US" sz="900" dirty="0"/>
          </a:p>
        </p:txBody>
      </p:sp>
      <p:sp>
        <p:nvSpPr>
          <p:cNvPr id="53" name="Shape 51"/>
          <p:cNvSpPr/>
          <p:nvPr/>
        </p:nvSpPr>
        <p:spPr>
          <a:xfrm>
            <a:off x="9171203" y="4023360"/>
            <a:ext cx="109728" cy="109728"/>
          </a:xfrm>
          <a:prstGeom prst="ellipse">
            <a:avLst/>
          </a:prstGeom>
          <a:solidFill>
            <a:srgbClr val="14B8A6"/>
          </a:solidFill>
          <a:ln/>
        </p:spPr>
        <p:txBody>
          <a:bodyPr/>
          <a:lstStyle/>
          <a:p>
            <a:endParaRPr lang="en-IN"/>
          </a:p>
        </p:txBody>
      </p:sp>
      <p:sp>
        <p:nvSpPr>
          <p:cNvPr id="54" name="Text 52"/>
          <p:cNvSpPr/>
          <p:nvPr/>
        </p:nvSpPr>
        <p:spPr>
          <a:xfrm>
            <a:off x="9354083" y="3941064"/>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FFFFFF"/>
                </a:solidFill>
                <a:latin typeface="Calibri" pitchFamily="34" charset="0"/>
                <a:ea typeface="Calibri" pitchFamily="34" charset="-122"/>
                <a:cs typeface="Calibri" pitchFamily="34" charset="-120"/>
              </a:rPr>
              <a:t>Genie rates current</a:t>
            </a:r>
            <a:endParaRPr lang="en-US" sz="950" dirty="0"/>
          </a:p>
        </p:txBody>
      </p:sp>
      <p:sp>
        <p:nvSpPr>
          <p:cNvPr id="55" name="Shape 53"/>
          <p:cNvSpPr/>
          <p:nvPr/>
        </p:nvSpPr>
        <p:spPr>
          <a:xfrm>
            <a:off x="9171203" y="4553712"/>
            <a:ext cx="109728" cy="109728"/>
          </a:xfrm>
          <a:prstGeom prst="ellipse">
            <a:avLst/>
          </a:prstGeom>
          <a:solidFill>
            <a:srgbClr val="14B8A6"/>
          </a:solidFill>
          <a:ln/>
        </p:spPr>
        <p:txBody>
          <a:bodyPr/>
          <a:lstStyle/>
          <a:p>
            <a:endParaRPr lang="en-IN"/>
          </a:p>
        </p:txBody>
      </p:sp>
      <p:sp>
        <p:nvSpPr>
          <p:cNvPr id="56" name="Text 54"/>
          <p:cNvSpPr/>
          <p:nvPr/>
        </p:nvSpPr>
        <p:spPr>
          <a:xfrm>
            <a:off x="9354083" y="4471416"/>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FFFFFF"/>
                </a:solidFill>
                <a:latin typeface="Calibri" pitchFamily="34" charset="0"/>
                <a:ea typeface="Calibri" pitchFamily="34" charset="-122"/>
                <a:cs typeface="Calibri" pitchFamily="34" charset="-120"/>
              </a:rPr>
              <a:t>Contract terms view</a:t>
            </a:r>
            <a:endParaRPr lang="en-US" sz="950" dirty="0"/>
          </a:p>
        </p:txBody>
      </p:sp>
      <p:sp>
        <p:nvSpPr>
          <p:cNvPr id="57" name="Shape 55"/>
          <p:cNvSpPr/>
          <p:nvPr/>
        </p:nvSpPr>
        <p:spPr>
          <a:xfrm>
            <a:off x="9171203" y="5084064"/>
            <a:ext cx="109728" cy="109728"/>
          </a:xfrm>
          <a:prstGeom prst="ellipse">
            <a:avLst/>
          </a:prstGeom>
          <a:solidFill>
            <a:srgbClr val="14B8A6"/>
          </a:solidFill>
          <a:ln/>
        </p:spPr>
        <p:txBody>
          <a:bodyPr/>
          <a:lstStyle/>
          <a:p>
            <a:endParaRPr lang="en-IN"/>
          </a:p>
        </p:txBody>
      </p:sp>
      <p:sp>
        <p:nvSpPr>
          <p:cNvPr id="58" name="Text 56"/>
          <p:cNvSpPr/>
          <p:nvPr/>
        </p:nvSpPr>
        <p:spPr>
          <a:xfrm>
            <a:off x="9354083" y="5001768"/>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FFFFFF"/>
                </a:solidFill>
                <a:latin typeface="Calibri" pitchFamily="34" charset="0"/>
                <a:ea typeface="Calibri" pitchFamily="34" charset="-122"/>
                <a:cs typeface="Calibri" pitchFamily="34" charset="-120"/>
              </a:rPr>
              <a:t>Provider benchmarks</a:t>
            </a:r>
            <a:endParaRPr lang="en-US" sz="950" dirty="0"/>
          </a:p>
        </p:txBody>
      </p:sp>
      <p:sp>
        <p:nvSpPr>
          <p:cNvPr id="59" name="Shape 57"/>
          <p:cNvSpPr/>
          <p:nvPr/>
        </p:nvSpPr>
        <p:spPr>
          <a:xfrm>
            <a:off x="9171203" y="5614416"/>
            <a:ext cx="109728" cy="109728"/>
          </a:xfrm>
          <a:prstGeom prst="ellipse">
            <a:avLst/>
          </a:prstGeom>
          <a:solidFill>
            <a:srgbClr val="14B8A6"/>
          </a:solidFill>
          <a:ln/>
        </p:spPr>
        <p:txBody>
          <a:bodyPr/>
          <a:lstStyle/>
          <a:p>
            <a:endParaRPr lang="en-IN"/>
          </a:p>
        </p:txBody>
      </p:sp>
      <p:sp>
        <p:nvSpPr>
          <p:cNvPr id="60" name="Text 58"/>
          <p:cNvSpPr/>
          <p:nvPr/>
        </p:nvSpPr>
        <p:spPr>
          <a:xfrm>
            <a:off x="9354083" y="5532120"/>
            <a:ext cx="2160956" cy="530352"/>
          </a:xfrm>
          <a:prstGeom prst="rect">
            <a:avLst/>
          </a:prstGeom>
          <a:noFill/>
          <a:ln/>
        </p:spPr>
        <p:txBody>
          <a:bodyPr wrap="square" lIns="0" tIns="0" rIns="0" bIns="0" rtlCol="0" anchor="t"/>
          <a:lstStyle/>
          <a:p>
            <a:pPr marL="0" indent="0">
              <a:lnSpc>
                <a:spcPts val="1250"/>
              </a:lnSpc>
              <a:buNone/>
            </a:pPr>
            <a:r>
              <a:rPr lang="en-US" sz="950" dirty="0">
                <a:solidFill>
                  <a:srgbClr val="FFFFFF"/>
                </a:solidFill>
                <a:latin typeface="Calibri" pitchFamily="34" charset="0"/>
                <a:ea typeface="Calibri" pitchFamily="34" charset="-122"/>
                <a:cs typeface="Calibri" pitchFamily="34" charset="-120"/>
              </a:rPr>
              <a:t>Renewal intelligence</a:t>
            </a:r>
            <a:endParaRPr lang="en-US" sz="950" dirty="0"/>
          </a:p>
        </p:txBody>
      </p:sp>
      <p:sp>
        <p:nvSpPr>
          <p:cNvPr id="61" name="Shape 59"/>
          <p:cNvSpPr/>
          <p:nvPr/>
        </p:nvSpPr>
        <p:spPr>
          <a:xfrm>
            <a:off x="548640" y="6134100"/>
            <a:ext cx="11094415" cy="279400"/>
          </a:xfrm>
          <a:prstGeom prst="rect">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62" name="Shape 60"/>
          <p:cNvSpPr/>
          <p:nvPr/>
        </p:nvSpPr>
        <p:spPr>
          <a:xfrm>
            <a:off x="548640" y="6134100"/>
            <a:ext cx="82296" cy="279400"/>
          </a:xfrm>
          <a:prstGeom prst="rect">
            <a:avLst/>
          </a:prstGeom>
          <a:solidFill>
            <a:srgbClr val="14B8A6"/>
          </a:solidFill>
          <a:ln/>
        </p:spPr>
        <p:txBody>
          <a:bodyPr/>
          <a:lstStyle/>
          <a:p>
            <a:endParaRPr lang="en-IN"/>
          </a:p>
        </p:txBody>
      </p:sp>
      <p:sp>
        <p:nvSpPr>
          <p:cNvPr id="63" name="Text 61"/>
          <p:cNvSpPr/>
          <p:nvPr/>
        </p:nvSpPr>
        <p:spPr>
          <a:xfrm>
            <a:off x="822960" y="6134100"/>
            <a:ext cx="10637215" cy="279400"/>
          </a:xfrm>
          <a:prstGeom prst="rect">
            <a:avLst/>
          </a:prstGeom>
          <a:noFill/>
          <a:ln/>
        </p:spPr>
        <p:txBody>
          <a:bodyPr wrap="square" lIns="0" tIns="0" rIns="0" bIns="0" rtlCol="0" anchor="ctr"/>
          <a:lstStyle/>
          <a:p>
            <a:pPr marL="0" indent="0">
              <a:buNone/>
            </a:pPr>
            <a:r>
              <a:rPr lang="en-US" sz="1200" b="1" dirty="0">
                <a:solidFill>
                  <a:srgbClr val="5EEAD4"/>
                </a:solidFill>
                <a:latin typeface="Calibri" pitchFamily="34" charset="0"/>
                <a:ea typeface="Calibri" pitchFamily="34" charset="-122"/>
                <a:cs typeface="Calibri" pitchFamily="34" charset="-120"/>
              </a:rPr>
              <a:t>Bronze = extracted.  </a:t>
            </a:r>
            <a:r>
              <a:rPr lang="en-US" sz="1200" dirty="0">
                <a:solidFill>
                  <a:srgbClr val="93A4BD"/>
                </a:solidFill>
                <a:latin typeface="Calibri" pitchFamily="34" charset="0"/>
                <a:ea typeface="Calibri" pitchFamily="34" charset="-122"/>
                <a:cs typeface="Calibri" pitchFamily="34" charset="-120"/>
              </a:rPr>
              <a:t>Silver = normalized and resolved.  </a:t>
            </a:r>
            <a:r>
              <a:rPr lang="en-US" sz="1200" b="1" dirty="0">
                <a:solidFill>
                  <a:srgbClr val="5EEAD4"/>
                </a:solidFill>
                <a:latin typeface="Calibri" pitchFamily="34" charset="0"/>
                <a:ea typeface="Calibri" pitchFamily="34" charset="-122"/>
                <a:cs typeface="Calibri" pitchFamily="34" charset="-120"/>
              </a:rPr>
              <a:t>Gold = curated and governed.  </a:t>
            </a:r>
            <a:r>
              <a:rPr lang="en-US" sz="1200" dirty="0">
                <a:solidFill>
                  <a:srgbClr val="FFFFFF"/>
                </a:solidFill>
                <a:latin typeface="Calibri" pitchFamily="34" charset="0"/>
                <a:ea typeface="Calibri" pitchFamily="34" charset="-122"/>
                <a:cs typeface="Calibri" pitchFamily="34" charset="-120"/>
              </a:rPr>
              <a:t>Business users only ever touch Gold.</a:t>
            </a:r>
            <a:endParaRPr lang="en-US" sz="1200" dirty="0"/>
          </a:p>
        </p:txBody>
      </p:sp>
      <p:sp>
        <p:nvSpPr>
          <p:cNvPr id="64" name="Text 62"/>
          <p:cNvSpPr/>
          <p:nvPr/>
        </p:nvSpPr>
        <p:spPr>
          <a:xfrm>
            <a:off x="548640" y="6473952"/>
            <a:ext cx="8229600" cy="256032"/>
          </a:xfrm>
          <a:prstGeom prst="rect">
            <a:avLst/>
          </a:prstGeom>
          <a:noFill/>
          <a:ln/>
        </p:spPr>
        <p:txBody>
          <a:bodyPr wrap="square" lIns="0" tIns="0" rIns="0" bIns="0" rtlCol="0" anchor="ctr"/>
          <a:lstStyle/>
          <a:p>
            <a:pPr marL="0" indent="0">
              <a:buNone/>
            </a:pPr>
            <a:r>
              <a:rPr lang="en-US" sz="800" b="1" kern="0" spc="80" dirty="0">
                <a:solidFill>
                  <a:srgbClr val="64748B"/>
                </a:solidFill>
                <a:latin typeface="Calibri" pitchFamily="34" charset="0"/>
                <a:ea typeface="Calibri" pitchFamily="34" charset="-122"/>
                <a:cs typeface="Calibri" pitchFamily="34" charset="-120"/>
              </a:rPr>
              <a:t>PROVIDER CONTRACT INTELLIGENCE PLATFORM</a:t>
            </a:r>
            <a:r>
              <a:rPr lang="en-US" sz="800" kern="0" spc="8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65" name="Text 63"/>
          <p:cNvSpPr/>
          <p:nvPr/>
        </p:nvSpPr>
        <p:spPr>
          <a:xfrm>
            <a:off x="10728655" y="6473952"/>
            <a:ext cx="914400" cy="256032"/>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256032"/>
          </a:xfrm>
          <a:prstGeom prst="rect">
            <a:avLst/>
          </a:prstGeom>
          <a:noFill/>
          <a:ln/>
        </p:spPr>
        <p:txBody>
          <a:bodyPr wrap="square" lIns="0" tIns="0" rIns="0" bIns="0" rtlCol="0" anchor="ctr"/>
          <a:lstStyle/>
          <a:p>
            <a:pPr marL="0" indent="0">
              <a:buNone/>
            </a:pPr>
            <a:r>
              <a:rPr lang="en-US" sz="1100" b="1" kern="0" spc="250" dirty="0">
                <a:solidFill>
                  <a:srgbClr val="0F766E"/>
                </a:solidFill>
                <a:latin typeface="Calibri" pitchFamily="34" charset="0"/>
                <a:ea typeface="Calibri" pitchFamily="34" charset="-122"/>
                <a:cs typeface="Calibri" pitchFamily="34" charset="-120"/>
              </a:rPr>
              <a:t>SECTION 05 · AMENDMENT INTELLIGENCE</a:t>
            </a:r>
            <a:endParaRPr lang="en-US" sz="1100" dirty="0"/>
          </a:p>
        </p:txBody>
      </p:sp>
      <p:sp>
        <p:nvSpPr>
          <p:cNvPr id="3" name="Text 1"/>
          <p:cNvSpPr/>
          <p:nvPr/>
        </p:nvSpPr>
        <p:spPr>
          <a:xfrm>
            <a:off x="548640" y="804672"/>
            <a:ext cx="7987979" cy="1005840"/>
          </a:xfrm>
          <a:prstGeom prst="rect">
            <a:avLst/>
          </a:prstGeom>
          <a:noFill/>
          <a:ln/>
        </p:spPr>
        <p:txBody>
          <a:bodyPr wrap="square" lIns="0" tIns="0" rIns="0" bIns="0" rtlCol="0" anchor="t"/>
          <a:lstStyle/>
          <a:p>
            <a:pPr marL="0" indent="0">
              <a:lnSpc>
                <a:spcPts val="3080"/>
              </a:lnSpc>
              <a:buNone/>
            </a:pPr>
            <a:r>
              <a:rPr lang="en-US" sz="2800" b="1" dirty="0">
                <a:solidFill>
                  <a:srgbClr val="0B1B2E"/>
                </a:solidFill>
                <a:latin typeface="Georgia" pitchFamily="34" charset="0"/>
                <a:ea typeface="Georgia" pitchFamily="34" charset="-122"/>
                <a:cs typeface="Georgia" pitchFamily="34" charset="-120"/>
              </a:rPr>
              <a:t>Always the current rate — never a superseded one</a:t>
            </a:r>
            <a:endParaRPr lang="en-US" sz="2800" dirty="0"/>
          </a:p>
        </p:txBody>
      </p:sp>
      <p:sp>
        <p:nvSpPr>
          <p:cNvPr id="4" name="Text 2"/>
          <p:cNvSpPr/>
          <p:nvPr/>
        </p:nvSpPr>
        <p:spPr>
          <a:xfrm>
            <a:off x="548640" y="1874520"/>
            <a:ext cx="5943600" cy="1097280"/>
          </a:xfrm>
          <a:prstGeom prst="rect">
            <a:avLst/>
          </a:prstGeom>
          <a:noFill/>
          <a:ln/>
        </p:spPr>
        <p:txBody>
          <a:bodyPr wrap="square" lIns="0" tIns="0" rIns="0" bIns="0" rtlCol="0" anchor="t"/>
          <a:lstStyle/>
          <a:p>
            <a:pPr marL="0" indent="0">
              <a:lnSpc>
                <a:spcPts val="1800"/>
              </a:lnSpc>
              <a:buNone/>
            </a:pPr>
            <a:r>
              <a:rPr lang="en-US" sz="1250" dirty="0">
                <a:solidFill>
                  <a:srgbClr val="33415A"/>
                </a:solidFill>
                <a:latin typeface="Calibri" pitchFamily="34" charset="0"/>
                <a:ea typeface="Calibri" pitchFamily="34" charset="-122"/>
                <a:cs typeface="Calibri" pitchFamily="34" charset="-120"/>
              </a:rPr>
              <a:t>Contracts do not exist as single documents. They exist as chains — a base agreement followed by amendments over years. Each amendment may replace rates, modify clauses, extend terms or target specific sections only. Without resolving the chain, any answer about what is currently in force is unreliable.</a:t>
            </a:r>
            <a:endParaRPr lang="en-US" sz="1250" dirty="0"/>
          </a:p>
        </p:txBody>
      </p:sp>
      <p:sp>
        <p:nvSpPr>
          <p:cNvPr id="5" name="Shape 3"/>
          <p:cNvSpPr/>
          <p:nvPr/>
        </p:nvSpPr>
        <p:spPr>
          <a:xfrm>
            <a:off x="548640" y="3154680"/>
            <a:ext cx="2029968" cy="1170432"/>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6" name="Shape 4"/>
          <p:cNvSpPr/>
          <p:nvPr/>
        </p:nvSpPr>
        <p:spPr>
          <a:xfrm>
            <a:off x="548640" y="3154680"/>
            <a:ext cx="2029968" cy="73152"/>
          </a:xfrm>
          <a:prstGeom prst="rect">
            <a:avLst/>
          </a:prstGeom>
          <a:solidFill>
            <a:srgbClr val="64748B"/>
          </a:solidFill>
          <a:ln/>
        </p:spPr>
        <p:txBody>
          <a:bodyPr/>
          <a:lstStyle/>
          <a:p>
            <a:endParaRPr lang="en-IN"/>
          </a:p>
        </p:txBody>
      </p:sp>
      <p:sp>
        <p:nvSpPr>
          <p:cNvPr id="7" name="Text 5"/>
          <p:cNvSpPr/>
          <p:nvPr/>
        </p:nvSpPr>
        <p:spPr>
          <a:xfrm>
            <a:off x="731520" y="3337560"/>
            <a:ext cx="1709928" cy="566928"/>
          </a:xfrm>
          <a:prstGeom prst="rect">
            <a:avLst/>
          </a:prstGeom>
          <a:noFill/>
          <a:ln/>
        </p:spPr>
        <p:txBody>
          <a:bodyPr wrap="square" lIns="0" tIns="0" rIns="0" bIns="0" rtlCol="0" anchor="ctr"/>
          <a:lstStyle/>
          <a:p>
            <a:pPr marL="0" indent="0">
              <a:lnSpc>
                <a:spcPts val="1400"/>
              </a:lnSpc>
              <a:buNone/>
            </a:pPr>
            <a:r>
              <a:rPr lang="en-US" sz="1250" b="1" dirty="0">
                <a:solidFill>
                  <a:srgbClr val="33415A"/>
                </a:solidFill>
                <a:latin typeface="Calibri" pitchFamily="34" charset="0"/>
                <a:ea typeface="Calibri" pitchFamily="34" charset="-122"/>
                <a:cs typeface="Calibri" pitchFamily="34" charset="-120"/>
              </a:rPr>
              <a:t>BASE</a:t>
            </a:r>
            <a:endParaRPr lang="en-US" sz="1250" dirty="0"/>
          </a:p>
          <a:p>
            <a:pPr marL="0" indent="0">
              <a:lnSpc>
                <a:spcPts val="1400"/>
              </a:lnSpc>
              <a:buNone/>
            </a:pPr>
            <a:r>
              <a:rPr lang="en-US" sz="1250" b="1" dirty="0">
                <a:solidFill>
                  <a:srgbClr val="33415A"/>
                </a:solidFill>
                <a:latin typeface="Calibri" pitchFamily="34" charset="0"/>
                <a:ea typeface="Calibri" pitchFamily="34" charset="-122"/>
                <a:cs typeface="Calibri" pitchFamily="34" charset="-120"/>
              </a:rPr>
              <a:t>AGREEMENT</a:t>
            </a:r>
            <a:endParaRPr lang="en-US" sz="1250" dirty="0"/>
          </a:p>
        </p:txBody>
      </p:sp>
      <p:sp>
        <p:nvSpPr>
          <p:cNvPr id="8" name="Text 6"/>
          <p:cNvSpPr/>
          <p:nvPr/>
        </p:nvSpPr>
        <p:spPr>
          <a:xfrm>
            <a:off x="731520" y="3941064"/>
            <a:ext cx="1709928"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2017 — original</a:t>
            </a:r>
            <a:endParaRPr lang="en-US" sz="1000" dirty="0"/>
          </a:p>
        </p:txBody>
      </p:sp>
      <p:sp>
        <p:nvSpPr>
          <p:cNvPr id="9" name="Shape 7"/>
          <p:cNvSpPr/>
          <p:nvPr/>
        </p:nvSpPr>
        <p:spPr>
          <a:xfrm>
            <a:off x="2606040" y="3739896"/>
            <a:ext cx="201168" cy="0"/>
          </a:xfrm>
          <a:prstGeom prst="line">
            <a:avLst/>
          </a:prstGeom>
          <a:noFill/>
          <a:ln w="22860">
            <a:solidFill>
              <a:srgbClr val="0F766E"/>
            </a:solidFill>
            <a:prstDash val="solid"/>
            <a:tailEnd type="triangle"/>
          </a:ln>
        </p:spPr>
        <p:txBody>
          <a:bodyPr/>
          <a:lstStyle/>
          <a:p>
            <a:endParaRPr lang="en-IN"/>
          </a:p>
        </p:txBody>
      </p:sp>
      <p:sp>
        <p:nvSpPr>
          <p:cNvPr id="10" name="Shape 8"/>
          <p:cNvSpPr/>
          <p:nvPr/>
        </p:nvSpPr>
        <p:spPr>
          <a:xfrm>
            <a:off x="2834640" y="3154680"/>
            <a:ext cx="2029968" cy="1170432"/>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11" name="Shape 9"/>
          <p:cNvSpPr/>
          <p:nvPr/>
        </p:nvSpPr>
        <p:spPr>
          <a:xfrm>
            <a:off x="2834640" y="3154680"/>
            <a:ext cx="2029968" cy="73152"/>
          </a:xfrm>
          <a:prstGeom prst="rect">
            <a:avLst/>
          </a:prstGeom>
          <a:solidFill>
            <a:srgbClr val="64748B"/>
          </a:solidFill>
          <a:ln/>
        </p:spPr>
        <p:txBody>
          <a:bodyPr/>
          <a:lstStyle/>
          <a:p>
            <a:endParaRPr lang="en-IN"/>
          </a:p>
        </p:txBody>
      </p:sp>
      <p:sp>
        <p:nvSpPr>
          <p:cNvPr id="12" name="Text 10"/>
          <p:cNvSpPr/>
          <p:nvPr/>
        </p:nvSpPr>
        <p:spPr>
          <a:xfrm>
            <a:off x="3017520" y="3337560"/>
            <a:ext cx="1709928" cy="566928"/>
          </a:xfrm>
          <a:prstGeom prst="rect">
            <a:avLst/>
          </a:prstGeom>
          <a:noFill/>
          <a:ln/>
        </p:spPr>
        <p:txBody>
          <a:bodyPr wrap="square" lIns="0" tIns="0" rIns="0" bIns="0" rtlCol="0" anchor="ctr"/>
          <a:lstStyle/>
          <a:p>
            <a:pPr marL="0" indent="0">
              <a:lnSpc>
                <a:spcPts val="1400"/>
              </a:lnSpc>
              <a:buNone/>
            </a:pPr>
            <a:r>
              <a:rPr lang="en-US" sz="1250" b="1" dirty="0">
                <a:solidFill>
                  <a:srgbClr val="33415A"/>
                </a:solidFill>
                <a:latin typeface="Calibri" pitchFamily="34" charset="0"/>
                <a:ea typeface="Calibri" pitchFamily="34" charset="-122"/>
                <a:cs typeface="Calibri" pitchFamily="34" charset="-120"/>
              </a:rPr>
              <a:t>AMENDMENT</a:t>
            </a:r>
            <a:endParaRPr lang="en-US" sz="1250" dirty="0"/>
          </a:p>
          <a:p>
            <a:pPr marL="0" indent="0">
              <a:lnSpc>
                <a:spcPts val="1400"/>
              </a:lnSpc>
              <a:buNone/>
            </a:pPr>
            <a:r>
              <a:rPr lang="en-US" sz="1250" b="1" dirty="0">
                <a:solidFill>
                  <a:srgbClr val="33415A"/>
                </a:solidFill>
                <a:latin typeface="Calibri" pitchFamily="34" charset="0"/>
                <a:ea typeface="Calibri" pitchFamily="34" charset="-122"/>
                <a:cs typeface="Calibri" pitchFamily="34" charset="-120"/>
              </a:rPr>
              <a:t>1</a:t>
            </a:r>
            <a:endParaRPr lang="en-US" sz="1250" dirty="0"/>
          </a:p>
        </p:txBody>
      </p:sp>
      <p:sp>
        <p:nvSpPr>
          <p:cNvPr id="13" name="Text 11"/>
          <p:cNvSpPr/>
          <p:nvPr/>
        </p:nvSpPr>
        <p:spPr>
          <a:xfrm>
            <a:off x="3017520" y="3941064"/>
            <a:ext cx="1709928"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2019 — rates revised</a:t>
            </a:r>
            <a:endParaRPr lang="en-US" sz="1000" dirty="0"/>
          </a:p>
        </p:txBody>
      </p:sp>
      <p:sp>
        <p:nvSpPr>
          <p:cNvPr id="14" name="Shape 12"/>
          <p:cNvSpPr/>
          <p:nvPr/>
        </p:nvSpPr>
        <p:spPr>
          <a:xfrm>
            <a:off x="4892040" y="3739896"/>
            <a:ext cx="201168" cy="0"/>
          </a:xfrm>
          <a:prstGeom prst="line">
            <a:avLst/>
          </a:prstGeom>
          <a:noFill/>
          <a:ln w="22860">
            <a:solidFill>
              <a:srgbClr val="0F766E"/>
            </a:solidFill>
            <a:prstDash val="solid"/>
            <a:tailEnd type="triangle"/>
          </a:ln>
        </p:spPr>
        <p:txBody>
          <a:bodyPr/>
          <a:lstStyle/>
          <a:p>
            <a:endParaRPr lang="en-IN"/>
          </a:p>
        </p:txBody>
      </p:sp>
      <p:sp>
        <p:nvSpPr>
          <p:cNvPr id="15" name="Shape 13"/>
          <p:cNvSpPr/>
          <p:nvPr/>
        </p:nvSpPr>
        <p:spPr>
          <a:xfrm>
            <a:off x="5120640" y="3154680"/>
            <a:ext cx="2029968" cy="1170432"/>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16" name="Shape 14"/>
          <p:cNvSpPr/>
          <p:nvPr/>
        </p:nvSpPr>
        <p:spPr>
          <a:xfrm>
            <a:off x="5120640" y="3154680"/>
            <a:ext cx="2029968" cy="73152"/>
          </a:xfrm>
          <a:prstGeom prst="rect">
            <a:avLst/>
          </a:prstGeom>
          <a:solidFill>
            <a:srgbClr val="64748B"/>
          </a:solidFill>
          <a:ln/>
        </p:spPr>
        <p:txBody>
          <a:bodyPr/>
          <a:lstStyle/>
          <a:p>
            <a:endParaRPr lang="en-IN"/>
          </a:p>
        </p:txBody>
      </p:sp>
      <p:sp>
        <p:nvSpPr>
          <p:cNvPr id="17" name="Text 15"/>
          <p:cNvSpPr/>
          <p:nvPr/>
        </p:nvSpPr>
        <p:spPr>
          <a:xfrm>
            <a:off x="5303520" y="3337560"/>
            <a:ext cx="1709928" cy="566928"/>
          </a:xfrm>
          <a:prstGeom prst="rect">
            <a:avLst/>
          </a:prstGeom>
          <a:noFill/>
          <a:ln/>
        </p:spPr>
        <p:txBody>
          <a:bodyPr wrap="square" lIns="0" tIns="0" rIns="0" bIns="0" rtlCol="0" anchor="ctr"/>
          <a:lstStyle/>
          <a:p>
            <a:pPr marL="0" indent="0">
              <a:lnSpc>
                <a:spcPts val="1400"/>
              </a:lnSpc>
              <a:buNone/>
            </a:pPr>
            <a:r>
              <a:rPr lang="en-US" sz="1250" b="1" dirty="0">
                <a:solidFill>
                  <a:srgbClr val="33415A"/>
                </a:solidFill>
                <a:latin typeface="Calibri" pitchFamily="34" charset="0"/>
                <a:ea typeface="Calibri" pitchFamily="34" charset="-122"/>
                <a:cs typeface="Calibri" pitchFamily="34" charset="-120"/>
              </a:rPr>
              <a:t>AMENDMENT</a:t>
            </a:r>
            <a:endParaRPr lang="en-US" sz="1250" dirty="0"/>
          </a:p>
          <a:p>
            <a:pPr marL="0" indent="0">
              <a:lnSpc>
                <a:spcPts val="1400"/>
              </a:lnSpc>
              <a:buNone/>
            </a:pPr>
            <a:r>
              <a:rPr lang="en-US" sz="1250" b="1" dirty="0">
                <a:solidFill>
                  <a:srgbClr val="33415A"/>
                </a:solidFill>
                <a:latin typeface="Calibri" pitchFamily="34" charset="0"/>
                <a:ea typeface="Calibri" pitchFamily="34" charset="-122"/>
                <a:cs typeface="Calibri" pitchFamily="34" charset="-120"/>
              </a:rPr>
              <a:t>2</a:t>
            </a:r>
            <a:endParaRPr lang="en-US" sz="1250" dirty="0"/>
          </a:p>
        </p:txBody>
      </p:sp>
      <p:sp>
        <p:nvSpPr>
          <p:cNvPr id="18" name="Text 16"/>
          <p:cNvSpPr/>
          <p:nvPr/>
        </p:nvSpPr>
        <p:spPr>
          <a:xfrm>
            <a:off x="5303520" y="3941064"/>
            <a:ext cx="1709928"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2021 — stop-loss modified</a:t>
            </a:r>
            <a:endParaRPr lang="en-US" sz="1000" dirty="0"/>
          </a:p>
        </p:txBody>
      </p:sp>
      <p:sp>
        <p:nvSpPr>
          <p:cNvPr id="19" name="Shape 17"/>
          <p:cNvSpPr/>
          <p:nvPr/>
        </p:nvSpPr>
        <p:spPr>
          <a:xfrm>
            <a:off x="7178040" y="3739896"/>
            <a:ext cx="201168" cy="0"/>
          </a:xfrm>
          <a:prstGeom prst="line">
            <a:avLst/>
          </a:prstGeom>
          <a:noFill/>
          <a:ln w="22860">
            <a:solidFill>
              <a:srgbClr val="0F766E"/>
            </a:solidFill>
            <a:prstDash val="solid"/>
            <a:tailEnd type="triangle"/>
          </a:ln>
        </p:spPr>
        <p:txBody>
          <a:bodyPr/>
          <a:lstStyle/>
          <a:p>
            <a:endParaRPr lang="en-IN"/>
          </a:p>
        </p:txBody>
      </p:sp>
      <p:sp>
        <p:nvSpPr>
          <p:cNvPr id="20" name="Shape 18"/>
          <p:cNvSpPr/>
          <p:nvPr/>
        </p:nvSpPr>
        <p:spPr>
          <a:xfrm>
            <a:off x="7406640" y="3154680"/>
            <a:ext cx="2029968" cy="1170432"/>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21" name="Shape 19"/>
          <p:cNvSpPr/>
          <p:nvPr/>
        </p:nvSpPr>
        <p:spPr>
          <a:xfrm>
            <a:off x="7406640" y="3154680"/>
            <a:ext cx="2029968" cy="73152"/>
          </a:xfrm>
          <a:prstGeom prst="rect">
            <a:avLst/>
          </a:prstGeom>
          <a:solidFill>
            <a:srgbClr val="64748B"/>
          </a:solidFill>
          <a:ln/>
        </p:spPr>
        <p:txBody>
          <a:bodyPr/>
          <a:lstStyle/>
          <a:p>
            <a:endParaRPr lang="en-IN"/>
          </a:p>
        </p:txBody>
      </p:sp>
      <p:sp>
        <p:nvSpPr>
          <p:cNvPr id="22" name="Text 20"/>
          <p:cNvSpPr/>
          <p:nvPr/>
        </p:nvSpPr>
        <p:spPr>
          <a:xfrm>
            <a:off x="7589520" y="3337560"/>
            <a:ext cx="1709928" cy="566928"/>
          </a:xfrm>
          <a:prstGeom prst="rect">
            <a:avLst/>
          </a:prstGeom>
          <a:noFill/>
          <a:ln/>
        </p:spPr>
        <p:txBody>
          <a:bodyPr wrap="square" lIns="0" tIns="0" rIns="0" bIns="0" rtlCol="0" anchor="ctr"/>
          <a:lstStyle/>
          <a:p>
            <a:pPr marL="0" indent="0">
              <a:lnSpc>
                <a:spcPts val="1400"/>
              </a:lnSpc>
              <a:buNone/>
            </a:pPr>
            <a:r>
              <a:rPr lang="en-US" sz="1250" b="1" dirty="0">
                <a:solidFill>
                  <a:srgbClr val="33415A"/>
                </a:solidFill>
                <a:latin typeface="Calibri" pitchFamily="34" charset="0"/>
                <a:ea typeface="Calibri" pitchFamily="34" charset="-122"/>
                <a:cs typeface="Calibri" pitchFamily="34" charset="-120"/>
              </a:rPr>
              <a:t>AMENDMENT</a:t>
            </a:r>
            <a:endParaRPr lang="en-US" sz="1250" dirty="0"/>
          </a:p>
          <a:p>
            <a:pPr marL="0" indent="0">
              <a:lnSpc>
                <a:spcPts val="1400"/>
              </a:lnSpc>
              <a:buNone/>
            </a:pPr>
            <a:r>
              <a:rPr lang="en-US" sz="1250" b="1" dirty="0">
                <a:solidFill>
                  <a:srgbClr val="33415A"/>
                </a:solidFill>
                <a:latin typeface="Calibri" pitchFamily="34" charset="0"/>
                <a:ea typeface="Calibri" pitchFamily="34" charset="-122"/>
                <a:cs typeface="Calibri" pitchFamily="34" charset="-120"/>
              </a:rPr>
              <a:t>3</a:t>
            </a:r>
            <a:endParaRPr lang="en-US" sz="1250" dirty="0"/>
          </a:p>
        </p:txBody>
      </p:sp>
      <p:sp>
        <p:nvSpPr>
          <p:cNvPr id="23" name="Text 21"/>
          <p:cNvSpPr/>
          <p:nvPr/>
        </p:nvSpPr>
        <p:spPr>
          <a:xfrm>
            <a:off x="7589520" y="3941064"/>
            <a:ext cx="1709928"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2023 — exhibit replaced</a:t>
            </a:r>
            <a:endParaRPr lang="en-US" sz="1000" dirty="0"/>
          </a:p>
        </p:txBody>
      </p:sp>
      <p:sp>
        <p:nvSpPr>
          <p:cNvPr id="24" name="Shape 22"/>
          <p:cNvSpPr/>
          <p:nvPr/>
        </p:nvSpPr>
        <p:spPr>
          <a:xfrm>
            <a:off x="9464040" y="3739896"/>
            <a:ext cx="201168" cy="0"/>
          </a:xfrm>
          <a:prstGeom prst="line">
            <a:avLst/>
          </a:prstGeom>
          <a:noFill/>
          <a:ln w="22860">
            <a:solidFill>
              <a:srgbClr val="0F766E"/>
            </a:solidFill>
            <a:prstDash val="solid"/>
            <a:tailEnd type="triangle"/>
          </a:ln>
        </p:spPr>
        <p:txBody>
          <a:bodyPr/>
          <a:lstStyle/>
          <a:p>
            <a:endParaRPr lang="en-IN"/>
          </a:p>
        </p:txBody>
      </p:sp>
      <p:sp>
        <p:nvSpPr>
          <p:cNvPr id="25" name="Shape 23"/>
          <p:cNvSpPr/>
          <p:nvPr/>
        </p:nvSpPr>
        <p:spPr>
          <a:xfrm>
            <a:off x="9692640" y="3154680"/>
            <a:ext cx="2029968" cy="1170432"/>
          </a:xfrm>
          <a:prstGeom prst="rect">
            <a:avLst/>
          </a:prstGeom>
          <a:solidFill>
            <a:srgbClr val="0B1B2E"/>
          </a:solidFill>
          <a:ln w="12700">
            <a:solidFill>
              <a:srgbClr val="0B1B2E"/>
            </a:solidFill>
            <a:prstDash val="solid"/>
          </a:ln>
          <a:effectLst>
            <a:outerShdw blurRad="177800" dist="50800" dir="8100000" algn="bl" rotWithShape="0">
              <a:srgbClr val="000000">
                <a:alpha val="22000"/>
              </a:srgbClr>
            </a:outerShdw>
          </a:effectLst>
        </p:spPr>
        <p:txBody>
          <a:bodyPr/>
          <a:lstStyle/>
          <a:p>
            <a:endParaRPr lang="en-IN"/>
          </a:p>
        </p:txBody>
      </p:sp>
      <p:sp>
        <p:nvSpPr>
          <p:cNvPr id="26" name="Shape 24"/>
          <p:cNvSpPr/>
          <p:nvPr/>
        </p:nvSpPr>
        <p:spPr>
          <a:xfrm>
            <a:off x="9692640" y="3154680"/>
            <a:ext cx="2029968" cy="73152"/>
          </a:xfrm>
          <a:prstGeom prst="rect">
            <a:avLst/>
          </a:prstGeom>
          <a:solidFill>
            <a:srgbClr val="14B8A6"/>
          </a:solidFill>
          <a:ln/>
        </p:spPr>
        <p:txBody>
          <a:bodyPr/>
          <a:lstStyle/>
          <a:p>
            <a:endParaRPr lang="en-IN"/>
          </a:p>
        </p:txBody>
      </p:sp>
      <p:sp>
        <p:nvSpPr>
          <p:cNvPr id="27" name="Text 25"/>
          <p:cNvSpPr/>
          <p:nvPr/>
        </p:nvSpPr>
        <p:spPr>
          <a:xfrm>
            <a:off x="9875520" y="3337560"/>
            <a:ext cx="1709928" cy="566928"/>
          </a:xfrm>
          <a:prstGeom prst="rect">
            <a:avLst/>
          </a:prstGeom>
          <a:noFill/>
          <a:ln/>
        </p:spPr>
        <p:txBody>
          <a:bodyPr wrap="square" lIns="0" tIns="0" rIns="0" bIns="0" rtlCol="0" anchor="ctr"/>
          <a:lstStyle/>
          <a:p>
            <a:pPr marL="0" indent="0">
              <a:lnSpc>
                <a:spcPts val="1400"/>
              </a:lnSpc>
              <a:buNone/>
            </a:pPr>
            <a:r>
              <a:rPr lang="en-US" sz="1250" b="1" dirty="0">
                <a:solidFill>
                  <a:srgbClr val="5EEAD4"/>
                </a:solidFill>
                <a:latin typeface="Calibri" pitchFamily="34" charset="0"/>
                <a:ea typeface="Calibri" pitchFamily="34" charset="-122"/>
                <a:cs typeface="Calibri" pitchFamily="34" charset="-120"/>
              </a:rPr>
              <a:t>AMENDMENT</a:t>
            </a:r>
            <a:endParaRPr lang="en-US" sz="1250" dirty="0"/>
          </a:p>
          <a:p>
            <a:pPr marL="0" indent="0">
              <a:lnSpc>
                <a:spcPts val="1400"/>
              </a:lnSpc>
              <a:buNone/>
            </a:pPr>
            <a:r>
              <a:rPr lang="en-US" sz="1250" b="1" dirty="0">
                <a:solidFill>
                  <a:srgbClr val="5EEAD4"/>
                </a:solidFill>
                <a:latin typeface="Calibri" pitchFamily="34" charset="0"/>
                <a:ea typeface="Calibri" pitchFamily="34" charset="-122"/>
                <a:cs typeface="Calibri" pitchFamily="34" charset="-120"/>
              </a:rPr>
              <a:t>4</a:t>
            </a:r>
            <a:endParaRPr lang="en-US" sz="1250" dirty="0"/>
          </a:p>
        </p:txBody>
      </p:sp>
      <p:sp>
        <p:nvSpPr>
          <p:cNvPr id="28" name="Text 26"/>
          <p:cNvSpPr/>
          <p:nvPr/>
        </p:nvSpPr>
        <p:spPr>
          <a:xfrm>
            <a:off x="9875520" y="3941064"/>
            <a:ext cx="1709928" cy="320040"/>
          </a:xfrm>
          <a:prstGeom prst="rect">
            <a:avLst/>
          </a:prstGeom>
          <a:noFill/>
          <a:ln/>
        </p:spPr>
        <p:txBody>
          <a:bodyPr wrap="square" lIns="0" tIns="0" rIns="0" bIns="0" rtlCol="0" anchor="ctr"/>
          <a:lstStyle/>
          <a:p>
            <a:pPr marL="0" indent="0">
              <a:buNone/>
            </a:pPr>
            <a:r>
              <a:rPr lang="en-US" sz="1000" dirty="0">
                <a:solidFill>
                  <a:srgbClr val="F26A4B"/>
                </a:solidFill>
                <a:latin typeface="Calibri" pitchFamily="34" charset="0"/>
                <a:ea typeface="Calibri" pitchFamily="34" charset="-122"/>
                <a:cs typeface="Calibri" pitchFamily="34" charset="-120"/>
              </a:rPr>
              <a:t>2025 — CURRENT</a:t>
            </a:r>
            <a:endParaRPr lang="en-US" sz="1000" dirty="0"/>
          </a:p>
        </p:txBody>
      </p:sp>
      <p:sp>
        <p:nvSpPr>
          <p:cNvPr id="29" name="Text 27"/>
          <p:cNvSpPr/>
          <p:nvPr/>
        </p:nvSpPr>
        <p:spPr>
          <a:xfrm>
            <a:off x="9875520" y="4325112"/>
            <a:ext cx="1709928" cy="0"/>
          </a:xfrm>
          <a:prstGeom prst="rect">
            <a:avLst/>
          </a:prstGeom>
          <a:noFill/>
          <a:ln/>
        </p:spPr>
        <p:txBody>
          <a:bodyPr wrap="square" lIns="0" tIns="0" rIns="0" bIns="0" rtlCol="0" anchor="ctr"/>
          <a:lstStyle/>
          <a:p>
            <a:pPr marL="0" indent="0">
              <a:buNone/>
            </a:pPr>
            <a:r>
              <a:rPr lang="en-US" sz="850" b="1" dirty="0">
                <a:solidFill>
                  <a:srgbClr val="5EEAD4"/>
                </a:solidFill>
                <a:latin typeface="Calibri" pitchFamily="34" charset="0"/>
                <a:ea typeface="Calibri" pitchFamily="34" charset="-122"/>
                <a:cs typeface="Calibri" pitchFamily="34" charset="-120"/>
              </a:rPr>
              <a:t>CURRENT</a:t>
            </a:r>
            <a:endParaRPr lang="en-US" sz="850" dirty="0"/>
          </a:p>
        </p:txBody>
      </p:sp>
      <p:sp>
        <p:nvSpPr>
          <p:cNvPr id="30" name="Text 28"/>
          <p:cNvSpPr/>
          <p:nvPr/>
        </p:nvSpPr>
        <p:spPr>
          <a:xfrm>
            <a:off x="548640" y="4480560"/>
            <a:ext cx="11094415" cy="292608"/>
          </a:xfrm>
          <a:prstGeom prst="rect">
            <a:avLst/>
          </a:prstGeom>
          <a:noFill/>
          <a:ln/>
        </p:spPr>
        <p:txBody>
          <a:bodyPr wrap="square" lIns="0" tIns="0" rIns="0" bIns="0" rtlCol="0" anchor="ctr"/>
          <a:lstStyle/>
          <a:p>
            <a:pPr marL="0" indent="0" algn="ctr">
              <a:buNone/>
            </a:pPr>
            <a:r>
              <a:rPr lang="en-US" sz="950" b="1" kern="0" spc="200" dirty="0">
                <a:solidFill>
                  <a:srgbClr val="F26A4B"/>
                </a:solidFill>
                <a:latin typeface="Calibri" pitchFamily="34" charset="0"/>
                <a:ea typeface="Calibri" pitchFamily="34" charset="-122"/>
                <a:cs typeface="Calibri" pitchFamily="34" charset="-120"/>
              </a:rPr>
              <a:t>RESOLVES TO  →  CURRENT STATE ONLY</a:t>
            </a:r>
            <a:endParaRPr lang="en-US" sz="950" dirty="0"/>
          </a:p>
        </p:txBody>
      </p:sp>
      <p:sp>
        <p:nvSpPr>
          <p:cNvPr id="31" name="Text 29"/>
          <p:cNvSpPr/>
          <p:nvPr/>
        </p:nvSpPr>
        <p:spPr>
          <a:xfrm>
            <a:off x="548640" y="4846320"/>
            <a:ext cx="5486400" cy="256032"/>
          </a:xfrm>
          <a:prstGeom prst="rect">
            <a:avLst/>
          </a:prstGeom>
          <a:noFill/>
          <a:ln/>
        </p:spPr>
        <p:txBody>
          <a:bodyPr wrap="square" lIns="0" tIns="0" rIns="0" bIns="0" rtlCol="0" anchor="ctr"/>
          <a:lstStyle/>
          <a:p>
            <a:pPr marL="0" indent="0">
              <a:buNone/>
            </a:pPr>
            <a:r>
              <a:rPr lang="en-US" sz="950" b="1" kern="0" spc="200" dirty="0">
                <a:solidFill>
                  <a:srgbClr val="14B8A6"/>
                </a:solidFill>
                <a:latin typeface="Calibri" pitchFamily="34" charset="0"/>
                <a:ea typeface="Calibri" pitchFamily="34" charset="-122"/>
                <a:cs typeface="Calibri" pitchFamily="34" charset="-120"/>
              </a:rPr>
              <a:t>AMENDMENT SCOPE TYPES</a:t>
            </a:r>
            <a:endParaRPr lang="en-US" sz="950" dirty="0"/>
          </a:p>
        </p:txBody>
      </p:sp>
      <p:sp>
        <p:nvSpPr>
          <p:cNvPr id="32" name="Shape 30"/>
          <p:cNvSpPr/>
          <p:nvPr/>
        </p:nvSpPr>
        <p:spPr>
          <a:xfrm>
            <a:off x="548640" y="5166360"/>
            <a:ext cx="1938528" cy="1024128"/>
          </a:xfrm>
          <a:prstGeom prst="rect">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33" name="Shape 31"/>
          <p:cNvSpPr/>
          <p:nvPr/>
        </p:nvSpPr>
        <p:spPr>
          <a:xfrm>
            <a:off x="548640" y="5166360"/>
            <a:ext cx="82296" cy="1024128"/>
          </a:xfrm>
          <a:prstGeom prst="rect">
            <a:avLst/>
          </a:prstGeom>
          <a:solidFill>
            <a:srgbClr val="14B8A6"/>
          </a:solidFill>
          <a:ln/>
        </p:spPr>
        <p:txBody>
          <a:bodyPr/>
          <a:lstStyle/>
          <a:p>
            <a:endParaRPr lang="en-IN"/>
          </a:p>
        </p:txBody>
      </p:sp>
      <p:sp>
        <p:nvSpPr>
          <p:cNvPr id="34" name="Text 32"/>
          <p:cNvSpPr/>
          <p:nvPr/>
        </p:nvSpPr>
        <p:spPr>
          <a:xfrm>
            <a:off x="768096" y="5321808"/>
            <a:ext cx="1591056" cy="347472"/>
          </a:xfrm>
          <a:prstGeom prst="rect">
            <a:avLst/>
          </a:prstGeom>
          <a:noFill/>
          <a:ln/>
        </p:spPr>
        <p:txBody>
          <a:bodyPr wrap="square" lIns="0" tIns="0" rIns="0" bIns="0" rtlCol="0" anchor="ctr"/>
          <a:lstStyle/>
          <a:p>
            <a:pPr marL="0" indent="0">
              <a:buNone/>
            </a:pPr>
            <a:r>
              <a:rPr lang="en-US" sz="1250" b="1" dirty="0">
                <a:solidFill>
                  <a:srgbClr val="0B1B2E"/>
                </a:solidFill>
                <a:latin typeface="Calibri" pitchFamily="34" charset="0"/>
                <a:ea typeface="Calibri" pitchFamily="34" charset="-122"/>
                <a:cs typeface="Calibri" pitchFamily="34" charset="-120"/>
              </a:rPr>
              <a:t>Full replacement</a:t>
            </a:r>
            <a:endParaRPr lang="en-US" sz="1250" dirty="0"/>
          </a:p>
        </p:txBody>
      </p:sp>
      <p:sp>
        <p:nvSpPr>
          <p:cNvPr id="35" name="Text 33"/>
          <p:cNvSpPr/>
          <p:nvPr/>
        </p:nvSpPr>
        <p:spPr>
          <a:xfrm>
            <a:off x="768096" y="5687568"/>
            <a:ext cx="1591056" cy="438912"/>
          </a:xfrm>
          <a:prstGeom prst="rect">
            <a:avLst/>
          </a:prstGeom>
          <a:noFill/>
          <a:ln/>
        </p:spPr>
        <p:txBody>
          <a:bodyPr wrap="square" lIns="0" tIns="0" rIns="0" bIns="0" rtlCol="0" anchor="ctr"/>
          <a:lstStyle/>
          <a:p>
            <a:pPr marL="0" indent="0">
              <a:lnSpc>
                <a:spcPts val="1400"/>
              </a:lnSpc>
              <a:buNone/>
            </a:pPr>
            <a:r>
              <a:rPr lang="en-US" sz="1050" dirty="0">
                <a:solidFill>
                  <a:srgbClr val="64748B"/>
                </a:solidFill>
                <a:latin typeface="Calibri" pitchFamily="34" charset="0"/>
                <a:ea typeface="Calibri" pitchFamily="34" charset="-122"/>
                <a:cs typeface="Calibri" pitchFamily="34" charset="-120"/>
              </a:rPr>
              <a:t>Supersedes all prior rates entirely</a:t>
            </a:r>
            <a:endParaRPr lang="en-US" sz="1050" dirty="0"/>
          </a:p>
        </p:txBody>
      </p:sp>
      <p:sp>
        <p:nvSpPr>
          <p:cNvPr id="36" name="Shape 34"/>
          <p:cNvSpPr/>
          <p:nvPr/>
        </p:nvSpPr>
        <p:spPr>
          <a:xfrm>
            <a:off x="2651760" y="5166360"/>
            <a:ext cx="1938528" cy="1024128"/>
          </a:xfrm>
          <a:prstGeom prst="rect">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37" name="Shape 35"/>
          <p:cNvSpPr/>
          <p:nvPr/>
        </p:nvSpPr>
        <p:spPr>
          <a:xfrm>
            <a:off x="2651760" y="5166360"/>
            <a:ext cx="82296" cy="1024128"/>
          </a:xfrm>
          <a:prstGeom prst="rect">
            <a:avLst/>
          </a:prstGeom>
          <a:solidFill>
            <a:srgbClr val="14B8A6"/>
          </a:solidFill>
          <a:ln/>
        </p:spPr>
        <p:txBody>
          <a:bodyPr/>
          <a:lstStyle/>
          <a:p>
            <a:endParaRPr lang="en-IN"/>
          </a:p>
        </p:txBody>
      </p:sp>
      <p:sp>
        <p:nvSpPr>
          <p:cNvPr id="38" name="Text 36"/>
          <p:cNvSpPr/>
          <p:nvPr/>
        </p:nvSpPr>
        <p:spPr>
          <a:xfrm>
            <a:off x="2871216" y="5321808"/>
            <a:ext cx="1591056" cy="347472"/>
          </a:xfrm>
          <a:prstGeom prst="rect">
            <a:avLst/>
          </a:prstGeom>
          <a:noFill/>
          <a:ln/>
        </p:spPr>
        <p:txBody>
          <a:bodyPr wrap="square" lIns="0" tIns="0" rIns="0" bIns="0" rtlCol="0" anchor="ctr"/>
          <a:lstStyle/>
          <a:p>
            <a:pPr marL="0" indent="0">
              <a:buNone/>
            </a:pPr>
            <a:r>
              <a:rPr lang="en-US" sz="1250" b="1" dirty="0">
                <a:solidFill>
                  <a:srgbClr val="0B1B2E"/>
                </a:solidFill>
                <a:latin typeface="Calibri" pitchFamily="34" charset="0"/>
                <a:ea typeface="Calibri" pitchFamily="34" charset="-122"/>
                <a:cs typeface="Calibri" pitchFamily="34" charset="-120"/>
              </a:rPr>
              <a:t>Targeted</a:t>
            </a:r>
            <a:endParaRPr lang="en-US" sz="1250" dirty="0"/>
          </a:p>
        </p:txBody>
      </p:sp>
      <p:sp>
        <p:nvSpPr>
          <p:cNvPr id="39" name="Text 37"/>
          <p:cNvSpPr/>
          <p:nvPr/>
        </p:nvSpPr>
        <p:spPr>
          <a:xfrm>
            <a:off x="2871216" y="5687568"/>
            <a:ext cx="1591056" cy="438912"/>
          </a:xfrm>
          <a:prstGeom prst="rect">
            <a:avLst/>
          </a:prstGeom>
          <a:noFill/>
          <a:ln/>
        </p:spPr>
        <p:txBody>
          <a:bodyPr wrap="square" lIns="0" tIns="0" rIns="0" bIns="0" rtlCol="0" anchor="ctr"/>
          <a:lstStyle/>
          <a:p>
            <a:pPr marL="0" indent="0">
              <a:lnSpc>
                <a:spcPts val="1400"/>
              </a:lnSpc>
              <a:buNone/>
            </a:pPr>
            <a:r>
              <a:rPr lang="en-US" sz="1050" dirty="0">
                <a:solidFill>
                  <a:srgbClr val="64748B"/>
                </a:solidFill>
                <a:latin typeface="Calibri" pitchFamily="34" charset="0"/>
                <a:ea typeface="Calibri" pitchFamily="34" charset="-122"/>
                <a:cs typeface="Calibri" pitchFamily="34" charset="-120"/>
              </a:rPr>
              <a:t>Supersedes only specific lines or sections</a:t>
            </a:r>
            <a:endParaRPr lang="en-US" sz="1050" dirty="0"/>
          </a:p>
        </p:txBody>
      </p:sp>
      <p:sp>
        <p:nvSpPr>
          <p:cNvPr id="40" name="Shape 38"/>
          <p:cNvSpPr/>
          <p:nvPr/>
        </p:nvSpPr>
        <p:spPr>
          <a:xfrm>
            <a:off x="4754880" y="5166360"/>
            <a:ext cx="1938528" cy="1024128"/>
          </a:xfrm>
          <a:prstGeom prst="rect">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41" name="Shape 39"/>
          <p:cNvSpPr/>
          <p:nvPr/>
        </p:nvSpPr>
        <p:spPr>
          <a:xfrm>
            <a:off x="4754880" y="5166360"/>
            <a:ext cx="82296" cy="1024128"/>
          </a:xfrm>
          <a:prstGeom prst="rect">
            <a:avLst/>
          </a:prstGeom>
          <a:solidFill>
            <a:srgbClr val="14B8A6"/>
          </a:solidFill>
          <a:ln/>
        </p:spPr>
        <p:txBody>
          <a:bodyPr/>
          <a:lstStyle/>
          <a:p>
            <a:endParaRPr lang="en-IN"/>
          </a:p>
        </p:txBody>
      </p:sp>
      <p:sp>
        <p:nvSpPr>
          <p:cNvPr id="42" name="Text 40"/>
          <p:cNvSpPr/>
          <p:nvPr/>
        </p:nvSpPr>
        <p:spPr>
          <a:xfrm>
            <a:off x="4974336" y="5321808"/>
            <a:ext cx="1591056" cy="347472"/>
          </a:xfrm>
          <a:prstGeom prst="rect">
            <a:avLst/>
          </a:prstGeom>
          <a:noFill/>
          <a:ln/>
        </p:spPr>
        <p:txBody>
          <a:bodyPr wrap="square" lIns="0" tIns="0" rIns="0" bIns="0" rtlCol="0" anchor="ctr"/>
          <a:lstStyle/>
          <a:p>
            <a:pPr marL="0" indent="0">
              <a:buNone/>
            </a:pPr>
            <a:r>
              <a:rPr lang="en-US" sz="1250" b="1" dirty="0">
                <a:solidFill>
                  <a:srgbClr val="0B1B2E"/>
                </a:solidFill>
                <a:latin typeface="Calibri" pitchFamily="34" charset="0"/>
                <a:ea typeface="Calibri" pitchFamily="34" charset="-122"/>
                <a:cs typeface="Calibri" pitchFamily="34" charset="-120"/>
              </a:rPr>
              <a:t>Term extension</a:t>
            </a:r>
            <a:endParaRPr lang="en-US" sz="1250" dirty="0"/>
          </a:p>
        </p:txBody>
      </p:sp>
      <p:sp>
        <p:nvSpPr>
          <p:cNvPr id="43" name="Text 41"/>
          <p:cNvSpPr/>
          <p:nvPr/>
        </p:nvSpPr>
        <p:spPr>
          <a:xfrm>
            <a:off x="4974336" y="5687568"/>
            <a:ext cx="1591056" cy="438912"/>
          </a:xfrm>
          <a:prstGeom prst="rect">
            <a:avLst/>
          </a:prstGeom>
          <a:noFill/>
          <a:ln/>
        </p:spPr>
        <p:txBody>
          <a:bodyPr wrap="square" lIns="0" tIns="0" rIns="0" bIns="0" rtlCol="0" anchor="ctr"/>
          <a:lstStyle/>
          <a:p>
            <a:pPr marL="0" indent="0">
              <a:lnSpc>
                <a:spcPts val="1400"/>
              </a:lnSpc>
              <a:buNone/>
            </a:pPr>
            <a:r>
              <a:rPr lang="en-US" sz="1050" dirty="0">
                <a:solidFill>
                  <a:srgbClr val="64748B"/>
                </a:solidFill>
                <a:latin typeface="Calibri" pitchFamily="34" charset="0"/>
                <a:ea typeface="Calibri" pitchFamily="34" charset="-122"/>
                <a:cs typeface="Calibri" pitchFamily="34" charset="-120"/>
              </a:rPr>
              <a:t>Keeps existing rates in force for a new period</a:t>
            </a:r>
            <a:endParaRPr lang="en-US" sz="1050" dirty="0"/>
          </a:p>
        </p:txBody>
      </p:sp>
      <p:sp>
        <p:nvSpPr>
          <p:cNvPr id="44" name="Shape 42"/>
          <p:cNvSpPr/>
          <p:nvPr/>
        </p:nvSpPr>
        <p:spPr>
          <a:xfrm>
            <a:off x="7516368" y="4846320"/>
            <a:ext cx="4126687" cy="1344168"/>
          </a:xfrm>
          <a:prstGeom prst="rect">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45" name="Shape 43"/>
          <p:cNvSpPr/>
          <p:nvPr/>
        </p:nvSpPr>
        <p:spPr>
          <a:xfrm>
            <a:off x="7516368" y="4846320"/>
            <a:ext cx="82296" cy="1344168"/>
          </a:xfrm>
          <a:prstGeom prst="rect">
            <a:avLst/>
          </a:prstGeom>
          <a:solidFill>
            <a:srgbClr val="F26A4B"/>
          </a:solidFill>
          <a:ln/>
        </p:spPr>
        <p:txBody>
          <a:bodyPr/>
          <a:lstStyle/>
          <a:p>
            <a:endParaRPr lang="en-IN"/>
          </a:p>
        </p:txBody>
      </p:sp>
      <p:sp>
        <p:nvSpPr>
          <p:cNvPr id="46" name="Text 44"/>
          <p:cNvSpPr/>
          <p:nvPr/>
        </p:nvSpPr>
        <p:spPr>
          <a:xfrm>
            <a:off x="7772400" y="4983480"/>
            <a:ext cx="3742639" cy="1133856"/>
          </a:xfrm>
          <a:prstGeom prst="rect">
            <a:avLst/>
          </a:prstGeom>
          <a:noFill/>
          <a:ln/>
        </p:spPr>
        <p:txBody>
          <a:bodyPr wrap="square" lIns="0" tIns="0" rIns="0" bIns="0" rtlCol="0" anchor="t"/>
          <a:lstStyle/>
          <a:p>
            <a:pPr marL="0" indent="0">
              <a:lnSpc>
                <a:spcPts val="1600"/>
              </a:lnSpc>
              <a:buNone/>
            </a:pPr>
            <a:r>
              <a:rPr lang="en-US" sz="1100" b="1" kern="0" spc="100" dirty="0">
                <a:solidFill>
                  <a:srgbClr val="F26A4B"/>
                </a:solidFill>
                <a:latin typeface="Calibri" pitchFamily="34" charset="0"/>
                <a:ea typeface="Calibri" pitchFamily="34" charset="-122"/>
                <a:cs typeface="Calibri" pitchFamily="34" charset="-120"/>
              </a:rPr>
              <a:t>Why it matters
</a:t>
            </a:r>
            <a:endParaRPr lang="en-US" sz="1100" dirty="0"/>
          </a:p>
          <a:p>
            <a:pPr marL="0" indent="0">
              <a:lnSpc>
                <a:spcPts val="1600"/>
              </a:lnSpc>
              <a:buNone/>
            </a:pPr>
            <a:r>
              <a:rPr lang="en-US" sz="1100" dirty="0">
                <a:solidFill>
                  <a:srgbClr val="FFFFFF"/>
                </a:solidFill>
                <a:latin typeface="Calibri" pitchFamily="34" charset="0"/>
                <a:ea typeface="Calibri" pitchFamily="34" charset="-122"/>
                <a:cs typeface="Calibri" pitchFamily="34" charset="-120"/>
              </a:rPr>
              <a:t>Citing a superseded rate in a negotiation is a real financial and relationship risk. Scope-aware supersession makes the current state automatic and auditable.</a:t>
            </a:r>
            <a:endParaRPr lang="en-US" sz="1100" dirty="0"/>
          </a:p>
        </p:txBody>
      </p:sp>
      <p:sp>
        <p:nvSpPr>
          <p:cNvPr id="47" name="Text 45"/>
          <p:cNvSpPr/>
          <p:nvPr/>
        </p:nvSpPr>
        <p:spPr>
          <a:xfrm>
            <a:off x="548640" y="6473952"/>
            <a:ext cx="8229600" cy="256032"/>
          </a:xfrm>
          <a:prstGeom prst="rect">
            <a:avLst/>
          </a:prstGeom>
          <a:noFill/>
          <a:ln/>
        </p:spPr>
        <p:txBody>
          <a:bodyPr wrap="square" lIns="0" tIns="0" rIns="0" bIns="0" rtlCol="0" anchor="ctr"/>
          <a:lstStyle/>
          <a:p>
            <a:pPr marL="0" indent="0">
              <a:buNone/>
            </a:pPr>
            <a:r>
              <a:rPr lang="en-US" sz="800" b="1" kern="0" spc="80" dirty="0">
                <a:solidFill>
                  <a:srgbClr val="64748B"/>
                </a:solidFill>
                <a:latin typeface="Calibri" pitchFamily="34" charset="0"/>
                <a:ea typeface="Calibri" pitchFamily="34" charset="-122"/>
                <a:cs typeface="Calibri" pitchFamily="34" charset="-120"/>
              </a:rPr>
              <a:t>PROVIDER CONTRACT INTELLIGENCE PLATFORM</a:t>
            </a:r>
            <a:r>
              <a:rPr lang="en-US" sz="800" kern="0" spc="8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48" name="Text 46"/>
          <p:cNvSpPr/>
          <p:nvPr/>
        </p:nvSpPr>
        <p:spPr>
          <a:xfrm>
            <a:off x="10728655" y="6473952"/>
            <a:ext cx="914400" cy="256032"/>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B1B2E"/>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256032"/>
          </a:xfrm>
          <a:prstGeom prst="rect">
            <a:avLst/>
          </a:prstGeom>
          <a:noFill/>
          <a:ln/>
        </p:spPr>
        <p:txBody>
          <a:bodyPr wrap="square" lIns="0" tIns="0" rIns="0" bIns="0" rtlCol="0" anchor="ctr"/>
          <a:lstStyle/>
          <a:p>
            <a:pPr marL="0" indent="0">
              <a:buNone/>
            </a:pPr>
            <a:r>
              <a:rPr lang="en-US" sz="1100" b="1" kern="0" spc="250" dirty="0">
                <a:solidFill>
                  <a:srgbClr val="14B8A6"/>
                </a:solidFill>
                <a:latin typeface="Calibri" pitchFamily="34" charset="0"/>
                <a:ea typeface="Calibri" pitchFamily="34" charset="-122"/>
                <a:cs typeface="Calibri" pitchFamily="34" charset="-120"/>
              </a:rPr>
              <a:t>SECTION 06 · TRUST &amp; GOVERNANCE</a:t>
            </a:r>
            <a:endParaRPr lang="en-US" sz="1100" dirty="0"/>
          </a:p>
        </p:txBody>
      </p:sp>
      <p:sp>
        <p:nvSpPr>
          <p:cNvPr id="3" name="Text 1"/>
          <p:cNvSpPr/>
          <p:nvPr/>
        </p:nvSpPr>
        <p:spPr>
          <a:xfrm>
            <a:off x="548640" y="804672"/>
            <a:ext cx="7987979" cy="1005840"/>
          </a:xfrm>
          <a:prstGeom prst="rect">
            <a:avLst/>
          </a:prstGeom>
          <a:noFill/>
          <a:ln/>
        </p:spPr>
        <p:txBody>
          <a:bodyPr wrap="square" lIns="0" tIns="0" rIns="0" bIns="0" rtlCol="0" anchor="t"/>
          <a:lstStyle/>
          <a:p>
            <a:pPr marL="0" indent="0">
              <a:lnSpc>
                <a:spcPts val="3080"/>
              </a:lnSpc>
              <a:buNone/>
            </a:pPr>
            <a:r>
              <a:rPr lang="en-US" sz="2800" b="1" dirty="0">
                <a:solidFill>
                  <a:srgbClr val="FFFFFF"/>
                </a:solidFill>
                <a:latin typeface="Georgia" pitchFamily="34" charset="0"/>
                <a:ea typeface="Georgia" pitchFamily="34" charset="-122"/>
                <a:cs typeface="Georgia" pitchFamily="34" charset="-120"/>
              </a:rPr>
              <a:t>Hallucination risk is actively controlled — not assumed away</a:t>
            </a:r>
            <a:endParaRPr lang="en-US" sz="2800" dirty="0"/>
          </a:p>
        </p:txBody>
      </p:sp>
      <p:sp>
        <p:nvSpPr>
          <p:cNvPr id="4" name="Shape 2"/>
          <p:cNvSpPr/>
          <p:nvPr/>
        </p:nvSpPr>
        <p:spPr>
          <a:xfrm>
            <a:off x="548640" y="1874520"/>
            <a:ext cx="7132320" cy="713232"/>
          </a:xfrm>
          <a:prstGeom prst="rect">
            <a:avLst/>
          </a:prstGeom>
          <a:solidFill>
            <a:srgbClr val="13283F"/>
          </a:solidFill>
          <a:ln/>
          <a:effectLst>
            <a:outerShdw blurRad="177800" dist="50800" dir="8100000" algn="bl" rotWithShape="0">
              <a:srgbClr val="000000">
                <a:alpha val="22000"/>
              </a:srgbClr>
            </a:outerShdw>
          </a:effectLst>
        </p:spPr>
        <p:txBody>
          <a:bodyPr/>
          <a:lstStyle/>
          <a:p>
            <a:endParaRPr lang="en-IN"/>
          </a:p>
        </p:txBody>
      </p:sp>
      <p:sp>
        <p:nvSpPr>
          <p:cNvPr id="5" name="Shape 3"/>
          <p:cNvSpPr/>
          <p:nvPr/>
        </p:nvSpPr>
        <p:spPr>
          <a:xfrm>
            <a:off x="548640" y="1874520"/>
            <a:ext cx="82296" cy="713232"/>
          </a:xfrm>
          <a:prstGeom prst="rect">
            <a:avLst/>
          </a:prstGeom>
          <a:solidFill>
            <a:srgbClr val="14B8A6"/>
          </a:solidFill>
          <a:ln/>
        </p:spPr>
        <p:txBody>
          <a:bodyPr/>
          <a:lstStyle/>
          <a:p>
            <a:endParaRPr lang="en-IN"/>
          </a:p>
        </p:txBody>
      </p:sp>
      <p:sp>
        <p:nvSpPr>
          <p:cNvPr id="6" name="Text 4"/>
          <p:cNvSpPr/>
          <p:nvPr/>
        </p:nvSpPr>
        <p:spPr>
          <a:xfrm>
            <a:off x="804672" y="1874520"/>
            <a:ext cx="1828800" cy="713232"/>
          </a:xfrm>
          <a:prstGeom prst="rect">
            <a:avLst/>
          </a:prstGeom>
          <a:noFill/>
          <a:ln/>
        </p:spPr>
        <p:txBody>
          <a:bodyPr wrap="square" lIns="0" tIns="0" rIns="0" bIns="0" rtlCol="0" anchor="ctr"/>
          <a:lstStyle/>
          <a:p>
            <a:pPr marL="0" indent="0">
              <a:buNone/>
            </a:pPr>
            <a:r>
              <a:rPr lang="en-US" sz="1300" b="1" dirty="0">
                <a:solidFill>
                  <a:srgbClr val="5EEAD4"/>
                </a:solidFill>
                <a:latin typeface="Calibri" pitchFamily="34" charset="0"/>
                <a:ea typeface="Calibri" pitchFamily="34" charset="-122"/>
                <a:cs typeface="Calibri" pitchFamily="34" charset="-120"/>
              </a:rPr>
              <a:t>1 · PREVENT</a:t>
            </a:r>
            <a:endParaRPr lang="en-US" sz="1300" dirty="0"/>
          </a:p>
        </p:txBody>
      </p:sp>
      <p:sp>
        <p:nvSpPr>
          <p:cNvPr id="7" name="Text 5"/>
          <p:cNvSpPr/>
          <p:nvPr/>
        </p:nvSpPr>
        <p:spPr>
          <a:xfrm>
            <a:off x="2633472" y="1874520"/>
            <a:ext cx="4864608" cy="713232"/>
          </a:xfrm>
          <a:prstGeom prst="rect">
            <a:avLst/>
          </a:prstGeom>
          <a:noFill/>
          <a:ln/>
        </p:spPr>
        <p:txBody>
          <a:bodyPr wrap="square" lIns="0" tIns="0" rIns="0" bIns="0" rtlCol="0" anchor="ctr"/>
          <a:lstStyle/>
          <a:p>
            <a:pPr marL="0" indent="0">
              <a:lnSpc>
                <a:spcPts val="1500"/>
              </a:lnSpc>
              <a:buNone/>
            </a:pPr>
            <a:r>
              <a:rPr lang="en-US" sz="1150" dirty="0">
                <a:solidFill>
                  <a:srgbClr val="FFFFFF"/>
                </a:solidFill>
                <a:latin typeface="Calibri" pitchFamily="34" charset="0"/>
                <a:ea typeface="Calibri" pitchFamily="34" charset="-122"/>
                <a:cs typeface="Calibri" pitchFamily="34" charset="-120"/>
              </a:rPr>
              <a:t>Prompt-level rules. Extract only what is explicitly stated in the document. Return null when absent — never infer.</a:t>
            </a:r>
            <a:endParaRPr lang="en-US" sz="1150" dirty="0"/>
          </a:p>
        </p:txBody>
      </p:sp>
      <p:sp>
        <p:nvSpPr>
          <p:cNvPr id="8" name="Shape 6"/>
          <p:cNvSpPr/>
          <p:nvPr/>
        </p:nvSpPr>
        <p:spPr>
          <a:xfrm>
            <a:off x="548640" y="2697480"/>
            <a:ext cx="7132320" cy="713232"/>
          </a:xfrm>
          <a:prstGeom prst="rect">
            <a:avLst/>
          </a:prstGeom>
          <a:solidFill>
            <a:srgbClr val="13283F"/>
          </a:solidFill>
          <a:ln/>
          <a:effectLst>
            <a:outerShdw blurRad="177800" dist="50800" dir="8100000" algn="bl" rotWithShape="0">
              <a:srgbClr val="000000">
                <a:alpha val="22000"/>
              </a:srgbClr>
            </a:outerShdw>
          </a:effectLst>
        </p:spPr>
        <p:txBody>
          <a:bodyPr/>
          <a:lstStyle/>
          <a:p>
            <a:endParaRPr lang="en-IN"/>
          </a:p>
        </p:txBody>
      </p:sp>
      <p:sp>
        <p:nvSpPr>
          <p:cNvPr id="9" name="Shape 7"/>
          <p:cNvSpPr/>
          <p:nvPr/>
        </p:nvSpPr>
        <p:spPr>
          <a:xfrm>
            <a:off x="548640" y="2697480"/>
            <a:ext cx="82296" cy="713232"/>
          </a:xfrm>
          <a:prstGeom prst="rect">
            <a:avLst/>
          </a:prstGeom>
          <a:solidFill>
            <a:srgbClr val="14B8A6"/>
          </a:solidFill>
          <a:ln/>
        </p:spPr>
        <p:txBody>
          <a:bodyPr/>
          <a:lstStyle/>
          <a:p>
            <a:endParaRPr lang="en-IN"/>
          </a:p>
        </p:txBody>
      </p:sp>
      <p:sp>
        <p:nvSpPr>
          <p:cNvPr id="10" name="Text 8"/>
          <p:cNvSpPr/>
          <p:nvPr/>
        </p:nvSpPr>
        <p:spPr>
          <a:xfrm>
            <a:off x="804672" y="2697480"/>
            <a:ext cx="1828800" cy="713232"/>
          </a:xfrm>
          <a:prstGeom prst="rect">
            <a:avLst/>
          </a:prstGeom>
          <a:noFill/>
          <a:ln/>
        </p:spPr>
        <p:txBody>
          <a:bodyPr wrap="square" lIns="0" tIns="0" rIns="0" bIns="0" rtlCol="0" anchor="ctr"/>
          <a:lstStyle/>
          <a:p>
            <a:pPr marL="0" indent="0">
              <a:buNone/>
            </a:pPr>
            <a:r>
              <a:rPr lang="en-US" sz="1300" b="1" dirty="0">
                <a:solidFill>
                  <a:srgbClr val="5EEAD4"/>
                </a:solidFill>
                <a:latin typeface="Calibri" pitchFamily="34" charset="0"/>
                <a:ea typeface="Calibri" pitchFamily="34" charset="-122"/>
                <a:cs typeface="Calibri" pitchFamily="34" charset="-120"/>
              </a:rPr>
              <a:t>2 · CONSTRAIN</a:t>
            </a:r>
            <a:endParaRPr lang="en-US" sz="1300" dirty="0"/>
          </a:p>
        </p:txBody>
      </p:sp>
      <p:sp>
        <p:nvSpPr>
          <p:cNvPr id="11" name="Text 9"/>
          <p:cNvSpPr/>
          <p:nvPr/>
        </p:nvSpPr>
        <p:spPr>
          <a:xfrm>
            <a:off x="2633472" y="2697480"/>
            <a:ext cx="4864608" cy="713232"/>
          </a:xfrm>
          <a:prstGeom prst="rect">
            <a:avLst/>
          </a:prstGeom>
          <a:noFill/>
          <a:ln/>
        </p:spPr>
        <p:txBody>
          <a:bodyPr wrap="square" lIns="0" tIns="0" rIns="0" bIns="0" rtlCol="0" anchor="ctr"/>
          <a:lstStyle/>
          <a:p>
            <a:pPr marL="0" indent="0">
              <a:lnSpc>
                <a:spcPts val="1500"/>
              </a:lnSpc>
              <a:buNone/>
            </a:pPr>
            <a:r>
              <a:rPr lang="en-US" sz="1150" dirty="0">
                <a:solidFill>
                  <a:srgbClr val="FFFFFF"/>
                </a:solidFill>
                <a:latin typeface="Calibri" pitchFamily="34" charset="0"/>
                <a:ea typeface="Calibri" pitchFamily="34" charset="-122"/>
                <a:cs typeface="Calibri" pitchFamily="34" charset="-120"/>
              </a:rPr>
              <a:t>Schema-locked output. The model fills a fixed structure. It cannot invent fields or fabricate sections.</a:t>
            </a:r>
            <a:endParaRPr lang="en-US" sz="1150" dirty="0"/>
          </a:p>
        </p:txBody>
      </p:sp>
      <p:sp>
        <p:nvSpPr>
          <p:cNvPr id="12" name="Shape 10"/>
          <p:cNvSpPr/>
          <p:nvPr/>
        </p:nvSpPr>
        <p:spPr>
          <a:xfrm>
            <a:off x="548640" y="3520440"/>
            <a:ext cx="7132320" cy="713232"/>
          </a:xfrm>
          <a:prstGeom prst="rect">
            <a:avLst/>
          </a:prstGeom>
          <a:solidFill>
            <a:srgbClr val="13283F"/>
          </a:solidFill>
          <a:ln/>
          <a:effectLst>
            <a:outerShdw blurRad="177800" dist="50800" dir="8100000" algn="bl" rotWithShape="0">
              <a:srgbClr val="000000">
                <a:alpha val="22000"/>
              </a:srgbClr>
            </a:outerShdw>
          </a:effectLst>
        </p:spPr>
        <p:txBody>
          <a:bodyPr/>
          <a:lstStyle/>
          <a:p>
            <a:endParaRPr lang="en-IN"/>
          </a:p>
        </p:txBody>
      </p:sp>
      <p:sp>
        <p:nvSpPr>
          <p:cNvPr id="13" name="Shape 11"/>
          <p:cNvSpPr/>
          <p:nvPr/>
        </p:nvSpPr>
        <p:spPr>
          <a:xfrm>
            <a:off x="548640" y="3520440"/>
            <a:ext cx="82296" cy="713232"/>
          </a:xfrm>
          <a:prstGeom prst="rect">
            <a:avLst/>
          </a:prstGeom>
          <a:solidFill>
            <a:srgbClr val="14B8A6"/>
          </a:solidFill>
          <a:ln/>
        </p:spPr>
        <p:txBody>
          <a:bodyPr/>
          <a:lstStyle/>
          <a:p>
            <a:endParaRPr lang="en-IN"/>
          </a:p>
        </p:txBody>
      </p:sp>
      <p:sp>
        <p:nvSpPr>
          <p:cNvPr id="14" name="Text 12"/>
          <p:cNvSpPr/>
          <p:nvPr/>
        </p:nvSpPr>
        <p:spPr>
          <a:xfrm>
            <a:off x="804672" y="3520440"/>
            <a:ext cx="1828800" cy="713232"/>
          </a:xfrm>
          <a:prstGeom prst="rect">
            <a:avLst/>
          </a:prstGeom>
          <a:noFill/>
          <a:ln/>
        </p:spPr>
        <p:txBody>
          <a:bodyPr wrap="square" lIns="0" tIns="0" rIns="0" bIns="0" rtlCol="0" anchor="ctr"/>
          <a:lstStyle/>
          <a:p>
            <a:pPr marL="0" indent="0">
              <a:buNone/>
            </a:pPr>
            <a:r>
              <a:rPr lang="en-US" sz="1300" b="1" dirty="0">
                <a:solidFill>
                  <a:srgbClr val="5EEAD4"/>
                </a:solidFill>
                <a:latin typeface="Calibri" pitchFamily="34" charset="0"/>
                <a:ea typeface="Calibri" pitchFamily="34" charset="-122"/>
                <a:cs typeface="Calibri" pitchFamily="34" charset="-120"/>
              </a:rPr>
              <a:t>3 · VERIFY</a:t>
            </a:r>
            <a:endParaRPr lang="en-US" sz="1300" dirty="0"/>
          </a:p>
        </p:txBody>
      </p:sp>
      <p:sp>
        <p:nvSpPr>
          <p:cNvPr id="15" name="Text 13"/>
          <p:cNvSpPr/>
          <p:nvPr/>
        </p:nvSpPr>
        <p:spPr>
          <a:xfrm>
            <a:off x="2633472" y="3520440"/>
            <a:ext cx="4864608" cy="713232"/>
          </a:xfrm>
          <a:prstGeom prst="rect">
            <a:avLst/>
          </a:prstGeom>
          <a:noFill/>
          <a:ln/>
        </p:spPr>
        <p:txBody>
          <a:bodyPr wrap="square" lIns="0" tIns="0" rIns="0" bIns="0" rtlCol="0" anchor="ctr"/>
          <a:lstStyle/>
          <a:p>
            <a:pPr marL="0" indent="0">
              <a:lnSpc>
                <a:spcPts val="1500"/>
              </a:lnSpc>
              <a:buNone/>
            </a:pPr>
            <a:r>
              <a:rPr lang="en-US" sz="1150" dirty="0">
                <a:solidFill>
                  <a:srgbClr val="FFFFFF"/>
                </a:solidFill>
                <a:latin typeface="Calibri" pitchFamily="34" charset="0"/>
                <a:ea typeface="Calibri" pitchFamily="34" charset="-122"/>
                <a:cs typeface="Calibri" pitchFamily="34" charset="-120"/>
              </a:rPr>
              <a:t>Deterministic post-checks. Dates, rates and codes cross-referenced against the source text by rule — not by opinion.</a:t>
            </a:r>
            <a:endParaRPr lang="en-US" sz="1150" dirty="0"/>
          </a:p>
        </p:txBody>
      </p:sp>
      <p:sp>
        <p:nvSpPr>
          <p:cNvPr id="16" name="Shape 14"/>
          <p:cNvSpPr/>
          <p:nvPr/>
        </p:nvSpPr>
        <p:spPr>
          <a:xfrm>
            <a:off x="548640" y="4343400"/>
            <a:ext cx="7132320" cy="713232"/>
          </a:xfrm>
          <a:prstGeom prst="rect">
            <a:avLst/>
          </a:prstGeom>
          <a:solidFill>
            <a:srgbClr val="13283F"/>
          </a:solidFill>
          <a:ln/>
          <a:effectLst>
            <a:outerShdw blurRad="177800" dist="50800" dir="8100000" algn="bl" rotWithShape="0">
              <a:srgbClr val="000000">
                <a:alpha val="22000"/>
              </a:srgbClr>
            </a:outerShdw>
          </a:effectLst>
        </p:spPr>
        <p:txBody>
          <a:bodyPr/>
          <a:lstStyle/>
          <a:p>
            <a:endParaRPr lang="en-IN"/>
          </a:p>
        </p:txBody>
      </p:sp>
      <p:sp>
        <p:nvSpPr>
          <p:cNvPr id="17" name="Shape 15"/>
          <p:cNvSpPr/>
          <p:nvPr/>
        </p:nvSpPr>
        <p:spPr>
          <a:xfrm>
            <a:off x="548640" y="4343400"/>
            <a:ext cx="82296" cy="713232"/>
          </a:xfrm>
          <a:prstGeom prst="rect">
            <a:avLst/>
          </a:prstGeom>
          <a:solidFill>
            <a:srgbClr val="14B8A6"/>
          </a:solidFill>
          <a:ln/>
        </p:spPr>
        <p:txBody>
          <a:bodyPr/>
          <a:lstStyle/>
          <a:p>
            <a:endParaRPr lang="en-IN"/>
          </a:p>
        </p:txBody>
      </p:sp>
      <p:sp>
        <p:nvSpPr>
          <p:cNvPr id="18" name="Text 16"/>
          <p:cNvSpPr/>
          <p:nvPr/>
        </p:nvSpPr>
        <p:spPr>
          <a:xfrm>
            <a:off x="804672" y="4343400"/>
            <a:ext cx="1828800" cy="713232"/>
          </a:xfrm>
          <a:prstGeom prst="rect">
            <a:avLst/>
          </a:prstGeom>
          <a:noFill/>
          <a:ln/>
        </p:spPr>
        <p:txBody>
          <a:bodyPr wrap="square" lIns="0" tIns="0" rIns="0" bIns="0" rtlCol="0" anchor="ctr"/>
          <a:lstStyle/>
          <a:p>
            <a:pPr marL="0" indent="0">
              <a:buNone/>
            </a:pPr>
            <a:r>
              <a:rPr lang="en-US" sz="1300" b="1" dirty="0">
                <a:solidFill>
                  <a:srgbClr val="5EEAD4"/>
                </a:solidFill>
                <a:latin typeface="Calibri" pitchFamily="34" charset="0"/>
                <a:ea typeface="Calibri" pitchFamily="34" charset="-122"/>
                <a:cs typeface="Calibri" pitchFamily="34" charset="-120"/>
              </a:rPr>
              <a:t>4 · AUDIT</a:t>
            </a:r>
            <a:endParaRPr lang="en-US" sz="1300" dirty="0"/>
          </a:p>
        </p:txBody>
      </p:sp>
      <p:sp>
        <p:nvSpPr>
          <p:cNvPr id="19" name="Text 17"/>
          <p:cNvSpPr/>
          <p:nvPr/>
        </p:nvSpPr>
        <p:spPr>
          <a:xfrm>
            <a:off x="2633472" y="4343400"/>
            <a:ext cx="4864608" cy="713232"/>
          </a:xfrm>
          <a:prstGeom prst="rect">
            <a:avLst/>
          </a:prstGeom>
          <a:noFill/>
          <a:ln/>
        </p:spPr>
        <p:txBody>
          <a:bodyPr wrap="square" lIns="0" tIns="0" rIns="0" bIns="0" rtlCol="0" anchor="ctr"/>
          <a:lstStyle/>
          <a:p>
            <a:pPr marL="0" indent="0">
              <a:lnSpc>
                <a:spcPts val="1500"/>
              </a:lnSpc>
              <a:buNone/>
            </a:pPr>
            <a:r>
              <a:rPr lang="en-US" sz="1150" dirty="0">
                <a:solidFill>
                  <a:srgbClr val="FFFFFF"/>
                </a:solidFill>
                <a:latin typeface="Calibri" pitchFamily="34" charset="0"/>
                <a:ea typeface="Calibri" pitchFamily="34" charset="-122"/>
                <a:cs typeface="Calibri" pitchFamily="34" charset="-120"/>
              </a:rPr>
              <a:t>Independent second-pass AI review. Flags gaps and potential issues before anything reaches a serving table.</a:t>
            </a:r>
            <a:endParaRPr lang="en-US" sz="1150" dirty="0"/>
          </a:p>
        </p:txBody>
      </p:sp>
      <p:sp>
        <p:nvSpPr>
          <p:cNvPr id="20" name="Shape 18"/>
          <p:cNvSpPr/>
          <p:nvPr/>
        </p:nvSpPr>
        <p:spPr>
          <a:xfrm>
            <a:off x="548640" y="5166360"/>
            <a:ext cx="7132320" cy="713232"/>
          </a:xfrm>
          <a:prstGeom prst="rect">
            <a:avLst/>
          </a:prstGeom>
          <a:solidFill>
            <a:srgbClr val="13283F"/>
          </a:solidFill>
          <a:ln/>
          <a:effectLst>
            <a:outerShdw blurRad="177800" dist="50800" dir="8100000" algn="bl" rotWithShape="0">
              <a:srgbClr val="000000">
                <a:alpha val="22000"/>
              </a:srgbClr>
            </a:outerShdw>
          </a:effectLst>
        </p:spPr>
        <p:txBody>
          <a:bodyPr/>
          <a:lstStyle/>
          <a:p>
            <a:endParaRPr lang="en-IN"/>
          </a:p>
        </p:txBody>
      </p:sp>
      <p:sp>
        <p:nvSpPr>
          <p:cNvPr id="21" name="Shape 19"/>
          <p:cNvSpPr/>
          <p:nvPr/>
        </p:nvSpPr>
        <p:spPr>
          <a:xfrm>
            <a:off x="548640" y="5166360"/>
            <a:ext cx="82296" cy="713232"/>
          </a:xfrm>
          <a:prstGeom prst="rect">
            <a:avLst/>
          </a:prstGeom>
          <a:solidFill>
            <a:srgbClr val="F26A4B"/>
          </a:solidFill>
          <a:ln/>
        </p:spPr>
        <p:txBody>
          <a:bodyPr/>
          <a:lstStyle/>
          <a:p>
            <a:endParaRPr lang="en-IN"/>
          </a:p>
        </p:txBody>
      </p:sp>
      <p:sp>
        <p:nvSpPr>
          <p:cNvPr id="22" name="Text 20"/>
          <p:cNvSpPr/>
          <p:nvPr/>
        </p:nvSpPr>
        <p:spPr>
          <a:xfrm>
            <a:off x="804672" y="5166360"/>
            <a:ext cx="1828800" cy="713232"/>
          </a:xfrm>
          <a:prstGeom prst="rect">
            <a:avLst/>
          </a:prstGeom>
          <a:noFill/>
          <a:ln/>
        </p:spPr>
        <p:txBody>
          <a:bodyPr wrap="square" lIns="0" tIns="0" rIns="0" bIns="0" rtlCol="0" anchor="ctr"/>
          <a:lstStyle/>
          <a:p>
            <a:pPr marL="0" indent="0">
              <a:buNone/>
            </a:pPr>
            <a:r>
              <a:rPr lang="en-US" sz="1300" b="1" dirty="0">
                <a:solidFill>
                  <a:srgbClr val="F26A4B"/>
                </a:solidFill>
                <a:latin typeface="Calibri" pitchFamily="34" charset="0"/>
                <a:ea typeface="Calibri" pitchFamily="34" charset="-122"/>
                <a:cs typeface="Calibri" pitchFamily="34" charset="-120"/>
              </a:rPr>
              <a:t>5 · GROUND</a:t>
            </a:r>
            <a:endParaRPr lang="en-US" sz="1300" dirty="0"/>
          </a:p>
        </p:txBody>
      </p:sp>
      <p:sp>
        <p:nvSpPr>
          <p:cNvPr id="23" name="Text 21"/>
          <p:cNvSpPr/>
          <p:nvPr/>
        </p:nvSpPr>
        <p:spPr>
          <a:xfrm>
            <a:off x="2633472" y="5166360"/>
            <a:ext cx="4864608" cy="713232"/>
          </a:xfrm>
          <a:prstGeom prst="rect">
            <a:avLst/>
          </a:prstGeom>
          <a:noFill/>
          <a:ln/>
        </p:spPr>
        <p:txBody>
          <a:bodyPr wrap="square" lIns="0" tIns="0" rIns="0" bIns="0" rtlCol="0" anchor="ctr"/>
          <a:lstStyle/>
          <a:p>
            <a:pPr marL="0" indent="0">
              <a:lnSpc>
                <a:spcPts val="1500"/>
              </a:lnSpc>
              <a:buNone/>
            </a:pPr>
            <a:r>
              <a:rPr lang="en-US" sz="1150" dirty="0">
                <a:solidFill>
                  <a:srgbClr val="FFFFFF"/>
                </a:solidFill>
                <a:latin typeface="Calibri" pitchFamily="34" charset="0"/>
                <a:ea typeface="Calibri" pitchFamily="34" charset="-122"/>
                <a:cs typeface="Calibri" pitchFamily="34" charset="-120"/>
              </a:rPr>
              <a:t>At query time every answer is tied to a cited source passage. If evidence is thin the system declines — it does not guess.</a:t>
            </a:r>
            <a:endParaRPr lang="en-US" sz="1150" dirty="0"/>
          </a:p>
        </p:txBody>
      </p:sp>
      <p:sp>
        <p:nvSpPr>
          <p:cNvPr id="24" name="Shape 22"/>
          <p:cNvSpPr/>
          <p:nvPr/>
        </p:nvSpPr>
        <p:spPr>
          <a:xfrm>
            <a:off x="7882128" y="1874520"/>
            <a:ext cx="3760927" cy="3594100"/>
          </a:xfrm>
          <a:prstGeom prst="rect">
            <a:avLst/>
          </a:prstGeom>
          <a:solidFill>
            <a:srgbClr val="13283F"/>
          </a:solidFill>
          <a:ln/>
          <a:effectLst>
            <a:outerShdw blurRad="177800" dist="50800" dir="8100000" algn="bl" rotWithShape="0">
              <a:srgbClr val="000000">
                <a:alpha val="22000"/>
              </a:srgbClr>
            </a:outerShdw>
          </a:effectLst>
        </p:spPr>
        <p:txBody>
          <a:bodyPr/>
          <a:lstStyle/>
          <a:p>
            <a:endParaRPr lang="en-IN"/>
          </a:p>
        </p:txBody>
      </p:sp>
      <p:sp>
        <p:nvSpPr>
          <p:cNvPr id="25" name="Shape 23"/>
          <p:cNvSpPr/>
          <p:nvPr/>
        </p:nvSpPr>
        <p:spPr>
          <a:xfrm>
            <a:off x="7882128" y="1874520"/>
            <a:ext cx="3760927" cy="73152"/>
          </a:xfrm>
          <a:prstGeom prst="rect">
            <a:avLst/>
          </a:prstGeom>
          <a:solidFill>
            <a:srgbClr val="F26A4B"/>
          </a:solidFill>
          <a:ln/>
        </p:spPr>
        <p:txBody>
          <a:bodyPr/>
          <a:lstStyle/>
          <a:p>
            <a:endParaRPr lang="en-IN"/>
          </a:p>
        </p:txBody>
      </p:sp>
      <p:sp>
        <p:nvSpPr>
          <p:cNvPr id="26" name="Text 24"/>
          <p:cNvSpPr/>
          <p:nvPr/>
        </p:nvSpPr>
        <p:spPr>
          <a:xfrm>
            <a:off x="8110728" y="2029968"/>
            <a:ext cx="3413455" cy="274320"/>
          </a:xfrm>
          <a:prstGeom prst="rect">
            <a:avLst/>
          </a:prstGeom>
          <a:noFill/>
          <a:ln/>
        </p:spPr>
        <p:txBody>
          <a:bodyPr wrap="square" lIns="0" tIns="0" rIns="0" bIns="0" rtlCol="0" anchor="ctr"/>
          <a:lstStyle/>
          <a:p>
            <a:pPr marL="0" indent="0">
              <a:buNone/>
            </a:pPr>
            <a:r>
              <a:rPr lang="en-US" sz="1000" b="1" kern="0" spc="200" dirty="0">
                <a:solidFill>
                  <a:srgbClr val="F26A4B"/>
                </a:solidFill>
                <a:latin typeface="Calibri" pitchFamily="34" charset="0"/>
                <a:ea typeface="Calibri" pitchFamily="34" charset="-122"/>
                <a:cs typeface="Calibri" pitchFamily="34" charset="-120"/>
              </a:rPr>
              <a:t>DEFENSE IN DEPTH</a:t>
            </a:r>
            <a:endParaRPr lang="en-US" sz="1000" dirty="0"/>
          </a:p>
        </p:txBody>
      </p:sp>
      <p:sp>
        <p:nvSpPr>
          <p:cNvPr id="27" name="Text 25"/>
          <p:cNvSpPr/>
          <p:nvPr/>
        </p:nvSpPr>
        <p:spPr>
          <a:xfrm>
            <a:off x="8110728" y="2395728"/>
            <a:ext cx="3413455" cy="1645920"/>
          </a:xfrm>
          <a:prstGeom prst="rect">
            <a:avLst/>
          </a:prstGeom>
          <a:noFill/>
          <a:ln/>
        </p:spPr>
        <p:txBody>
          <a:bodyPr wrap="square" lIns="0" tIns="0" rIns="0" bIns="0" rtlCol="0" anchor="t"/>
          <a:lstStyle/>
          <a:p>
            <a:pPr marL="0" indent="0">
              <a:lnSpc>
                <a:spcPts val="1800"/>
              </a:lnSpc>
              <a:buNone/>
            </a:pPr>
            <a:r>
              <a:rPr lang="en-US" sz="1300" b="1" dirty="0">
                <a:solidFill>
                  <a:srgbClr val="FFFFFF"/>
                </a:solidFill>
                <a:latin typeface="Calibri" pitchFamily="34" charset="0"/>
                <a:ea typeface="Calibri" pitchFamily="34" charset="-122"/>
                <a:cs typeface="Calibri" pitchFamily="34" charset="-120"/>
              </a:rPr>
              <a:t>We never claim
hallucinations are eliminated.
</a:t>
            </a:r>
            <a:endParaRPr lang="en-US" sz="1300" dirty="0"/>
          </a:p>
          <a:p>
            <a:pPr marL="0" indent="0">
              <a:lnSpc>
                <a:spcPts val="1800"/>
              </a:lnSpc>
              <a:buNone/>
            </a:pPr>
            <a:r>
              <a:rPr lang="en-US" sz="1200" dirty="0">
                <a:solidFill>
                  <a:srgbClr val="93A4BD"/>
                </a:solidFill>
                <a:latin typeface="Calibri" pitchFamily="34" charset="0"/>
                <a:ea typeface="Calibri" pitchFamily="34" charset="-122"/>
                <a:cs typeface="Calibri" pitchFamily="34" charset="-120"/>
              </a:rPr>
              <a:t>We claim something stronger and honest: </a:t>
            </a:r>
            <a:r>
              <a:rPr lang="en-US" sz="1200" b="1" dirty="0">
                <a:solidFill>
                  <a:srgbClr val="5EEAD4"/>
                </a:solidFill>
                <a:latin typeface="Calibri" pitchFamily="34" charset="0"/>
                <a:ea typeface="Calibri" pitchFamily="34" charset="-122"/>
                <a:cs typeface="Calibri" pitchFamily="34" charset="-120"/>
              </a:rPr>
              <a:t>risk is layered, measured</a:t>
            </a:r>
            <a:endParaRPr lang="en-US" sz="1300" dirty="0"/>
          </a:p>
          <a:p>
            <a:pPr marL="0" indent="0">
              <a:lnSpc>
                <a:spcPts val="1800"/>
              </a:lnSpc>
              <a:buNone/>
            </a:pPr>
            <a:r>
              <a:rPr lang="en-US" sz="1200" b="1" dirty="0">
                <a:solidFill>
                  <a:srgbClr val="5EEAD4"/>
                </a:solidFill>
                <a:latin typeface="Calibri" pitchFamily="34" charset="0"/>
                <a:ea typeface="Calibri" pitchFamily="34" charset="-122"/>
                <a:cs typeface="Calibri" pitchFamily="34" charset="-120"/>
              </a:rPr>
              <a:t>and controlled.</a:t>
            </a:r>
            <a:endParaRPr lang="en-US" sz="1300" dirty="0"/>
          </a:p>
        </p:txBody>
      </p:sp>
      <p:sp>
        <p:nvSpPr>
          <p:cNvPr id="28" name="Text 26"/>
          <p:cNvSpPr/>
          <p:nvPr/>
        </p:nvSpPr>
        <p:spPr>
          <a:xfrm>
            <a:off x="8110728" y="4069080"/>
            <a:ext cx="3413455" cy="411480"/>
          </a:xfrm>
          <a:prstGeom prst="rect">
            <a:avLst/>
          </a:prstGeom>
          <a:noFill/>
          <a:ln/>
        </p:spPr>
        <p:txBody>
          <a:bodyPr wrap="square" lIns="0" tIns="0" rIns="0" bIns="0" rtlCol="0" anchor="ctr"/>
          <a:lstStyle/>
          <a:p>
            <a:pPr marL="0" indent="0">
              <a:buNone/>
            </a:pPr>
            <a:r>
              <a:rPr lang="en-US" sz="2000" b="1" dirty="0">
                <a:solidFill>
                  <a:srgbClr val="5EEAD4"/>
                </a:solidFill>
                <a:latin typeface="Georgia" pitchFamily="34" charset="0"/>
                <a:ea typeface="Georgia" pitchFamily="34" charset="-122"/>
                <a:cs typeface="Georgia" pitchFamily="34" charset="-120"/>
              </a:rPr>
              <a:t>8 checks</a:t>
            </a:r>
            <a:endParaRPr lang="en-US" sz="2000" dirty="0"/>
          </a:p>
        </p:txBody>
      </p:sp>
      <p:sp>
        <p:nvSpPr>
          <p:cNvPr id="29" name="Text 27"/>
          <p:cNvSpPr/>
          <p:nvPr/>
        </p:nvSpPr>
        <p:spPr>
          <a:xfrm>
            <a:off x="8110728" y="4483100"/>
            <a:ext cx="3413455" cy="274320"/>
          </a:xfrm>
          <a:prstGeom prst="rect">
            <a:avLst/>
          </a:prstGeom>
          <a:noFill/>
          <a:ln/>
        </p:spPr>
        <p:txBody>
          <a:bodyPr wrap="square" lIns="0" tIns="0" rIns="0" bIns="0" rtlCol="0" anchor="ctr"/>
          <a:lstStyle/>
          <a:p>
            <a:pPr marL="0" indent="0">
              <a:buNone/>
            </a:pPr>
            <a:r>
              <a:rPr lang="en-US" sz="950" dirty="0">
                <a:solidFill>
                  <a:srgbClr val="93A4BD"/>
                </a:solidFill>
                <a:latin typeface="Calibri" pitchFamily="34" charset="0"/>
                <a:ea typeface="Calibri" pitchFamily="34" charset="-122"/>
                <a:cs typeface="Calibri" pitchFamily="34" charset="-120"/>
              </a:rPr>
              <a:t>Validation suite per extraction</a:t>
            </a:r>
            <a:endParaRPr lang="en-US" sz="950" dirty="0"/>
          </a:p>
        </p:txBody>
      </p:sp>
      <p:sp>
        <p:nvSpPr>
          <p:cNvPr id="30" name="Text 28"/>
          <p:cNvSpPr/>
          <p:nvPr/>
        </p:nvSpPr>
        <p:spPr>
          <a:xfrm>
            <a:off x="8110728" y="4800600"/>
            <a:ext cx="3413455" cy="411480"/>
          </a:xfrm>
          <a:prstGeom prst="rect">
            <a:avLst/>
          </a:prstGeom>
          <a:noFill/>
          <a:ln/>
        </p:spPr>
        <p:txBody>
          <a:bodyPr wrap="square" lIns="0" tIns="0" rIns="0" bIns="0" rtlCol="0" anchor="ctr"/>
          <a:lstStyle/>
          <a:p>
            <a:pPr marL="0" indent="0">
              <a:buNone/>
            </a:pPr>
            <a:r>
              <a:rPr lang="en-US" sz="2000" b="1" dirty="0">
                <a:solidFill>
                  <a:srgbClr val="5EEAD4"/>
                </a:solidFill>
                <a:latin typeface="Georgia" pitchFamily="34" charset="0"/>
                <a:ea typeface="Georgia" pitchFamily="34" charset="-122"/>
                <a:cs typeface="Georgia" pitchFamily="34" charset="-120"/>
              </a:rPr>
              <a:t>2nd pass</a:t>
            </a:r>
            <a:endParaRPr lang="en-US" sz="2000" dirty="0"/>
          </a:p>
        </p:txBody>
      </p:sp>
      <p:sp>
        <p:nvSpPr>
          <p:cNvPr id="31" name="Text 29"/>
          <p:cNvSpPr/>
          <p:nvPr/>
        </p:nvSpPr>
        <p:spPr>
          <a:xfrm>
            <a:off x="8110728" y="5219700"/>
            <a:ext cx="3413455" cy="274320"/>
          </a:xfrm>
          <a:prstGeom prst="rect">
            <a:avLst/>
          </a:prstGeom>
          <a:noFill/>
          <a:ln/>
        </p:spPr>
        <p:txBody>
          <a:bodyPr wrap="square" lIns="0" tIns="0" rIns="0" bIns="0" rtlCol="0" anchor="ctr"/>
          <a:lstStyle/>
          <a:p>
            <a:pPr marL="0" indent="0">
              <a:buNone/>
            </a:pPr>
            <a:r>
              <a:rPr lang="en-US" sz="950" dirty="0">
                <a:solidFill>
                  <a:srgbClr val="93A4BD"/>
                </a:solidFill>
                <a:latin typeface="Calibri" pitchFamily="34" charset="0"/>
                <a:ea typeface="Calibri" pitchFamily="34" charset="-122"/>
                <a:cs typeface="Calibri" pitchFamily="34" charset="-120"/>
              </a:rPr>
              <a:t>Independent AI audit on output</a:t>
            </a:r>
            <a:endParaRPr lang="en-US" sz="950" dirty="0"/>
          </a:p>
        </p:txBody>
      </p:sp>
      <p:sp>
        <p:nvSpPr>
          <p:cNvPr id="32" name="Text 30"/>
          <p:cNvSpPr/>
          <p:nvPr/>
        </p:nvSpPr>
        <p:spPr>
          <a:xfrm>
            <a:off x="8110728" y="5532120"/>
            <a:ext cx="3413455" cy="411480"/>
          </a:xfrm>
          <a:prstGeom prst="rect">
            <a:avLst/>
          </a:prstGeom>
          <a:noFill/>
          <a:ln/>
        </p:spPr>
        <p:txBody>
          <a:bodyPr wrap="square" lIns="0" tIns="0" rIns="0" bIns="0" rtlCol="0" anchor="ctr"/>
          <a:lstStyle/>
          <a:p>
            <a:pPr marL="0" indent="0">
              <a:buNone/>
            </a:pPr>
            <a:r>
              <a:rPr lang="en-US" sz="2000" b="1" dirty="0">
                <a:solidFill>
                  <a:srgbClr val="F26A4B"/>
                </a:solidFill>
                <a:latin typeface="Georgia" pitchFamily="34" charset="0"/>
                <a:ea typeface="Georgia" pitchFamily="34" charset="-122"/>
                <a:cs typeface="Georgia" pitchFamily="34" charset="-120"/>
              </a:rPr>
              <a:t>Refuse</a:t>
            </a:r>
            <a:endParaRPr lang="en-US" sz="2000" dirty="0"/>
          </a:p>
        </p:txBody>
      </p:sp>
      <p:sp>
        <p:nvSpPr>
          <p:cNvPr id="33" name="Text 31"/>
          <p:cNvSpPr/>
          <p:nvPr/>
        </p:nvSpPr>
        <p:spPr>
          <a:xfrm>
            <a:off x="8110728" y="5969000"/>
            <a:ext cx="3413455" cy="215900"/>
          </a:xfrm>
          <a:prstGeom prst="rect">
            <a:avLst/>
          </a:prstGeom>
          <a:noFill/>
          <a:ln/>
        </p:spPr>
        <p:txBody>
          <a:bodyPr wrap="square" lIns="0" tIns="0" rIns="0" bIns="0" rtlCol="0" anchor="ctr"/>
          <a:lstStyle/>
          <a:p>
            <a:pPr marL="0" indent="0">
              <a:buNone/>
            </a:pPr>
            <a:r>
              <a:rPr lang="en-US" sz="950" dirty="0">
                <a:solidFill>
                  <a:srgbClr val="93A4BD"/>
                </a:solidFill>
                <a:latin typeface="Calibri" pitchFamily="34" charset="0"/>
                <a:ea typeface="Calibri" pitchFamily="34" charset="-122"/>
                <a:cs typeface="Calibri" pitchFamily="34" charset="-120"/>
              </a:rPr>
              <a:t>Low-evidence answers decline, not guess</a:t>
            </a:r>
            <a:endParaRPr lang="en-US" sz="950" dirty="0"/>
          </a:p>
        </p:txBody>
      </p:sp>
      <p:sp>
        <p:nvSpPr>
          <p:cNvPr id="34" name="Shape 32"/>
          <p:cNvSpPr/>
          <p:nvPr/>
        </p:nvSpPr>
        <p:spPr>
          <a:xfrm>
            <a:off x="548640" y="6197600"/>
            <a:ext cx="11094415" cy="276860"/>
          </a:xfrm>
          <a:prstGeom prst="rect">
            <a:avLst/>
          </a:prstGeom>
          <a:solidFill>
            <a:srgbClr val="0F2236"/>
          </a:solidFill>
          <a:ln/>
        </p:spPr>
        <p:txBody>
          <a:bodyPr/>
          <a:lstStyle/>
          <a:p>
            <a:endParaRPr lang="en-IN"/>
          </a:p>
        </p:txBody>
      </p:sp>
      <p:sp>
        <p:nvSpPr>
          <p:cNvPr id="35" name="Shape 33"/>
          <p:cNvSpPr/>
          <p:nvPr/>
        </p:nvSpPr>
        <p:spPr>
          <a:xfrm>
            <a:off x="548640" y="6197600"/>
            <a:ext cx="82296" cy="276860"/>
          </a:xfrm>
          <a:prstGeom prst="rect">
            <a:avLst/>
          </a:prstGeom>
          <a:solidFill>
            <a:srgbClr val="0F766E"/>
          </a:solidFill>
          <a:ln/>
        </p:spPr>
        <p:txBody>
          <a:bodyPr/>
          <a:lstStyle/>
          <a:p>
            <a:endParaRPr lang="en-IN"/>
          </a:p>
        </p:txBody>
      </p:sp>
      <p:sp>
        <p:nvSpPr>
          <p:cNvPr id="36" name="Text 34"/>
          <p:cNvSpPr/>
          <p:nvPr/>
        </p:nvSpPr>
        <p:spPr>
          <a:xfrm>
            <a:off x="822960" y="6197600"/>
            <a:ext cx="10637215" cy="276860"/>
          </a:xfrm>
          <a:prstGeom prst="rect">
            <a:avLst/>
          </a:prstGeom>
          <a:noFill/>
          <a:ln/>
        </p:spPr>
        <p:txBody>
          <a:bodyPr wrap="square" lIns="0" tIns="0" rIns="0" bIns="0" rtlCol="0" anchor="ctr"/>
          <a:lstStyle/>
          <a:p>
            <a:pPr marL="0" indent="0">
              <a:buNone/>
            </a:pPr>
            <a:r>
              <a:rPr lang="en-US" sz="1300" i="1" dirty="0">
                <a:solidFill>
                  <a:srgbClr val="5EEAD4"/>
                </a:solidFill>
                <a:latin typeface="Calibri" pitchFamily="34" charset="0"/>
                <a:ea typeface="Calibri" pitchFamily="34" charset="-122"/>
                <a:cs typeface="Calibri" pitchFamily="34" charset="-120"/>
              </a:rPr>
              <a:t>This is what separates a governed enterprise platform from a chatbot.</a:t>
            </a:r>
            <a:endParaRPr lang="en-US" sz="1300" dirty="0"/>
          </a:p>
        </p:txBody>
      </p:sp>
      <p:sp>
        <p:nvSpPr>
          <p:cNvPr id="37" name="Text 35"/>
          <p:cNvSpPr/>
          <p:nvPr/>
        </p:nvSpPr>
        <p:spPr>
          <a:xfrm>
            <a:off x="548640" y="6473952"/>
            <a:ext cx="8229600" cy="256032"/>
          </a:xfrm>
          <a:prstGeom prst="rect">
            <a:avLst/>
          </a:prstGeom>
          <a:noFill/>
          <a:ln/>
        </p:spPr>
        <p:txBody>
          <a:bodyPr wrap="square" lIns="0" tIns="0" rIns="0" bIns="0" rtlCol="0" anchor="ctr"/>
          <a:lstStyle/>
          <a:p>
            <a:pPr marL="0" indent="0">
              <a:buNone/>
            </a:pPr>
            <a:r>
              <a:rPr lang="en-US" sz="800" b="1" kern="0" spc="80" dirty="0">
                <a:solidFill>
                  <a:srgbClr val="93A4BD"/>
                </a:solidFill>
                <a:latin typeface="Calibri" pitchFamily="34" charset="0"/>
                <a:ea typeface="Calibri" pitchFamily="34" charset="-122"/>
                <a:cs typeface="Calibri" pitchFamily="34" charset="-120"/>
              </a:rPr>
              <a:t>PROVIDER CONTRACT INTELLIGENCE PLATFORM</a:t>
            </a:r>
            <a:r>
              <a:rPr lang="en-US" sz="800" kern="0" spc="80" dirty="0">
                <a:solidFill>
                  <a:srgbClr val="93A4BD"/>
                </a:solidFill>
                <a:latin typeface="Calibri" pitchFamily="34" charset="0"/>
                <a:ea typeface="Calibri" pitchFamily="34" charset="-122"/>
                <a:cs typeface="Calibri" pitchFamily="34" charset="-120"/>
              </a:rPr>
              <a:t>   ·   Confidential — Internal</a:t>
            </a:r>
            <a:endParaRPr lang="en-US" sz="800" dirty="0"/>
          </a:p>
        </p:txBody>
      </p:sp>
      <p:sp>
        <p:nvSpPr>
          <p:cNvPr id="38" name="Text 36"/>
          <p:cNvSpPr/>
          <p:nvPr/>
        </p:nvSpPr>
        <p:spPr>
          <a:xfrm>
            <a:off x="10728655" y="6473952"/>
            <a:ext cx="914400" cy="256032"/>
          </a:xfrm>
          <a:prstGeom prst="rect">
            <a:avLst/>
          </a:prstGeom>
          <a:noFill/>
          <a:ln/>
        </p:spPr>
        <p:txBody>
          <a:bodyPr wrap="square" lIns="0" tIns="0" rIns="0" bIns="0" rtlCol="0" anchor="ctr"/>
          <a:lstStyle/>
          <a:p>
            <a:pPr marL="0" indent="0" algn="r">
              <a:buNone/>
            </a:pPr>
            <a:r>
              <a:rPr lang="en-US" sz="900" dirty="0">
                <a:solidFill>
                  <a:srgbClr val="93A4BD"/>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256032"/>
          </a:xfrm>
          <a:prstGeom prst="rect">
            <a:avLst/>
          </a:prstGeom>
          <a:noFill/>
          <a:ln/>
        </p:spPr>
        <p:txBody>
          <a:bodyPr wrap="square" lIns="0" tIns="0" rIns="0" bIns="0" rtlCol="0" anchor="ctr"/>
          <a:lstStyle/>
          <a:p>
            <a:pPr marL="0" indent="0">
              <a:buNone/>
            </a:pPr>
            <a:r>
              <a:rPr lang="en-US" sz="1100" b="1" kern="0" spc="250" dirty="0">
                <a:solidFill>
                  <a:srgbClr val="0F766E"/>
                </a:solidFill>
                <a:latin typeface="Calibri" pitchFamily="34" charset="0"/>
                <a:ea typeface="Calibri" pitchFamily="34" charset="-122"/>
                <a:cs typeface="Calibri" pitchFamily="34" charset="-120"/>
              </a:rPr>
              <a:t>SECTION 07 · THE QUESTION JOURNEY</a:t>
            </a:r>
            <a:endParaRPr lang="en-US" sz="1100" dirty="0"/>
          </a:p>
        </p:txBody>
      </p:sp>
      <p:sp>
        <p:nvSpPr>
          <p:cNvPr id="3" name="Text 1"/>
          <p:cNvSpPr/>
          <p:nvPr/>
        </p:nvSpPr>
        <p:spPr>
          <a:xfrm>
            <a:off x="548640" y="804672"/>
            <a:ext cx="7987979" cy="660400"/>
          </a:xfrm>
          <a:prstGeom prst="rect">
            <a:avLst/>
          </a:prstGeom>
          <a:noFill/>
          <a:ln/>
        </p:spPr>
        <p:txBody>
          <a:bodyPr wrap="square" lIns="0" tIns="0" rIns="0" bIns="0" rtlCol="0" anchor="t"/>
          <a:lstStyle/>
          <a:p>
            <a:pPr marL="0" indent="0">
              <a:lnSpc>
                <a:spcPts val="3080"/>
              </a:lnSpc>
              <a:buNone/>
            </a:pPr>
            <a:r>
              <a:rPr lang="en-US" sz="2800" b="1" dirty="0">
                <a:solidFill>
                  <a:srgbClr val="0B1B2E"/>
                </a:solidFill>
                <a:latin typeface="Georgia" pitchFamily="34" charset="0"/>
                <a:ea typeface="Georgia" pitchFamily="34" charset="-122"/>
                <a:cs typeface="Georgia" pitchFamily="34" charset="-120"/>
              </a:rPr>
              <a:t>From plain English to cited answer — every step</a:t>
            </a:r>
            <a:endParaRPr lang="en-US" sz="2800" dirty="0"/>
          </a:p>
        </p:txBody>
      </p:sp>
      <p:sp>
        <p:nvSpPr>
          <p:cNvPr id="4" name="Text 2"/>
          <p:cNvSpPr/>
          <p:nvPr/>
        </p:nvSpPr>
        <p:spPr>
          <a:xfrm>
            <a:off x="548640" y="1508760"/>
            <a:ext cx="11094415" cy="228600"/>
          </a:xfrm>
          <a:prstGeom prst="rect">
            <a:avLst/>
          </a:prstGeom>
          <a:noFill/>
          <a:ln/>
        </p:spPr>
        <p:txBody>
          <a:bodyPr wrap="square" lIns="0" tIns="0" rIns="0" bIns="0" rtlCol="0" anchor="ctr"/>
          <a:lstStyle/>
          <a:p>
            <a:pPr marL="0" indent="0">
              <a:buNone/>
            </a:pPr>
            <a:r>
              <a:rPr lang="en-US" sz="1250" i="1" dirty="0">
                <a:solidFill>
                  <a:srgbClr val="0F766E"/>
                </a:solidFill>
                <a:latin typeface="Calibri" pitchFamily="34" charset="0"/>
                <a:ea typeface="Calibri" pitchFamily="34" charset="-122"/>
                <a:cs typeface="Calibri" pitchFamily="34" charset="-120"/>
              </a:rPr>
              <a:t>The complete journey of a single question from the moment a user types it to the moment an answer appears.</a:t>
            </a:r>
            <a:endParaRPr lang="en-US" sz="1250" dirty="0"/>
          </a:p>
        </p:txBody>
      </p:sp>
      <p:sp>
        <p:nvSpPr>
          <p:cNvPr id="5" name="Shape 3"/>
          <p:cNvSpPr/>
          <p:nvPr/>
        </p:nvSpPr>
        <p:spPr>
          <a:xfrm>
            <a:off x="548640" y="1920240"/>
            <a:ext cx="1389888" cy="960120"/>
          </a:xfrm>
          <a:prstGeom prst="roundRect">
            <a:avLst>
              <a:gd name="adj" fmla="val 6667"/>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6" name="Text 4"/>
          <p:cNvSpPr/>
          <p:nvPr/>
        </p:nvSpPr>
        <p:spPr>
          <a:xfrm>
            <a:off x="594360" y="2048256"/>
            <a:ext cx="1298448" cy="512064"/>
          </a:xfrm>
          <a:prstGeom prst="rect">
            <a:avLst/>
          </a:prstGeom>
          <a:noFill/>
          <a:ln/>
        </p:spPr>
        <p:txBody>
          <a:bodyPr wrap="square" lIns="0" tIns="0" rIns="0" bIns="0" rtlCol="0" anchor="ctr"/>
          <a:lstStyle/>
          <a:p>
            <a:pPr marL="0" indent="0" algn="ctr">
              <a:lnSpc>
                <a:spcPts val="1250"/>
              </a:lnSpc>
              <a:buNone/>
            </a:pPr>
            <a:r>
              <a:rPr lang="en-US" sz="1050" b="1" dirty="0">
                <a:solidFill>
                  <a:srgbClr val="0B1B2E"/>
                </a:solidFill>
                <a:latin typeface="Calibri" pitchFamily="34" charset="0"/>
                <a:ea typeface="Calibri" pitchFamily="34" charset="-122"/>
                <a:cs typeface="Calibri" pitchFamily="34" charset="-120"/>
              </a:rPr>
              <a:t>User</a:t>
            </a:r>
            <a:endParaRPr lang="en-US" sz="1050" dirty="0"/>
          </a:p>
          <a:p>
            <a:pPr marL="0" indent="0" algn="ctr">
              <a:lnSpc>
                <a:spcPts val="1250"/>
              </a:lnSpc>
              <a:buNone/>
            </a:pPr>
            <a:r>
              <a:rPr lang="en-US" sz="1050" b="1" dirty="0">
                <a:solidFill>
                  <a:srgbClr val="0B1B2E"/>
                </a:solidFill>
                <a:latin typeface="Calibri" pitchFamily="34" charset="0"/>
                <a:ea typeface="Calibri" pitchFamily="34" charset="-122"/>
                <a:cs typeface="Calibri" pitchFamily="34" charset="-120"/>
              </a:rPr>
              <a:t>Question</a:t>
            </a:r>
            <a:endParaRPr lang="en-US" sz="1050" dirty="0"/>
          </a:p>
        </p:txBody>
      </p:sp>
      <p:sp>
        <p:nvSpPr>
          <p:cNvPr id="7" name="Text 5"/>
          <p:cNvSpPr/>
          <p:nvPr/>
        </p:nvSpPr>
        <p:spPr>
          <a:xfrm>
            <a:off x="585216" y="2578608"/>
            <a:ext cx="1316736" cy="256032"/>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Plain English</a:t>
            </a:r>
            <a:endParaRPr lang="en-US" sz="850" dirty="0"/>
          </a:p>
        </p:txBody>
      </p:sp>
      <p:sp>
        <p:nvSpPr>
          <p:cNvPr id="8" name="Shape 6"/>
          <p:cNvSpPr/>
          <p:nvPr/>
        </p:nvSpPr>
        <p:spPr>
          <a:xfrm>
            <a:off x="1956816" y="2400300"/>
            <a:ext cx="164592" cy="0"/>
          </a:xfrm>
          <a:prstGeom prst="line">
            <a:avLst/>
          </a:prstGeom>
          <a:noFill/>
          <a:ln w="22860">
            <a:solidFill>
              <a:srgbClr val="0F766E"/>
            </a:solidFill>
            <a:prstDash val="solid"/>
            <a:tailEnd type="triangle"/>
          </a:ln>
        </p:spPr>
        <p:txBody>
          <a:bodyPr/>
          <a:lstStyle/>
          <a:p>
            <a:endParaRPr lang="en-IN"/>
          </a:p>
        </p:txBody>
      </p:sp>
      <p:sp>
        <p:nvSpPr>
          <p:cNvPr id="9" name="Shape 7"/>
          <p:cNvSpPr/>
          <p:nvPr/>
        </p:nvSpPr>
        <p:spPr>
          <a:xfrm>
            <a:off x="2139696" y="1920240"/>
            <a:ext cx="1389888" cy="960120"/>
          </a:xfrm>
          <a:prstGeom prst="roundRect">
            <a:avLst>
              <a:gd name="adj" fmla="val 6667"/>
            </a:avLst>
          </a:prstGeom>
          <a:solidFill>
            <a:srgbClr val="0B1B2E"/>
          </a:solidFill>
          <a:ln w="12700">
            <a:solidFill>
              <a:srgbClr val="0B1B2E"/>
            </a:solidFill>
            <a:prstDash val="solid"/>
          </a:ln>
          <a:effectLst>
            <a:outerShdw blurRad="101600" dist="25400" dir="8100000" algn="bl" rotWithShape="0">
              <a:srgbClr val="1E293B">
                <a:alpha val="11000"/>
              </a:srgbClr>
            </a:outerShdw>
          </a:effectLst>
        </p:spPr>
        <p:txBody>
          <a:bodyPr/>
          <a:lstStyle/>
          <a:p>
            <a:endParaRPr lang="en-IN"/>
          </a:p>
        </p:txBody>
      </p:sp>
      <p:sp>
        <p:nvSpPr>
          <p:cNvPr id="10" name="Text 8"/>
          <p:cNvSpPr/>
          <p:nvPr/>
        </p:nvSpPr>
        <p:spPr>
          <a:xfrm>
            <a:off x="2185416" y="2048256"/>
            <a:ext cx="1298448" cy="512064"/>
          </a:xfrm>
          <a:prstGeom prst="rect">
            <a:avLst/>
          </a:prstGeom>
          <a:noFill/>
          <a:ln/>
        </p:spPr>
        <p:txBody>
          <a:bodyPr wrap="square" lIns="0" tIns="0" rIns="0" bIns="0" rtlCol="0" anchor="ctr"/>
          <a:lstStyle/>
          <a:p>
            <a:pPr marL="0" indent="0" algn="ctr">
              <a:lnSpc>
                <a:spcPts val="1250"/>
              </a:lnSpc>
              <a:buNone/>
            </a:pPr>
            <a:r>
              <a:rPr lang="en-US" sz="1050" b="1" dirty="0">
                <a:solidFill>
                  <a:srgbClr val="FFFFFF"/>
                </a:solidFill>
                <a:latin typeface="Calibri" pitchFamily="34" charset="0"/>
                <a:ea typeface="Calibri" pitchFamily="34" charset="-122"/>
                <a:cs typeface="Calibri" pitchFamily="34" charset="-120"/>
              </a:rPr>
              <a:t>Query</a:t>
            </a:r>
            <a:endParaRPr lang="en-US" sz="1050" dirty="0"/>
          </a:p>
          <a:p>
            <a:pPr marL="0" indent="0" algn="ctr">
              <a:lnSpc>
                <a:spcPts val="1250"/>
              </a:lnSpc>
              <a:buNone/>
            </a:pPr>
            <a:r>
              <a:rPr lang="en-US" sz="1050" b="1" dirty="0">
                <a:solidFill>
                  <a:srgbClr val="FFFFFF"/>
                </a:solidFill>
                <a:latin typeface="Calibri" pitchFamily="34" charset="0"/>
                <a:ea typeface="Calibri" pitchFamily="34" charset="-122"/>
                <a:cs typeface="Calibri" pitchFamily="34" charset="-120"/>
              </a:rPr>
              <a:t>Understanding</a:t>
            </a:r>
            <a:endParaRPr lang="en-US" sz="1050" dirty="0"/>
          </a:p>
        </p:txBody>
      </p:sp>
      <p:sp>
        <p:nvSpPr>
          <p:cNvPr id="11" name="Text 9"/>
          <p:cNvSpPr/>
          <p:nvPr/>
        </p:nvSpPr>
        <p:spPr>
          <a:xfrm>
            <a:off x="2176272" y="2578608"/>
            <a:ext cx="1316736" cy="256032"/>
          </a:xfrm>
          <a:prstGeom prst="rect">
            <a:avLst/>
          </a:prstGeom>
          <a:noFill/>
          <a:ln/>
        </p:spPr>
        <p:txBody>
          <a:bodyPr wrap="square" lIns="0" tIns="0" rIns="0" bIns="0" rtlCol="0" anchor="ctr"/>
          <a:lstStyle/>
          <a:p>
            <a:pPr marL="0" indent="0" algn="ctr">
              <a:buNone/>
            </a:pPr>
            <a:r>
              <a:rPr lang="en-US" sz="850" dirty="0">
                <a:solidFill>
                  <a:srgbClr val="5EEAD4"/>
                </a:solidFill>
                <a:latin typeface="Calibri" pitchFamily="34" charset="0"/>
                <a:ea typeface="Calibri" pitchFamily="34" charset="-122"/>
                <a:cs typeface="Calibri" pitchFamily="34" charset="-120"/>
              </a:rPr>
              <a:t>Intent + entity parse</a:t>
            </a:r>
            <a:endParaRPr lang="en-US" sz="850" dirty="0"/>
          </a:p>
        </p:txBody>
      </p:sp>
      <p:sp>
        <p:nvSpPr>
          <p:cNvPr id="12" name="Shape 10"/>
          <p:cNvSpPr/>
          <p:nvPr/>
        </p:nvSpPr>
        <p:spPr>
          <a:xfrm>
            <a:off x="3547872" y="2400300"/>
            <a:ext cx="164592" cy="0"/>
          </a:xfrm>
          <a:prstGeom prst="line">
            <a:avLst/>
          </a:prstGeom>
          <a:noFill/>
          <a:ln w="22860">
            <a:solidFill>
              <a:srgbClr val="0F766E"/>
            </a:solidFill>
            <a:prstDash val="solid"/>
            <a:tailEnd type="triangle"/>
          </a:ln>
        </p:spPr>
        <p:txBody>
          <a:bodyPr/>
          <a:lstStyle/>
          <a:p>
            <a:endParaRPr lang="en-IN"/>
          </a:p>
        </p:txBody>
      </p:sp>
      <p:sp>
        <p:nvSpPr>
          <p:cNvPr id="13" name="Shape 11"/>
          <p:cNvSpPr/>
          <p:nvPr/>
        </p:nvSpPr>
        <p:spPr>
          <a:xfrm>
            <a:off x="3730752" y="1920240"/>
            <a:ext cx="1389888" cy="960120"/>
          </a:xfrm>
          <a:prstGeom prst="roundRect">
            <a:avLst>
              <a:gd name="adj" fmla="val 6667"/>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14" name="Text 12"/>
          <p:cNvSpPr/>
          <p:nvPr/>
        </p:nvSpPr>
        <p:spPr>
          <a:xfrm>
            <a:off x="3776472" y="2048256"/>
            <a:ext cx="1298448" cy="512064"/>
          </a:xfrm>
          <a:prstGeom prst="rect">
            <a:avLst/>
          </a:prstGeom>
          <a:noFill/>
          <a:ln/>
        </p:spPr>
        <p:txBody>
          <a:bodyPr wrap="square" lIns="0" tIns="0" rIns="0" bIns="0" rtlCol="0" anchor="ctr"/>
          <a:lstStyle/>
          <a:p>
            <a:pPr marL="0" indent="0" algn="ctr">
              <a:lnSpc>
                <a:spcPts val="1250"/>
              </a:lnSpc>
              <a:buNone/>
            </a:pPr>
            <a:r>
              <a:rPr lang="en-US" sz="1050" b="1" dirty="0">
                <a:solidFill>
                  <a:srgbClr val="0B1B2E"/>
                </a:solidFill>
                <a:latin typeface="Calibri" pitchFamily="34" charset="0"/>
                <a:ea typeface="Calibri" pitchFamily="34" charset="-122"/>
                <a:cs typeface="Calibri" pitchFamily="34" charset="-120"/>
              </a:rPr>
              <a:t>4-Channel</a:t>
            </a:r>
            <a:endParaRPr lang="en-US" sz="1050" dirty="0"/>
          </a:p>
          <a:p>
            <a:pPr marL="0" indent="0" algn="ctr">
              <a:lnSpc>
                <a:spcPts val="1250"/>
              </a:lnSpc>
              <a:buNone/>
            </a:pPr>
            <a:r>
              <a:rPr lang="en-US" sz="1050" b="1" dirty="0">
                <a:solidFill>
                  <a:srgbClr val="0B1B2E"/>
                </a:solidFill>
                <a:latin typeface="Calibri" pitchFamily="34" charset="0"/>
                <a:ea typeface="Calibri" pitchFamily="34" charset="-122"/>
                <a:cs typeface="Calibri" pitchFamily="34" charset="-120"/>
              </a:rPr>
              <a:t>Retrieval</a:t>
            </a:r>
            <a:endParaRPr lang="en-US" sz="1050" dirty="0"/>
          </a:p>
        </p:txBody>
      </p:sp>
      <p:sp>
        <p:nvSpPr>
          <p:cNvPr id="15" name="Text 13"/>
          <p:cNvSpPr/>
          <p:nvPr/>
        </p:nvSpPr>
        <p:spPr>
          <a:xfrm>
            <a:off x="3767328" y="2578608"/>
            <a:ext cx="1316736" cy="256032"/>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Runs simultaneously</a:t>
            </a:r>
            <a:endParaRPr lang="en-US" sz="850" dirty="0"/>
          </a:p>
        </p:txBody>
      </p:sp>
      <p:sp>
        <p:nvSpPr>
          <p:cNvPr id="16" name="Shape 14"/>
          <p:cNvSpPr/>
          <p:nvPr/>
        </p:nvSpPr>
        <p:spPr>
          <a:xfrm>
            <a:off x="5138928" y="2400300"/>
            <a:ext cx="164592" cy="0"/>
          </a:xfrm>
          <a:prstGeom prst="line">
            <a:avLst/>
          </a:prstGeom>
          <a:noFill/>
          <a:ln w="22860">
            <a:solidFill>
              <a:srgbClr val="0F766E"/>
            </a:solidFill>
            <a:prstDash val="solid"/>
            <a:tailEnd type="triangle"/>
          </a:ln>
        </p:spPr>
        <p:txBody>
          <a:bodyPr/>
          <a:lstStyle/>
          <a:p>
            <a:endParaRPr lang="en-IN"/>
          </a:p>
        </p:txBody>
      </p:sp>
      <p:sp>
        <p:nvSpPr>
          <p:cNvPr id="17" name="Shape 15"/>
          <p:cNvSpPr/>
          <p:nvPr/>
        </p:nvSpPr>
        <p:spPr>
          <a:xfrm>
            <a:off x="5321808" y="1920240"/>
            <a:ext cx="1389888" cy="960120"/>
          </a:xfrm>
          <a:prstGeom prst="roundRect">
            <a:avLst>
              <a:gd name="adj" fmla="val 6667"/>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18" name="Text 16"/>
          <p:cNvSpPr/>
          <p:nvPr/>
        </p:nvSpPr>
        <p:spPr>
          <a:xfrm>
            <a:off x="5367528" y="2048256"/>
            <a:ext cx="1298448" cy="512064"/>
          </a:xfrm>
          <a:prstGeom prst="rect">
            <a:avLst/>
          </a:prstGeom>
          <a:noFill/>
          <a:ln/>
        </p:spPr>
        <p:txBody>
          <a:bodyPr wrap="square" lIns="0" tIns="0" rIns="0" bIns="0" rtlCol="0" anchor="ctr"/>
          <a:lstStyle/>
          <a:p>
            <a:pPr marL="0" indent="0" algn="ctr">
              <a:lnSpc>
                <a:spcPts val="1250"/>
              </a:lnSpc>
              <a:buNone/>
            </a:pPr>
            <a:r>
              <a:rPr lang="en-US" sz="1050" b="1" dirty="0">
                <a:solidFill>
                  <a:srgbClr val="0B1B2E"/>
                </a:solidFill>
                <a:latin typeface="Calibri" pitchFamily="34" charset="0"/>
                <a:ea typeface="Calibri" pitchFamily="34" charset="-122"/>
                <a:cs typeface="Calibri" pitchFamily="34" charset="-120"/>
              </a:rPr>
              <a:t>RRF</a:t>
            </a:r>
            <a:endParaRPr lang="en-US" sz="1050" dirty="0"/>
          </a:p>
          <a:p>
            <a:pPr marL="0" indent="0" algn="ctr">
              <a:lnSpc>
                <a:spcPts val="1250"/>
              </a:lnSpc>
              <a:buNone/>
            </a:pPr>
            <a:r>
              <a:rPr lang="en-US" sz="1050" b="1" dirty="0">
                <a:solidFill>
                  <a:srgbClr val="0B1B2E"/>
                </a:solidFill>
                <a:latin typeface="Calibri" pitchFamily="34" charset="0"/>
                <a:ea typeface="Calibri" pitchFamily="34" charset="-122"/>
                <a:cs typeface="Calibri" pitchFamily="34" charset="-120"/>
              </a:rPr>
              <a:t>Fusion</a:t>
            </a:r>
            <a:endParaRPr lang="en-US" sz="1050" dirty="0"/>
          </a:p>
        </p:txBody>
      </p:sp>
      <p:sp>
        <p:nvSpPr>
          <p:cNvPr id="19" name="Text 17"/>
          <p:cNvSpPr/>
          <p:nvPr/>
        </p:nvSpPr>
        <p:spPr>
          <a:xfrm>
            <a:off x="5358384" y="2578608"/>
            <a:ext cx="1316736" cy="256032"/>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Merge all channels</a:t>
            </a:r>
            <a:endParaRPr lang="en-US" sz="850" dirty="0"/>
          </a:p>
        </p:txBody>
      </p:sp>
      <p:sp>
        <p:nvSpPr>
          <p:cNvPr id="20" name="Shape 18"/>
          <p:cNvSpPr/>
          <p:nvPr/>
        </p:nvSpPr>
        <p:spPr>
          <a:xfrm>
            <a:off x="6729984" y="2400300"/>
            <a:ext cx="164592" cy="0"/>
          </a:xfrm>
          <a:prstGeom prst="line">
            <a:avLst/>
          </a:prstGeom>
          <a:noFill/>
          <a:ln w="22860">
            <a:solidFill>
              <a:srgbClr val="0F766E"/>
            </a:solidFill>
            <a:prstDash val="solid"/>
            <a:tailEnd type="triangle"/>
          </a:ln>
        </p:spPr>
        <p:txBody>
          <a:bodyPr/>
          <a:lstStyle/>
          <a:p>
            <a:endParaRPr lang="en-IN"/>
          </a:p>
        </p:txBody>
      </p:sp>
      <p:sp>
        <p:nvSpPr>
          <p:cNvPr id="21" name="Shape 19"/>
          <p:cNvSpPr/>
          <p:nvPr/>
        </p:nvSpPr>
        <p:spPr>
          <a:xfrm>
            <a:off x="6912864" y="1920240"/>
            <a:ext cx="1389888" cy="960120"/>
          </a:xfrm>
          <a:prstGeom prst="roundRect">
            <a:avLst>
              <a:gd name="adj" fmla="val 6667"/>
            </a:avLst>
          </a:prstGeom>
          <a:solidFill>
            <a:srgbClr val="0B1B2E"/>
          </a:solidFill>
          <a:ln w="12700">
            <a:solidFill>
              <a:srgbClr val="0B1B2E"/>
            </a:solidFill>
            <a:prstDash val="solid"/>
          </a:ln>
          <a:effectLst>
            <a:outerShdw blurRad="101600" dist="25400" dir="8100000" algn="bl" rotWithShape="0">
              <a:srgbClr val="1E293B">
                <a:alpha val="11000"/>
              </a:srgbClr>
            </a:outerShdw>
          </a:effectLst>
        </p:spPr>
        <p:txBody>
          <a:bodyPr/>
          <a:lstStyle/>
          <a:p>
            <a:endParaRPr lang="en-IN"/>
          </a:p>
        </p:txBody>
      </p:sp>
      <p:sp>
        <p:nvSpPr>
          <p:cNvPr id="22" name="Text 20"/>
          <p:cNvSpPr/>
          <p:nvPr/>
        </p:nvSpPr>
        <p:spPr>
          <a:xfrm>
            <a:off x="6958584" y="2048256"/>
            <a:ext cx="1298448" cy="512064"/>
          </a:xfrm>
          <a:prstGeom prst="rect">
            <a:avLst/>
          </a:prstGeom>
          <a:noFill/>
          <a:ln/>
        </p:spPr>
        <p:txBody>
          <a:bodyPr wrap="square" lIns="0" tIns="0" rIns="0" bIns="0" rtlCol="0" anchor="ctr"/>
          <a:lstStyle/>
          <a:p>
            <a:pPr marL="0" indent="0" algn="ctr">
              <a:lnSpc>
                <a:spcPts val="1250"/>
              </a:lnSpc>
              <a:buNone/>
            </a:pPr>
            <a:r>
              <a:rPr lang="en-US" sz="1050" b="1" dirty="0">
                <a:solidFill>
                  <a:srgbClr val="FFFFFF"/>
                </a:solidFill>
                <a:latin typeface="Calibri" pitchFamily="34" charset="0"/>
                <a:ea typeface="Calibri" pitchFamily="34" charset="-122"/>
                <a:cs typeface="Calibri" pitchFamily="34" charset="-120"/>
              </a:rPr>
              <a:t>Rerank</a:t>
            </a:r>
            <a:endParaRPr lang="en-US" sz="1050" dirty="0"/>
          </a:p>
        </p:txBody>
      </p:sp>
      <p:sp>
        <p:nvSpPr>
          <p:cNvPr id="23" name="Text 21"/>
          <p:cNvSpPr/>
          <p:nvPr/>
        </p:nvSpPr>
        <p:spPr>
          <a:xfrm>
            <a:off x="6949440" y="2578608"/>
            <a:ext cx="1316736" cy="256032"/>
          </a:xfrm>
          <a:prstGeom prst="rect">
            <a:avLst/>
          </a:prstGeom>
          <a:noFill/>
          <a:ln/>
        </p:spPr>
        <p:txBody>
          <a:bodyPr wrap="square" lIns="0" tIns="0" rIns="0" bIns="0" rtlCol="0" anchor="ctr"/>
          <a:lstStyle/>
          <a:p>
            <a:pPr marL="0" indent="0" algn="ctr">
              <a:buNone/>
            </a:pPr>
            <a:r>
              <a:rPr lang="en-US" sz="850" dirty="0">
                <a:solidFill>
                  <a:srgbClr val="5EEAD4"/>
                </a:solidFill>
                <a:latin typeface="Calibri" pitchFamily="34" charset="0"/>
                <a:ea typeface="Calibri" pitchFamily="34" charset="-122"/>
                <a:cs typeface="Calibri" pitchFamily="34" charset="-120"/>
              </a:rPr>
              <a:t>Legal relevance order</a:t>
            </a:r>
            <a:endParaRPr lang="en-US" sz="850" dirty="0"/>
          </a:p>
        </p:txBody>
      </p:sp>
      <p:sp>
        <p:nvSpPr>
          <p:cNvPr id="24" name="Shape 22"/>
          <p:cNvSpPr/>
          <p:nvPr/>
        </p:nvSpPr>
        <p:spPr>
          <a:xfrm>
            <a:off x="8321040" y="2400300"/>
            <a:ext cx="164592" cy="0"/>
          </a:xfrm>
          <a:prstGeom prst="line">
            <a:avLst/>
          </a:prstGeom>
          <a:noFill/>
          <a:ln w="22860">
            <a:solidFill>
              <a:srgbClr val="0F766E"/>
            </a:solidFill>
            <a:prstDash val="solid"/>
            <a:tailEnd type="triangle"/>
          </a:ln>
        </p:spPr>
        <p:txBody>
          <a:bodyPr/>
          <a:lstStyle/>
          <a:p>
            <a:endParaRPr lang="en-IN"/>
          </a:p>
        </p:txBody>
      </p:sp>
      <p:sp>
        <p:nvSpPr>
          <p:cNvPr id="25" name="Shape 23"/>
          <p:cNvSpPr/>
          <p:nvPr/>
        </p:nvSpPr>
        <p:spPr>
          <a:xfrm>
            <a:off x="8503920" y="1920240"/>
            <a:ext cx="1389888" cy="960120"/>
          </a:xfrm>
          <a:prstGeom prst="roundRect">
            <a:avLst>
              <a:gd name="adj" fmla="val 6667"/>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26" name="Text 24"/>
          <p:cNvSpPr/>
          <p:nvPr/>
        </p:nvSpPr>
        <p:spPr>
          <a:xfrm>
            <a:off x="8549640" y="2048256"/>
            <a:ext cx="1298448" cy="512064"/>
          </a:xfrm>
          <a:prstGeom prst="rect">
            <a:avLst/>
          </a:prstGeom>
          <a:noFill/>
          <a:ln/>
        </p:spPr>
        <p:txBody>
          <a:bodyPr wrap="square" lIns="0" tIns="0" rIns="0" bIns="0" rtlCol="0" anchor="ctr"/>
          <a:lstStyle/>
          <a:p>
            <a:pPr marL="0" indent="0" algn="ctr">
              <a:lnSpc>
                <a:spcPts val="1250"/>
              </a:lnSpc>
              <a:buNone/>
            </a:pPr>
            <a:r>
              <a:rPr lang="en-US" sz="1050" b="1" dirty="0">
                <a:solidFill>
                  <a:srgbClr val="0B1B2E"/>
                </a:solidFill>
                <a:latin typeface="Calibri" pitchFamily="34" charset="0"/>
                <a:ea typeface="Calibri" pitchFamily="34" charset="-122"/>
                <a:cs typeface="Calibri" pitchFamily="34" charset="-120"/>
              </a:rPr>
              <a:t>Citation</a:t>
            </a:r>
            <a:endParaRPr lang="en-US" sz="1050" dirty="0"/>
          </a:p>
          <a:p>
            <a:pPr marL="0" indent="0" algn="ctr">
              <a:lnSpc>
                <a:spcPts val="1250"/>
              </a:lnSpc>
              <a:buNone/>
            </a:pPr>
            <a:r>
              <a:rPr lang="en-US" sz="1050" b="1" dirty="0">
                <a:solidFill>
                  <a:srgbClr val="0B1B2E"/>
                </a:solidFill>
                <a:latin typeface="Calibri" pitchFamily="34" charset="0"/>
                <a:ea typeface="Calibri" pitchFamily="34" charset="-122"/>
                <a:cs typeface="Calibri" pitchFamily="34" charset="-120"/>
              </a:rPr>
              <a:t>Check</a:t>
            </a:r>
            <a:endParaRPr lang="en-US" sz="1050" dirty="0"/>
          </a:p>
        </p:txBody>
      </p:sp>
      <p:sp>
        <p:nvSpPr>
          <p:cNvPr id="27" name="Text 25"/>
          <p:cNvSpPr/>
          <p:nvPr/>
        </p:nvSpPr>
        <p:spPr>
          <a:xfrm>
            <a:off x="8540496" y="2578608"/>
            <a:ext cx="1316736" cy="256032"/>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6 grounding checks</a:t>
            </a:r>
            <a:endParaRPr lang="en-US" sz="850" dirty="0"/>
          </a:p>
        </p:txBody>
      </p:sp>
      <p:sp>
        <p:nvSpPr>
          <p:cNvPr id="28" name="Shape 26"/>
          <p:cNvSpPr/>
          <p:nvPr/>
        </p:nvSpPr>
        <p:spPr>
          <a:xfrm>
            <a:off x="9912096" y="2400300"/>
            <a:ext cx="164592" cy="0"/>
          </a:xfrm>
          <a:prstGeom prst="line">
            <a:avLst/>
          </a:prstGeom>
          <a:noFill/>
          <a:ln w="22860">
            <a:solidFill>
              <a:srgbClr val="0F766E"/>
            </a:solidFill>
            <a:prstDash val="solid"/>
            <a:tailEnd type="triangle"/>
          </a:ln>
        </p:spPr>
        <p:txBody>
          <a:bodyPr/>
          <a:lstStyle/>
          <a:p>
            <a:endParaRPr lang="en-IN"/>
          </a:p>
        </p:txBody>
      </p:sp>
      <p:sp>
        <p:nvSpPr>
          <p:cNvPr id="29" name="Shape 27"/>
          <p:cNvSpPr/>
          <p:nvPr/>
        </p:nvSpPr>
        <p:spPr>
          <a:xfrm>
            <a:off x="10094976" y="1920240"/>
            <a:ext cx="1389888" cy="960120"/>
          </a:xfrm>
          <a:prstGeom prst="roundRect">
            <a:avLst>
              <a:gd name="adj" fmla="val 6667"/>
            </a:avLst>
          </a:prstGeom>
          <a:solidFill>
            <a:srgbClr val="F26A4B"/>
          </a:solidFill>
          <a:ln w="12700">
            <a:solidFill>
              <a:srgbClr val="F26A4B"/>
            </a:solidFill>
            <a:prstDash val="solid"/>
          </a:ln>
          <a:effectLst>
            <a:outerShdw blurRad="177800" dist="50800" dir="8100000" algn="bl" rotWithShape="0">
              <a:srgbClr val="000000">
                <a:alpha val="22000"/>
              </a:srgbClr>
            </a:outerShdw>
          </a:effectLst>
        </p:spPr>
        <p:txBody>
          <a:bodyPr/>
          <a:lstStyle/>
          <a:p>
            <a:endParaRPr lang="en-IN"/>
          </a:p>
        </p:txBody>
      </p:sp>
      <p:sp>
        <p:nvSpPr>
          <p:cNvPr id="30" name="Text 28"/>
          <p:cNvSpPr/>
          <p:nvPr/>
        </p:nvSpPr>
        <p:spPr>
          <a:xfrm>
            <a:off x="10140696" y="2048256"/>
            <a:ext cx="1298448" cy="512064"/>
          </a:xfrm>
          <a:prstGeom prst="rect">
            <a:avLst/>
          </a:prstGeom>
          <a:noFill/>
          <a:ln/>
        </p:spPr>
        <p:txBody>
          <a:bodyPr wrap="square" lIns="0" tIns="0" rIns="0" bIns="0" rtlCol="0" anchor="ctr"/>
          <a:lstStyle/>
          <a:p>
            <a:pPr marL="0" indent="0" algn="ctr">
              <a:lnSpc>
                <a:spcPts val="1250"/>
              </a:lnSpc>
              <a:buNone/>
            </a:pPr>
            <a:r>
              <a:rPr lang="en-US" sz="1050" b="1" dirty="0">
                <a:solidFill>
                  <a:srgbClr val="FFFFFF"/>
                </a:solidFill>
                <a:latin typeface="Calibri" pitchFamily="34" charset="0"/>
                <a:ea typeface="Calibri" pitchFamily="34" charset="-122"/>
                <a:cs typeface="Calibri" pitchFamily="34" charset="-120"/>
              </a:rPr>
              <a:t>Grounded</a:t>
            </a:r>
            <a:endParaRPr lang="en-US" sz="1050" dirty="0"/>
          </a:p>
          <a:p>
            <a:pPr marL="0" indent="0" algn="ctr">
              <a:lnSpc>
                <a:spcPts val="1250"/>
              </a:lnSpc>
              <a:buNone/>
            </a:pPr>
            <a:r>
              <a:rPr lang="en-US" sz="1050" b="1" dirty="0">
                <a:solidFill>
                  <a:srgbClr val="FFFFFF"/>
                </a:solidFill>
                <a:latin typeface="Calibri" pitchFamily="34" charset="0"/>
                <a:ea typeface="Calibri" pitchFamily="34" charset="-122"/>
                <a:cs typeface="Calibri" pitchFamily="34" charset="-120"/>
              </a:rPr>
              <a:t>Answer</a:t>
            </a:r>
            <a:endParaRPr lang="en-US" sz="1050" dirty="0"/>
          </a:p>
        </p:txBody>
      </p:sp>
      <p:sp>
        <p:nvSpPr>
          <p:cNvPr id="31" name="Text 29"/>
          <p:cNvSpPr/>
          <p:nvPr/>
        </p:nvSpPr>
        <p:spPr>
          <a:xfrm>
            <a:off x="10131552" y="2578608"/>
            <a:ext cx="1316736"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Source + confidence</a:t>
            </a:r>
            <a:endParaRPr lang="en-US" sz="850" dirty="0"/>
          </a:p>
        </p:txBody>
      </p:sp>
      <p:sp>
        <p:nvSpPr>
          <p:cNvPr id="32" name="Shape 30"/>
          <p:cNvSpPr/>
          <p:nvPr/>
        </p:nvSpPr>
        <p:spPr>
          <a:xfrm>
            <a:off x="3639312" y="3035808"/>
            <a:ext cx="1572768" cy="2084832"/>
          </a:xfrm>
          <a:prstGeom prst="rect">
            <a:avLst/>
          </a:prstGeom>
          <a:solidFill>
            <a:srgbClr val="E7F6F4"/>
          </a:solidFill>
          <a:ln w="12700">
            <a:solidFill>
              <a:srgbClr val="0F766E"/>
            </a:solidFill>
            <a:prstDash val="solid"/>
          </a:ln>
        </p:spPr>
        <p:txBody>
          <a:bodyPr/>
          <a:lstStyle/>
          <a:p>
            <a:endParaRPr lang="en-IN"/>
          </a:p>
        </p:txBody>
      </p:sp>
      <p:sp>
        <p:nvSpPr>
          <p:cNvPr id="33" name="Text 31"/>
          <p:cNvSpPr/>
          <p:nvPr/>
        </p:nvSpPr>
        <p:spPr>
          <a:xfrm>
            <a:off x="3639312" y="3090672"/>
            <a:ext cx="1572768" cy="256032"/>
          </a:xfrm>
          <a:prstGeom prst="rect">
            <a:avLst/>
          </a:prstGeom>
          <a:noFill/>
          <a:ln/>
        </p:spPr>
        <p:txBody>
          <a:bodyPr wrap="square" lIns="0" tIns="0" rIns="0" bIns="0" rtlCol="0" anchor="ctr"/>
          <a:lstStyle/>
          <a:p>
            <a:pPr marL="0" indent="0" algn="ctr">
              <a:buNone/>
            </a:pPr>
            <a:r>
              <a:rPr lang="en-US" sz="900" b="1" kern="0" spc="150" dirty="0">
                <a:solidFill>
                  <a:srgbClr val="0F766E"/>
                </a:solidFill>
                <a:latin typeface="Calibri" pitchFamily="34" charset="0"/>
                <a:ea typeface="Calibri" pitchFamily="34" charset="-122"/>
                <a:cs typeface="Calibri" pitchFamily="34" charset="-120"/>
              </a:rPr>
              <a:t>4 CHANNELS</a:t>
            </a:r>
            <a:endParaRPr lang="en-US" sz="900" dirty="0"/>
          </a:p>
        </p:txBody>
      </p:sp>
      <p:sp>
        <p:nvSpPr>
          <p:cNvPr id="34" name="Shape 32"/>
          <p:cNvSpPr/>
          <p:nvPr/>
        </p:nvSpPr>
        <p:spPr>
          <a:xfrm>
            <a:off x="3694176" y="3401568"/>
            <a:ext cx="1463040" cy="347472"/>
          </a:xfrm>
          <a:prstGeom prst="roundRect">
            <a:avLst>
              <a:gd name="adj" fmla="val 18421"/>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35" name="Text 33"/>
          <p:cNvSpPr/>
          <p:nvPr/>
        </p:nvSpPr>
        <p:spPr>
          <a:xfrm>
            <a:off x="3749040" y="3401568"/>
            <a:ext cx="1353312" cy="347472"/>
          </a:xfrm>
          <a:prstGeom prst="rect">
            <a:avLst/>
          </a:prstGeom>
          <a:noFill/>
          <a:ln/>
        </p:spPr>
        <p:txBody>
          <a:bodyPr wrap="square" lIns="0" tIns="0" rIns="0" bIns="0" rtlCol="0" anchor="ctr"/>
          <a:lstStyle/>
          <a:p>
            <a:pPr marL="0" indent="0" algn="ctr">
              <a:lnSpc>
                <a:spcPts val="1008"/>
              </a:lnSpc>
              <a:buNone/>
            </a:pPr>
            <a:r>
              <a:rPr lang="en-US" sz="900" b="1" dirty="0">
                <a:solidFill>
                  <a:srgbClr val="0F766E"/>
                </a:solidFill>
                <a:latin typeface="Calibri" pitchFamily="34" charset="0"/>
                <a:ea typeface="Calibri" pitchFamily="34" charset="-122"/>
                <a:cs typeface="Calibri" pitchFamily="34" charset="-120"/>
              </a:rPr>
              <a:t>Semantic</a:t>
            </a:r>
            <a:endParaRPr lang="en-US" sz="900" dirty="0"/>
          </a:p>
          <a:p>
            <a:pPr marL="0" indent="0" algn="ctr">
              <a:lnSpc>
                <a:spcPts val="1008"/>
              </a:lnSpc>
              <a:buNone/>
            </a:pPr>
            <a:r>
              <a:rPr lang="en-US" sz="900" b="1" dirty="0">
                <a:solidFill>
                  <a:srgbClr val="0F766E"/>
                </a:solidFill>
                <a:latin typeface="Calibri" pitchFamily="34" charset="0"/>
                <a:ea typeface="Calibri" pitchFamily="34" charset="-122"/>
                <a:cs typeface="Calibri" pitchFamily="34" charset="-120"/>
              </a:rPr>
              <a:t>(vector search)</a:t>
            </a:r>
            <a:endParaRPr lang="en-US" sz="900" dirty="0"/>
          </a:p>
        </p:txBody>
      </p:sp>
      <p:sp>
        <p:nvSpPr>
          <p:cNvPr id="36" name="Shape 34"/>
          <p:cNvSpPr/>
          <p:nvPr/>
        </p:nvSpPr>
        <p:spPr>
          <a:xfrm>
            <a:off x="3694176" y="3803904"/>
            <a:ext cx="1463040" cy="347472"/>
          </a:xfrm>
          <a:prstGeom prst="roundRect">
            <a:avLst>
              <a:gd name="adj" fmla="val 18421"/>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37" name="Text 35"/>
          <p:cNvSpPr/>
          <p:nvPr/>
        </p:nvSpPr>
        <p:spPr>
          <a:xfrm>
            <a:off x="3749040" y="3803904"/>
            <a:ext cx="1353312" cy="347472"/>
          </a:xfrm>
          <a:prstGeom prst="rect">
            <a:avLst/>
          </a:prstGeom>
          <a:noFill/>
          <a:ln/>
        </p:spPr>
        <p:txBody>
          <a:bodyPr wrap="square" lIns="0" tIns="0" rIns="0" bIns="0" rtlCol="0" anchor="ctr"/>
          <a:lstStyle/>
          <a:p>
            <a:pPr marL="0" indent="0" algn="ctr">
              <a:lnSpc>
                <a:spcPts val="1008"/>
              </a:lnSpc>
              <a:buNone/>
            </a:pPr>
            <a:r>
              <a:rPr lang="en-US" sz="900" b="1" dirty="0">
                <a:solidFill>
                  <a:srgbClr val="0F766E"/>
                </a:solidFill>
                <a:latin typeface="Calibri" pitchFamily="34" charset="0"/>
                <a:ea typeface="Calibri" pitchFamily="34" charset="-122"/>
                <a:cs typeface="Calibri" pitchFamily="34" charset="-120"/>
              </a:rPr>
              <a:t>Lexical</a:t>
            </a:r>
            <a:endParaRPr lang="en-US" sz="900" dirty="0"/>
          </a:p>
          <a:p>
            <a:pPr marL="0" indent="0" algn="ctr">
              <a:lnSpc>
                <a:spcPts val="1008"/>
              </a:lnSpc>
              <a:buNone/>
            </a:pPr>
            <a:r>
              <a:rPr lang="en-US" sz="900" b="1" dirty="0">
                <a:solidFill>
                  <a:srgbClr val="0F766E"/>
                </a:solidFill>
                <a:latin typeface="Calibri" pitchFamily="34" charset="0"/>
                <a:ea typeface="Calibri" pitchFamily="34" charset="-122"/>
                <a:cs typeface="Calibri" pitchFamily="34" charset="-120"/>
              </a:rPr>
              <a:t>(keyword)</a:t>
            </a:r>
            <a:endParaRPr lang="en-US" sz="900" dirty="0"/>
          </a:p>
        </p:txBody>
      </p:sp>
      <p:sp>
        <p:nvSpPr>
          <p:cNvPr id="38" name="Shape 36"/>
          <p:cNvSpPr/>
          <p:nvPr/>
        </p:nvSpPr>
        <p:spPr>
          <a:xfrm>
            <a:off x="3694176" y="4206240"/>
            <a:ext cx="1463040" cy="347472"/>
          </a:xfrm>
          <a:prstGeom prst="roundRect">
            <a:avLst>
              <a:gd name="adj" fmla="val 18421"/>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39" name="Text 37"/>
          <p:cNvSpPr/>
          <p:nvPr/>
        </p:nvSpPr>
        <p:spPr>
          <a:xfrm>
            <a:off x="3749040" y="4206240"/>
            <a:ext cx="1353312" cy="347472"/>
          </a:xfrm>
          <a:prstGeom prst="rect">
            <a:avLst/>
          </a:prstGeom>
          <a:noFill/>
          <a:ln/>
        </p:spPr>
        <p:txBody>
          <a:bodyPr wrap="square" lIns="0" tIns="0" rIns="0" bIns="0" rtlCol="0" anchor="ctr"/>
          <a:lstStyle/>
          <a:p>
            <a:pPr marL="0" indent="0" algn="ctr">
              <a:lnSpc>
                <a:spcPts val="1008"/>
              </a:lnSpc>
              <a:buNone/>
            </a:pPr>
            <a:r>
              <a:rPr lang="en-US" sz="900" b="1" dirty="0">
                <a:solidFill>
                  <a:srgbClr val="0F766E"/>
                </a:solidFill>
                <a:latin typeface="Calibri" pitchFamily="34" charset="0"/>
                <a:ea typeface="Calibri" pitchFamily="34" charset="-122"/>
                <a:cs typeface="Calibri" pitchFamily="34" charset="-120"/>
              </a:rPr>
              <a:t>Metadata</a:t>
            </a:r>
            <a:endParaRPr lang="en-US" sz="900" dirty="0"/>
          </a:p>
          <a:p>
            <a:pPr marL="0" indent="0" algn="ctr">
              <a:lnSpc>
                <a:spcPts val="1008"/>
              </a:lnSpc>
              <a:buNone/>
            </a:pPr>
            <a:r>
              <a:rPr lang="en-US" sz="900" b="1" dirty="0">
                <a:solidFill>
                  <a:srgbClr val="0F766E"/>
                </a:solidFill>
                <a:latin typeface="Calibri" pitchFamily="34" charset="0"/>
                <a:ea typeface="Calibri" pitchFamily="34" charset="-122"/>
                <a:cs typeface="Calibri" pitchFamily="34" charset="-120"/>
              </a:rPr>
              <a:t>(SQL direct)</a:t>
            </a:r>
            <a:endParaRPr lang="en-US" sz="900" dirty="0"/>
          </a:p>
        </p:txBody>
      </p:sp>
      <p:sp>
        <p:nvSpPr>
          <p:cNvPr id="40" name="Shape 38"/>
          <p:cNvSpPr/>
          <p:nvPr/>
        </p:nvSpPr>
        <p:spPr>
          <a:xfrm>
            <a:off x="3694176" y="4608576"/>
            <a:ext cx="1463040" cy="347472"/>
          </a:xfrm>
          <a:prstGeom prst="roundRect">
            <a:avLst>
              <a:gd name="adj" fmla="val 18421"/>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41" name="Text 39"/>
          <p:cNvSpPr/>
          <p:nvPr/>
        </p:nvSpPr>
        <p:spPr>
          <a:xfrm>
            <a:off x="3749040" y="4608576"/>
            <a:ext cx="1353312" cy="347472"/>
          </a:xfrm>
          <a:prstGeom prst="rect">
            <a:avLst/>
          </a:prstGeom>
          <a:noFill/>
          <a:ln/>
        </p:spPr>
        <p:txBody>
          <a:bodyPr wrap="square" lIns="0" tIns="0" rIns="0" bIns="0" rtlCol="0" anchor="ctr"/>
          <a:lstStyle/>
          <a:p>
            <a:pPr marL="0" indent="0" algn="ctr">
              <a:lnSpc>
                <a:spcPts val="1008"/>
              </a:lnSpc>
              <a:buNone/>
            </a:pPr>
            <a:r>
              <a:rPr lang="en-US" sz="900" b="1" dirty="0">
                <a:solidFill>
                  <a:srgbClr val="0F766E"/>
                </a:solidFill>
                <a:latin typeface="Calibri" pitchFamily="34" charset="0"/>
                <a:ea typeface="Calibri" pitchFamily="34" charset="-122"/>
                <a:cs typeface="Calibri" pitchFamily="34" charset="-120"/>
              </a:rPr>
              <a:t>Structural</a:t>
            </a:r>
            <a:endParaRPr lang="en-US" sz="900" dirty="0"/>
          </a:p>
          <a:p>
            <a:pPr marL="0" indent="0" algn="ctr">
              <a:lnSpc>
                <a:spcPts val="1008"/>
              </a:lnSpc>
              <a:buNone/>
            </a:pPr>
            <a:r>
              <a:rPr lang="en-US" sz="900" b="1" dirty="0">
                <a:solidFill>
                  <a:srgbClr val="0F766E"/>
                </a:solidFill>
                <a:latin typeface="Calibri" pitchFamily="34" charset="0"/>
                <a:ea typeface="Calibri" pitchFamily="34" charset="-122"/>
                <a:cs typeface="Calibri" pitchFamily="34" charset="-120"/>
              </a:rPr>
              <a:t>(section-aware)</a:t>
            </a:r>
            <a:endParaRPr lang="en-US" sz="900" dirty="0"/>
          </a:p>
        </p:txBody>
      </p:sp>
      <p:sp>
        <p:nvSpPr>
          <p:cNvPr id="42" name="Shape 40"/>
          <p:cNvSpPr/>
          <p:nvPr/>
        </p:nvSpPr>
        <p:spPr>
          <a:xfrm>
            <a:off x="8412480" y="3035808"/>
            <a:ext cx="1572768" cy="2413000"/>
          </a:xfrm>
          <a:prstGeom prst="rect">
            <a:avLst/>
          </a:prstGeom>
          <a:solidFill>
            <a:srgbClr val="F2F6F9"/>
          </a:solidFill>
          <a:ln w="12700">
            <a:solidFill>
              <a:srgbClr val="E3E9F0"/>
            </a:solidFill>
            <a:prstDash val="solid"/>
          </a:ln>
        </p:spPr>
        <p:txBody>
          <a:bodyPr/>
          <a:lstStyle/>
          <a:p>
            <a:endParaRPr lang="en-IN"/>
          </a:p>
        </p:txBody>
      </p:sp>
      <p:sp>
        <p:nvSpPr>
          <p:cNvPr id="43" name="Text 41"/>
          <p:cNvSpPr/>
          <p:nvPr/>
        </p:nvSpPr>
        <p:spPr>
          <a:xfrm>
            <a:off x="8412480" y="3090672"/>
            <a:ext cx="1572768" cy="256032"/>
          </a:xfrm>
          <a:prstGeom prst="rect">
            <a:avLst/>
          </a:prstGeom>
          <a:noFill/>
          <a:ln/>
        </p:spPr>
        <p:txBody>
          <a:bodyPr wrap="square" lIns="0" tIns="0" rIns="0" bIns="0" rtlCol="0" anchor="ctr"/>
          <a:lstStyle/>
          <a:p>
            <a:pPr marL="0" indent="0" algn="ctr">
              <a:buNone/>
            </a:pPr>
            <a:r>
              <a:rPr lang="en-US" sz="900" b="1" kern="0" spc="150" dirty="0">
                <a:solidFill>
                  <a:srgbClr val="0F766E"/>
                </a:solidFill>
                <a:latin typeface="Calibri" pitchFamily="34" charset="0"/>
                <a:ea typeface="Calibri" pitchFamily="34" charset="-122"/>
                <a:cs typeface="Calibri" pitchFamily="34" charset="-120"/>
              </a:rPr>
              <a:t>6 CHECKS</a:t>
            </a:r>
            <a:endParaRPr lang="en-US" sz="900" dirty="0"/>
          </a:p>
        </p:txBody>
      </p:sp>
      <p:sp>
        <p:nvSpPr>
          <p:cNvPr id="44" name="Shape 42"/>
          <p:cNvSpPr/>
          <p:nvPr/>
        </p:nvSpPr>
        <p:spPr>
          <a:xfrm>
            <a:off x="8522208" y="3456432"/>
            <a:ext cx="109728" cy="109728"/>
          </a:xfrm>
          <a:prstGeom prst="ellipse">
            <a:avLst/>
          </a:prstGeom>
          <a:solidFill>
            <a:srgbClr val="14B8A6"/>
          </a:solidFill>
          <a:ln/>
        </p:spPr>
        <p:txBody>
          <a:bodyPr/>
          <a:lstStyle/>
          <a:p>
            <a:endParaRPr lang="en-IN"/>
          </a:p>
        </p:txBody>
      </p:sp>
      <p:sp>
        <p:nvSpPr>
          <p:cNvPr id="45" name="Text 43"/>
          <p:cNvSpPr/>
          <p:nvPr/>
        </p:nvSpPr>
        <p:spPr>
          <a:xfrm>
            <a:off x="8686800" y="3383280"/>
            <a:ext cx="1298448" cy="292100"/>
          </a:xfrm>
          <a:prstGeom prst="rect">
            <a:avLst/>
          </a:prstGeom>
          <a:noFill/>
          <a:ln/>
        </p:spPr>
        <p:txBody>
          <a:bodyPr wrap="square" lIns="0" tIns="0" rIns="0" bIns="0" rtlCol="0" anchor="ctr"/>
          <a:lstStyle/>
          <a:p>
            <a:pPr marL="0" indent="0">
              <a:buNone/>
            </a:pPr>
            <a:r>
              <a:rPr lang="en-US" sz="900" dirty="0">
                <a:solidFill>
                  <a:srgbClr val="33415A"/>
                </a:solidFill>
                <a:latin typeface="Calibri" pitchFamily="34" charset="0"/>
                <a:ea typeface="Calibri" pitchFamily="34" charset="-122"/>
                <a:cs typeface="Calibri" pitchFamily="34" charset="-120"/>
              </a:rPr>
              <a:t>Supersession risk</a:t>
            </a:r>
            <a:endParaRPr lang="en-US" sz="900" dirty="0"/>
          </a:p>
        </p:txBody>
      </p:sp>
      <p:sp>
        <p:nvSpPr>
          <p:cNvPr id="46" name="Shape 44"/>
          <p:cNvSpPr/>
          <p:nvPr/>
        </p:nvSpPr>
        <p:spPr>
          <a:xfrm>
            <a:off x="8522208" y="3803904"/>
            <a:ext cx="109728" cy="109728"/>
          </a:xfrm>
          <a:prstGeom prst="ellipse">
            <a:avLst/>
          </a:prstGeom>
          <a:solidFill>
            <a:srgbClr val="14B8A6"/>
          </a:solidFill>
          <a:ln/>
        </p:spPr>
        <p:txBody>
          <a:bodyPr/>
          <a:lstStyle/>
          <a:p>
            <a:endParaRPr lang="en-IN"/>
          </a:p>
        </p:txBody>
      </p:sp>
      <p:sp>
        <p:nvSpPr>
          <p:cNvPr id="47" name="Text 45"/>
          <p:cNvSpPr/>
          <p:nvPr/>
        </p:nvSpPr>
        <p:spPr>
          <a:xfrm>
            <a:off x="8686800" y="3730752"/>
            <a:ext cx="1298448" cy="292100"/>
          </a:xfrm>
          <a:prstGeom prst="rect">
            <a:avLst/>
          </a:prstGeom>
          <a:noFill/>
          <a:ln/>
        </p:spPr>
        <p:txBody>
          <a:bodyPr wrap="square" lIns="0" tIns="0" rIns="0" bIns="0" rtlCol="0" anchor="ctr"/>
          <a:lstStyle/>
          <a:p>
            <a:pPr marL="0" indent="0">
              <a:buNone/>
            </a:pPr>
            <a:r>
              <a:rPr lang="en-US" sz="900" dirty="0">
                <a:solidFill>
                  <a:srgbClr val="33415A"/>
                </a:solidFill>
                <a:latin typeface="Calibri" pitchFamily="34" charset="0"/>
                <a:ea typeface="Calibri" pitchFamily="34" charset="-122"/>
                <a:cs typeface="Calibri" pitchFamily="34" charset="-120"/>
              </a:rPr>
              <a:t>Key-phrase grounding</a:t>
            </a:r>
            <a:endParaRPr lang="en-US" sz="900" dirty="0"/>
          </a:p>
        </p:txBody>
      </p:sp>
      <p:sp>
        <p:nvSpPr>
          <p:cNvPr id="48" name="Shape 46"/>
          <p:cNvSpPr/>
          <p:nvPr/>
        </p:nvSpPr>
        <p:spPr>
          <a:xfrm>
            <a:off x="8522208" y="4151376"/>
            <a:ext cx="109728" cy="109728"/>
          </a:xfrm>
          <a:prstGeom prst="ellipse">
            <a:avLst/>
          </a:prstGeom>
          <a:solidFill>
            <a:srgbClr val="14B8A6"/>
          </a:solidFill>
          <a:ln/>
        </p:spPr>
        <p:txBody>
          <a:bodyPr/>
          <a:lstStyle/>
          <a:p>
            <a:endParaRPr lang="en-IN"/>
          </a:p>
        </p:txBody>
      </p:sp>
      <p:sp>
        <p:nvSpPr>
          <p:cNvPr id="49" name="Text 47"/>
          <p:cNvSpPr/>
          <p:nvPr/>
        </p:nvSpPr>
        <p:spPr>
          <a:xfrm>
            <a:off x="8686800" y="4078224"/>
            <a:ext cx="1298448" cy="292100"/>
          </a:xfrm>
          <a:prstGeom prst="rect">
            <a:avLst/>
          </a:prstGeom>
          <a:noFill/>
          <a:ln/>
        </p:spPr>
        <p:txBody>
          <a:bodyPr wrap="square" lIns="0" tIns="0" rIns="0" bIns="0" rtlCol="0" anchor="ctr"/>
          <a:lstStyle/>
          <a:p>
            <a:pPr marL="0" indent="0">
              <a:buNone/>
            </a:pPr>
            <a:r>
              <a:rPr lang="en-US" sz="900" dirty="0">
                <a:solidFill>
                  <a:srgbClr val="33415A"/>
                </a:solidFill>
                <a:latin typeface="Calibri" pitchFamily="34" charset="0"/>
                <a:ea typeface="Calibri" pitchFamily="34" charset="-122"/>
                <a:cs typeface="Calibri" pitchFamily="34" charset="-120"/>
              </a:rPr>
              <a:t>Numerical verification</a:t>
            </a:r>
            <a:endParaRPr lang="en-US" sz="900" dirty="0"/>
          </a:p>
        </p:txBody>
      </p:sp>
      <p:sp>
        <p:nvSpPr>
          <p:cNvPr id="50" name="Shape 48"/>
          <p:cNvSpPr/>
          <p:nvPr/>
        </p:nvSpPr>
        <p:spPr>
          <a:xfrm>
            <a:off x="8522208" y="4498848"/>
            <a:ext cx="109728" cy="109728"/>
          </a:xfrm>
          <a:prstGeom prst="ellipse">
            <a:avLst/>
          </a:prstGeom>
          <a:solidFill>
            <a:srgbClr val="14B8A6"/>
          </a:solidFill>
          <a:ln/>
        </p:spPr>
        <p:txBody>
          <a:bodyPr/>
          <a:lstStyle/>
          <a:p>
            <a:endParaRPr lang="en-IN"/>
          </a:p>
        </p:txBody>
      </p:sp>
      <p:sp>
        <p:nvSpPr>
          <p:cNvPr id="51" name="Text 49"/>
          <p:cNvSpPr/>
          <p:nvPr/>
        </p:nvSpPr>
        <p:spPr>
          <a:xfrm>
            <a:off x="8686800" y="4425696"/>
            <a:ext cx="1298448" cy="292100"/>
          </a:xfrm>
          <a:prstGeom prst="rect">
            <a:avLst/>
          </a:prstGeom>
          <a:noFill/>
          <a:ln/>
        </p:spPr>
        <p:txBody>
          <a:bodyPr wrap="square" lIns="0" tIns="0" rIns="0" bIns="0" rtlCol="0" anchor="ctr"/>
          <a:lstStyle/>
          <a:p>
            <a:pPr marL="0" indent="0">
              <a:buNone/>
            </a:pPr>
            <a:r>
              <a:rPr lang="en-US" sz="900" dirty="0">
                <a:solidFill>
                  <a:srgbClr val="33415A"/>
                </a:solidFill>
                <a:latin typeface="Calibri" pitchFamily="34" charset="0"/>
                <a:ea typeface="Calibri" pitchFamily="34" charset="-122"/>
                <a:cs typeface="Calibri" pitchFamily="34" charset="-120"/>
              </a:rPr>
              <a:t>Scope match</a:t>
            </a:r>
            <a:endParaRPr lang="en-US" sz="900" dirty="0"/>
          </a:p>
        </p:txBody>
      </p:sp>
      <p:sp>
        <p:nvSpPr>
          <p:cNvPr id="52" name="Shape 50"/>
          <p:cNvSpPr/>
          <p:nvPr/>
        </p:nvSpPr>
        <p:spPr>
          <a:xfrm>
            <a:off x="8522208" y="4846320"/>
            <a:ext cx="109728" cy="109728"/>
          </a:xfrm>
          <a:prstGeom prst="ellipse">
            <a:avLst/>
          </a:prstGeom>
          <a:solidFill>
            <a:srgbClr val="14B8A6"/>
          </a:solidFill>
          <a:ln/>
        </p:spPr>
        <p:txBody>
          <a:bodyPr/>
          <a:lstStyle/>
          <a:p>
            <a:endParaRPr lang="en-IN"/>
          </a:p>
        </p:txBody>
      </p:sp>
      <p:sp>
        <p:nvSpPr>
          <p:cNvPr id="53" name="Text 51"/>
          <p:cNvSpPr/>
          <p:nvPr/>
        </p:nvSpPr>
        <p:spPr>
          <a:xfrm>
            <a:off x="8686800" y="4773168"/>
            <a:ext cx="1298448" cy="292100"/>
          </a:xfrm>
          <a:prstGeom prst="rect">
            <a:avLst/>
          </a:prstGeom>
          <a:noFill/>
          <a:ln/>
        </p:spPr>
        <p:txBody>
          <a:bodyPr wrap="square" lIns="0" tIns="0" rIns="0" bIns="0" rtlCol="0" anchor="ctr"/>
          <a:lstStyle/>
          <a:p>
            <a:pPr marL="0" indent="0">
              <a:buNone/>
            </a:pPr>
            <a:r>
              <a:rPr lang="en-US" sz="900" dirty="0">
                <a:solidFill>
                  <a:srgbClr val="33415A"/>
                </a:solidFill>
                <a:latin typeface="Calibri" pitchFamily="34" charset="0"/>
                <a:ea typeface="Calibri" pitchFamily="34" charset="-122"/>
                <a:cs typeface="Calibri" pitchFamily="34" charset="-120"/>
              </a:rPr>
              <a:t>Confidence threshold</a:t>
            </a:r>
            <a:endParaRPr lang="en-US" sz="900" dirty="0"/>
          </a:p>
        </p:txBody>
      </p:sp>
      <p:sp>
        <p:nvSpPr>
          <p:cNvPr id="54" name="Shape 52"/>
          <p:cNvSpPr/>
          <p:nvPr/>
        </p:nvSpPr>
        <p:spPr>
          <a:xfrm>
            <a:off x="8522208" y="5156200"/>
            <a:ext cx="109728" cy="109728"/>
          </a:xfrm>
          <a:prstGeom prst="ellipse">
            <a:avLst/>
          </a:prstGeom>
          <a:solidFill>
            <a:srgbClr val="14B8A6"/>
          </a:solidFill>
          <a:ln/>
        </p:spPr>
        <p:txBody>
          <a:bodyPr/>
          <a:lstStyle/>
          <a:p>
            <a:endParaRPr lang="en-IN"/>
          </a:p>
        </p:txBody>
      </p:sp>
      <p:sp>
        <p:nvSpPr>
          <p:cNvPr id="55" name="Text 53"/>
          <p:cNvSpPr/>
          <p:nvPr/>
        </p:nvSpPr>
        <p:spPr>
          <a:xfrm>
            <a:off x="8686800" y="5080000"/>
            <a:ext cx="1298448" cy="292100"/>
          </a:xfrm>
          <a:prstGeom prst="rect">
            <a:avLst/>
          </a:prstGeom>
          <a:noFill/>
          <a:ln/>
        </p:spPr>
        <p:txBody>
          <a:bodyPr wrap="square" lIns="0" tIns="0" rIns="0" bIns="0" rtlCol="0" anchor="ctr"/>
          <a:lstStyle/>
          <a:p>
            <a:pPr marL="0" indent="0">
              <a:buNone/>
            </a:pPr>
            <a:r>
              <a:rPr lang="en-US" sz="900" dirty="0">
                <a:solidFill>
                  <a:srgbClr val="33415A"/>
                </a:solidFill>
                <a:latin typeface="Calibri" pitchFamily="34" charset="0"/>
                <a:ea typeface="Calibri" pitchFamily="34" charset="-122"/>
                <a:cs typeface="Calibri" pitchFamily="34" charset="-120"/>
              </a:rPr>
              <a:t>Refuse if insufficient</a:t>
            </a:r>
            <a:endParaRPr lang="en-US" sz="900" dirty="0"/>
          </a:p>
        </p:txBody>
      </p:sp>
      <p:sp>
        <p:nvSpPr>
          <p:cNvPr id="56" name="Shape 54"/>
          <p:cNvSpPr/>
          <p:nvPr/>
        </p:nvSpPr>
        <p:spPr>
          <a:xfrm>
            <a:off x="548640" y="5461000"/>
            <a:ext cx="11094415" cy="279400"/>
          </a:xfrm>
          <a:prstGeom prst="rect">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57" name="Shape 55"/>
          <p:cNvSpPr/>
          <p:nvPr/>
        </p:nvSpPr>
        <p:spPr>
          <a:xfrm>
            <a:off x="548640" y="5461000"/>
            <a:ext cx="45720" cy="279400"/>
          </a:xfrm>
          <a:prstGeom prst="rect">
            <a:avLst/>
          </a:prstGeom>
          <a:solidFill>
            <a:srgbClr val="F26A4B"/>
          </a:solidFill>
          <a:ln/>
        </p:spPr>
        <p:txBody>
          <a:bodyPr/>
          <a:lstStyle/>
          <a:p>
            <a:endParaRPr lang="en-IN"/>
          </a:p>
        </p:txBody>
      </p:sp>
      <p:sp>
        <p:nvSpPr>
          <p:cNvPr id="58" name="Text 56"/>
          <p:cNvSpPr/>
          <p:nvPr/>
        </p:nvSpPr>
        <p:spPr>
          <a:xfrm>
            <a:off x="822960" y="5461000"/>
            <a:ext cx="10637215" cy="279400"/>
          </a:xfrm>
          <a:prstGeom prst="rect">
            <a:avLst/>
          </a:prstGeom>
          <a:noFill/>
          <a:ln/>
        </p:spPr>
        <p:txBody>
          <a:bodyPr wrap="square" lIns="0" tIns="0" rIns="0" bIns="0" rtlCol="0" anchor="ctr"/>
          <a:lstStyle/>
          <a:p>
            <a:pPr marL="0" indent="0">
              <a:buNone/>
            </a:pPr>
            <a:r>
              <a:rPr lang="en-US" sz="1300" i="1" dirty="0">
                <a:solidFill>
                  <a:srgbClr val="5EEAD4"/>
                </a:solidFill>
                <a:latin typeface="Calibri" pitchFamily="34" charset="0"/>
                <a:ea typeface="Calibri" pitchFamily="34" charset="-122"/>
                <a:cs typeface="Calibri" pitchFamily="34" charset="-120"/>
              </a:rPr>
              <a:t>Amendment-aware retrieval ensures cited evidence always reflects the current contract — not a superseded clause.</a:t>
            </a:r>
            <a:endParaRPr lang="en-US" sz="1300" dirty="0"/>
          </a:p>
        </p:txBody>
      </p:sp>
      <p:sp>
        <p:nvSpPr>
          <p:cNvPr id="59" name="Text 57"/>
          <p:cNvSpPr/>
          <p:nvPr/>
        </p:nvSpPr>
        <p:spPr>
          <a:xfrm>
            <a:off x="548640" y="6473952"/>
            <a:ext cx="8229600" cy="256032"/>
          </a:xfrm>
          <a:prstGeom prst="rect">
            <a:avLst/>
          </a:prstGeom>
          <a:noFill/>
          <a:ln/>
        </p:spPr>
        <p:txBody>
          <a:bodyPr wrap="square" lIns="0" tIns="0" rIns="0" bIns="0" rtlCol="0" anchor="ctr"/>
          <a:lstStyle/>
          <a:p>
            <a:pPr marL="0" indent="0">
              <a:buNone/>
            </a:pPr>
            <a:r>
              <a:rPr lang="en-US" sz="800" b="1" kern="0" spc="80" dirty="0">
                <a:solidFill>
                  <a:srgbClr val="64748B"/>
                </a:solidFill>
                <a:latin typeface="Calibri" pitchFamily="34" charset="0"/>
                <a:ea typeface="Calibri" pitchFamily="34" charset="-122"/>
                <a:cs typeface="Calibri" pitchFamily="34" charset="-120"/>
              </a:rPr>
              <a:t>PROVIDER CONTRACT INTELLIGENCE PLATFORM</a:t>
            </a:r>
            <a:r>
              <a:rPr lang="en-US" sz="800" kern="0" spc="8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60" name="Text 58"/>
          <p:cNvSpPr/>
          <p:nvPr/>
        </p:nvSpPr>
        <p:spPr>
          <a:xfrm>
            <a:off x="10728655" y="6473952"/>
            <a:ext cx="914400" cy="256032"/>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256032"/>
          </a:xfrm>
          <a:prstGeom prst="rect">
            <a:avLst/>
          </a:prstGeom>
          <a:noFill/>
          <a:ln/>
        </p:spPr>
        <p:txBody>
          <a:bodyPr wrap="square" lIns="0" tIns="0" rIns="0" bIns="0" rtlCol="0" anchor="ctr"/>
          <a:lstStyle/>
          <a:p>
            <a:pPr marL="0" indent="0">
              <a:buNone/>
            </a:pPr>
            <a:r>
              <a:rPr lang="en-US" sz="1100" b="1" kern="0" spc="250" dirty="0">
                <a:solidFill>
                  <a:srgbClr val="0F766E"/>
                </a:solidFill>
                <a:latin typeface="Calibri" pitchFamily="34" charset="0"/>
                <a:ea typeface="Calibri" pitchFamily="34" charset="-122"/>
                <a:cs typeface="Calibri" pitchFamily="34" charset="-120"/>
              </a:rPr>
              <a:t>SECTION 08 · THE GENIE EXPERIENCE</a:t>
            </a:r>
            <a:endParaRPr lang="en-US" sz="1100" dirty="0"/>
          </a:p>
        </p:txBody>
      </p:sp>
      <p:sp>
        <p:nvSpPr>
          <p:cNvPr id="3" name="Text 1"/>
          <p:cNvSpPr/>
          <p:nvPr/>
        </p:nvSpPr>
        <p:spPr>
          <a:xfrm>
            <a:off x="548640" y="804672"/>
            <a:ext cx="7987979" cy="1005840"/>
          </a:xfrm>
          <a:prstGeom prst="rect">
            <a:avLst/>
          </a:prstGeom>
          <a:noFill/>
          <a:ln/>
        </p:spPr>
        <p:txBody>
          <a:bodyPr wrap="square" lIns="0" tIns="0" rIns="0" bIns="0" rtlCol="0" anchor="t"/>
          <a:lstStyle/>
          <a:p>
            <a:pPr marL="0" indent="0">
              <a:lnSpc>
                <a:spcPts val="3080"/>
              </a:lnSpc>
              <a:buNone/>
            </a:pPr>
            <a:r>
              <a:rPr lang="en-US" sz="2800" b="1" dirty="0">
                <a:solidFill>
                  <a:srgbClr val="0B1B2E"/>
                </a:solidFill>
                <a:latin typeface="Georgia" pitchFamily="34" charset="0"/>
                <a:ea typeface="Georgia" pitchFamily="34" charset="-122"/>
                <a:cs typeface="Georgia" pitchFamily="34" charset="-120"/>
              </a:rPr>
              <a:t>The business simply asks — in plain English</a:t>
            </a:r>
            <a:endParaRPr lang="en-US" sz="2800" dirty="0"/>
          </a:p>
        </p:txBody>
      </p:sp>
      <p:sp>
        <p:nvSpPr>
          <p:cNvPr id="4" name="Shape 2"/>
          <p:cNvSpPr/>
          <p:nvPr/>
        </p:nvSpPr>
        <p:spPr>
          <a:xfrm>
            <a:off x="548640" y="1874520"/>
            <a:ext cx="5669280" cy="658368"/>
          </a:xfrm>
          <a:prstGeom prst="roundRect">
            <a:avLst>
              <a:gd name="adj" fmla="val 9722"/>
            </a:avLst>
          </a:prstGeom>
          <a:solidFill>
            <a:srgbClr val="E7F6F4"/>
          </a:solidFill>
          <a:ln/>
          <a:effectLst>
            <a:outerShdw blurRad="101600" dist="25400" dir="8100000" algn="bl" rotWithShape="0">
              <a:srgbClr val="1E293B">
                <a:alpha val="11000"/>
              </a:srgbClr>
            </a:outerShdw>
          </a:effectLst>
        </p:spPr>
        <p:txBody>
          <a:bodyPr/>
          <a:lstStyle/>
          <a:p>
            <a:endParaRPr lang="en-IN"/>
          </a:p>
        </p:txBody>
      </p:sp>
      <p:sp>
        <p:nvSpPr>
          <p:cNvPr id="5" name="Text 3"/>
          <p:cNvSpPr/>
          <p:nvPr/>
        </p:nvSpPr>
        <p:spPr>
          <a:xfrm>
            <a:off x="713232" y="1874520"/>
            <a:ext cx="5394960" cy="658368"/>
          </a:xfrm>
          <a:prstGeom prst="rect">
            <a:avLst/>
          </a:prstGeom>
          <a:noFill/>
          <a:ln/>
        </p:spPr>
        <p:txBody>
          <a:bodyPr wrap="square" lIns="0" tIns="0" rIns="0" bIns="0" rtlCol="0" anchor="ctr"/>
          <a:lstStyle/>
          <a:p>
            <a:pPr marL="0" indent="0">
              <a:lnSpc>
                <a:spcPts val="1450"/>
              </a:lnSpc>
              <a:buNone/>
            </a:pPr>
            <a:r>
              <a:rPr lang="en-US" sz="1150" dirty="0">
                <a:solidFill>
                  <a:srgbClr val="0F766E"/>
                </a:solidFill>
                <a:latin typeface="Calibri" pitchFamily="34" charset="0"/>
                <a:ea typeface="Calibri" pitchFamily="34" charset="-122"/>
                <a:cs typeface="Calibri" pitchFamily="34" charset="-120"/>
              </a:rPr>
              <a:t>User question — plain English</a:t>
            </a:r>
            <a:endParaRPr lang="en-US" sz="1150" dirty="0"/>
          </a:p>
        </p:txBody>
      </p:sp>
      <p:sp>
        <p:nvSpPr>
          <p:cNvPr id="6" name="Shape 4"/>
          <p:cNvSpPr/>
          <p:nvPr/>
        </p:nvSpPr>
        <p:spPr>
          <a:xfrm>
            <a:off x="3383280" y="2551176"/>
            <a:ext cx="0" cy="182880"/>
          </a:xfrm>
          <a:prstGeom prst="line">
            <a:avLst/>
          </a:prstGeom>
          <a:noFill/>
          <a:ln w="22860">
            <a:solidFill>
              <a:srgbClr val="0F766E"/>
            </a:solidFill>
            <a:prstDash val="solid"/>
            <a:tailEnd type="triangle"/>
          </a:ln>
        </p:spPr>
        <p:txBody>
          <a:bodyPr/>
          <a:lstStyle/>
          <a:p>
            <a:endParaRPr lang="en-IN"/>
          </a:p>
        </p:txBody>
      </p:sp>
      <p:sp>
        <p:nvSpPr>
          <p:cNvPr id="7" name="Shape 5"/>
          <p:cNvSpPr/>
          <p:nvPr/>
        </p:nvSpPr>
        <p:spPr>
          <a:xfrm>
            <a:off x="548640" y="2734056"/>
            <a:ext cx="5669280" cy="658368"/>
          </a:xfrm>
          <a:prstGeom prst="roundRect">
            <a:avLst>
              <a:gd name="adj" fmla="val 9722"/>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8" name="Shape 6"/>
          <p:cNvSpPr/>
          <p:nvPr/>
        </p:nvSpPr>
        <p:spPr>
          <a:xfrm>
            <a:off x="548640" y="2734056"/>
            <a:ext cx="82296" cy="658368"/>
          </a:xfrm>
          <a:prstGeom prst="rect">
            <a:avLst/>
          </a:prstGeom>
          <a:solidFill>
            <a:srgbClr val="14B8A6"/>
          </a:solidFill>
          <a:ln/>
        </p:spPr>
        <p:txBody>
          <a:bodyPr/>
          <a:lstStyle/>
          <a:p>
            <a:endParaRPr lang="en-IN"/>
          </a:p>
        </p:txBody>
      </p:sp>
      <p:sp>
        <p:nvSpPr>
          <p:cNvPr id="9" name="Text 7"/>
          <p:cNvSpPr/>
          <p:nvPr/>
        </p:nvSpPr>
        <p:spPr>
          <a:xfrm>
            <a:off x="804672" y="2734056"/>
            <a:ext cx="5303520" cy="658368"/>
          </a:xfrm>
          <a:prstGeom prst="rect">
            <a:avLst/>
          </a:prstGeom>
          <a:noFill/>
          <a:ln/>
        </p:spPr>
        <p:txBody>
          <a:bodyPr wrap="square" lIns="0" tIns="0" rIns="0" bIns="0" rtlCol="0" anchor="ctr"/>
          <a:lstStyle/>
          <a:p>
            <a:pPr marL="0" indent="0">
              <a:lnSpc>
                <a:spcPts val="1450"/>
              </a:lnSpc>
              <a:buNone/>
            </a:pPr>
            <a:r>
              <a:rPr lang="en-US" sz="1150" b="1" dirty="0">
                <a:solidFill>
                  <a:srgbClr val="FFFFFF"/>
                </a:solidFill>
                <a:latin typeface="Calibri" pitchFamily="34" charset="0"/>
                <a:ea typeface="Calibri" pitchFamily="34" charset="-122"/>
                <a:cs typeface="Calibri" pitchFamily="34" charset="-120"/>
              </a:rPr>
              <a:t>Genie semantic layer</a:t>
            </a:r>
            <a:endParaRPr lang="en-US" sz="1150" dirty="0"/>
          </a:p>
          <a:p>
            <a:pPr marL="0" indent="0">
              <a:lnSpc>
                <a:spcPts val="1450"/>
              </a:lnSpc>
              <a:buNone/>
            </a:pPr>
            <a:r>
              <a:rPr lang="en-US" sz="1150" b="1" dirty="0">
                <a:solidFill>
                  <a:srgbClr val="FFFFFF"/>
                </a:solidFill>
                <a:latin typeface="Calibri" pitchFamily="34" charset="0"/>
                <a:ea typeface="Calibri" pitchFamily="34" charset="-122"/>
                <a:cs typeface="Calibri" pitchFamily="34" charset="-120"/>
              </a:rPr>
              <a:t>(curated gold tables + business column descriptions → governed SQL)</a:t>
            </a:r>
            <a:endParaRPr lang="en-US" sz="1150" dirty="0"/>
          </a:p>
        </p:txBody>
      </p:sp>
      <p:sp>
        <p:nvSpPr>
          <p:cNvPr id="10" name="Shape 8"/>
          <p:cNvSpPr/>
          <p:nvPr/>
        </p:nvSpPr>
        <p:spPr>
          <a:xfrm>
            <a:off x="3383280" y="3410712"/>
            <a:ext cx="0" cy="182880"/>
          </a:xfrm>
          <a:prstGeom prst="line">
            <a:avLst/>
          </a:prstGeom>
          <a:noFill/>
          <a:ln w="22860">
            <a:solidFill>
              <a:srgbClr val="0F766E"/>
            </a:solidFill>
            <a:prstDash val="solid"/>
            <a:tailEnd type="triangle"/>
          </a:ln>
        </p:spPr>
        <p:txBody>
          <a:bodyPr/>
          <a:lstStyle/>
          <a:p>
            <a:endParaRPr lang="en-IN"/>
          </a:p>
        </p:txBody>
      </p:sp>
      <p:sp>
        <p:nvSpPr>
          <p:cNvPr id="11" name="Shape 9"/>
          <p:cNvSpPr/>
          <p:nvPr/>
        </p:nvSpPr>
        <p:spPr>
          <a:xfrm>
            <a:off x="548640" y="3593592"/>
            <a:ext cx="5669280" cy="658368"/>
          </a:xfrm>
          <a:prstGeom prst="roundRect">
            <a:avLst>
              <a:gd name="adj" fmla="val 9722"/>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12" name="Text 10"/>
          <p:cNvSpPr/>
          <p:nvPr/>
        </p:nvSpPr>
        <p:spPr>
          <a:xfrm>
            <a:off x="713232" y="3593592"/>
            <a:ext cx="5394960" cy="658368"/>
          </a:xfrm>
          <a:prstGeom prst="rect">
            <a:avLst/>
          </a:prstGeom>
          <a:noFill/>
          <a:ln/>
        </p:spPr>
        <p:txBody>
          <a:bodyPr wrap="square" lIns="0" tIns="0" rIns="0" bIns="0" rtlCol="0" anchor="ctr"/>
          <a:lstStyle/>
          <a:p>
            <a:pPr marL="0" indent="0">
              <a:lnSpc>
                <a:spcPts val="1450"/>
              </a:lnSpc>
              <a:buNone/>
            </a:pPr>
            <a:r>
              <a:rPr lang="en-US" sz="1150" dirty="0">
                <a:solidFill>
                  <a:srgbClr val="33415A"/>
                </a:solidFill>
                <a:latin typeface="Calibri" pitchFamily="34" charset="0"/>
                <a:ea typeface="Calibri" pitchFamily="34" charset="-122"/>
                <a:cs typeface="Calibri" pitchFamily="34" charset="-120"/>
              </a:rPr>
              <a:t>Auto-generated governed SQL</a:t>
            </a:r>
            <a:endParaRPr lang="en-US" sz="1150" dirty="0"/>
          </a:p>
        </p:txBody>
      </p:sp>
      <p:sp>
        <p:nvSpPr>
          <p:cNvPr id="13" name="Shape 11"/>
          <p:cNvSpPr/>
          <p:nvPr/>
        </p:nvSpPr>
        <p:spPr>
          <a:xfrm>
            <a:off x="3383280" y="4270248"/>
            <a:ext cx="0" cy="182880"/>
          </a:xfrm>
          <a:prstGeom prst="line">
            <a:avLst/>
          </a:prstGeom>
          <a:noFill/>
          <a:ln w="22860">
            <a:solidFill>
              <a:srgbClr val="0F766E"/>
            </a:solidFill>
            <a:prstDash val="solid"/>
            <a:tailEnd type="triangle"/>
          </a:ln>
        </p:spPr>
        <p:txBody>
          <a:bodyPr/>
          <a:lstStyle/>
          <a:p>
            <a:endParaRPr lang="en-IN"/>
          </a:p>
        </p:txBody>
      </p:sp>
      <p:sp>
        <p:nvSpPr>
          <p:cNvPr id="14" name="Shape 12"/>
          <p:cNvSpPr/>
          <p:nvPr/>
        </p:nvSpPr>
        <p:spPr>
          <a:xfrm>
            <a:off x="548640" y="4453128"/>
            <a:ext cx="5669280" cy="658368"/>
          </a:xfrm>
          <a:prstGeom prst="roundRect">
            <a:avLst>
              <a:gd name="adj" fmla="val 9722"/>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15" name="Text 13"/>
          <p:cNvSpPr/>
          <p:nvPr/>
        </p:nvSpPr>
        <p:spPr>
          <a:xfrm>
            <a:off x="713232" y="4453128"/>
            <a:ext cx="5394960" cy="658368"/>
          </a:xfrm>
          <a:prstGeom prst="rect">
            <a:avLst/>
          </a:prstGeom>
          <a:noFill/>
          <a:ln/>
        </p:spPr>
        <p:txBody>
          <a:bodyPr wrap="square" lIns="0" tIns="0" rIns="0" bIns="0" rtlCol="0" anchor="ctr"/>
          <a:lstStyle/>
          <a:p>
            <a:pPr marL="0" indent="0">
              <a:lnSpc>
                <a:spcPts val="1450"/>
              </a:lnSpc>
              <a:buNone/>
            </a:pPr>
            <a:r>
              <a:rPr lang="en-US" sz="1150" dirty="0">
                <a:solidFill>
                  <a:srgbClr val="33415A"/>
                </a:solidFill>
                <a:latin typeface="Calibri" pitchFamily="34" charset="0"/>
                <a:ea typeface="Calibri" pitchFamily="34" charset="-122"/>
                <a:cs typeface="Calibri" pitchFamily="34" charset="-120"/>
              </a:rPr>
              <a:t>Curated, governed gold tables</a:t>
            </a:r>
            <a:endParaRPr lang="en-US" sz="1150" dirty="0"/>
          </a:p>
        </p:txBody>
      </p:sp>
      <p:sp>
        <p:nvSpPr>
          <p:cNvPr id="16" name="Shape 14"/>
          <p:cNvSpPr/>
          <p:nvPr/>
        </p:nvSpPr>
        <p:spPr>
          <a:xfrm>
            <a:off x="3383280" y="5129784"/>
            <a:ext cx="0" cy="182880"/>
          </a:xfrm>
          <a:prstGeom prst="line">
            <a:avLst/>
          </a:prstGeom>
          <a:noFill/>
          <a:ln w="22860">
            <a:solidFill>
              <a:srgbClr val="0F766E"/>
            </a:solidFill>
            <a:prstDash val="solid"/>
            <a:tailEnd type="triangle"/>
          </a:ln>
        </p:spPr>
        <p:txBody>
          <a:bodyPr/>
          <a:lstStyle/>
          <a:p>
            <a:endParaRPr lang="en-IN"/>
          </a:p>
        </p:txBody>
      </p:sp>
      <p:sp>
        <p:nvSpPr>
          <p:cNvPr id="17" name="Shape 15"/>
          <p:cNvSpPr/>
          <p:nvPr/>
        </p:nvSpPr>
        <p:spPr>
          <a:xfrm>
            <a:off x="548640" y="5312664"/>
            <a:ext cx="5669280" cy="658368"/>
          </a:xfrm>
          <a:prstGeom prst="roundRect">
            <a:avLst>
              <a:gd name="adj" fmla="val 9722"/>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18" name="Shape 16"/>
          <p:cNvSpPr/>
          <p:nvPr/>
        </p:nvSpPr>
        <p:spPr>
          <a:xfrm>
            <a:off x="548640" y="5312664"/>
            <a:ext cx="82296" cy="658368"/>
          </a:xfrm>
          <a:prstGeom prst="rect">
            <a:avLst/>
          </a:prstGeom>
          <a:solidFill>
            <a:srgbClr val="14B8A6"/>
          </a:solidFill>
          <a:ln/>
        </p:spPr>
        <p:txBody>
          <a:bodyPr/>
          <a:lstStyle/>
          <a:p>
            <a:endParaRPr lang="en-IN"/>
          </a:p>
        </p:txBody>
      </p:sp>
      <p:sp>
        <p:nvSpPr>
          <p:cNvPr id="19" name="Text 17"/>
          <p:cNvSpPr/>
          <p:nvPr/>
        </p:nvSpPr>
        <p:spPr>
          <a:xfrm>
            <a:off x="804672" y="5312664"/>
            <a:ext cx="5303520" cy="658368"/>
          </a:xfrm>
          <a:prstGeom prst="rect">
            <a:avLst/>
          </a:prstGeom>
          <a:noFill/>
          <a:ln/>
        </p:spPr>
        <p:txBody>
          <a:bodyPr wrap="square" lIns="0" tIns="0" rIns="0" bIns="0" rtlCol="0" anchor="ctr"/>
          <a:lstStyle/>
          <a:p>
            <a:pPr marL="0" indent="0">
              <a:lnSpc>
                <a:spcPts val="1450"/>
              </a:lnSpc>
              <a:buNone/>
            </a:pPr>
            <a:r>
              <a:rPr lang="en-US" sz="1150" b="1" dirty="0">
                <a:solidFill>
                  <a:srgbClr val="5EEAD4"/>
                </a:solidFill>
                <a:latin typeface="Calibri" pitchFamily="34" charset="0"/>
                <a:ea typeface="Calibri" pitchFamily="34" charset="-122"/>
                <a:cs typeface="Calibri" pitchFamily="34" charset="-120"/>
              </a:rPr>
              <a:t>Answer in seconds — no SQL, no ticket</a:t>
            </a:r>
            <a:endParaRPr lang="en-US" sz="1150" dirty="0"/>
          </a:p>
        </p:txBody>
      </p:sp>
      <p:sp>
        <p:nvSpPr>
          <p:cNvPr id="20" name="Text 18"/>
          <p:cNvSpPr/>
          <p:nvPr/>
        </p:nvSpPr>
        <p:spPr>
          <a:xfrm>
            <a:off x="6492240" y="1874520"/>
            <a:ext cx="5150815" cy="256032"/>
          </a:xfrm>
          <a:prstGeom prst="rect">
            <a:avLst/>
          </a:prstGeom>
          <a:noFill/>
          <a:ln/>
        </p:spPr>
        <p:txBody>
          <a:bodyPr wrap="square" lIns="0" tIns="0" rIns="0" bIns="0" rtlCol="0" anchor="ctr"/>
          <a:lstStyle/>
          <a:p>
            <a:pPr marL="0" indent="0">
              <a:buNone/>
            </a:pPr>
            <a:r>
              <a:rPr lang="en-US" sz="1000" b="1" kern="0" spc="200" dirty="0">
                <a:solidFill>
                  <a:srgbClr val="14B8A6"/>
                </a:solidFill>
                <a:latin typeface="Calibri" pitchFamily="34" charset="0"/>
                <a:ea typeface="Calibri" pitchFamily="34" charset="-122"/>
                <a:cs typeface="Calibri" pitchFamily="34" charset="-120"/>
              </a:rPr>
              <a:t>SCOPE OF USE</a:t>
            </a:r>
            <a:endParaRPr lang="en-US" sz="1000" dirty="0"/>
          </a:p>
        </p:txBody>
      </p:sp>
      <p:sp>
        <p:nvSpPr>
          <p:cNvPr id="21" name="Shape 19"/>
          <p:cNvSpPr/>
          <p:nvPr/>
        </p:nvSpPr>
        <p:spPr>
          <a:xfrm>
            <a:off x="6492240" y="2212848"/>
            <a:ext cx="5150815" cy="658368"/>
          </a:xfrm>
          <a:prstGeom prst="rect">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22" name="Shape 20"/>
          <p:cNvSpPr/>
          <p:nvPr/>
        </p:nvSpPr>
        <p:spPr>
          <a:xfrm>
            <a:off x="6492240" y="2212848"/>
            <a:ext cx="82296" cy="658368"/>
          </a:xfrm>
          <a:prstGeom prst="rect">
            <a:avLst/>
          </a:prstGeom>
          <a:solidFill>
            <a:srgbClr val="14B8A6"/>
          </a:solidFill>
          <a:ln/>
        </p:spPr>
        <p:txBody>
          <a:bodyPr/>
          <a:lstStyle/>
          <a:p>
            <a:endParaRPr lang="en-IN"/>
          </a:p>
        </p:txBody>
      </p:sp>
      <p:sp>
        <p:nvSpPr>
          <p:cNvPr id="23" name="Text 21"/>
          <p:cNvSpPr/>
          <p:nvPr/>
        </p:nvSpPr>
        <p:spPr>
          <a:xfrm>
            <a:off x="6711696" y="2304288"/>
            <a:ext cx="4803343" cy="274320"/>
          </a:xfrm>
          <a:prstGeom prst="rect">
            <a:avLst/>
          </a:prstGeom>
          <a:noFill/>
          <a:ln/>
        </p:spPr>
        <p:txBody>
          <a:bodyPr wrap="square" lIns="0" tIns="0" rIns="0" bIns="0" rtlCol="0" anchor="ctr"/>
          <a:lstStyle/>
          <a:p>
            <a:pPr marL="0" indent="0">
              <a:buNone/>
            </a:pPr>
            <a:r>
              <a:rPr lang="en-US" sz="1150" b="1" dirty="0">
                <a:solidFill>
                  <a:srgbClr val="0B1B2E"/>
                </a:solidFill>
                <a:latin typeface="Calibri" pitchFamily="34" charset="0"/>
                <a:ea typeface="Calibri" pitchFamily="34" charset="-122"/>
                <a:cs typeface="Calibri" pitchFamily="34" charset="-120"/>
              </a:rPr>
              <a:t>Rate Intelligence</a:t>
            </a:r>
            <a:endParaRPr lang="en-US" sz="1150" dirty="0"/>
          </a:p>
        </p:txBody>
      </p:sp>
      <p:sp>
        <p:nvSpPr>
          <p:cNvPr id="24" name="Text 22"/>
          <p:cNvSpPr/>
          <p:nvPr/>
        </p:nvSpPr>
        <p:spPr>
          <a:xfrm>
            <a:off x="6711696" y="2578608"/>
            <a:ext cx="4803343"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Current reimbursement rate for any provider, service or program</a:t>
            </a:r>
            <a:endParaRPr lang="en-US" sz="1000" dirty="0"/>
          </a:p>
        </p:txBody>
      </p:sp>
      <p:sp>
        <p:nvSpPr>
          <p:cNvPr id="25" name="Shape 23"/>
          <p:cNvSpPr/>
          <p:nvPr/>
        </p:nvSpPr>
        <p:spPr>
          <a:xfrm>
            <a:off x="6492240" y="2926080"/>
            <a:ext cx="5150815" cy="658368"/>
          </a:xfrm>
          <a:prstGeom prst="rect">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26" name="Shape 24"/>
          <p:cNvSpPr/>
          <p:nvPr/>
        </p:nvSpPr>
        <p:spPr>
          <a:xfrm>
            <a:off x="6492240" y="2926080"/>
            <a:ext cx="82296" cy="658368"/>
          </a:xfrm>
          <a:prstGeom prst="rect">
            <a:avLst/>
          </a:prstGeom>
          <a:solidFill>
            <a:srgbClr val="14B8A6"/>
          </a:solidFill>
          <a:ln/>
        </p:spPr>
        <p:txBody>
          <a:bodyPr/>
          <a:lstStyle/>
          <a:p>
            <a:endParaRPr lang="en-IN"/>
          </a:p>
        </p:txBody>
      </p:sp>
      <p:sp>
        <p:nvSpPr>
          <p:cNvPr id="27" name="Text 25"/>
          <p:cNvSpPr/>
          <p:nvPr/>
        </p:nvSpPr>
        <p:spPr>
          <a:xfrm>
            <a:off x="6711696" y="3017520"/>
            <a:ext cx="4803343" cy="274320"/>
          </a:xfrm>
          <a:prstGeom prst="rect">
            <a:avLst/>
          </a:prstGeom>
          <a:noFill/>
          <a:ln/>
        </p:spPr>
        <p:txBody>
          <a:bodyPr wrap="square" lIns="0" tIns="0" rIns="0" bIns="0" rtlCol="0" anchor="ctr"/>
          <a:lstStyle/>
          <a:p>
            <a:pPr marL="0" indent="0">
              <a:buNone/>
            </a:pPr>
            <a:r>
              <a:rPr lang="en-US" sz="1150" b="1" dirty="0">
                <a:solidFill>
                  <a:srgbClr val="0B1B2E"/>
                </a:solidFill>
                <a:latin typeface="Calibri" pitchFamily="34" charset="0"/>
                <a:ea typeface="Calibri" pitchFamily="34" charset="-122"/>
                <a:cs typeface="Calibri" pitchFamily="34" charset="-120"/>
              </a:rPr>
              <a:t>Amendment &amp; Contract Status</a:t>
            </a:r>
            <a:endParaRPr lang="en-US" sz="1150" dirty="0"/>
          </a:p>
        </p:txBody>
      </p:sp>
      <p:sp>
        <p:nvSpPr>
          <p:cNvPr id="28" name="Text 26"/>
          <p:cNvSpPr/>
          <p:nvPr/>
        </p:nvSpPr>
        <p:spPr>
          <a:xfrm>
            <a:off x="6711696" y="3291840"/>
            <a:ext cx="4803343"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Active, expiring or recently amended contracts</a:t>
            </a:r>
            <a:endParaRPr lang="en-US" sz="1000" dirty="0"/>
          </a:p>
        </p:txBody>
      </p:sp>
      <p:sp>
        <p:nvSpPr>
          <p:cNvPr id="29" name="Shape 27"/>
          <p:cNvSpPr/>
          <p:nvPr/>
        </p:nvSpPr>
        <p:spPr>
          <a:xfrm>
            <a:off x="6492240" y="3639312"/>
            <a:ext cx="5150815" cy="658368"/>
          </a:xfrm>
          <a:prstGeom prst="rect">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30" name="Shape 28"/>
          <p:cNvSpPr/>
          <p:nvPr/>
        </p:nvSpPr>
        <p:spPr>
          <a:xfrm>
            <a:off x="6492240" y="3639312"/>
            <a:ext cx="82296" cy="658368"/>
          </a:xfrm>
          <a:prstGeom prst="rect">
            <a:avLst/>
          </a:prstGeom>
          <a:solidFill>
            <a:srgbClr val="14B8A6"/>
          </a:solidFill>
          <a:ln/>
        </p:spPr>
        <p:txBody>
          <a:bodyPr/>
          <a:lstStyle/>
          <a:p>
            <a:endParaRPr lang="en-IN"/>
          </a:p>
        </p:txBody>
      </p:sp>
      <p:sp>
        <p:nvSpPr>
          <p:cNvPr id="31" name="Text 29"/>
          <p:cNvSpPr/>
          <p:nvPr/>
        </p:nvSpPr>
        <p:spPr>
          <a:xfrm>
            <a:off x="6711696" y="3730752"/>
            <a:ext cx="4803343" cy="274320"/>
          </a:xfrm>
          <a:prstGeom prst="rect">
            <a:avLst/>
          </a:prstGeom>
          <a:noFill/>
          <a:ln/>
        </p:spPr>
        <p:txBody>
          <a:bodyPr wrap="square" lIns="0" tIns="0" rIns="0" bIns="0" rtlCol="0" anchor="ctr"/>
          <a:lstStyle/>
          <a:p>
            <a:pPr marL="0" indent="0">
              <a:buNone/>
            </a:pPr>
            <a:r>
              <a:rPr lang="en-US" sz="1150" b="1" dirty="0">
                <a:solidFill>
                  <a:srgbClr val="0B1B2E"/>
                </a:solidFill>
                <a:latin typeface="Calibri" pitchFamily="34" charset="0"/>
                <a:ea typeface="Calibri" pitchFamily="34" charset="-122"/>
                <a:cs typeface="Calibri" pitchFamily="34" charset="-120"/>
              </a:rPr>
              <a:t>Cross-Provider Benchmarking</a:t>
            </a:r>
            <a:endParaRPr lang="en-US" sz="1150" dirty="0"/>
          </a:p>
        </p:txBody>
      </p:sp>
      <p:sp>
        <p:nvSpPr>
          <p:cNvPr id="32" name="Text 30"/>
          <p:cNvSpPr/>
          <p:nvPr/>
        </p:nvSpPr>
        <p:spPr>
          <a:xfrm>
            <a:off x="6711696" y="4005072"/>
            <a:ext cx="4803343"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How one provider's rates compare across the portfolio</a:t>
            </a:r>
            <a:endParaRPr lang="en-US" sz="1000" dirty="0"/>
          </a:p>
        </p:txBody>
      </p:sp>
      <p:sp>
        <p:nvSpPr>
          <p:cNvPr id="33" name="Shape 31"/>
          <p:cNvSpPr/>
          <p:nvPr/>
        </p:nvSpPr>
        <p:spPr>
          <a:xfrm>
            <a:off x="6492240" y="4352544"/>
            <a:ext cx="5150815" cy="658368"/>
          </a:xfrm>
          <a:prstGeom prst="rect">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34" name="Shape 32"/>
          <p:cNvSpPr/>
          <p:nvPr/>
        </p:nvSpPr>
        <p:spPr>
          <a:xfrm>
            <a:off x="6492240" y="4352544"/>
            <a:ext cx="82296" cy="658368"/>
          </a:xfrm>
          <a:prstGeom prst="rect">
            <a:avLst/>
          </a:prstGeom>
          <a:solidFill>
            <a:srgbClr val="14B8A6"/>
          </a:solidFill>
          <a:ln/>
        </p:spPr>
        <p:txBody>
          <a:bodyPr/>
          <a:lstStyle/>
          <a:p>
            <a:endParaRPr lang="en-IN"/>
          </a:p>
        </p:txBody>
      </p:sp>
      <p:sp>
        <p:nvSpPr>
          <p:cNvPr id="35" name="Text 33"/>
          <p:cNvSpPr/>
          <p:nvPr/>
        </p:nvSpPr>
        <p:spPr>
          <a:xfrm>
            <a:off x="6711696" y="4443984"/>
            <a:ext cx="4803343" cy="274320"/>
          </a:xfrm>
          <a:prstGeom prst="rect">
            <a:avLst/>
          </a:prstGeom>
          <a:noFill/>
          <a:ln/>
        </p:spPr>
        <p:txBody>
          <a:bodyPr wrap="square" lIns="0" tIns="0" rIns="0" bIns="0" rtlCol="0" anchor="ctr"/>
          <a:lstStyle/>
          <a:p>
            <a:pPr marL="0" indent="0">
              <a:buNone/>
            </a:pPr>
            <a:r>
              <a:rPr lang="en-US" sz="1150" b="1" dirty="0">
                <a:solidFill>
                  <a:srgbClr val="0B1B2E"/>
                </a:solidFill>
                <a:latin typeface="Calibri" pitchFamily="34" charset="0"/>
                <a:ea typeface="Calibri" pitchFamily="34" charset="-122"/>
                <a:cs typeface="Calibri" pitchFamily="34" charset="-120"/>
              </a:rPr>
              <a:t>Program Coverage</a:t>
            </a:r>
            <a:endParaRPr lang="en-US" sz="1150" dirty="0"/>
          </a:p>
        </p:txBody>
      </p:sp>
      <p:sp>
        <p:nvSpPr>
          <p:cNvPr id="36" name="Text 34"/>
          <p:cNvSpPr/>
          <p:nvPr/>
        </p:nvSpPr>
        <p:spPr>
          <a:xfrm>
            <a:off x="6711696" y="4718304"/>
            <a:ext cx="4803343"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Providers covering Commercial, Medicare, Medi-Cal, CalPERS</a:t>
            </a:r>
            <a:endParaRPr lang="en-US" sz="1000" dirty="0"/>
          </a:p>
        </p:txBody>
      </p:sp>
      <p:sp>
        <p:nvSpPr>
          <p:cNvPr id="37" name="Shape 35"/>
          <p:cNvSpPr/>
          <p:nvPr/>
        </p:nvSpPr>
        <p:spPr>
          <a:xfrm>
            <a:off x="6492240" y="5065776"/>
            <a:ext cx="5150815" cy="658368"/>
          </a:xfrm>
          <a:prstGeom prst="rect">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38" name="Shape 36"/>
          <p:cNvSpPr/>
          <p:nvPr/>
        </p:nvSpPr>
        <p:spPr>
          <a:xfrm>
            <a:off x="6492240" y="5065776"/>
            <a:ext cx="82296" cy="658368"/>
          </a:xfrm>
          <a:prstGeom prst="rect">
            <a:avLst/>
          </a:prstGeom>
          <a:solidFill>
            <a:srgbClr val="14B8A6"/>
          </a:solidFill>
          <a:ln/>
        </p:spPr>
        <p:txBody>
          <a:bodyPr/>
          <a:lstStyle/>
          <a:p>
            <a:endParaRPr lang="en-IN"/>
          </a:p>
        </p:txBody>
      </p:sp>
      <p:sp>
        <p:nvSpPr>
          <p:cNvPr id="39" name="Text 37"/>
          <p:cNvSpPr/>
          <p:nvPr/>
        </p:nvSpPr>
        <p:spPr>
          <a:xfrm>
            <a:off x="6711696" y="5157216"/>
            <a:ext cx="4803343" cy="274320"/>
          </a:xfrm>
          <a:prstGeom prst="rect">
            <a:avLst/>
          </a:prstGeom>
          <a:noFill/>
          <a:ln/>
        </p:spPr>
        <p:txBody>
          <a:bodyPr wrap="square" lIns="0" tIns="0" rIns="0" bIns="0" rtlCol="0" anchor="ctr"/>
          <a:lstStyle/>
          <a:p>
            <a:pPr marL="0" indent="0">
              <a:buNone/>
            </a:pPr>
            <a:r>
              <a:rPr lang="en-US" sz="1150" b="1" dirty="0">
                <a:solidFill>
                  <a:srgbClr val="0B1B2E"/>
                </a:solidFill>
                <a:latin typeface="Calibri" pitchFamily="34" charset="0"/>
                <a:ea typeface="Calibri" pitchFamily="34" charset="-122"/>
                <a:cs typeface="Calibri" pitchFamily="34" charset="-120"/>
              </a:rPr>
              <a:t>Legal &amp; Clause Queries</a:t>
            </a:r>
            <a:endParaRPr lang="en-US" sz="1150" dirty="0"/>
          </a:p>
        </p:txBody>
      </p:sp>
      <p:sp>
        <p:nvSpPr>
          <p:cNvPr id="40" name="Text 38"/>
          <p:cNvSpPr/>
          <p:nvPr/>
        </p:nvSpPr>
        <p:spPr>
          <a:xfrm>
            <a:off x="6711696" y="5431536"/>
            <a:ext cx="4803343"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Termination notice requirements across providers</a:t>
            </a:r>
            <a:endParaRPr lang="en-US" sz="1000" dirty="0"/>
          </a:p>
        </p:txBody>
      </p:sp>
      <p:sp>
        <p:nvSpPr>
          <p:cNvPr id="41" name="Shape 39"/>
          <p:cNvSpPr/>
          <p:nvPr/>
        </p:nvSpPr>
        <p:spPr>
          <a:xfrm>
            <a:off x="6492240" y="5308600"/>
            <a:ext cx="5150815" cy="0"/>
          </a:xfrm>
          <a:prstGeom prst="rect">
            <a:avLst/>
          </a:prstGeom>
          <a:solidFill>
            <a:srgbClr val="FFFFFF"/>
          </a:solidFill>
          <a:ln/>
          <a:effectLst>
            <a:outerShdw blurRad="101600" dist="25400" dir="8100000" algn="bl" rotWithShape="0">
              <a:srgbClr val="1E293B">
                <a:alpha val="11000"/>
              </a:srgbClr>
            </a:outerShdw>
          </a:effectLst>
        </p:spPr>
        <p:txBody>
          <a:bodyPr/>
          <a:lstStyle/>
          <a:p>
            <a:endParaRPr lang="en-IN"/>
          </a:p>
        </p:txBody>
      </p:sp>
      <p:sp>
        <p:nvSpPr>
          <p:cNvPr id="42" name="Shape 40"/>
          <p:cNvSpPr/>
          <p:nvPr/>
        </p:nvSpPr>
        <p:spPr>
          <a:xfrm>
            <a:off x="6492240" y="5308600"/>
            <a:ext cx="82296" cy="0"/>
          </a:xfrm>
          <a:prstGeom prst="rect">
            <a:avLst/>
          </a:prstGeom>
          <a:solidFill>
            <a:srgbClr val="14B8A6"/>
          </a:solidFill>
          <a:ln/>
        </p:spPr>
        <p:txBody>
          <a:bodyPr/>
          <a:lstStyle/>
          <a:p>
            <a:endParaRPr lang="en-IN"/>
          </a:p>
        </p:txBody>
      </p:sp>
      <p:sp>
        <p:nvSpPr>
          <p:cNvPr id="43" name="Text 41"/>
          <p:cNvSpPr/>
          <p:nvPr/>
        </p:nvSpPr>
        <p:spPr>
          <a:xfrm>
            <a:off x="6711696" y="5397500"/>
            <a:ext cx="4803343" cy="0"/>
          </a:xfrm>
          <a:prstGeom prst="rect">
            <a:avLst/>
          </a:prstGeom>
          <a:noFill/>
          <a:ln/>
        </p:spPr>
        <p:txBody>
          <a:bodyPr wrap="square" lIns="0" tIns="0" rIns="0" bIns="0" rtlCol="0" anchor="ctr"/>
          <a:lstStyle/>
          <a:p>
            <a:pPr marL="0" indent="0">
              <a:buNone/>
            </a:pPr>
            <a:r>
              <a:rPr lang="en-US" sz="1150" b="1" dirty="0">
                <a:solidFill>
                  <a:srgbClr val="0B1B2E"/>
                </a:solidFill>
                <a:latin typeface="Calibri" pitchFamily="34" charset="0"/>
                <a:ea typeface="Calibri" pitchFamily="34" charset="-122"/>
                <a:cs typeface="Calibri" pitchFamily="34" charset="-120"/>
              </a:rPr>
              <a:t>Portfolio Analytics</a:t>
            </a:r>
            <a:endParaRPr lang="en-US" sz="1150" dirty="0"/>
          </a:p>
        </p:txBody>
      </p:sp>
      <p:sp>
        <p:nvSpPr>
          <p:cNvPr id="44" name="Text 42"/>
          <p:cNvSpPr/>
          <p:nvPr/>
        </p:nvSpPr>
        <p:spPr>
          <a:xfrm>
            <a:off x="6711696" y="5676900"/>
            <a:ext cx="4803343" cy="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Rate distribution, coverage gaps, contract vintage analysis</a:t>
            </a:r>
            <a:endParaRPr lang="en-US" sz="1000" dirty="0"/>
          </a:p>
        </p:txBody>
      </p:sp>
      <p:sp>
        <p:nvSpPr>
          <p:cNvPr id="45" name="Text 43"/>
          <p:cNvSpPr/>
          <p:nvPr/>
        </p:nvSpPr>
        <p:spPr>
          <a:xfrm>
            <a:off x="548640" y="5994400"/>
            <a:ext cx="11094415" cy="292100"/>
          </a:xfrm>
          <a:prstGeom prst="rect">
            <a:avLst/>
          </a:prstGeom>
          <a:noFill/>
          <a:ln/>
        </p:spPr>
        <p:txBody>
          <a:bodyPr wrap="square" lIns="0" tIns="0" rIns="0" bIns="0" rtlCol="0" anchor="ctr"/>
          <a:lstStyle/>
          <a:p>
            <a:pPr marL="0" indent="0">
              <a:buNone/>
            </a:pPr>
            <a:r>
              <a:rPr lang="en-US" sz="1300" i="1" dirty="0">
                <a:solidFill>
                  <a:srgbClr val="0F766E"/>
                </a:solidFill>
                <a:latin typeface="Calibri" pitchFamily="34" charset="0"/>
                <a:ea typeface="Calibri" pitchFamily="34" charset="-122"/>
                <a:cs typeface="Calibri" pitchFamily="34" charset="-120"/>
              </a:rPr>
              <a:t>One interface. Every persona — contracting, finance, network, compliance, leadership.</a:t>
            </a:r>
            <a:endParaRPr lang="en-US" sz="1300" dirty="0"/>
          </a:p>
        </p:txBody>
      </p:sp>
      <p:sp>
        <p:nvSpPr>
          <p:cNvPr id="46" name="Text 44"/>
          <p:cNvSpPr/>
          <p:nvPr/>
        </p:nvSpPr>
        <p:spPr>
          <a:xfrm>
            <a:off x="548640" y="6473952"/>
            <a:ext cx="8229600" cy="256032"/>
          </a:xfrm>
          <a:prstGeom prst="rect">
            <a:avLst/>
          </a:prstGeom>
          <a:noFill/>
          <a:ln/>
        </p:spPr>
        <p:txBody>
          <a:bodyPr wrap="square" lIns="0" tIns="0" rIns="0" bIns="0" rtlCol="0" anchor="ctr"/>
          <a:lstStyle/>
          <a:p>
            <a:pPr marL="0" indent="0">
              <a:buNone/>
            </a:pPr>
            <a:r>
              <a:rPr lang="en-US" sz="800" b="1" kern="0" spc="80" dirty="0">
                <a:solidFill>
                  <a:srgbClr val="64748B"/>
                </a:solidFill>
                <a:latin typeface="Calibri" pitchFamily="34" charset="0"/>
                <a:ea typeface="Calibri" pitchFamily="34" charset="-122"/>
                <a:cs typeface="Calibri" pitchFamily="34" charset="-120"/>
              </a:rPr>
              <a:t>PROVIDER CONTRACT INTELLIGENCE PLATFORM</a:t>
            </a:r>
            <a:r>
              <a:rPr lang="en-US" sz="800" kern="0" spc="8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47" name="Text 45"/>
          <p:cNvSpPr/>
          <p:nvPr/>
        </p:nvSpPr>
        <p:spPr>
          <a:xfrm>
            <a:off x="10728655" y="6473952"/>
            <a:ext cx="914400" cy="256032"/>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256032"/>
          </a:xfrm>
          <a:prstGeom prst="rect">
            <a:avLst/>
          </a:prstGeom>
          <a:noFill/>
          <a:ln/>
        </p:spPr>
        <p:txBody>
          <a:bodyPr wrap="square" lIns="0" tIns="0" rIns="0" bIns="0" rtlCol="0" anchor="ctr"/>
          <a:lstStyle/>
          <a:p>
            <a:pPr marL="0" indent="0">
              <a:buNone/>
            </a:pPr>
            <a:r>
              <a:rPr lang="en-US" sz="1100" b="1" kern="0" spc="250" dirty="0">
                <a:solidFill>
                  <a:srgbClr val="0F766E"/>
                </a:solidFill>
                <a:latin typeface="Calibri" pitchFamily="34" charset="0"/>
                <a:ea typeface="Calibri" pitchFamily="34" charset="-122"/>
                <a:cs typeface="Calibri" pitchFamily="34" charset="-120"/>
              </a:rPr>
              <a:t>SECTION 09 · TWO MODES OF INTELLIGENCE</a:t>
            </a:r>
            <a:endParaRPr lang="en-US" sz="1100" dirty="0"/>
          </a:p>
        </p:txBody>
      </p:sp>
      <p:sp>
        <p:nvSpPr>
          <p:cNvPr id="3" name="Text 1"/>
          <p:cNvSpPr/>
          <p:nvPr/>
        </p:nvSpPr>
        <p:spPr>
          <a:xfrm>
            <a:off x="548640" y="804672"/>
            <a:ext cx="7987979" cy="1005840"/>
          </a:xfrm>
          <a:prstGeom prst="rect">
            <a:avLst/>
          </a:prstGeom>
          <a:noFill/>
          <a:ln/>
        </p:spPr>
        <p:txBody>
          <a:bodyPr wrap="square" lIns="0" tIns="0" rIns="0" bIns="0" rtlCol="0" anchor="t"/>
          <a:lstStyle/>
          <a:p>
            <a:pPr marL="0" indent="0">
              <a:lnSpc>
                <a:spcPts val="3080"/>
              </a:lnSpc>
              <a:buNone/>
            </a:pPr>
            <a:r>
              <a:rPr lang="en-US" sz="2800" b="1" dirty="0">
                <a:solidFill>
                  <a:srgbClr val="0B1B2E"/>
                </a:solidFill>
                <a:latin typeface="Georgia" pitchFamily="34" charset="0"/>
                <a:ea typeface="Georgia" pitchFamily="34" charset="-122"/>
                <a:cs typeface="Georgia" pitchFamily="34" charset="-120"/>
              </a:rPr>
              <a:t>Genie for the business  ·  RAG for the deep dive</a:t>
            </a:r>
            <a:endParaRPr lang="en-US" sz="2800" dirty="0"/>
          </a:p>
        </p:txBody>
      </p:sp>
      <p:sp>
        <p:nvSpPr>
          <p:cNvPr id="4" name="Shape 2"/>
          <p:cNvSpPr/>
          <p:nvPr/>
        </p:nvSpPr>
        <p:spPr>
          <a:xfrm>
            <a:off x="548640" y="1874520"/>
            <a:ext cx="5364328" cy="3911600"/>
          </a:xfrm>
          <a:prstGeom prst="rect">
            <a:avLst/>
          </a:prstGeom>
          <a:solidFill>
            <a:srgbClr val="0B1B2E"/>
          </a:solidFill>
          <a:ln w="12700">
            <a:solidFill>
              <a:srgbClr val="0B1B2E"/>
            </a:solidFill>
            <a:prstDash val="solid"/>
          </a:ln>
          <a:effectLst>
            <a:outerShdw blurRad="177800" dist="50800" dir="8100000" algn="bl" rotWithShape="0">
              <a:srgbClr val="000000">
                <a:alpha val="22000"/>
              </a:srgbClr>
            </a:outerShdw>
          </a:effectLst>
        </p:spPr>
        <p:txBody>
          <a:bodyPr/>
          <a:lstStyle/>
          <a:p>
            <a:endParaRPr lang="en-IN"/>
          </a:p>
        </p:txBody>
      </p:sp>
      <p:sp>
        <p:nvSpPr>
          <p:cNvPr id="5" name="Shape 3"/>
          <p:cNvSpPr/>
          <p:nvPr/>
        </p:nvSpPr>
        <p:spPr>
          <a:xfrm>
            <a:off x="548640" y="1874520"/>
            <a:ext cx="5364328" cy="73152"/>
          </a:xfrm>
          <a:prstGeom prst="rect">
            <a:avLst/>
          </a:prstGeom>
          <a:solidFill>
            <a:srgbClr val="14B8A6"/>
          </a:solidFill>
          <a:ln/>
        </p:spPr>
        <p:txBody>
          <a:bodyPr/>
          <a:lstStyle/>
          <a:p>
            <a:endParaRPr lang="en-IN"/>
          </a:p>
        </p:txBody>
      </p:sp>
      <p:sp>
        <p:nvSpPr>
          <p:cNvPr id="6" name="Text 4"/>
          <p:cNvSpPr/>
          <p:nvPr/>
        </p:nvSpPr>
        <p:spPr>
          <a:xfrm>
            <a:off x="804672" y="2011680"/>
            <a:ext cx="4952848" cy="292608"/>
          </a:xfrm>
          <a:prstGeom prst="rect">
            <a:avLst/>
          </a:prstGeom>
          <a:noFill/>
          <a:ln/>
        </p:spPr>
        <p:txBody>
          <a:bodyPr wrap="square" lIns="0" tIns="0" rIns="0" bIns="0" rtlCol="0" anchor="ctr"/>
          <a:lstStyle/>
          <a:p>
            <a:pPr marL="0" indent="0">
              <a:buNone/>
            </a:pPr>
            <a:r>
              <a:rPr lang="en-US" sz="1150" b="1" kern="0" spc="150" dirty="0">
                <a:solidFill>
                  <a:srgbClr val="14B8A6"/>
                </a:solidFill>
                <a:latin typeface="Calibri" pitchFamily="34" charset="0"/>
                <a:ea typeface="Calibri" pitchFamily="34" charset="-122"/>
                <a:cs typeface="Calibri" pitchFamily="34" charset="-120"/>
              </a:rPr>
              <a:t>GENIE SPACE</a:t>
            </a:r>
            <a:endParaRPr lang="en-US" sz="1150" dirty="0"/>
          </a:p>
        </p:txBody>
      </p:sp>
      <p:sp>
        <p:nvSpPr>
          <p:cNvPr id="7" name="Text 5"/>
          <p:cNvSpPr/>
          <p:nvPr/>
        </p:nvSpPr>
        <p:spPr>
          <a:xfrm>
            <a:off x="804672" y="2304288"/>
            <a:ext cx="4952848" cy="384048"/>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Conversational analytics</a:t>
            </a:r>
            <a:endParaRPr lang="en-US" sz="1600" dirty="0"/>
          </a:p>
        </p:txBody>
      </p:sp>
      <p:sp>
        <p:nvSpPr>
          <p:cNvPr id="8" name="Shape 6"/>
          <p:cNvSpPr/>
          <p:nvPr/>
        </p:nvSpPr>
        <p:spPr>
          <a:xfrm>
            <a:off x="804672" y="2743200"/>
            <a:ext cx="4907128" cy="0"/>
          </a:xfrm>
          <a:prstGeom prst="line">
            <a:avLst/>
          </a:prstGeom>
          <a:noFill/>
          <a:ln w="12700">
            <a:solidFill>
              <a:srgbClr val="27405E"/>
            </a:solidFill>
            <a:prstDash val="solid"/>
          </a:ln>
        </p:spPr>
        <p:txBody>
          <a:bodyPr/>
          <a:lstStyle/>
          <a:p>
            <a:endParaRPr lang="en-IN"/>
          </a:p>
        </p:txBody>
      </p:sp>
      <p:sp>
        <p:nvSpPr>
          <p:cNvPr id="9" name="Text 7"/>
          <p:cNvSpPr/>
          <p:nvPr/>
        </p:nvSpPr>
        <p:spPr>
          <a:xfrm>
            <a:off x="804672" y="2852928"/>
            <a:ext cx="1280160" cy="411480"/>
          </a:xfrm>
          <a:prstGeom prst="rect">
            <a:avLst/>
          </a:prstGeom>
          <a:noFill/>
          <a:ln/>
        </p:spPr>
        <p:txBody>
          <a:bodyPr wrap="square" lIns="0" tIns="0" rIns="0" bIns="0" rtlCol="0" anchor="t"/>
          <a:lstStyle/>
          <a:p>
            <a:pPr marL="0" indent="0">
              <a:buNone/>
            </a:pPr>
            <a:r>
              <a:rPr lang="en-US" sz="900" b="1" kern="0" spc="100" dirty="0">
                <a:solidFill>
                  <a:srgbClr val="93A4BD"/>
                </a:solidFill>
                <a:latin typeface="Calibri" pitchFamily="34" charset="0"/>
                <a:ea typeface="Calibri" pitchFamily="34" charset="-122"/>
                <a:cs typeface="Calibri" pitchFamily="34" charset="-120"/>
              </a:rPr>
              <a:t>BEST FOR</a:t>
            </a:r>
            <a:endParaRPr lang="en-US" sz="900" dirty="0"/>
          </a:p>
        </p:txBody>
      </p:sp>
      <p:sp>
        <p:nvSpPr>
          <p:cNvPr id="10" name="Text 8"/>
          <p:cNvSpPr/>
          <p:nvPr/>
        </p:nvSpPr>
        <p:spPr>
          <a:xfrm>
            <a:off x="2148840" y="2852928"/>
            <a:ext cx="3489808" cy="438912"/>
          </a:xfrm>
          <a:prstGeom prst="rect">
            <a:avLst/>
          </a:prstGeom>
          <a:noFill/>
          <a:ln/>
        </p:spPr>
        <p:txBody>
          <a:bodyPr wrap="square" lIns="0" tIns="0" rIns="0" bIns="0" rtlCol="0" anchor="t"/>
          <a:lstStyle/>
          <a:p>
            <a:pPr marL="0" indent="0">
              <a:lnSpc>
                <a:spcPts val="1350"/>
              </a:lnSpc>
              <a:buNone/>
            </a:pPr>
            <a:r>
              <a:rPr lang="en-US" sz="1100" dirty="0">
                <a:solidFill>
                  <a:srgbClr val="FFFFFF"/>
                </a:solidFill>
                <a:latin typeface="Calibri" pitchFamily="34" charset="0"/>
                <a:ea typeface="Calibri" pitchFamily="34" charset="-122"/>
                <a:cs typeface="Calibri" pitchFamily="34" charset="-120"/>
              </a:rPr>
              <a:t>Fast structured answers, portfolio metrics and rate comparisons</a:t>
            </a:r>
            <a:endParaRPr lang="en-US" sz="1100" dirty="0"/>
          </a:p>
        </p:txBody>
      </p:sp>
      <p:sp>
        <p:nvSpPr>
          <p:cNvPr id="11" name="Text 9"/>
          <p:cNvSpPr/>
          <p:nvPr/>
        </p:nvSpPr>
        <p:spPr>
          <a:xfrm>
            <a:off x="804672" y="3346704"/>
            <a:ext cx="1280160" cy="411480"/>
          </a:xfrm>
          <a:prstGeom prst="rect">
            <a:avLst/>
          </a:prstGeom>
          <a:noFill/>
          <a:ln/>
        </p:spPr>
        <p:txBody>
          <a:bodyPr wrap="square" lIns="0" tIns="0" rIns="0" bIns="0" rtlCol="0" anchor="t"/>
          <a:lstStyle/>
          <a:p>
            <a:pPr marL="0" indent="0">
              <a:buNone/>
            </a:pPr>
            <a:r>
              <a:rPr lang="en-US" sz="900" b="1" kern="0" spc="100" dirty="0">
                <a:solidFill>
                  <a:srgbClr val="93A4BD"/>
                </a:solidFill>
                <a:latin typeface="Calibri" pitchFamily="34" charset="0"/>
                <a:ea typeface="Calibri" pitchFamily="34" charset="-122"/>
                <a:cs typeface="Calibri" pitchFamily="34" charset="-120"/>
              </a:rPr>
              <a:t>WORKS OVER</a:t>
            </a:r>
            <a:endParaRPr lang="en-US" sz="900" dirty="0"/>
          </a:p>
        </p:txBody>
      </p:sp>
      <p:sp>
        <p:nvSpPr>
          <p:cNvPr id="12" name="Text 10"/>
          <p:cNvSpPr/>
          <p:nvPr/>
        </p:nvSpPr>
        <p:spPr>
          <a:xfrm>
            <a:off x="2148840" y="3346704"/>
            <a:ext cx="3489808" cy="438912"/>
          </a:xfrm>
          <a:prstGeom prst="rect">
            <a:avLst/>
          </a:prstGeom>
          <a:noFill/>
          <a:ln/>
        </p:spPr>
        <p:txBody>
          <a:bodyPr wrap="square" lIns="0" tIns="0" rIns="0" bIns="0" rtlCol="0" anchor="t"/>
          <a:lstStyle/>
          <a:p>
            <a:pPr marL="0" indent="0">
              <a:lnSpc>
                <a:spcPts val="1350"/>
              </a:lnSpc>
              <a:buNone/>
            </a:pPr>
            <a:r>
              <a:rPr lang="en-US" sz="1100" dirty="0">
                <a:solidFill>
                  <a:srgbClr val="FFFFFF"/>
                </a:solidFill>
                <a:latin typeface="Calibri" pitchFamily="34" charset="0"/>
                <a:ea typeface="Calibri" pitchFamily="34" charset="-122"/>
                <a:cs typeface="Calibri" pitchFamily="34" charset="-120"/>
              </a:rPr>
              <a:t>Curated gold tables via natural language to SQL</a:t>
            </a:r>
            <a:endParaRPr lang="en-US" sz="1100" dirty="0"/>
          </a:p>
        </p:txBody>
      </p:sp>
      <p:sp>
        <p:nvSpPr>
          <p:cNvPr id="13" name="Text 11"/>
          <p:cNvSpPr/>
          <p:nvPr/>
        </p:nvSpPr>
        <p:spPr>
          <a:xfrm>
            <a:off x="804672" y="3840480"/>
            <a:ext cx="1280160" cy="411480"/>
          </a:xfrm>
          <a:prstGeom prst="rect">
            <a:avLst/>
          </a:prstGeom>
          <a:noFill/>
          <a:ln/>
        </p:spPr>
        <p:txBody>
          <a:bodyPr wrap="square" lIns="0" tIns="0" rIns="0" bIns="0" rtlCol="0" anchor="t"/>
          <a:lstStyle/>
          <a:p>
            <a:pPr marL="0" indent="0">
              <a:buNone/>
            </a:pPr>
            <a:r>
              <a:rPr lang="en-US" sz="900" b="1" kern="0" spc="100" dirty="0">
                <a:solidFill>
                  <a:srgbClr val="93A4BD"/>
                </a:solidFill>
                <a:latin typeface="Calibri" pitchFamily="34" charset="0"/>
                <a:ea typeface="Calibri" pitchFamily="34" charset="-122"/>
                <a:cs typeface="Calibri" pitchFamily="34" charset="-120"/>
              </a:rPr>
              <a:t>RETURNS</a:t>
            </a:r>
            <a:endParaRPr lang="en-US" sz="900" dirty="0"/>
          </a:p>
        </p:txBody>
      </p:sp>
      <p:sp>
        <p:nvSpPr>
          <p:cNvPr id="14" name="Text 12"/>
          <p:cNvSpPr/>
          <p:nvPr/>
        </p:nvSpPr>
        <p:spPr>
          <a:xfrm>
            <a:off x="2148840" y="3840480"/>
            <a:ext cx="3489808" cy="438912"/>
          </a:xfrm>
          <a:prstGeom prst="rect">
            <a:avLst/>
          </a:prstGeom>
          <a:noFill/>
          <a:ln/>
        </p:spPr>
        <p:txBody>
          <a:bodyPr wrap="square" lIns="0" tIns="0" rIns="0" bIns="0" rtlCol="0" anchor="t"/>
          <a:lstStyle/>
          <a:p>
            <a:pPr marL="0" indent="0">
              <a:lnSpc>
                <a:spcPts val="1350"/>
              </a:lnSpc>
              <a:buNone/>
            </a:pPr>
            <a:r>
              <a:rPr lang="en-US" sz="1100" dirty="0">
                <a:solidFill>
                  <a:srgbClr val="FFFFFF"/>
                </a:solidFill>
                <a:latin typeface="Calibri" pitchFamily="34" charset="0"/>
                <a:ea typeface="Calibri" pitchFamily="34" charset="-122"/>
                <a:cs typeface="Calibri" pitchFamily="34" charset="-120"/>
              </a:rPr>
              <a:t>Numbers, lists, aggregations, comparisons</a:t>
            </a:r>
            <a:endParaRPr lang="en-US" sz="1100" dirty="0"/>
          </a:p>
        </p:txBody>
      </p:sp>
      <p:sp>
        <p:nvSpPr>
          <p:cNvPr id="15" name="Text 13"/>
          <p:cNvSpPr/>
          <p:nvPr/>
        </p:nvSpPr>
        <p:spPr>
          <a:xfrm>
            <a:off x="804672" y="4334256"/>
            <a:ext cx="1280160" cy="411480"/>
          </a:xfrm>
          <a:prstGeom prst="rect">
            <a:avLst/>
          </a:prstGeom>
          <a:noFill/>
          <a:ln/>
        </p:spPr>
        <p:txBody>
          <a:bodyPr wrap="square" lIns="0" tIns="0" rIns="0" bIns="0" rtlCol="0" anchor="t"/>
          <a:lstStyle/>
          <a:p>
            <a:pPr marL="0" indent="0">
              <a:buNone/>
            </a:pPr>
            <a:r>
              <a:rPr lang="en-US" sz="900" b="1" kern="0" spc="100" dirty="0">
                <a:solidFill>
                  <a:srgbClr val="93A4BD"/>
                </a:solidFill>
                <a:latin typeface="Calibri" pitchFamily="34" charset="0"/>
                <a:ea typeface="Calibri" pitchFamily="34" charset="-122"/>
                <a:cs typeface="Calibri" pitchFamily="34" charset="-120"/>
              </a:rPr>
              <a:t>AUDIENCE</a:t>
            </a:r>
            <a:endParaRPr lang="en-US" sz="900" dirty="0"/>
          </a:p>
        </p:txBody>
      </p:sp>
      <p:sp>
        <p:nvSpPr>
          <p:cNvPr id="16" name="Text 14"/>
          <p:cNvSpPr/>
          <p:nvPr/>
        </p:nvSpPr>
        <p:spPr>
          <a:xfrm>
            <a:off x="2148840" y="4334256"/>
            <a:ext cx="3489808" cy="438912"/>
          </a:xfrm>
          <a:prstGeom prst="rect">
            <a:avLst/>
          </a:prstGeom>
          <a:noFill/>
          <a:ln/>
        </p:spPr>
        <p:txBody>
          <a:bodyPr wrap="square" lIns="0" tIns="0" rIns="0" bIns="0" rtlCol="0" anchor="t"/>
          <a:lstStyle/>
          <a:p>
            <a:pPr marL="0" indent="0">
              <a:lnSpc>
                <a:spcPts val="1350"/>
              </a:lnSpc>
              <a:buNone/>
            </a:pPr>
            <a:r>
              <a:rPr lang="en-US" sz="1100" dirty="0">
                <a:solidFill>
                  <a:srgbClr val="FFFFFF"/>
                </a:solidFill>
                <a:latin typeface="Calibri" pitchFamily="34" charset="0"/>
                <a:ea typeface="Calibri" pitchFamily="34" charset="-122"/>
                <a:cs typeface="Calibri" pitchFamily="34" charset="-120"/>
              </a:rPr>
              <a:t>Contracting, finance, network, leadership — self-serve</a:t>
            </a:r>
            <a:endParaRPr lang="en-US" sz="1100" dirty="0"/>
          </a:p>
        </p:txBody>
      </p:sp>
      <p:sp>
        <p:nvSpPr>
          <p:cNvPr id="17" name="Text 15"/>
          <p:cNvSpPr/>
          <p:nvPr/>
        </p:nvSpPr>
        <p:spPr>
          <a:xfrm>
            <a:off x="804672" y="4800600"/>
            <a:ext cx="4952848" cy="228600"/>
          </a:xfrm>
          <a:prstGeom prst="rect">
            <a:avLst/>
          </a:prstGeom>
          <a:noFill/>
          <a:ln/>
        </p:spPr>
        <p:txBody>
          <a:bodyPr wrap="square" lIns="0" tIns="0" rIns="0" bIns="0" rtlCol="0" anchor="ctr"/>
          <a:lstStyle/>
          <a:p>
            <a:pPr marL="0" indent="0">
              <a:buNone/>
            </a:pPr>
            <a:r>
              <a:rPr lang="en-US" sz="900" b="1" kern="0" spc="150" dirty="0">
                <a:solidFill>
                  <a:srgbClr val="5EEAD4"/>
                </a:solidFill>
                <a:latin typeface="Calibri" pitchFamily="34" charset="0"/>
                <a:ea typeface="Calibri" pitchFamily="34" charset="-122"/>
                <a:cs typeface="Calibri" pitchFamily="34" charset="-120"/>
              </a:rPr>
              <a:t>EXAMPLE QUESTIONS</a:t>
            </a:r>
            <a:endParaRPr lang="en-US" sz="900" dirty="0"/>
          </a:p>
        </p:txBody>
      </p:sp>
      <p:sp>
        <p:nvSpPr>
          <p:cNvPr id="18" name="Shape 16"/>
          <p:cNvSpPr/>
          <p:nvPr/>
        </p:nvSpPr>
        <p:spPr>
          <a:xfrm>
            <a:off x="804672" y="5067300"/>
            <a:ext cx="109728" cy="109728"/>
          </a:xfrm>
          <a:prstGeom prst="ellipse">
            <a:avLst/>
          </a:prstGeom>
          <a:solidFill>
            <a:srgbClr val="14B8A6"/>
          </a:solidFill>
          <a:ln/>
        </p:spPr>
        <p:txBody>
          <a:bodyPr/>
          <a:lstStyle/>
          <a:p>
            <a:endParaRPr lang="en-IN"/>
          </a:p>
        </p:txBody>
      </p:sp>
      <p:sp>
        <p:nvSpPr>
          <p:cNvPr id="19" name="Text 17"/>
          <p:cNvSpPr/>
          <p:nvPr/>
        </p:nvSpPr>
        <p:spPr>
          <a:xfrm>
            <a:off x="987552" y="5041900"/>
            <a:ext cx="4769968" cy="381000"/>
          </a:xfrm>
          <a:prstGeom prst="rect">
            <a:avLst/>
          </a:prstGeom>
          <a:noFill/>
          <a:ln/>
        </p:spPr>
        <p:txBody>
          <a:bodyPr wrap="square" lIns="0" tIns="0" rIns="0" bIns="0" rtlCol="0" anchor="t"/>
          <a:lstStyle/>
          <a:p>
            <a:pPr marL="0" indent="0">
              <a:lnSpc>
                <a:spcPts val="1300"/>
              </a:lnSpc>
              <a:buNone/>
            </a:pPr>
            <a:r>
              <a:rPr lang="en-US" sz="1000" dirty="0">
                <a:solidFill>
                  <a:srgbClr val="93A4BD"/>
                </a:solidFill>
                <a:latin typeface="Calibri" pitchFamily="34" charset="0"/>
                <a:ea typeface="Calibri" pitchFamily="34" charset="-122"/>
                <a:cs typeface="Calibri" pitchFamily="34" charset="-120"/>
              </a:rPr>
              <a:t>What are all active contracts expiring this year?</a:t>
            </a:r>
            <a:endParaRPr lang="en-US" sz="1000" dirty="0"/>
          </a:p>
        </p:txBody>
      </p:sp>
      <p:sp>
        <p:nvSpPr>
          <p:cNvPr id="20" name="Shape 18"/>
          <p:cNvSpPr/>
          <p:nvPr/>
        </p:nvSpPr>
        <p:spPr>
          <a:xfrm>
            <a:off x="804672" y="5473700"/>
            <a:ext cx="109728" cy="109728"/>
          </a:xfrm>
          <a:prstGeom prst="ellipse">
            <a:avLst/>
          </a:prstGeom>
          <a:solidFill>
            <a:srgbClr val="14B8A6"/>
          </a:solidFill>
          <a:ln/>
        </p:spPr>
        <p:txBody>
          <a:bodyPr/>
          <a:lstStyle/>
          <a:p>
            <a:endParaRPr lang="en-IN"/>
          </a:p>
        </p:txBody>
      </p:sp>
      <p:sp>
        <p:nvSpPr>
          <p:cNvPr id="21" name="Text 19"/>
          <p:cNvSpPr/>
          <p:nvPr/>
        </p:nvSpPr>
        <p:spPr>
          <a:xfrm>
            <a:off x="987552" y="5435600"/>
            <a:ext cx="4769968" cy="381000"/>
          </a:xfrm>
          <a:prstGeom prst="rect">
            <a:avLst/>
          </a:prstGeom>
          <a:noFill/>
          <a:ln/>
        </p:spPr>
        <p:txBody>
          <a:bodyPr wrap="square" lIns="0" tIns="0" rIns="0" bIns="0" rtlCol="0" anchor="t"/>
          <a:lstStyle/>
          <a:p>
            <a:pPr marL="0" indent="0">
              <a:lnSpc>
                <a:spcPts val="1300"/>
              </a:lnSpc>
              <a:buNone/>
            </a:pPr>
            <a:r>
              <a:rPr lang="en-US" sz="1000" dirty="0">
                <a:solidFill>
                  <a:srgbClr val="93A4BD"/>
                </a:solidFill>
                <a:latin typeface="Calibri" pitchFamily="34" charset="0"/>
                <a:ea typeface="Calibri" pitchFamily="34" charset="-122"/>
                <a:cs typeface="Calibri" pitchFamily="34" charset="-120"/>
              </a:rPr>
              <a:t>Which providers have the highest inpatient per diem under Commercial?</a:t>
            </a:r>
            <a:endParaRPr lang="en-US" sz="1000" dirty="0"/>
          </a:p>
        </p:txBody>
      </p:sp>
      <p:sp>
        <p:nvSpPr>
          <p:cNvPr id="22" name="Shape 20"/>
          <p:cNvSpPr/>
          <p:nvPr/>
        </p:nvSpPr>
        <p:spPr>
          <a:xfrm>
            <a:off x="804672" y="5880100"/>
            <a:ext cx="109728" cy="109728"/>
          </a:xfrm>
          <a:prstGeom prst="ellipse">
            <a:avLst/>
          </a:prstGeom>
          <a:solidFill>
            <a:srgbClr val="14B8A6"/>
          </a:solidFill>
          <a:ln/>
        </p:spPr>
        <p:txBody>
          <a:bodyPr/>
          <a:lstStyle/>
          <a:p>
            <a:endParaRPr lang="en-IN"/>
          </a:p>
        </p:txBody>
      </p:sp>
      <p:sp>
        <p:nvSpPr>
          <p:cNvPr id="23" name="Text 21"/>
          <p:cNvSpPr/>
          <p:nvPr/>
        </p:nvSpPr>
        <p:spPr>
          <a:xfrm>
            <a:off x="987552" y="5829300"/>
            <a:ext cx="4769968" cy="228600"/>
          </a:xfrm>
          <a:prstGeom prst="rect">
            <a:avLst/>
          </a:prstGeom>
          <a:noFill/>
          <a:ln/>
        </p:spPr>
        <p:txBody>
          <a:bodyPr wrap="square" lIns="0" tIns="0" rIns="0" bIns="0" rtlCol="0" anchor="t"/>
          <a:lstStyle/>
          <a:p>
            <a:pPr marL="0" indent="0">
              <a:lnSpc>
                <a:spcPts val="1300"/>
              </a:lnSpc>
              <a:buNone/>
            </a:pPr>
            <a:r>
              <a:rPr lang="en-US" sz="1000" dirty="0">
                <a:solidFill>
                  <a:srgbClr val="93A4BD"/>
                </a:solidFill>
                <a:latin typeface="Calibri" pitchFamily="34" charset="0"/>
                <a:ea typeface="Calibri" pitchFamily="34" charset="-122"/>
                <a:cs typeface="Calibri" pitchFamily="34" charset="-120"/>
              </a:rPr>
              <a:t>How many amendments has Provider X had in the last 5 years?</a:t>
            </a:r>
            <a:endParaRPr lang="en-US" sz="1000" dirty="0"/>
          </a:p>
        </p:txBody>
      </p:sp>
      <p:sp>
        <p:nvSpPr>
          <p:cNvPr id="24" name="Shape 22"/>
          <p:cNvSpPr/>
          <p:nvPr/>
        </p:nvSpPr>
        <p:spPr>
          <a:xfrm>
            <a:off x="6278728" y="1874520"/>
            <a:ext cx="5364328" cy="3911600"/>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lang="en-IN"/>
          </a:p>
        </p:txBody>
      </p:sp>
      <p:sp>
        <p:nvSpPr>
          <p:cNvPr id="25" name="Shape 23"/>
          <p:cNvSpPr/>
          <p:nvPr/>
        </p:nvSpPr>
        <p:spPr>
          <a:xfrm>
            <a:off x="6278728" y="1874520"/>
            <a:ext cx="5364328" cy="73152"/>
          </a:xfrm>
          <a:prstGeom prst="rect">
            <a:avLst/>
          </a:prstGeom>
          <a:solidFill>
            <a:srgbClr val="F26A4B"/>
          </a:solidFill>
          <a:ln/>
        </p:spPr>
        <p:txBody>
          <a:bodyPr/>
          <a:lstStyle/>
          <a:p>
            <a:endParaRPr lang="en-IN"/>
          </a:p>
        </p:txBody>
      </p:sp>
      <p:sp>
        <p:nvSpPr>
          <p:cNvPr id="26" name="Text 24"/>
          <p:cNvSpPr/>
          <p:nvPr/>
        </p:nvSpPr>
        <p:spPr>
          <a:xfrm>
            <a:off x="6534760" y="2011680"/>
            <a:ext cx="4952848" cy="292608"/>
          </a:xfrm>
          <a:prstGeom prst="rect">
            <a:avLst/>
          </a:prstGeom>
          <a:noFill/>
          <a:ln/>
        </p:spPr>
        <p:txBody>
          <a:bodyPr wrap="square" lIns="0" tIns="0" rIns="0" bIns="0" rtlCol="0" anchor="ctr"/>
          <a:lstStyle/>
          <a:p>
            <a:pPr marL="0" indent="0">
              <a:buNone/>
            </a:pPr>
            <a:r>
              <a:rPr lang="en-US" sz="1150" b="1" kern="0" spc="150" dirty="0">
                <a:solidFill>
                  <a:srgbClr val="F26A4B"/>
                </a:solidFill>
                <a:latin typeface="Calibri" pitchFamily="34" charset="0"/>
                <a:ea typeface="Calibri" pitchFamily="34" charset="-122"/>
                <a:cs typeface="Calibri" pitchFamily="34" charset="-120"/>
              </a:rPr>
              <a:t>RAG NOTEBOOK</a:t>
            </a:r>
            <a:endParaRPr lang="en-US" sz="1150" dirty="0"/>
          </a:p>
        </p:txBody>
      </p:sp>
      <p:sp>
        <p:nvSpPr>
          <p:cNvPr id="27" name="Text 25"/>
          <p:cNvSpPr/>
          <p:nvPr/>
        </p:nvSpPr>
        <p:spPr>
          <a:xfrm>
            <a:off x="6534760" y="2304288"/>
            <a:ext cx="4952848" cy="384048"/>
          </a:xfrm>
          <a:prstGeom prst="rect">
            <a:avLst/>
          </a:prstGeom>
          <a:noFill/>
          <a:ln/>
        </p:spPr>
        <p:txBody>
          <a:bodyPr wrap="square" lIns="0" tIns="0" rIns="0" bIns="0" rtlCol="0" anchor="ctr"/>
          <a:lstStyle/>
          <a:p>
            <a:pPr marL="0" indent="0">
              <a:buNone/>
            </a:pPr>
            <a:r>
              <a:rPr lang="en-US" sz="1600" b="1" dirty="0">
                <a:solidFill>
                  <a:srgbClr val="0B1B2E"/>
                </a:solidFill>
                <a:latin typeface="Georgia" pitchFamily="34" charset="0"/>
                <a:ea typeface="Georgia" pitchFamily="34" charset="-122"/>
                <a:cs typeface="Georgia" pitchFamily="34" charset="-120"/>
              </a:rPr>
              <a:t>Deep legal retrieval</a:t>
            </a:r>
            <a:endParaRPr lang="en-US" sz="1600" dirty="0"/>
          </a:p>
        </p:txBody>
      </p:sp>
      <p:sp>
        <p:nvSpPr>
          <p:cNvPr id="28" name="Shape 26"/>
          <p:cNvSpPr/>
          <p:nvPr/>
        </p:nvSpPr>
        <p:spPr>
          <a:xfrm>
            <a:off x="6534760" y="2743200"/>
            <a:ext cx="4907128" cy="0"/>
          </a:xfrm>
          <a:prstGeom prst="line">
            <a:avLst/>
          </a:prstGeom>
          <a:noFill/>
          <a:ln w="12700">
            <a:solidFill>
              <a:srgbClr val="E3E9F0"/>
            </a:solidFill>
            <a:prstDash val="solid"/>
          </a:ln>
        </p:spPr>
        <p:txBody>
          <a:bodyPr/>
          <a:lstStyle/>
          <a:p>
            <a:endParaRPr lang="en-IN"/>
          </a:p>
        </p:txBody>
      </p:sp>
      <p:sp>
        <p:nvSpPr>
          <p:cNvPr id="29" name="Text 27"/>
          <p:cNvSpPr/>
          <p:nvPr/>
        </p:nvSpPr>
        <p:spPr>
          <a:xfrm>
            <a:off x="6534760" y="2852928"/>
            <a:ext cx="1280160" cy="411480"/>
          </a:xfrm>
          <a:prstGeom prst="rect">
            <a:avLst/>
          </a:prstGeom>
          <a:noFill/>
          <a:ln/>
        </p:spPr>
        <p:txBody>
          <a:bodyPr wrap="square" lIns="0" tIns="0" rIns="0" bIns="0" rtlCol="0" anchor="t"/>
          <a:lstStyle/>
          <a:p>
            <a:pPr marL="0" indent="0">
              <a:buNone/>
            </a:pPr>
            <a:r>
              <a:rPr lang="en-US" sz="900" b="1" kern="0" spc="100" dirty="0">
                <a:solidFill>
                  <a:srgbClr val="64748B"/>
                </a:solidFill>
                <a:latin typeface="Calibri" pitchFamily="34" charset="0"/>
                <a:ea typeface="Calibri" pitchFamily="34" charset="-122"/>
                <a:cs typeface="Calibri" pitchFamily="34" charset="-120"/>
              </a:rPr>
              <a:t>BEST FOR</a:t>
            </a:r>
            <a:endParaRPr lang="en-US" sz="900" dirty="0"/>
          </a:p>
        </p:txBody>
      </p:sp>
      <p:sp>
        <p:nvSpPr>
          <p:cNvPr id="30" name="Text 28"/>
          <p:cNvSpPr/>
          <p:nvPr/>
        </p:nvSpPr>
        <p:spPr>
          <a:xfrm>
            <a:off x="7878928" y="2852928"/>
            <a:ext cx="3489808" cy="438912"/>
          </a:xfrm>
          <a:prstGeom prst="rect">
            <a:avLst/>
          </a:prstGeom>
          <a:noFill/>
          <a:ln/>
        </p:spPr>
        <p:txBody>
          <a:bodyPr wrap="square" lIns="0" tIns="0" rIns="0" bIns="0" rtlCol="0" anchor="t"/>
          <a:lstStyle/>
          <a:p>
            <a:pPr marL="0" indent="0">
              <a:lnSpc>
                <a:spcPts val="1350"/>
              </a:lnSpc>
              <a:buNone/>
            </a:pPr>
            <a:r>
              <a:rPr lang="en-US" sz="1100" dirty="0">
                <a:solidFill>
                  <a:srgbClr val="33415A"/>
                </a:solidFill>
                <a:latin typeface="Calibri" pitchFamily="34" charset="0"/>
                <a:ea typeface="Calibri" pitchFamily="34" charset="-122"/>
                <a:cs typeface="Calibri" pitchFamily="34" charset="-120"/>
              </a:rPr>
              <a:t>Clause-level legal and compliance questions requiring evidence</a:t>
            </a:r>
            <a:endParaRPr lang="en-US" sz="1100" dirty="0"/>
          </a:p>
        </p:txBody>
      </p:sp>
      <p:sp>
        <p:nvSpPr>
          <p:cNvPr id="31" name="Text 29"/>
          <p:cNvSpPr/>
          <p:nvPr/>
        </p:nvSpPr>
        <p:spPr>
          <a:xfrm>
            <a:off x="6534760" y="3346704"/>
            <a:ext cx="1280160" cy="411480"/>
          </a:xfrm>
          <a:prstGeom prst="rect">
            <a:avLst/>
          </a:prstGeom>
          <a:noFill/>
          <a:ln/>
        </p:spPr>
        <p:txBody>
          <a:bodyPr wrap="square" lIns="0" tIns="0" rIns="0" bIns="0" rtlCol="0" anchor="t"/>
          <a:lstStyle/>
          <a:p>
            <a:pPr marL="0" indent="0">
              <a:buNone/>
            </a:pPr>
            <a:r>
              <a:rPr lang="en-US" sz="900" b="1" kern="0" spc="100" dirty="0">
                <a:solidFill>
                  <a:srgbClr val="64748B"/>
                </a:solidFill>
                <a:latin typeface="Calibri" pitchFamily="34" charset="0"/>
                <a:ea typeface="Calibri" pitchFamily="34" charset="-122"/>
                <a:cs typeface="Calibri" pitchFamily="34" charset="-120"/>
              </a:rPr>
              <a:t>WORKS OVER</a:t>
            </a:r>
            <a:endParaRPr lang="en-US" sz="900" dirty="0"/>
          </a:p>
        </p:txBody>
      </p:sp>
      <p:sp>
        <p:nvSpPr>
          <p:cNvPr id="32" name="Text 30"/>
          <p:cNvSpPr/>
          <p:nvPr/>
        </p:nvSpPr>
        <p:spPr>
          <a:xfrm>
            <a:off x="7878928" y="3346704"/>
            <a:ext cx="3489808" cy="438912"/>
          </a:xfrm>
          <a:prstGeom prst="rect">
            <a:avLst/>
          </a:prstGeom>
          <a:noFill/>
          <a:ln/>
        </p:spPr>
        <p:txBody>
          <a:bodyPr wrap="square" lIns="0" tIns="0" rIns="0" bIns="0" rtlCol="0" anchor="t"/>
          <a:lstStyle/>
          <a:p>
            <a:pPr marL="0" indent="0">
              <a:lnSpc>
                <a:spcPts val="1350"/>
              </a:lnSpc>
              <a:buNone/>
            </a:pPr>
            <a:r>
              <a:rPr lang="en-US" sz="1100" dirty="0">
                <a:solidFill>
                  <a:srgbClr val="33415A"/>
                </a:solidFill>
                <a:latin typeface="Calibri" pitchFamily="34" charset="0"/>
                <a:ea typeface="Calibri" pitchFamily="34" charset="-122"/>
                <a:cs typeface="Calibri" pitchFamily="34" charset="-120"/>
              </a:rPr>
              <a:t>Full contract text — 83,008 semantically indexed legal units</a:t>
            </a:r>
            <a:endParaRPr lang="en-US" sz="1100" dirty="0"/>
          </a:p>
        </p:txBody>
      </p:sp>
      <p:sp>
        <p:nvSpPr>
          <p:cNvPr id="33" name="Text 31"/>
          <p:cNvSpPr/>
          <p:nvPr/>
        </p:nvSpPr>
        <p:spPr>
          <a:xfrm>
            <a:off x="6534760" y="3840480"/>
            <a:ext cx="1280160" cy="411480"/>
          </a:xfrm>
          <a:prstGeom prst="rect">
            <a:avLst/>
          </a:prstGeom>
          <a:noFill/>
          <a:ln/>
        </p:spPr>
        <p:txBody>
          <a:bodyPr wrap="square" lIns="0" tIns="0" rIns="0" bIns="0" rtlCol="0" anchor="t"/>
          <a:lstStyle/>
          <a:p>
            <a:pPr marL="0" indent="0">
              <a:buNone/>
            </a:pPr>
            <a:r>
              <a:rPr lang="en-US" sz="900" b="1" kern="0" spc="100" dirty="0">
                <a:solidFill>
                  <a:srgbClr val="64748B"/>
                </a:solidFill>
                <a:latin typeface="Calibri" pitchFamily="34" charset="0"/>
                <a:ea typeface="Calibri" pitchFamily="34" charset="-122"/>
                <a:cs typeface="Calibri" pitchFamily="34" charset="-120"/>
              </a:rPr>
              <a:t>RETURNS</a:t>
            </a:r>
            <a:endParaRPr lang="en-US" sz="900" dirty="0"/>
          </a:p>
        </p:txBody>
      </p:sp>
      <p:sp>
        <p:nvSpPr>
          <p:cNvPr id="34" name="Text 32"/>
          <p:cNvSpPr/>
          <p:nvPr/>
        </p:nvSpPr>
        <p:spPr>
          <a:xfrm>
            <a:off x="7878928" y="3840480"/>
            <a:ext cx="3489808" cy="438912"/>
          </a:xfrm>
          <a:prstGeom prst="rect">
            <a:avLst/>
          </a:prstGeom>
          <a:noFill/>
          <a:ln/>
        </p:spPr>
        <p:txBody>
          <a:bodyPr wrap="square" lIns="0" tIns="0" rIns="0" bIns="0" rtlCol="0" anchor="t"/>
          <a:lstStyle/>
          <a:p>
            <a:pPr marL="0" indent="0">
              <a:lnSpc>
                <a:spcPts val="1350"/>
              </a:lnSpc>
              <a:buNone/>
            </a:pPr>
            <a:r>
              <a:rPr lang="en-US" sz="1100" dirty="0">
                <a:solidFill>
                  <a:srgbClr val="33415A"/>
                </a:solidFill>
                <a:latin typeface="Calibri" pitchFamily="34" charset="0"/>
                <a:ea typeface="Calibri" pitchFamily="34" charset="-122"/>
                <a:cs typeface="Calibri" pitchFamily="34" charset="-120"/>
              </a:rPr>
              <a:t>Cited passages with source document and section reference</a:t>
            </a:r>
            <a:endParaRPr lang="en-US" sz="1100" dirty="0"/>
          </a:p>
        </p:txBody>
      </p:sp>
      <p:sp>
        <p:nvSpPr>
          <p:cNvPr id="35" name="Text 33"/>
          <p:cNvSpPr/>
          <p:nvPr/>
        </p:nvSpPr>
        <p:spPr>
          <a:xfrm>
            <a:off x="6534760" y="4334256"/>
            <a:ext cx="1280160" cy="411480"/>
          </a:xfrm>
          <a:prstGeom prst="rect">
            <a:avLst/>
          </a:prstGeom>
          <a:noFill/>
          <a:ln/>
        </p:spPr>
        <p:txBody>
          <a:bodyPr wrap="square" lIns="0" tIns="0" rIns="0" bIns="0" rtlCol="0" anchor="t"/>
          <a:lstStyle/>
          <a:p>
            <a:pPr marL="0" indent="0">
              <a:buNone/>
            </a:pPr>
            <a:r>
              <a:rPr lang="en-US" sz="900" b="1" kern="0" spc="100" dirty="0">
                <a:solidFill>
                  <a:srgbClr val="64748B"/>
                </a:solidFill>
                <a:latin typeface="Calibri" pitchFamily="34" charset="0"/>
                <a:ea typeface="Calibri" pitchFamily="34" charset="-122"/>
                <a:cs typeface="Calibri" pitchFamily="34" charset="-120"/>
              </a:rPr>
              <a:t>AUDIENCE</a:t>
            </a:r>
            <a:endParaRPr lang="en-US" sz="900" dirty="0"/>
          </a:p>
        </p:txBody>
      </p:sp>
      <p:sp>
        <p:nvSpPr>
          <p:cNvPr id="36" name="Text 34"/>
          <p:cNvSpPr/>
          <p:nvPr/>
        </p:nvSpPr>
        <p:spPr>
          <a:xfrm>
            <a:off x="7878928" y="4334256"/>
            <a:ext cx="3489808" cy="438912"/>
          </a:xfrm>
          <a:prstGeom prst="rect">
            <a:avLst/>
          </a:prstGeom>
          <a:noFill/>
          <a:ln/>
        </p:spPr>
        <p:txBody>
          <a:bodyPr wrap="square" lIns="0" tIns="0" rIns="0" bIns="0" rtlCol="0" anchor="t"/>
          <a:lstStyle/>
          <a:p>
            <a:pPr marL="0" indent="0">
              <a:lnSpc>
                <a:spcPts val="1350"/>
              </a:lnSpc>
              <a:buNone/>
            </a:pPr>
            <a:r>
              <a:rPr lang="en-US" sz="1100" dirty="0">
                <a:solidFill>
                  <a:srgbClr val="33415A"/>
                </a:solidFill>
                <a:latin typeface="Calibri" pitchFamily="34" charset="0"/>
                <a:ea typeface="Calibri" pitchFamily="34" charset="-122"/>
                <a:cs typeface="Calibri" pitchFamily="34" charset="-120"/>
              </a:rPr>
              <a:t>Analysts, legal, compliance — deep research use cases</a:t>
            </a:r>
            <a:endParaRPr lang="en-US" sz="1100" dirty="0"/>
          </a:p>
        </p:txBody>
      </p:sp>
      <p:sp>
        <p:nvSpPr>
          <p:cNvPr id="37" name="Text 35"/>
          <p:cNvSpPr/>
          <p:nvPr/>
        </p:nvSpPr>
        <p:spPr>
          <a:xfrm>
            <a:off x="6534760" y="4800600"/>
            <a:ext cx="4952848" cy="228600"/>
          </a:xfrm>
          <a:prstGeom prst="rect">
            <a:avLst/>
          </a:prstGeom>
          <a:noFill/>
          <a:ln/>
        </p:spPr>
        <p:txBody>
          <a:bodyPr wrap="square" lIns="0" tIns="0" rIns="0" bIns="0" rtlCol="0" anchor="ctr"/>
          <a:lstStyle/>
          <a:p>
            <a:pPr marL="0" indent="0">
              <a:buNone/>
            </a:pPr>
            <a:r>
              <a:rPr lang="en-US" sz="900" b="1" kern="0" spc="150" dirty="0">
                <a:solidFill>
                  <a:srgbClr val="0F766E"/>
                </a:solidFill>
                <a:latin typeface="Calibri" pitchFamily="34" charset="0"/>
                <a:ea typeface="Calibri" pitchFamily="34" charset="-122"/>
                <a:cs typeface="Calibri" pitchFamily="34" charset="-120"/>
              </a:rPr>
              <a:t>EXAMPLE QUESTIONS</a:t>
            </a:r>
            <a:endParaRPr lang="en-US" sz="900" dirty="0"/>
          </a:p>
        </p:txBody>
      </p:sp>
      <p:sp>
        <p:nvSpPr>
          <p:cNvPr id="38" name="Shape 36"/>
          <p:cNvSpPr/>
          <p:nvPr/>
        </p:nvSpPr>
        <p:spPr>
          <a:xfrm>
            <a:off x="6534760" y="5067300"/>
            <a:ext cx="109728" cy="109728"/>
          </a:xfrm>
          <a:prstGeom prst="ellipse">
            <a:avLst/>
          </a:prstGeom>
          <a:solidFill>
            <a:srgbClr val="14B8A6"/>
          </a:solidFill>
          <a:ln/>
        </p:spPr>
        <p:txBody>
          <a:bodyPr/>
          <a:lstStyle/>
          <a:p>
            <a:endParaRPr lang="en-IN"/>
          </a:p>
        </p:txBody>
      </p:sp>
      <p:sp>
        <p:nvSpPr>
          <p:cNvPr id="39" name="Text 37"/>
          <p:cNvSpPr/>
          <p:nvPr/>
        </p:nvSpPr>
        <p:spPr>
          <a:xfrm>
            <a:off x="6717640" y="5041900"/>
            <a:ext cx="4769968" cy="381000"/>
          </a:xfrm>
          <a:prstGeom prst="rect">
            <a:avLst/>
          </a:prstGeom>
          <a:noFill/>
          <a:ln/>
        </p:spPr>
        <p:txBody>
          <a:bodyPr wrap="square" lIns="0" tIns="0" rIns="0" bIns="0" rtlCol="0" anchor="t"/>
          <a:lstStyle/>
          <a:p>
            <a:pPr marL="0" indent="0">
              <a:lnSpc>
                <a:spcPts val="1300"/>
              </a:lnSpc>
              <a:buNone/>
            </a:pPr>
            <a:r>
              <a:rPr lang="en-US" sz="1000" dirty="0">
                <a:solidFill>
                  <a:srgbClr val="33415A"/>
                </a:solidFill>
                <a:latin typeface="Calibri" pitchFamily="34" charset="0"/>
                <a:ea typeface="Calibri" pitchFamily="34" charset="-122"/>
                <a:cs typeface="Calibri" pitchFamily="34" charset="-120"/>
              </a:rPr>
              <a:t>What does Provider X's contract say about stop-loss provisions?</a:t>
            </a:r>
            <a:endParaRPr lang="en-US" sz="1000" dirty="0"/>
          </a:p>
        </p:txBody>
      </p:sp>
      <p:sp>
        <p:nvSpPr>
          <p:cNvPr id="40" name="Shape 38"/>
          <p:cNvSpPr/>
          <p:nvPr/>
        </p:nvSpPr>
        <p:spPr>
          <a:xfrm>
            <a:off x="6534760" y="5473700"/>
            <a:ext cx="109728" cy="109728"/>
          </a:xfrm>
          <a:prstGeom prst="ellipse">
            <a:avLst/>
          </a:prstGeom>
          <a:solidFill>
            <a:srgbClr val="14B8A6"/>
          </a:solidFill>
          <a:ln/>
        </p:spPr>
        <p:txBody>
          <a:bodyPr/>
          <a:lstStyle/>
          <a:p>
            <a:endParaRPr lang="en-IN"/>
          </a:p>
        </p:txBody>
      </p:sp>
      <p:sp>
        <p:nvSpPr>
          <p:cNvPr id="41" name="Text 39"/>
          <p:cNvSpPr/>
          <p:nvPr/>
        </p:nvSpPr>
        <p:spPr>
          <a:xfrm>
            <a:off x="6717640" y="5435600"/>
            <a:ext cx="4769968" cy="381000"/>
          </a:xfrm>
          <a:prstGeom prst="rect">
            <a:avLst/>
          </a:prstGeom>
          <a:noFill/>
          <a:ln/>
        </p:spPr>
        <p:txBody>
          <a:bodyPr wrap="square" lIns="0" tIns="0" rIns="0" bIns="0" rtlCol="0" anchor="t"/>
          <a:lstStyle/>
          <a:p>
            <a:pPr marL="0" indent="0">
              <a:lnSpc>
                <a:spcPts val="1300"/>
              </a:lnSpc>
              <a:buNone/>
            </a:pPr>
            <a:r>
              <a:rPr lang="en-US" sz="1000" dirty="0">
                <a:solidFill>
                  <a:srgbClr val="33415A"/>
                </a:solidFill>
                <a:latin typeface="Calibri" pitchFamily="34" charset="0"/>
                <a:ea typeface="Calibri" pitchFamily="34" charset="-122"/>
                <a:cs typeface="Calibri" pitchFamily="34" charset="-120"/>
              </a:rPr>
              <a:t>Which contracts contain an offset clause?</a:t>
            </a:r>
            <a:endParaRPr lang="en-US" sz="1000" dirty="0"/>
          </a:p>
        </p:txBody>
      </p:sp>
      <p:sp>
        <p:nvSpPr>
          <p:cNvPr id="42" name="Shape 40"/>
          <p:cNvSpPr/>
          <p:nvPr/>
        </p:nvSpPr>
        <p:spPr>
          <a:xfrm>
            <a:off x="6534760" y="5880100"/>
            <a:ext cx="109728" cy="109728"/>
          </a:xfrm>
          <a:prstGeom prst="ellipse">
            <a:avLst/>
          </a:prstGeom>
          <a:solidFill>
            <a:srgbClr val="14B8A6"/>
          </a:solidFill>
          <a:ln/>
        </p:spPr>
        <p:txBody>
          <a:bodyPr/>
          <a:lstStyle/>
          <a:p>
            <a:endParaRPr lang="en-IN"/>
          </a:p>
        </p:txBody>
      </p:sp>
      <p:sp>
        <p:nvSpPr>
          <p:cNvPr id="43" name="Text 41"/>
          <p:cNvSpPr/>
          <p:nvPr/>
        </p:nvSpPr>
        <p:spPr>
          <a:xfrm>
            <a:off x="6717640" y="5829300"/>
            <a:ext cx="4769968" cy="228600"/>
          </a:xfrm>
          <a:prstGeom prst="rect">
            <a:avLst/>
          </a:prstGeom>
          <a:noFill/>
          <a:ln/>
        </p:spPr>
        <p:txBody>
          <a:bodyPr wrap="square" lIns="0" tIns="0" rIns="0" bIns="0" rtlCol="0" anchor="t"/>
          <a:lstStyle/>
          <a:p>
            <a:pPr marL="0" indent="0">
              <a:lnSpc>
                <a:spcPts val="1300"/>
              </a:lnSpc>
              <a:buNone/>
            </a:pPr>
            <a:r>
              <a:rPr lang="en-US" sz="1000" dirty="0">
                <a:solidFill>
                  <a:srgbClr val="33415A"/>
                </a:solidFill>
                <a:latin typeface="Calibri" pitchFamily="34" charset="0"/>
                <a:ea typeface="Calibri" pitchFamily="34" charset="-122"/>
                <a:cs typeface="Calibri" pitchFamily="34" charset="-120"/>
              </a:rPr>
              <a:t>What are the exact termination notice requirements for Provider X?</a:t>
            </a:r>
            <a:endParaRPr lang="en-US" sz="1000" dirty="0"/>
          </a:p>
        </p:txBody>
      </p:sp>
      <p:sp>
        <p:nvSpPr>
          <p:cNvPr id="44" name="Shape 42"/>
          <p:cNvSpPr/>
          <p:nvPr/>
        </p:nvSpPr>
        <p:spPr>
          <a:xfrm>
            <a:off x="548640" y="6053328"/>
            <a:ext cx="11094415" cy="381000"/>
          </a:xfrm>
          <a:prstGeom prst="rect">
            <a:avLst/>
          </a:prstGeom>
          <a:solidFill>
            <a:srgbClr val="E7F6F4"/>
          </a:solidFill>
          <a:ln/>
        </p:spPr>
        <p:txBody>
          <a:bodyPr/>
          <a:lstStyle/>
          <a:p>
            <a:endParaRPr lang="en-IN"/>
          </a:p>
        </p:txBody>
      </p:sp>
      <p:sp>
        <p:nvSpPr>
          <p:cNvPr id="45" name="Shape 43"/>
          <p:cNvSpPr/>
          <p:nvPr/>
        </p:nvSpPr>
        <p:spPr>
          <a:xfrm>
            <a:off x="548640" y="6053328"/>
            <a:ext cx="82296" cy="381000"/>
          </a:xfrm>
          <a:prstGeom prst="rect">
            <a:avLst/>
          </a:prstGeom>
          <a:solidFill>
            <a:srgbClr val="0F766E"/>
          </a:solidFill>
          <a:ln/>
        </p:spPr>
        <p:txBody>
          <a:bodyPr/>
          <a:lstStyle/>
          <a:p>
            <a:endParaRPr lang="en-IN"/>
          </a:p>
        </p:txBody>
      </p:sp>
      <p:sp>
        <p:nvSpPr>
          <p:cNvPr id="46" name="Text 44"/>
          <p:cNvSpPr/>
          <p:nvPr/>
        </p:nvSpPr>
        <p:spPr>
          <a:xfrm>
            <a:off x="822960" y="6053328"/>
            <a:ext cx="10637215" cy="381000"/>
          </a:xfrm>
          <a:prstGeom prst="rect">
            <a:avLst/>
          </a:prstGeom>
          <a:noFill/>
          <a:ln/>
        </p:spPr>
        <p:txBody>
          <a:bodyPr wrap="square" lIns="0" tIns="0" rIns="0" bIns="0" rtlCol="0" anchor="ctr"/>
          <a:lstStyle/>
          <a:p>
            <a:pPr marL="0" indent="0">
              <a:buNone/>
            </a:pPr>
            <a:r>
              <a:rPr lang="en-US" sz="1300" b="1" dirty="0">
                <a:solidFill>
                  <a:srgbClr val="0F766E"/>
                </a:solidFill>
                <a:latin typeface="Calibri" pitchFamily="34" charset="0"/>
                <a:ea typeface="Calibri" pitchFamily="34" charset="-122"/>
                <a:cs typeface="Calibri" pitchFamily="34" charset="-120"/>
              </a:rPr>
              <a:t>One platform, two front doors.  </a:t>
            </a:r>
            <a:r>
              <a:rPr lang="en-US" sz="1300" dirty="0">
                <a:solidFill>
                  <a:srgbClr val="33415A"/>
                </a:solidFill>
                <a:latin typeface="Calibri" pitchFamily="34" charset="0"/>
                <a:ea typeface="Calibri" pitchFamily="34" charset="-122"/>
                <a:cs typeface="Calibri" pitchFamily="34" charset="-120"/>
              </a:rPr>
              <a:t>Both read from the same governed, validated foundation — answers are consistent no matter how you ask.</a:t>
            </a:r>
            <a:endParaRPr lang="en-US" sz="1300" dirty="0"/>
          </a:p>
        </p:txBody>
      </p:sp>
      <p:sp>
        <p:nvSpPr>
          <p:cNvPr id="47" name="Text 45"/>
          <p:cNvSpPr/>
          <p:nvPr/>
        </p:nvSpPr>
        <p:spPr>
          <a:xfrm>
            <a:off x="548640" y="6473952"/>
            <a:ext cx="8229600" cy="256032"/>
          </a:xfrm>
          <a:prstGeom prst="rect">
            <a:avLst/>
          </a:prstGeom>
          <a:noFill/>
          <a:ln/>
        </p:spPr>
        <p:txBody>
          <a:bodyPr wrap="square" lIns="0" tIns="0" rIns="0" bIns="0" rtlCol="0" anchor="ctr"/>
          <a:lstStyle/>
          <a:p>
            <a:pPr marL="0" indent="0">
              <a:buNone/>
            </a:pPr>
            <a:r>
              <a:rPr lang="en-US" sz="800" b="1" kern="0" spc="80" dirty="0">
                <a:solidFill>
                  <a:srgbClr val="64748B"/>
                </a:solidFill>
                <a:latin typeface="Calibri" pitchFamily="34" charset="0"/>
                <a:ea typeface="Calibri" pitchFamily="34" charset="-122"/>
                <a:cs typeface="Calibri" pitchFamily="34" charset="-120"/>
              </a:rPr>
              <a:t>PROVIDER CONTRACT INTELLIGENCE PLATFORM</a:t>
            </a:r>
            <a:r>
              <a:rPr lang="en-US" sz="800" kern="0" spc="8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48" name="Text 46"/>
          <p:cNvSpPr/>
          <p:nvPr/>
        </p:nvSpPr>
        <p:spPr>
          <a:xfrm>
            <a:off x="10728655" y="6473952"/>
            <a:ext cx="914400" cy="256032"/>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256032"/>
          </a:xfrm>
          <a:prstGeom prst="rect">
            <a:avLst/>
          </a:prstGeom>
          <a:noFill/>
          <a:ln/>
        </p:spPr>
        <p:txBody>
          <a:bodyPr wrap="square" lIns="0" tIns="0" rIns="0" bIns="0" rtlCol="0" anchor="ctr"/>
          <a:lstStyle/>
          <a:p>
            <a:pPr marL="0" indent="0">
              <a:buNone/>
            </a:pPr>
            <a:r>
              <a:rPr lang="en-US" sz="1100" b="1" kern="0" spc="250" dirty="0">
                <a:solidFill>
                  <a:srgbClr val="0F766E"/>
                </a:solidFill>
                <a:latin typeface="Calibri" pitchFamily="34" charset="0"/>
                <a:ea typeface="Calibri" pitchFamily="34" charset="-122"/>
                <a:cs typeface="Calibri" pitchFamily="34" charset="-120"/>
              </a:rPr>
              <a:t>SECTION 10 · WHERE WE ARE TODAY</a:t>
            </a:r>
            <a:endParaRPr lang="en-US" sz="1100" dirty="0"/>
          </a:p>
        </p:txBody>
      </p:sp>
      <p:sp>
        <p:nvSpPr>
          <p:cNvPr id="3" name="Text 1"/>
          <p:cNvSpPr/>
          <p:nvPr/>
        </p:nvSpPr>
        <p:spPr>
          <a:xfrm>
            <a:off x="548640" y="804672"/>
            <a:ext cx="7987979" cy="1005840"/>
          </a:xfrm>
          <a:prstGeom prst="rect">
            <a:avLst/>
          </a:prstGeom>
          <a:noFill/>
          <a:ln/>
        </p:spPr>
        <p:txBody>
          <a:bodyPr wrap="square" lIns="0" tIns="0" rIns="0" bIns="0" rtlCol="0" anchor="t"/>
          <a:lstStyle/>
          <a:p>
            <a:pPr marL="0" indent="0">
              <a:lnSpc>
                <a:spcPts val="2860"/>
              </a:lnSpc>
              <a:buNone/>
            </a:pPr>
            <a:r>
              <a:rPr lang="en-US" sz="2600" b="1" dirty="0">
                <a:solidFill>
                  <a:srgbClr val="0B1B2E"/>
                </a:solidFill>
                <a:latin typeface="Georgia" pitchFamily="34" charset="0"/>
                <a:ea typeface="Georgia" pitchFamily="34" charset="-122"/>
                <a:cs typeface="Georgia" pitchFamily="34" charset="-120"/>
              </a:rPr>
              <a:t>Live in production — ~70% complete, clear path to full corpus</a:t>
            </a:r>
            <a:endParaRPr lang="en-US" sz="2600" dirty="0"/>
          </a:p>
        </p:txBody>
      </p:sp>
      <p:sp>
        <p:nvSpPr>
          <p:cNvPr id="4" name="Text 2"/>
          <p:cNvSpPr/>
          <p:nvPr/>
        </p:nvSpPr>
        <p:spPr>
          <a:xfrm>
            <a:off x="548640" y="1901952"/>
            <a:ext cx="5943600" cy="256032"/>
          </a:xfrm>
          <a:prstGeom prst="rect">
            <a:avLst/>
          </a:prstGeom>
          <a:noFill/>
          <a:ln/>
        </p:spPr>
        <p:txBody>
          <a:bodyPr wrap="square" lIns="0" tIns="0" rIns="0" bIns="0" rtlCol="0" anchor="ctr"/>
          <a:lstStyle/>
          <a:p>
            <a:pPr marL="0" indent="0">
              <a:buNone/>
            </a:pPr>
            <a:r>
              <a:rPr lang="en-US" sz="1000" b="1" kern="0" spc="200" dirty="0">
                <a:solidFill>
                  <a:srgbClr val="14B8A6"/>
                </a:solidFill>
                <a:latin typeface="Calibri" pitchFamily="34" charset="0"/>
                <a:ea typeface="Calibri" pitchFamily="34" charset="-122"/>
                <a:cs typeface="Calibri" pitchFamily="34" charset="-120"/>
              </a:rPr>
              <a:t>COMPONENT STATUS</a:t>
            </a:r>
            <a:endParaRPr lang="en-US" sz="1000" dirty="0"/>
          </a:p>
        </p:txBody>
      </p:sp>
      <p:sp>
        <p:nvSpPr>
          <p:cNvPr id="5" name="Shape 3"/>
          <p:cNvSpPr/>
          <p:nvPr/>
        </p:nvSpPr>
        <p:spPr>
          <a:xfrm>
            <a:off x="548640" y="2240280"/>
            <a:ext cx="5943600" cy="621792"/>
          </a:xfrm>
          <a:prstGeom prst="roundRect">
            <a:avLst>
              <a:gd name="adj" fmla="val 8824"/>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6" name="Shape 4"/>
          <p:cNvSpPr/>
          <p:nvPr/>
        </p:nvSpPr>
        <p:spPr>
          <a:xfrm>
            <a:off x="749808" y="2487168"/>
            <a:ext cx="146304" cy="146304"/>
          </a:xfrm>
          <a:prstGeom prst="ellipse">
            <a:avLst/>
          </a:prstGeom>
          <a:solidFill>
            <a:srgbClr val="14B8A6"/>
          </a:solidFill>
          <a:ln/>
        </p:spPr>
        <p:txBody>
          <a:bodyPr/>
          <a:lstStyle/>
          <a:p>
            <a:endParaRPr lang="en-IN"/>
          </a:p>
        </p:txBody>
      </p:sp>
      <p:sp>
        <p:nvSpPr>
          <p:cNvPr id="7" name="Text 5"/>
          <p:cNvSpPr/>
          <p:nvPr/>
        </p:nvSpPr>
        <p:spPr>
          <a:xfrm>
            <a:off x="1005840" y="2313432"/>
            <a:ext cx="2377440" cy="475488"/>
          </a:xfrm>
          <a:prstGeom prst="rect">
            <a:avLst/>
          </a:prstGeom>
          <a:noFill/>
          <a:ln/>
        </p:spPr>
        <p:txBody>
          <a:bodyPr wrap="square" lIns="0" tIns="0" rIns="0" bIns="0" rtlCol="0" anchor="ctr"/>
          <a:lstStyle/>
          <a:p>
            <a:pPr marL="0" indent="0">
              <a:buNone/>
            </a:pPr>
            <a:r>
              <a:rPr lang="en-US" sz="1250" b="1" dirty="0">
                <a:solidFill>
                  <a:srgbClr val="0B1B2E"/>
                </a:solidFill>
                <a:latin typeface="Calibri" pitchFamily="34" charset="0"/>
                <a:ea typeface="Calibri" pitchFamily="34" charset="-122"/>
                <a:cs typeface="Calibri" pitchFamily="34" charset="-120"/>
              </a:rPr>
              <a:t>Extraction pipeline</a:t>
            </a:r>
            <a:endParaRPr lang="en-US" sz="1250" dirty="0"/>
          </a:p>
        </p:txBody>
      </p:sp>
      <p:sp>
        <p:nvSpPr>
          <p:cNvPr id="8" name="Text 6"/>
          <p:cNvSpPr/>
          <p:nvPr/>
        </p:nvSpPr>
        <p:spPr>
          <a:xfrm>
            <a:off x="3474720" y="2313432"/>
            <a:ext cx="2907792" cy="475488"/>
          </a:xfrm>
          <a:prstGeom prst="rect">
            <a:avLst/>
          </a:prstGeom>
          <a:noFill/>
          <a:ln/>
        </p:spPr>
        <p:txBody>
          <a:bodyPr wrap="square" lIns="0" tIns="0" rIns="0" bIns="0" rtlCol="0" anchor="ctr"/>
          <a:lstStyle/>
          <a:p>
            <a:pPr marL="0" indent="0">
              <a:lnSpc>
                <a:spcPts val="1400"/>
              </a:lnSpc>
              <a:buNone/>
            </a:pPr>
            <a:r>
              <a:rPr lang="en-US" sz="1100" dirty="0">
                <a:solidFill>
                  <a:srgbClr val="0F766E"/>
                </a:solidFill>
                <a:latin typeface="Calibri" pitchFamily="34" charset="0"/>
                <a:ea typeface="Calibri" pitchFamily="34" charset="-122"/>
                <a:cs typeface="Calibri" pitchFamily="34" charset="-120"/>
              </a:rPr>
              <a:t>Production-ready</a:t>
            </a:r>
            <a:endParaRPr lang="en-US" sz="1100" dirty="0"/>
          </a:p>
        </p:txBody>
      </p:sp>
      <p:sp>
        <p:nvSpPr>
          <p:cNvPr id="9" name="Shape 7"/>
          <p:cNvSpPr/>
          <p:nvPr/>
        </p:nvSpPr>
        <p:spPr>
          <a:xfrm>
            <a:off x="548640" y="2935224"/>
            <a:ext cx="5943600" cy="621792"/>
          </a:xfrm>
          <a:prstGeom prst="roundRect">
            <a:avLst>
              <a:gd name="adj" fmla="val 8824"/>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10" name="Shape 8"/>
          <p:cNvSpPr/>
          <p:nvPr/>
        </p:nvSpPr>
        <p:spPr>
          <a:xfrm>
            <a:off x="749808" y="3182112"/>
            <a:ext cx="146304" cy="146304"/>
          </a:xfrm>
          <a:prstGeom prst="ellipse">
            <a:avLst/>
          </a:prstGeom>
          <a:solidFill>
            <a:srgbClr val="14B8A6"/>
          </a:solidFill>
          <a:ln/>
        </p:spPr>
        <p:txBody>
          <a:bodyPr/>
          <a:lstStyle/>
          <a:p>
            <a:endParaRPr lang="en-IN"/>
          </a:p>
        </p:txBody>
      </p:sp>
      <p:sp>
        <p:nvSpPr>
          <p:cNvPr id="11" name="Text 9"/>
          <p:cNvSpPr/>
          <p:nvPr/>
        </p:nvSpPr>
        <p:spPr>
          <a:xfrm>
            <a:off x="1005840" y="3008376"/>
            <a:ext cx="2377440" cy="475488"/>
          </a:xfrm>
          <a:prstGeom prst="rect">
            <a:avLst/>
          </a:prstGeom>
          <a:noFill/>
          <a:ln/>
        </p:spPr>
        <p:txBody>
          <a:bodyPr wrap="square" lIns="0" tIns="0" rIns="0" bIns="0" rtlCol="0" anchor="ctr"/>
          <a:lstStyle/>
          <a:p>
            <a:pPr marL="0" indent="0">
              <a:buNone/>
            </a:pPr>
            <a:r>
              <a:rPr lang="en-US" sz="1250" b="1" dirty="0">
                <a:solidFill>
                  <a:srgbClr val="0B1B2E"/>
                </a:solidFill>
                <a:latin typeface="Calibri" pitchFamily="34" charset="0"/>
                <a:ea typeface="Calibri" pitchFamily="34" charset="-122"/>
                <a:cs typeface="Calibri" pitchFamily="34" charset="-120"/>
              </a:rPr>
              <a:t>Data quality &amp; validation</a:t>
            </a:r>
            <a:endParaRPr lang="en-US" sz="1250" dirty="0"/>
          </a:p>
        </p:txBody>
      </p:sp>
      <p:sp>
        <p:nvSpPr>
          <p:cNvPr id="12" name="Text 10"/>
          <p:cNvSpPr/>
          <p:nvPr/>
        </p:nvSpPr>
        <p:spPr>
          <a:xfrm>
            <a:off x="3474720" y="3008376"/>
            <a:ext cx="2907792" cy="475488"/>
          </a:xfrm>
          <a:prstGeom prst="rect">
            <a:avLst/>
          </a:prstGeom>
          <a:noFill/>
          <a:ln/>
        </p:spPr>
        <p:txBody>
          <a:bodyPr wrap="square" lIns="0" tIns="0" rIns="0" bIns="0" rtlCol="0" anchor="ctr"/>
          <a:lstStyle/>
          <a:p>
            <a:pPr marL="0" indent="0">
              <a:lnSpc>
                <a:spcPts val="1400"/>
              </a:lnSpc>
              <a:buNone/>
            </a:pPr>
            <a:r>
              <a:rPr lang="en-US" sz="1100" dirty="0">
                <a:solidFill>
                  <a:srgbClr val="0F766E"/>
                </a:solidFill>
                <a:latin typeface="Calibri" pitchFamily="34" charset="0"/>
                <a:ea typeface="Calibri" pitchFamily="34" charset="-122"/>
                <a:cs typeface="Calibri" pitchFamily="34" charset="-120"/>
              </a:rPr>
              <a:t>Operational — 8-check suite live</a:t>
            </a:r>
            <a:endParaRPr lang="en-US" sz="1100" dirty="0"/>
          </a:p>
        </p:txBody>
      </p:sp>
      <p:sp>
        <p:nvSpPr>
          <p:cNvPr id="13" name="Shape 11"/>
          <p:cNvSpPr/>
          <p:nvPr/>
        </p:nvSpPr>
        <p:spPr>
          <a:xfrm>
            <a:off x="548640" y="3630168"/>
            <a:ext cx="5943600" cy="621792"/>
          </a:xfrm>
          <a:prstGeom prst="roundRect">
            <a:avLst>
              <a:gd name="adj" fmla="val 8824"/>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14" name="Shape 12"/>
          <p:cNvSpPr/>
          <p:nvPr/>
        </p:nvSpPr>
        <p:spPr>
          <a:xfrm>
            <a:off x="749808" y="3877056"/>
            <a:ext cx="146304" cy="146304"/>
          </a:xfrm>
          <a:prstGeom prst="ellipse">
            <a:avLst/>
          </a:prstGeom>
          <a:solidFill>
            <a:srgbClr val="14B8A6"/>
          </a:solidFill>
          <a:ln/>
        </p:spPr>
        <p:txBody>
          <a:bodyPr/>
          <a:lstStyle/>
          <a:p>
            <a:endParaRPr lang="en-IN"/>
          </a:p>
        </p:txBody>
      </p:sp>
      <p:sp>
        <p:nvSpPr>
          <p:cNvPr id="15" name="Text 13"/>
          <p:cNvSpPr/>
          <p:nvPr/>
        </p:nvSpPr>
        <p:spPr>
          <a:xfrm>
            <a:off x="1005840" y="3703320"/>
            <a:ext cx="2377440" cy="475488"/>
          </a:xfrm>
          <a:prstGeom prst="rect">
            <a:avLst/>
          </a:prstGeom>
          <a:noFill/>
          <a:ln/>
        </p:spPr>
        <p:txBody>
          <a:bodyPr wrap="square" lIns="0" tIns="0" rIns="0" bIns="0" rtlCol="0" anchor="ctr"/>
          <a:lstStyle/>
          <a:p>
            <a:pPr marL="0" indent="0">
              <a:buNone/>
            </a:pPr>
            <a:r>
              <a:rPr lang="en-US" sz="1250" b="1" dirty="0">
                <a:solidFill>
                  <a:srgbClr val="0B1B2E"/>
                </a:solidFill>
                <a:latin typeface="Calibri" pitchFamily="34" charset="0"/>
                <a:ea typeface="Calibri" pitchFamily="34" charset="-122"/>
                <a:cs typeface="Calibri" pitchFamily="34" charset="-120"/>
              </a:rPr>
              <a:t>Genie serving layer</a:t>
            </a:r>
            <a:endParaRPr lang="en-US" sz="1250" dirty="0"/>
          </a:p>
        </p:txBody>
      </p:sp>
      <p:sp>
        <p:nvSpPr>
          <p:cNvPr id="16" name="Text 14"/>
          <p:cNvSpPr/>
          <p:nvPr/>
        </p:nvSpPr>
        <p:spPr>
          <a:xfrm>
            <a:off x="3474720" y="3703320"/>
            <a:ext cx="2907792" cy="475488"/>
          </a:xfrm>
          <a:prstGeom prst="rect">
            <a:avLst/>
          </a:prstGeom>
          <a:noFill/>
          <a:ln/>
        </p:spPr>
        <p:txBody>
          <a:bodyPr wrap="square" lIns="0" tIns="0" rIns="0" bIns="0" rtlCol="0" anchor="ctr"/>
          <a:lstStyle/>
          <a:p>
            <a:pPr marL="0" indent="0">
              <a:lnSpc>
                <a:spcPts val="1400"/>
              </a:lnSpc>
              <a:buNone/>
            </a:pPr>
            <a:r>
              <a:rPr lang="en-US" sz="1100" dirty="0">
                <a:solidFill>
                  <a:srgbClr val="0F766E"/>
                </a:solidFill>
                <a:latin typeface="Calibri" pitchFamily="34" charset="0"/>
                <a:ea typeface="Calibri" pitchFamily="34" charset="-122"/>
                <a:cs typeface="Calibri" pitchFamily="34" charset="-120"/>
              </a:rPr>
              <a:t>Live and queryable</a:t>
            </a:r>
            <a:endParaRPr lang="en-US" sz="1100" dirty="0"/>
          </a:p>
        </p:txBody>
      </p:sp>
      <p:sp>
        <p:nvSpPr>
          <p:cNvPr id="17" name="Shape 15"/>
          <p:cNvSpPr/>
          <p:nvPr/>
        </p:nvSpPr>
        <p:spPr>
          <a:xfrm>
            <a:off x="548640" y="4325112"/>
            <a:ext cx="5943600" cy="621792"/>
          </a:xfrm>
          <a:prstGeom prst="roundRect">
            <a:avLst>
              <a:gd name="adj" fmla="val 8824"/>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18" name="Shape 16"/>
          <p:cNvSpPr/>
          <p:nvPr/>
        </p:nvSpPr>
        <p:spPr>
          <a:xfrm>
            <a:off x="749808" y="4572000"/>
            <a:ext cx="146304" cy="146304"/>
          </a:xfrm>
          <a:prstGeom prst="ellipse">
            <a:avLst/>
          </a:prstGeom>
          <a:solidFill>
            <a:srgbClr val="14B8A6"/>
          </a:solidFill>
          <a:ln/>
        </p:spPr>
        <p:txBody>
          <a:bodyPr/>
          <a:lstStyle/>
          <a:p>
            <a:endParaRPr lang="en-IN"/>
          </a:p>
        </p:txBody>
      </p:sp>
      <p:sp>
        <p:nvSpPr>
          <p:cNvPr id="19" name="Text 17"/>
          <p:cNvSpPr/>
          <p:nvPr/>
        </p:nvSpPr>
        <p:spPr>
          <a:xfrm>
            <a:off x="1005840" y="4398264"/>
            <a:ext cx="2377440" cy="475488"/>
          </a:xfrm>
          <a:prstGeom prst="rect">
            <a:avLst/>
          </a:prstGeom>
          <a:noFill/>
          <a:ln/>
        </p:spPr>
        <p:txBody>
          <a:bodyPr wrap="square" lIns="0" tIns="0" rIns="0" bIns="0" rtlCol="0" anchor="ctr"/>
          <a:lstStyle/>
          <a:p>
            <a:pPr marL="0" indent="0">
              <a:buNone/>
            </a:pPr>
            <a:r>
              <a:rPr lang="en-US" sz="1250" b="1" dirty="0">
                <a:solidFill>
                  <a:srgbClr val="0B1B2E"/>
                </a:solidFill>
                <a:latin typeface="Calibri" pitchFamily="34" charset="0"/>
                <a:ea typeface="Calibri" pitchFamily="34" charset="-122"/>
                <a:cs typeface="Calibri" pitchFamily="34" charset="-120"/>
              </a:rPr>
              <a:t>RAG notebook</a:t>
            </a:r>
            <a:endParaRPr lang="en-US" sz="1250" dirty="0"/>
          </a:p>
        </p:txBody>
      </p:sp>
      <p:sp>
        <p:nvSpPr>
          <p:cNvPr id="20" name="Text 18"/>
          <p:cNvSpPr/>
          <p:nvPr/>
        </p:nvSpPr>
        <p:spPr>
          <a:xfrm>
            <a:off x="3474720" y="4398264"/>
            <a:ext cx="2907792" cy="475488"/>
          </a:xfrm>
          <a:prstGeom prst="rect">
            <a:avLst/>
          </a:prstGeom>
          <a:noFill/>
          <a:ln/>
        </p:spPr>
        <p:txBody>
          <a:bodyPr wrap="square" lIns="0" tIns="0" rIns="0" bIns="0" rtlCol="0" anchor="ctr"/>
          <a:lstStyle/>
          <a:p>
            <a:pPr marL="0" indent="0">
              <a:lnSpc>
                <a:spcPts val="1400"/>
              </a:lnSpc>
              <a:buNone/>
            </a:pPr>
            <a:r>
              <a:rPr lang="en-US" sz="1100" dirty="0">
                <a:solidFill>
                  <a:srgbClr val="0F766E"/>
                </a:solidFill>
                <a:latin typeface="Calibri" pitchFamily="34" charset="0"/>
                <a:ea typeface="Calibri" pitchFamily="34" charset="-122"/>
                <a:cs typeface="Calibri" pitchFamily="34" charset="-120"/>
              </a:rPr>
              <a:t>Live, citation-grounded</a:t>
            </a:r>
            <a:endParaRPr lang="en-US" sz="1100" dirty="0"/>
          </a:p>
        </p:txBody>
      </p:sp>
      <p:sp>
        <p:nvSpPr>
          <p:cNvPr id="21" name="Shape 19"/>
          <p:cNvSpPr/>
          <p:nvPr/>
        </p:nvSpPr>
        <p:spPr>
          <a:xfrm>
            <a:off x="548640" y="5020056"/>
            <a:ext cx="5943600" cy="621792"/>
          </a:xfrm>
          <a:prstGeom prst="roundRect">
            <a:avLst>
              <a:gd name="adj" fmla="val 8824"/>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22" name="Shape 20"/>
          <p:cNvSpPr/>
          <p:nvPr/>
        </p:nvSpPr>
        <p:spPr>
          <a:xfrm>
            <a:off x="749808" y="5266944"/>
            <a:ext cx="146304" cy="146304"/>
          </a:xfrm>
          <a:prstGeom prst="ellipse">
            <a:avLst/>
          </a:prstGeom>
          <a:solidFill>
            <a:srgbClr val="F59E0B"/>
          </a:solidFill>
          <a:ln/>
        </p:spPr>
        <p:txBody>
          <a:bodyPr/>
          <a:lstStyle/>
          <a:p>
            <a:endParaRPr lang="en-IN"/>
          </a:p>
        </p:txBody>
      </p:sp>
      <p:sp>
        <p:nvSpPr>
          <p:cNvPr id="23" name="Text 21"/>
          <p:cNvSpPr/>
          <p:nvPr/>
        </p:nvSpPr>
        <p:spPr>
          <a:xfrm>
            <a:off x="1005840" y="5093208"/>
            <a:ext cx="2377440" cy="475488"/>
          </a:xfrm>
          <a:prstGeom prst="rect">
            <a:avLst/>
          </a:prstGeom>
          <a:noFill/>
          <a:ln/>
        </p:spPr>
        <p:txBody>
          <a:bodyPr wrap="square" lIns="0" tIns="0" rIns="0" bIns="0" rtlCol="0" anchor="ctr"/>
          <a:lstStyle/>
          <a:p>
            <a:pPr marL="0" indent="0">
              <a:buNone/>
            </a:pPr>
            <a:r>
              <a:rPr lang="en-US" sz="1250" b="1" dirty="0">
                <a:solidFill>
                  <a:srgbClr val="0B1B2E"/>
                </a:solidFill>
                <a:latin typeface="Calibri" pitchFamily="34" charset="0"/>
                <a:ea typeface="Calibri" pitchFamily="34" charset="-122"/>
                <a:cs typeface="Calibri" pitchFamily="34" charset="-120"/>
              </a:rPr>
              <a:t>Governance hardening</a:t>
            </a:r>
            <a:endParaRPr lang="en-US" sz="1250" dirty="0"/>
          </a:p>
        </p:txBody>
      </p:sp>
      <p:sp>
        <p:nvSpPr>
          <p:cNvPr id="24" name="Text 22"/>
          <p:cNvSpPr/>
          <p:nvPr/>
        </p:nvSpPr>
        <p:spPr>
          <a:xfrm>
            <a:off x="3474720" y="5093208"/>
            <a:ext cx="2907792" cy="475488"/>
          </a:xfrm>
          <a:prstGeom prst="rect">
            <a:avLst/>
          </a:prstGeom>
          <a:noFill/>
          <a:ln/>
        </p:spPr>
        <p:txBody>
          <a:bodyPr wrap="square" lIns="0" tIns="0" rIns="0" bIns="0" rtlCol="0" anchor="ctr"/>
          <a:lstStyle/>
          <a:p>
            <a:pPr marL="0" indent="0">
              <a:lnSpc>
                <a:spcPts val="1400"/>
              </a:lnSpc>
              <a:buNone/>
            </a:pPr>
            <a:r>
              <a:rPr lang="en-US" sz="1100" dirty="0">
                <a:solidFill>
                  <a:srgbClr val="F59E0B"/>
                </a:solidFill>
                <a:latin typeface="Calibri" pitchFamily="34" charset="0"/>
                <a:ea typeface="Calibri" pitchFamily="34" charset="-122"/>
                <a:cs typeface="Calibri" pitchFamily="34" charset="-120"/>
              </a:rPr>
              <a:t>In progress — access masking, row-level security</a:t>
            </a:r>
            <a:endParaRPr lang="en-US" sz="1100" dirty="0"/>
          </a:p>
        </p:txBody>
      </p:sp>
      <p:sp>
        <p:nvSpPr>
          <p:cNvPr id="25" name="Shape 23"/>
          <p:cNvSpPr/>
          <p:nvPr/>
        </p:nvSpPr>
        <p:spPr>
          <a:xfrm>
            <a:off x="548640" y="5715000"/>
            <a:ext cx="5943600" cy="406400"/>
          </a:xfrm>
          <a:prstGeom prst="roundRect">
            <a:avLst>
              <a:gd name="adj" fmla="val 8824"/>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26" name="Shape 24"/>
          <p:cNvSpPr/>
          <p:nvPr/>
        </p:nvSpPr>
        <p:spPr>
          <a:xfrm>
            <a:off x="749808" y="5961888"/>
            <a:ext cx="146304" cy="215900"/>
          </a:xfrm>
          <a:prstGeom prst="ellipse">
            <a:avLst/>
          </a:prstGeom>
          <a:solidFill>
            <a:srgbClr val="F59E0B"/>
          </a:solidFill>
          <a:ln/>
        </p:spPr>
        <p:txBody>
          <a:bodyPr/>
          <a:lstStyle/>
          <a:p>
            <a:endParaRPr lang="en-IN"/>
          </a:p>
        </p:txBody>
      </p:sp>
      <p:sp>
        <p:nvSpPr>
          <p:cNvPr id="27" name="Text 25"/>
          <p:cNvSpPr/>
          <p:nvPr/>
        </p:nvSpPr>
        <p:spPr>
          <a:xfrm>
            <a:off x="1005840" y="5788152"/>
            <a:ext cx="2377440" cy="355600"/>
          </a:xfrm>
          <a:prstGeom prst="rect">
            <a:avLst/>
          </a:prstGeom>
          <a:noFill/>
          <a:ln/>
        </p:spPr>
        <p:txBody>
          <a:bodyPr wrap="square" lIns="0" tIns="0" rIns="0" bIns="0" rtlCol="0" anchor="ctr"/>
          <a:lstStyle/>
          <a:p>
            <a:pPr marL="0" indent="0">
              <a:buNone/>
            </a:pPr>
            <a:r>
              <a:rPr lang="en-US" sz="1250" b="1" dirty="0">
                <a:solidFill>
                  <a:srgbClr val="0B1B2E"/>
                </a:solidFill>
                <a:latin typeface="Calibri" pitchFamily="34" charset="0"/>
                <a:ea typeface="Calibri" pitchFamily="34" charset="-122"/>
                <a:cs typeface="Calibri" pitchFamily="34" charset="-120"/>
              </a:rPr>
              <a:t>Job orchestration</a:t>
            </a:r>
            <a:endParaRPr lang="en-US" sz="1250" dirty="0"/>
          </a:p>
        </p:txBody>
      </p:sp>
      <p:sp>
        <p:nvSpPr>
          <p:cNvPr id="28" name="Text 26"/>
          <p:cNvSpPr/>
          <p:nvPr/>
        </p:nvSpPr>
        <p:spPr>
          <a:xfrm>
            <a:off x="3474720" y="5788152"/>
            <a:ext cx="2907792" cy="355600"/>
          </a:xfrm>
          <a:prstGeom prst="rect">
            <a:avLst/>
          </a:prstGeom>
          <a:noFill/>
          <a:ln/>
        </p:spPr>
        <p:txBody>
          <a:bodyPr wrap="square" lIns="0" tIns="0" rIns="0" bIns="0" rtlCol="0" anchor="ctr"/>
          <a:lstStyle/>
          <a:p>
            <a:pPr marL="0" indent="0">
              <a:lnSpc>
                <a:spcPts val="1400"/>
              </a:lnSpc>
              <a:buNone/>
            </a:pPr>
            <a:r>
              <a:rPr lang="en-US" sz="1100" dirty="0">
                <a:solidFill>
                  <a:srgbClr val="F59E0B"/>
                </a:solidFill>
                <a:latin typeface="Calibri" pitchFamily="34" charset="0"/>
                <a:ea typeface="Calibri" pitchFamily="34" charset="-122"/>
                <a:cs typeface="Calibri" pitchFamily="34" charset="-120"/>
              </a:rPr>
              <a:t>Manual today — automation next phase</a:t>
            </a:r>
            <a:endParaRPr lang="en-US" sz="1100" dirty="0"/>
          </a:p>
        </p:txBody>
      </p:sp>
      <p:sp>
        <p:nvSpPr>
          <p:cNvPr id="29" name="Shape 27"/>
          <p:cNvSpPr/>
          <p:nvPr/>
        </p:nvSpPr>
        <p:spPr>
          <a:xfrm>
            <a:off x="6720840" y="1901952"/>
            <a:ext cx="4922215" cy="4216400"/>
          </a:xfrm>
          <a:prstGeom prst="rect">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30" name="Shape 28"/>
          <p:cNvSpPr/>
          <p:nvPr/>
        </p:nvSpPr>
        <p:spPr>
          <a:xfrm>
            <a:off x="6720840" y="1901952"/>
            <a:ext cx="4922215" cy="73152"/>
          </a:xfrm>
          <a:prstGeom prst="rect">
            <a:avLst/>
          </a:prstGeom>
          <a:solidFill>
            <a:srgbClr val="14B8A6"/>
          </a:solidFill>
          <a:ln/>
        </p:spPr>
        <p:txBody>
          <a:bodyPr/>
          <a:lstStyle/>
          <a:p>
            <a:endParaRPr lang="en-IN"/>
          </a:p>
        </p:txBody>
      </p:sp>
      <p:sp>
        <p:nvSpPr>
          <p:cNvPr id="31" name="Text 29"/>
          <p:cNvSpPr/>
          <p:nvPr/>
        </p:nvSpPr>
        <p:spPr>
          <a:xfrm>
            <a:off x="6976872" y="2084832"/>
            <a:ext cx="4556455" cy="256032"/>
          </a:xfrm>
          <a:prstGeom prst="rect">
            <a:avLst/>
          </a:prstGeom>
          <a:noFill/>
          <a:ln/>
        </p:spPr>
        <p:txBody>
          <a:bodyPr wrap="square" lIns="0" tIns="0" rIns="0" bIns="0" rtlCol="0" anchor="ctr"/>
          <a:lstStyle/>
          <a:p>
            <a:pPr marL="0" indent="0">
              <a:buNone/>
            </a:pPr>
            <a:r>
              <a:rPr lang="en-US" sz="1000" b="1" kern="0" spc="200" dirty="0">
                <a:solidFill>
                  <a:srgbClr val="14B8A6"/>
                </a:solidFill>
                <a:latin typeface="Calibri" pitchFamily="34" charset="0"/>
                <a:ea typeface="Calibri" pitchFamily="34" charset="-122"/>
                <a:cs typeface="Calibri" pitchFamily="34" charset="-120"/>
              </a:rPr>
              <a:t>CORPUS COMPLETION</a:t>
            </a:r>
            <a:endParaRPr lang="en-US" sz="1000" dirty="0"/>
          </a:p>
        </p:txBody>
      </p:sp>
      <p:sp>
        <p:nvSpPr>
          <p:cNvPr id="32" name="Shape 30"/>
          <p:cNvSpPr/>
          <p:nvPr/>
        </p:nvSpPr>
        <p:spPr>
          <a:xfrm>
            <a:off x="6976872" y="2468880"/>
            <a:ext cx="4465015" cy="292608"/>
          </a:xfrm>
          <a:prstGeom prst="rect">
            <a:avLst/>
          </a:prstGeom>
          <a:solidFill>
            <a:srgbClr val="27405E"/>
          </a:solidFill>
          <a:ln/>
        </p:spPr>
        <p:txBody>
          <a:bodyPr/>
          <a:lstStyle/>
          <a:p>
            <a:endParaRPr lang="en-IN"/>
          </a:p>
        </p:txBody>
      </p:sp>
      <p:sp>
        <p:nvSpPr>
          <p:cNvPr id="33" name="Shape 31"/>
          <p:cNvSpPr/>
          <p:nvPr/>
        </p:nvSpPr>
        <p:spPr>
          <a:xfrm>
            <a:off x="6976872" y="2468880"/>
            <a:ext cx="3125511" cy="292608"/>
          </a:xfrm>
          <a:prstGeom prst="rect">
            <a:avLst/>
          </a:prstGeom>
          <a:solidFill>
            <a:srgbClr val="14B8A6"/>
          </a:solidFill>
          <a:ln/>
        </p:spPr>
        <p:txBody>
          <a:bodyPr/>
          <a:lstStyle/>
          <a:p>
            <a:endParaRPr lang="en-IN"/>
          </a:p>
        </p:txBody>
      </p:sp>
      <p:sp>
        <p:nvSpPr>
          <p:cNvPr id="34" name="Text 32"/>
          <p:cNvSpPr/>
          <p:nvPr/>
        </p:nvSpPr>
        <p:spPr>
          <a:xfrm>
            <a:off x="6976872" y="2816352"/>
            <a:ext cx="3125511" cy="256032"/>
          </a:xfrm>
          <a:prstGeom prst="rect">
            <a:avLst/>
          </a:prstGeom>
          <a:noFill/>
          <a:ln/>
        </p:spPr>
        <p:txBody>
          <a:bodyPr wrap="square" lIns="0" tIns="0" rIns="0" bIns="0" rtlCol="0" anchor="ctr"/>
          <a:lstStyle/>
          <a:p>
            <a:pPr marL="0" indent="0" algn="r">
              <a:buNone/>
            </a:pPr>
            <a:r>
              <a:rPr lang="en-US" sz="1100" b="1" dirty="0">
                <a:solidFill>
                  <a:srgbClr val="5EEAD4"/>
                </a:solidFill>
                <a:latin typeface="Calibri" pitchFamily="34" charset="0"/>
                <a:ea typeface="Calibri" pitchFamily="34" charset="-122"/>
                <a:cs typeface="Calibri" pitchFamily="34" charset="-120"/>
              </a:rPr>
              <a:t>~70%</a:t>
            </a:r>
            <a:endParaRPr lang="en-US" sz="1100" dirty="0"/>
          </a:p>
        </p:txBody>
      </p:sp>
      <p:sp>
        <p:nvSpPr>
          <p:cNvPr id="35" name="Text 33"/>
          <p:cNvSpPr/>
          <p:nvPr/>
        </p:nvSpPr>
        <p:spPr>
          <a:xfrm>
            <a:off x="6976872" y="3154680"/>
            <a:ext cx="4510735"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~7,000 files processed</a:t>
            </a:r>
            <a:endParaRPr lang="en-US" sz="1300" dirty="0"/>
          </a:p>
        </p:txBody>
      </p:sp>
      <p:sp>
        <p:nvSpPr>
          <p:cNvPr id="36" name="Text 34"/>
          <p:cNvSpPr/>
          <p:nvPr/>
        </p:nvSpPr>
        <p:spPr>
          <a:xfrm>
            <a:off x="6976872" y="3493008"/>
            <a:ext cx="4510735" cy="320040"/>
          </a:xfrm>
          <a:prstGeom prst="rect">
            <a:avLst/>
          </a:prstGeom>
          <a:noFill/>
          <a:ln/>
        </p:spPr>
        <p:txBody>
          <a:bodyPr wrap="square" lIns="0" tIns="0" rIns="0" bIns="0" rtlCol="0" anchor="ctr"/>
          <a:lstStyle/>
          <a:p>
            <a:pPr marL="0" indent="0">
              <a:buNone/>
            </a:pPr>
            <a:r>
              <a:rPr lang="en-US" sz="1250" dirty="0">
                <a:solidFill>
                  <a:srgbClr val="93A4BD"/>
                </a:solidFill>
                <a:latin typeface="Calibri" pitchFamily="34" charset="0"/>
                <a:ea typeface="Calibri" pitchFamily="34" charset="-122"/>
                <a:cs typeface="Calibri" pitchFamily="34" charset="-120"/>
              </a:rPr>
              <a:t>~3,000 files remaining</a:t>
            </a:r>
            <a:endParaRPr lang="en-US" sz="1250" dirty="0"/>
          </a:p>
        </p:txBody>
      </p:sp>
      <p:sp>
        <p:nvSpPr>
          <p:cNvPr id="37" name="Shape 35"/>
          <p:cNvSpPr/>
          <p:nvPr/>
        </p:nvSpPr>
        <p:spPr>
          <a:xfrm>
            <a:off x="6976872" y="3977640"/>
            <a:ext cx="4465015" cy="0"/>
          </a:xfrm>
          <a:prstGeom prst="line">
            <a:avLst/>
          </a:prstGeom>
          <a:noFill/>
          <a:ln w="12700">
            <a:solidFill>
              <a:srgbClr val="27405E"/>
            </a:solidFill>
            <a:prstDash val="solid"/>
          </a:ln>
        </p:spPr>
        <p:txBody>
          <a:bodyPr/>
          <a:lstStyle/>
          <a:p>
            <a:endParaRPr lang="en-IN"/>
          </a:p>
        </p:txBody>
      </p:sp>
      <p:sp>
        <p:nvSpPr>
          <p:cNvPr id="38" name="Text 36"/>
          <p:cNvSpPr/>
          <p:nvPr/>
        </p:nvSpPr>
        <p:spPr>
          <a:xfrm>
            <a:off x="6976872" y="4096512"/>
            <a:ext cx="4510735" cy="256032"/>
          </a:xfrm>
          <a:prstGeom prst="rect">
            <a:avLst/>
          </a:prstGeom>
          <a:noFill/>
          <a:ln/>
        </p:spPr>
        <p:txBody>
          <a:bodyPr wrap="square" lIns="0" tIns="0" rIns="0" bIns="0" rtlCol="0" anchor="ctr"/>
          <a:lstStyle/>
          <a:p>
            <a:pPr marL="0" indent="0">
              <a:buNone/>
            </a:pPr>
            <a:r>
              <a:rPr lang="en-US" sz="950" b="1" kern="0" spc="150" dirty="0">
                <a:solidFill>
                  <a:srgbClr val="5EEAD4"/>
                </a:solidFill>
                <a:latin typeface="Calibri" pitchFamily="34" charset="0"/>
                <a:ea typeface="Calibri" pitchFamily="34" charset="-122"/>
                <a:cs typeface="Calibri" pitchFamily="34" charset="-120"/>
              </a:rPr>
              <a:t>AT 70% — ALREADY DELIVERING</a:t>
            </a:r>
            <a:endParaRPr lang="en-US" sz="950" dirty="0"/>
          </a:p>
        </p:txBody>
      </p:sp>
      <p:sp>
        <p:nvSpPr>
          <p:cNvPr id="39" name="Text 37"/>
          <p:cNvSpPr/>
          <p:nvPr/>
        </p:nvSpPr>
        <p:spPr>
          <a:xfrm>
            <a:off x="6976872" y="4407408"/>
            <a:ext cx="4510735" cy="347472"/>
          </a:xfrm>
          <a:prstGeom prst="rect">
            <a:avLst/>
          </a:prstGeom>
          <a:noFill/>
          <a:ln/>
        </p:spPr>
        <p:txBody>
          <a:bodyPr wrap="square" lIns="0" tIns="0" rIns="0" bIns="0" rtlCol="0" anchor="ctr"/>
          <a:lstStyle/>
          <a:p>
            <a:pPr marL="0" indent="0">
              <a:buNone/>
            </a:pPr>
            <a:r>
              <a:rPr lang="en-US" sz="1400" b="1" dirty="0">
                <a:solidFill>
                  <a:srgbClr val="5EEAD4"/>
                </a:solidFill>
                <a:latin typeface="Calibri" pitchFamily="34" charset="0"/>
                <a:ea typeface="Calibri" pitchFamily="34" charset="-122"/>
                <a:cs typeface="Calibri" pitchFamily="34" charset="-120"/>
              </a:rPr>
              <a:t>284  </a:t>
            </a:r>
            <a:r>
              <a:rPr lang="en-US" sz="1100" dirty="0">
                <a:solidFill>
                  <a:srgbClr val="93A4BD"/>
                </a:solidFill>
                <a:latin typeface="Calibri" pitchFamily="34" charset="0"/>
                <a:ea typeface="Calibri" pitchFamily="34" charset="-122"/>
                <a:cs typeface="Calibri" pitchFamily="34" charset="-120"/>
              </a:rPr>
              <a:t>Provider facilities</a:t>
            </a:r>
            <a:endParaRPr lang="en-US" sz="1400" dirty="0"/>
          </a:p>
        </p:txBody>
      </p:sp>
      <p:sp>
        <p:nvSpPr>
          <p:cNvPr id="40" name="Text 38"/>
          <p:cNvSpPr/>
          <p:nvPr/>
        </p:nvSpPr>
        <p:spPr>
          <a:xfrm>
            <a:off x="6976872" y="4791456"/>
            <a:ext cx="4510735" cy="347472"/>
          </a:xfrm>
          <a:prstGeom prst="rect">
            <a:avLst/>
          </a:prstGeom>
          <a:noFill/>
          <a:ln/>
        </p:spPr>
        <p:txBody>
          <a:bodyPr wrap="square" lIns="0" tIns="0" rIns="0" bIns="0" rtlCol="0" anchor="ctr"/>
          <a:lstStyle/>
          <a:p>
            <a:pPr marL="0" indent="0">
              <a:buNone/>
            </a:pPr>
            <a:r>
              <a:rPr lang="en-US" sz="1400" b="1" dirty="0">
                <a:solidFill>
                  <a:srgbClr val="5EEAD4"/>
                </a:solidFill>
                <a:latin typeface="Calibri" pitchFamily="34" charset="0"/>
                <a:ea typeface="Calibri" pitchFamily="34" charset="-122"/>
                <a:cs typeface="Calibri" pitchFamily="34" charset="-120"/>
              </a:rPr>
              <a:t>81,892  </a:t>
            </a:r>
            <a:r>
              <a:rPr lang="en-US" sz="1100" dirty="0">
                <a:solidFill>
                  <a:srgbClr val="93A4BD"/>
                </a:solidFill>
                <a:latin typeface="Calibri" pitchFamily="34" charset="0"/>
                <a:ea typeface="Calibri" pitchFamily="34" charset="-122"/>
                <a:cs typeface="Calibri" pitchFamily="34" charset="-120"/>
              </a:rPr>
              <a:t>Rate lines</a:t>
            </a:r>
            <a:endParaRPr lang="en-US" sz="1400" dirty="0"/>
          </a:p>
        </p:txBody>
      </p:sp>
      <p:sp>
        <p:nvSpPr>
          <p:cNvPr id="41" name="Text 39"/>
          <p:cNvSpPr/>
          <p:nvPr/>
        </p:nvSpPr>
        <p:spPr>
          <a:xfrm>
            <a:off x="6976872" y="5175504"/>
            <a:ext cx="4510735" cy="347472"/>
          </a:xfrm>
          <a:prstGeom prst="rect">
            <a:avLst/>
          </a:prstGeom>
          <a:noFill/>
          <a:ln/>
        </p:spPr>
        <p:txBody>
          <a:bodyPr wrap="square" lIns="0" tIns="0" rIns="0" bIns="0" rtlCol="0" anchor="ctr"/>
          <a:lstStyle/>
          <a:p>
            <a:pPr marL="0" indent="0">
              <a:buNone/>
            </a:pPr>
            <a:r>
              <a:rPr lang="en-US" sz="1400" b="1" dirty="0">
                <a:solidFill>
                  <a:srgbClr val="5EEAD4"/>
                </a:solidFill>
                <a:latin typeface="Calibri" pitchFamily="34" charset="0"/>
                <a:ea typeface="Calibri" pitchFamily="34" charset="-122"/>
                <a:cs typeface="Calibri" pitchFamily="34" charset="-120"/>
              </a:rPr>
              <a:t>83,008  </a:t>
            </a:r>
            <a:r>
              <a:rPr lang="en-US" sz="1100" dirty="0">
                <a:solidFill>
                  <a:srgbClr val="93A4BD"/>
                </a:solidFill>
                <a:latin typeface="Calibri" pitchFamily="34" charset="0"/>
                <a:ea typeface="Calibri" pitchFamily="34" charset="-122"/>
                <a:cs typeface="Calibri" pitchFamily="34" charset="-120"/>
              </a:rPr>
              <a:t>Legal units</a:t>
            </a:r>
            <a:endParaRPr lang="en-US" sz="1400" dirty="0"/>
          </a:p>
        </p:txBody>
      </p:sp>
      <p:sp>
        <p:nvSpPr>
          <p:cNvPr id="42" name="Text 40"/>
          <p:cNvSpPr/>
          <p:nvPr/>
        </p:nvSpPr>
        <p:spPr>
          <a:xfrm>
            <a:off x="6976872" y="5559552"/>
            <a:ext cx="4510735" cy="347472"/>
          </a:xfrm>
          <a:prstGeom prst="rect">
            <a:avLst/>
          </a:prstGeom>
          <a:noFill/>
          <a:ln/>
        </p:spPr>
        <p:txBody>
          <a:bodyPr wrap="square" lIns="0" tIns="0" rIns="0" bIns="0" rtlCol="0" anchor="ctr"/>
          <a:lstStyle/>
          <a:p>
            <a:pPr marL="0" indent="0">
              <a:buNone/>
            </a:pPr>
            <a:r>
              <a:rPr lang="en-US" sz="1400" b="1" dirty="0">
                <a:solidFill>
                  <a:srgbClr val="5EEAD4"/>
                </a:solidFill>
                <a:latin typeface="Calibri" pitchFamily="34" charset="0"/>
                <a:ea typeface="Calibri" pitchFamily="34" charset="-122"/>
                <a:cs typeface="Calibri" pitchFamily="34" charset="-120"/>
              </a:rPr>
              <a:t>44  </a:t>
            </a:r>
            <a:r>
              <a:rPr lang="en-US" sz="1100" dirty="0">
                <a:solidFill>
                  <a:srgbClr val="93A4BD"/>
                </a:solidFill>
                <a:latin typeface="Calibri" pitchFamily="34" charset="0"/>
                <a:ea typeface="Calibri" pitchFamily="34" charset="-122"/>
                <a:cs typeface="Calibri" pitchFamily="34" charset="-120"/>
              </a:rPr>
              <a:t>Delta tables</a:t>
            </a:r>
            <a:endParaRPr lang="en-US" sz="1400" dirty="0"/>
          </a:p>
        </p:txBody>
      </p:sp>
      <p:sp>
        <p:nvSpPr>
          <p:cNvPr id="43" name="Shape 41"/>
          <p:cNvSpPr/>
          <p:nvPr/>
        </p:nvSpPr>
        <p:spPr>
          <a:xfrm>
            <a:off x="548640" y="6197600"/>
            <a:ext cx="11094415" cy="228600"/>
          </a:xfrm>
          <a:prstGeom prst="rect">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44" name="Shape 42"/>
          <p:cNvSpPr/>
          <p:nvPr/>
        </p:nvSpPr>
        <p:spPr>
          <a:xfrm>
            <a:off x="548640" y="6197600"/>
            <a:ext cx="82296" cy="228600"/>
          </a:xfrm>
          <a:prstGeom prst="rect">
            <a:avLst/>
          </a:prstGeom>
          <a:solidFill>
            <a:srgbClr val="F26A4B"/>
          </a:solidFill>
          <a:ln/>
        </p:spPr>
        <p:txBody>
          <a:bodyPr/>
          <a:lstStyle/>
          <a:p>
            <a:endParaRPr lang="en-IN"/>
          </a:p>
        </p:txBody>
      </p:sp>
      <p:sp>
        <p:nvSpPr>
          <p:cNvPr id="45" name="Text 43"/>
          <p:cNvSpPr/>
          <p:nvPr/>
        </p:nvSpPr>
        <p:spPr>
          <a:xfrm>
            <a:off x="822960" y="6197600"/>
            <a:ext cx="10637215" cy="22860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The platform is not a prototype waiting to be built. It is live. The remaining work is completion, hardening and scale.</a:t>
            </a:r>
            <a:endParaRPr lang="en-US" sz="1200" dirty="0"/>
          </a:p>
        </p:txBody>
      </p:sp>
      <p:sp>
        <p:nvSpPr>
          <p:cNvPr id="46" name="Text 44"/>
          <p:cNvSpPr/>
          <p:nvPr/>
        </p:nvSpPr>
        <p:spPr>
          <a:xfrm>
            <a:off x="548640" y="6473952"/>
            <a:ext cx="8229600" cy="256032"/>
          </a:xfrm>
          <a:prstGeom prst="rect">
            <a:avLst/>
          </a:prstGeom>
          <a:noFill/>
          <a:ln/>
        </p:spPr>
        <p:txBody>
          <a:bodyPr wrap="square" lIns="0" tIns="0" rIns="0" bIns="0" rtlCol="0" anchor="ctr"/>
          <a:lstStyle/>
          <a:p>
            <a:pPr marL="0" indent="0">
              <a:buNone/>
            </a:pPr>
            <a:r>
              <a:rPr lang="en-US" sz="800" b="1" kern="0" spc="80" dirty="0">
                <a:solidFill>
                  <a:srgbClr val="64748B"/>
                </a:solidFill>
                <a:latin typeface="Calibri" pitchFamily="34" charset="0"/>
                <a:ea typeface="Calibri" pitchFamily="34" charset="-122"/>
                <a:cs typeface="Calibri" pitchFamily="34" charset="-120"/>
              </a:rPr>
              <a:t>PROVIDER CONTRACT INTELLIGENCE PLATFORM</a:t>
            </a:r>
            <a:r>
              <a:rPr lang="en-US" sz="800" kern="0" spc="8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47" name="Text 45"/>
          <p:cNvSpPr/>
          <p:nvPr/>
        </p:nvSpPr>
        <p:spPr>
          <a:xfrm>
            <a:off x="10728655" y="6473952"/>
            <a:ext cx="914400" cy="256032"/>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256032"/>
          </a:xfrm>
          <a:prstGeom prst="rect">
            <a:avLst/>
          </a:prstGeom>
          <a:noFill/>
          <a:ln/>
        </p:spPr>
        <p:txBody>
          <a:bodyPr wrap="square" lIns="0" tIns="0" rIns="0" bIns="0" rtlCol="0" anchor="ctr"/>
          <a:lstStyle/>
          <a:p>
            <a:pPr marL="0" indent="0">
              <a:buNone/>
            </a:pPr>
            <a:r>
              <a:rPr lang="en-US" sz="1100" b="1" kern="0" spc="250" dirty="0">
                <a:solidFill>
                  <a:srgbClr val="0F766E"/>
                </a:solidFill>
                <a:latin typeface="Calibri" pitchFamily="34" charset="0"/>
                <a:ea typeface="Calibri" pitchFamily="34" charset="-122"/>
                <a:cs typeface="Calibri" pitchFamily="34" charset="-120"/>
              </a:rPr>
              <a:t>SECTION 11 · COST &amp; FINOPS</a:t>
            </a:r>
            <a:endParaRPr lang="en-US" sz="1100" dirty="0"/>
          </a:p>
        </p:txBody>
      </p:sp>
      <p:sp>
        <p:nvSpPr>
          <p:cNvPr id="3" name="Text 1"/>
          <p:cNvSpPr/>
          <p:nvPr/>
        </p:nvSpPr>
        <p:spPr>
          <a:xfrm>
            <a:off x="548640" y="804672"/>
            <a:ext cx="7987979" cy="1005840"/>
          </a:xfrm>
          <a:prstGeom prst="rect">
            <a:avLst/>
          </a:prstGeom>
          <a:noFill/>
          <a:ln/>
        </p:spPr>
        <p:txBody>
          <a:bodyPr wrap="square" lIns="0" tIns="0" rIns="0" bIns="0" rtlCol="0" anchor="t"/>
          <a:lstStyle/>
          <a:p>
            <a:pPr marL="0" indent="0">
              <a:lnSpc>
                <a:spcPts val="2970"/>
              </a:lnSpc>
              <a:buNone/>
            </a:pPr>
            <a:r>
              <a:rPr lang="en-US" sz="2700" b="1" dirty="0">
                <a:solidFill>
                  <a:srgbClr val="0B1B2E"/>
                </a:solidFill>
                <a:latin typeface="Georgia" pitchFamily="34" charset="0"/>
                <a:ea typeface="Georgia" pitchFamily="34" charset="-122"/>
                <a:cs typeface="Georgia" pitchFamily="34" charset="-120"/>
              </a:rPr>
              <a:t>Built once, runs lean — real numbers, no assumptions</a:t>
            </a:r>
            <a:endParaRPr lang="en-US" sz="2700" dirty="0"/>
          </a:p>
        </p:txBody>
      </p:sp>
      <p:sp>
        <p:nvSpPr>
          <p:cNvPr id="4" name="Shape 2"/>
          <p:cNvSpPr/>
          <p:nvPr/>
        </p:nvSpPr>
        <p:spPr>
          <a:xfrm>
            <a:off x="548640" y="1901952"/>
            <a:ext cx="3545738" cy="3127248"/>
          </a:xfrm>
          <a:prstGeom prst="rect">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5" name="Shape 3"/>
          <p:cNvSpPr/>
          <p:nvPr/>
        </p:nvSpPr>
        <p:spPr>
          <a:xfrm>
            <a:off x="548640" y="1901952"/>
            <a:ext cx="82296" cy="3127248"/>
          </a:xfrm>
          <a:prstGeom prst="rect">
            <a:avLst/>
          </a:prstGeom>
          <a:solidFill>
            <a:srgbClr val="F26A4B"/>
          </a:solidFill>
          <a:ln/>
        </p:spPr>
        <p:txBody>
          <a:bodyPr/>
          <a:lstStyle/>
          <a:p>
            <a:endParaRPr lang="en-IN"/>
          </a:p>
        </p:txBody>
      </p:sp>
      <p:sp>
        <p:nvSpPr>
          <p:cNvPr id="6" name="Text 4"/>
          <p:cNvSpPr/>
          <p:nvPr/>
        </p:nvSpPr>
        <p:spPr>
          <a:xfrm>
            <a:off x="777240" y="2029968"/>
            <a:ext cx="3198266" cy="347472"/>
          </a:xfrm>
          <a:prstGeom prst="rect">
            <a:avLst/>
          </a:prstGeom>
          <a:noFill/>
          <a:ln/>
        </p:spPr>
        <p:txBody>
          <a:bodyPr wrap="square" lIns="0" tIns="0" rIns="0" bIns="0" rtlCol="0" anchor="ctr"/>
          <a:lstStyle/>
          <a:p>
            <a:pPr marL="0" indent="0">
              <a:lnSpc>
                <a:spcPts val="1200"/>
              </a:lnSpc>
              <a:buNone/>
            </a:pPr>
            <a:r>
              <a:rPr lang="en-US" sz="1000" b="1" kern="0" spc="120" dirty="0">
                <a:solidFill>
                  <a:srgbClr val="F26A4B"/>
                </a:solidFill>
                <a:latin typeface="Calibri" pitchFamily="34" charset="0"/>
                <a:ea typeface="Calibri" pitchFamily="34" charset="-122"/>
                <a:cs typeface="Calibri" pitchFamily="34" charset="-120"/>
              </a:rPr>
              <a:t>PHASE 1 — ONE-TIME BUILD</a:t>
            </a:r>
            <a:endParaRPr lang="en-US" sz="1000" dirty="0"/>
          </a:p>
        </p:txBody>
      </p:sp>
      <p:sp>
        <p:nvSpPr>
          <p:cNvPr id="7" name="Text 5"/>
          <p:cNvSpPr/>
          <p:nvPr/>
        </p:nvSpPr>
        <p:spPr>
          <a:xfrm>
            <a:off x="777240" y="2423160"/>
            <a:ext cx="3198266" cy="475488"/>
          </a:xfrm>
          <a:prstGeom prst="rect">
            <a:avLst/>
          </a:prstGeom>
          <a:noFill/>
          <a:ln/>
        </p:spPr>
        <p:txBody>
          <a:bodyPr wrap="square" lIns="0" tIns="0" rIns="0" bIns="0" rtlCol="0" anchor="ctr"/>
          <a:lstStyle/>
          <a:p>
            <a:pPr marL="0" indent="0">
              <a:buNone/>
            </a:pPr>
            <a:r>
              <a:rPr lang="en-US" sz="2200" b="1" dirty="0">
                <a:solidFill>
                  <a:srgbClr val="0B1B2E"/>
                </a:solidFill>
                <a:latin typeface="Georgia" pitchFamily="34" charset="0"/>
                <a:ea typeface="Georgia" pitchFamily="34" charset="-122"/>
                <a:cs typeface="Georgia" pitchFamily="34" charset="-120"/>
              </a:rPr>
              <a:t>$7,864</a:t>
            </a:r>
            <a:endParaRPr lang="en-US" sz="2200" dirty="0"/>
          </a:p>
        </p:txBody>
      </p:sp>
      <p:sp>
        <p:nvSpPr>
          <p:cNvPr id="8" name="Shape 6"/>
          <p:cNvSpPr/>
          <p:nvPr/>
        </p:nvSpPr>
        <p:spPr>
          <a:xfrm>
            <a:off x="777240" y="2971800"/>
            <a:ext cx="3179978" cy="0"/>
          </a:xfrm>
          <a:prstGeom prst="line">
            <a:avLst/>
          </a:prstGeom>
          <a:noFill/>
          <a:ln w="12700">
            <a:solidFill>
              <a:srgbClr val="E3E9F0"/>
            </a:solidFill>
            <a:prstDash val="solid"/>
          </a:ln>
        </p:spPr>
        <p:txBody>
          <a:bodyPr/>
          <a:lstStyle/>
          <a:p>
            <a:endParaRPr lang="en-IN"/>
          </a:p>
        </p:txBody>
      </p:sp>
      <p:sp>
        <p:nvSpPr>
          <p:cNvPr id="9" name="Text 7"/>
          <p:cNvSpPr/>
          <p:nvPr/>
        </p:nvSpPr>
        <p:spPr>
          <a:xfrm>
            <a:off x="777240" y="3090672"/>
            <a:ext cx="2859938" cy="320040"/>
          </a:xfrm>
          <a:prstGeom prst="rect">
            <a:avLst/>
          </a:prstGeom>
          <a:noFill/>
          <a:ln/>
        </p:spPr>
        <p:txBody>
          <a:bodyPr wrap="square" lIns="0" tIns="0" rIns="0" bIns="0" rtlCol="0" anchor="ctr"/>
          <a:lstStyle/>
          <a:p>
            <a:pPr marL="0" indent="0">
              <a:buNone/>
            </a:pPr>
            <a:r>
              <a:rPr lang="en-US" sz="1100" dirty="0">
                <a:solidFill>
                  <a:srgbClr val="33415A"/>
                </a:solidFill>
                <a:latin typeface="Calibri" pitchFamily="34" charset="0"/>
                <a:ea typeface="Calibri" pitchFamily="34" charset="-122"/>
                <a:cs typeface="Calibri" pitchFamily="34" charset="-120"/>
              </a:rPr>
              <a:t>LLM extraction (Claude)</a:t>
            </a:r>
            <a:endParaRPr lang="en-US" sz="1100" dirty="0"/>
          </a:p>
        </p:txBody>
      </p:sp>
      <p:sp>
        <p:nvSpPr>
          <p:cNvPr id="10" name="Text 8"/>
          <p:cNvSpPr/>
          <p:nvPr/>
        </p:nvSpPr>
        <p:spPr>
          <a:xfrm>
            <a:off x="777240" y="3090672"/>
            <a:ext cx="3198266" cy="320040"/>
          </a:xfrm>
          <a:prstGeom prst="rect">
            <a:avLst/>
          </a:prstGeom>
          <a:noFill/>
          <a:ln/>
        </p:spPr>
        <p:txBody>
          <a:bodyPr wrap="square" lIns="0" tIns="0" rIns="0" bIns="0" rtlCol="0" anchor="ctr"/>
          <a:lstStyle/>
          <a:p>
            <a:pPr marL="0" indent="0" algn="r">
              <a:buNone/>
            </a:pPr>
            <a:r>
              <a:rPr lang="en-US" sz="1100" b="1" dirty="0">
                <a:solidFill>
                  <a:srgbClr val="0B1B2E"/>
                </a:solidFill>
                <a:latin typeface="Calibri" pitchFamily="34" charset="0"/>
                <a:ea typeface="Calibri" pitchFamily="34" charset="-122"/>
                <a:cs typeface="Calibri" pitchFamily="34" charset="-120"/>
              </a:rPr>
              <a:t>$7,669</a:t>
            </a:r>
            <a:endParaRPr lang="en-US" sz="1100" dirty="0"/>
          </a:p>
        </p:txBody>
      </p:sp>
      <p:sp>
        <p:nvSpPr>
          <p:cNvPr id="11" name="Text 9"/>
          <p:cNvSpPr/>
          <p:nvPr/>
        </p:nvSpPr>
        <p:spPr>
          <a:xfrm>
            <a:off x="777240" y="3438144"/>
            <a:ext cx="2859938" cy="320040"/>
          </a:xfrm>
          <a:prstGeom prst="rect">
            <a:avLst/>
          </a:prstGeom>
          <a:noFill/>
          <a:ln/>
        </p:spPr>
        <p:txBody>
          <a:bodyPr wrap="square" lIns="0" tIns="0" rIns="0" bIns="0" rtlCol="0" anchor="ctr"/>
          <a:lstStyle/>
          <a:p>
            <a:pPr marL="0" indent="0">
              <a:buNone/>
            </a:pPr>
            <a:r>
              <a:rPr lang="en-US" sz="1100" dirty="0">
                <a:solidFill>
                  <a:srgbClr val="33415A"/>
                </a:solidFill>
                <a:latin typeface="Calibri" pitchFamily="34" charset="0"/>
                <a:ea typeface="Calibri" pitchFamily="34" charset="-122"/>
                <a:cs typeface="Calibri" pitchFamily="34" charset="-120"/>
              </a:rPr>
              <a:t>Compute — extraction run</a:t>
            </a:r>
            <a:endParaRPr lang="en-US" sz="1100" dirty="0"/>
          </a:p>
        </p:txBody>
      </p:sp>
      <p:sp>
        <p:nvSpPr>
          <p:cNvPr id="12" name="Text 10"/>
          <p:cNvSpPr/>
          <p:nvPr/>
        </p:nvSpPr>
        <p:spPr>
          <a:xfrm>
            <a:off x="777240" y="3438144"/>
            <a:ext cx="3198266" cy="320040"/>
          </a:xfrm>
          <a:prstGeom prst="rect">
            <a:avLst/>
          </a:prstGeom>
          <a:noFill/>
          <a:ln/>
        </p:spPr>
        <p:txBody>
          <a:bodyPr wrap="square" lIns="0" tIns="0" rIns="0" bIns="0" rtlCol="0" anchor="ctr"/>
          <a:lstStyle/>
          <a:p>
            <a:pPr marL="0" indent="0" algn="r">
              <a:buNone/>
            </a:pPr>
            <a:r>
              <a:rPr lang="en-US" sz="1100" b="1" dirty="0">
                <a:solidFill>
                  <a:srgbClr val="0B1B2E"/>
                </a:solidFill>
                <a:latin typeface="Calibri" pitchFamily="34" charset="0"/>
                <a:ea typeface="Calibri" pitchFamily="34" charset="-122"/>
                <a:cs typeface="Calibri" pitchFamily="34" charset="-120"/>
              </a:rPr>
              <a:t>$181</a:t>
            </a:r>
            <a:endParaRPr lang="en-US" sz="1100" dirty="0"/>
          </a:p>
        </p:txBody>
      </p:sp>
      <p:sp>
        <p:nvSpPr>
          <p:cNvPr id="13" name="Text 11"/>
          <p:cNvSpPr/>
          <p:nvPr/>
        </p:nvSpPr>
        <p:spPr>
          <a:xfrm>
            <a:off x="777240" y="3785616"/>
            <a:ext cx="2859938" cy="320040"/>
          </a:xfrm>
          <a:prstGeom prst="rect">
            <a:avLst/>
          </a:prstGeom>
          <a:noFill/>
          <a:ln/>
        </p:spPr>
        <p:txBody>
          <a:bodyPr wrap="square" lIns="0" tIns="0" rIns="0" bIns="0" rtlCol="0" anchor="ctr"/>
          <a:lstStyle/>
          <a:p>
            <a:pPr marL="0" indent="0">
              <a:buNone/>
            </a:pPr>
            <a:r>
              <a:rPr lang="en-US" sz="1100" dirty="0">
                <a:solidFill>
                  <a:srgbClr val="33415A"/>
                </a:solidFill>
                <a:latin typeface="Calibri" pitchFamily="34" charset="0"/>
                <a:ea typeface="Calibri" pitchFamily="34" charset="-122"/>
                <a:cs typeface="Calibri" pitchFamily="34" charset="-120"/>
              </a:rPr>
              <a:t>Embedding — one-time</a:t>
            </a:r>
            <a:endParaRPr lang="en-US" sz="1100" dirty="0"/>
          </a:p>
        </p:txBody>
      </p:sp>
      <p:sp>
        <p:nvSpPr>
          <p:cNvPr id="14" name="Text 12"/>
          <p:cNvSpPr/>
          <p:nvPr/>
        </p:nvSpPr>
        <p:spPr>
          <a:xfrm>
            <a:off x="777240" y="3785616"/>
            <a:ext cx="3198266" cy="320040"/>
          </a:xfrm>
          <a:prstGeom prst="rect">
            <a:avLst/>
          </a:prstGeom>
          <a:noFill/>
          <a:ln/>
        </p:spPr>
        <p:txBody>
          <a:bodyPr wrap="square" lIns="0" tIns="0" rIns="0" bIns="0" rtlCol="0" anchor="ctr"/>
          <a:lstStyle/>
          <a:p>
            <a:pPr marL="0" indent="0" algn="r">
              <a:buNone/>
            </a:pPr>
            <a:r>
              <a:rPr lang="en-US" sz="1100" b="1" dirty="0">
                <a:solidFill>
                  <a:srgbClr val="0B1B2E"/>
                </a:solidFill>
                <a:latin typeface="Calibri" pitchFamily="34" charset="0"/>
                <a:ea typeface="Calibri" pitchFamily="34" charset="-122"/>
                <a:cs typeface="Calibri" pitchFamily="34" charset="-120"/>
              </a:rPr>
              <a:t>$13</a:t>
            </a:r>
            <a:endParaRPr lang="en-US" sz="1100" dirty="0"/>
          </a:p>
        </p:txBody>
      </p:sp>
      <p:sp>
        <p:nvSpPr>
          <p:cNvPr id="15" name="Shape 13"/>
          <p:cNvSpPr/>
          <p:nvPr/>
        </p:nvSpPr>
        <p:spPr>
          <a:xfrm>
            <a:off x="4322978" y="1901952"/>
            <a:ext cx="3545738" cy="3606800"/>
          </a:xfrm>
          <a:prstGeom prst="rect">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16" name="Shape 14"/>
          <p:cNvSpPr/>
          <p:nvPr/>
        </p:nvSpPr>
        <p:spPr>
          <a:xfrm>
            <a:off x="4322978" y="1901952"/>
            <a:ext cx="82296" cy="3127248"/>
          </a:xfrm>
          <a:prstGeom prst="rect">
            <a:avLst/>
          </a:prstGeom>
          <a:solidFill>
            <a:srgbClr val="14B8A6"/>
          </a:solidFill>
          <a:ln/>
        </p:spPr>
        <p:txBody>
          <a:bodyPr/>
          <a:lstStyle/>
          <a:p>
            <a:endParaRPr lang="en-IN"/>
          </a:p>
        </p:txBody>
      </p:sp>
      <p:sp>
        <p:nvSpPr>
          <p:cNvPr id="17" name="Text 15"/>
          <p:cNvSpPr/>
          <p:nvPr/>
        </p:nvSpPr>
        <p:spPr>
          <a:xfrm>
            <a:off x="4551578" y="2029968"/>
            <a:ext cx="3198266" cy="347472"/>
          </a:xfrm>
          <a:prstGeom prst="rect">
            <a:avLst/>
          </a:prstGeom>
          <a:noFill/>
          <a:ln/>
        </p:spPr>
        <p:txBody>
          <a:bodyPr wrap="square" lIns="0" tIns="0" rIns="0" bIns="0" rtlCol="0" anchor="ctr"/>
          <a:lstStyle/>
          <a:p>
            <a:pPr marL="0" indent="0">
              <a:lnSpc>
                <a:spcPts val="1200"/>
              </a:lnSpc>
              <a:buNone/>
            </a:pPr>
            <a:r>
              <a:rPr lang="en-US" sz="1000" b="1" kern="0" spc="120" dirty="0">
                <a:solidFill>
                  <a:srgbClr val="14B8A6"/>
                </a:solidFill>
                <a:latin typeface="Calibri" pitchFamily="34" charset="0"/>
                <a:ea typeface="Calibri" pitchFamily="34" charset="-122"/>
                <a:cs typeface="Calibri" pitchFamily="34" charset="-120"/>
              </a:rPr>
              <a:t>PHASE 2 — MONTHLY OPERATING</a:t>
            </a:r>
            <a:endParaRPr lang="en-US" sz="1000" dirty="0"/>
          </a:p>
        </p:txBody>
      </p:sp>
      <p:sp>
        <p:nvSpPr>
          <p:cNvPr id="18" name="Text 16"/>
          <p:cNvSpPr/>
          <p:nvPr/>
        </p:nvSpPr>
        <p:spPr>
          <a:xfrm>
            <a:off x="4551578" y="2423160"/>
            <a:ext cx="3198266" cy="475488"/>
          </a:xfrm>
          <a:prstGeom prst="rect">
            <a:avLst/>
          </a:prstGeom>
          <a:noFill/>
          <a:ln/>
        </p:spPr>
        <p:txBody>
          <a:bodyPr wrap="square" lIns="0" tIns="0" rIns="0" bIns="0" rtlCol="0" anchor="ctr"/>
          <a:lstStyle/>
          <a:p>
            <a:pPr marL="0" indent="0">
              <a:buNone/>
            </a:pPr>
            <a:r>
              <a:rPr lang="en-US" sz="2200" b="1" dirty="0">
                <a:solidFill>
                  <a:srgbClr val="0B1B2E"/>
                </a:solidFill>
                <a:latin typeface="Georgia" pitchFamily="34" charset="0"/>
                <a:ea typeface="Georgia" pitchFamily="34" charset="-122"/>
                <a:cs typeface="Georgia" pitchFamily="34" charset="-120"/>
              </a:rPr>
              <a:t>$1,326/mo</a:t>
            </a:r>
            <a:endParaRPr lang="en-US" sz="2200" dirty="0"/>
          </a:p>
        </p:txBody>
      </p:sp>
      <p:sp>
        <p:nvSpPr>
          <p:cNvPr id="19" name="Shape 17"/>
          <p:cNvSpPr/>
          <p:nvPr/>
        </p:nvSpPr>
        <p:spPr>
          <a:xfrm>
            <a:off x="4551578" y="2971800"/>
            <a:ext cx="3179978" cy="0"/>
          </a:xfrm>
          <a:prstGeom prst="line">
            <a:avLst/>
          </a:prstGeom>
          <a:noFill/>
          <a:ln w="12700">
            <a:solidFill>
              <a:srgbClr val="E3E9F0"/>
            </a:solidFill>
            <a:prstDash val="solid"/>
          </a:ln>
        </p:spPr>
        <p:txBody>
          <a:bodyPr/>
          <a:lstStyle/>
          <a:p>
            <a:endParaRPr lang="en-IN"/>
          </a:p>
        </p:txBody>
      </p:sp>
      <p:sp>
        <p:nvSpPr>
          <p:cNvPr id="20" name="Text 18"/>
          <p:cNvSpPr/>
          <p:nvPr/>
        </p:nvSpPr>
        <p:spPr>
          <a:xfrm>
            <a:off x="4551578" y="3090672"/>
            <a:ext cx="2859938" cy="320040"/>
          </a:xfrm>
          <a:prstGeom prst="rect">
            <a:avLst/>
          </a:prstGeom>
          <a:noFill/>
          <a:ln/>
        </p:spPr>
        <p:txBody>
          <a:bodyPr wrap="square" lIns="0" tIns="0" rIns="0" bIns="0" rtlCol="0" anchor="ctr"/>
          <a:lstStyle/>
          <a:p>
            <a:pPr marL="0" indent="0">
              <a:buNone/>
            </a:pPr>
            <a:r>
              <a:rPr lang="en-US" sz="1100" dirty="0">
                <a:solidFill>
                  <a:srgbClr val="33415A"/>
                </a:solidFill>
                <a:latin typeface="Calibri" pitchFamily="34" charset="0"/>
                <a:ea typeface="Calibri" pitchFamily="34" charset="-122"/>
                <a:cs typeface="Calibri" pitchFamily="34" charset="-120"/>
              </a:rPr>
              <a:t>Databricks platform</a:t>
            </a:r>
            <a:endParaRPr lang="en-US" sz="1100" dirty="0"/>
          </a:p>
        </p:txBody>
      </p:sp>
      <p:sp>
        <p:nvSpPr>
          <p:cNvPr id="21" name="Text 19"/>
          <p:cNvSpPr/>
          <p:nvPr/>
        </p:nvSpPr>
        <p:spPr>
          <a:xfrm>
            <a:off x="4551578" y="3090672"/>
            <a:ext cx="3198266" cy="320040"/>
          </a:xfrm>
          <a:prstGeom prst="rect">
            <a:avLst/>
          </a:prstGeom>
          <a:noFill/>
          <a:ln/>
        </p:spPr>
        <p:txBody>
          <a:bodyPr wrap="square" lIns="0" tIns="0" rIns="0" bIns="0" rtlCol="0" anchor="ctr"/>
          <a:lstStyle/>
          <a:p>
            <a:pPr marL="0" indent="0" algn="r">
              <a:buNone/>
            </a:pPr>
            <a:r>
              <a:rPr lang="en-US" sz="1100" b="1" dirty="0">
                <a:solidFill>
                  <a:srgbClr val="0B1B2E"/>
                </a:solidFill>
                <a:latin typeface="Calibri" pitchFamily="34" charset="0"/>
                <a:ea typeface="Calibri" pitchFamily="34" charset="-122"/>
                <a:cs typeface="Calibri" pitchFamily="34" charset="-120"/>
              </a:rPr>
              <a:t>$500</a:t>
            </a:r>
            <a:endParaRPr lang="en-US" sz="1100" dirty="0"/>
          </a:p>
        </p:txBody>
      </p:sp>
      <p:sp>
        <p:nvSpPr>
          <p:cNvPr id="22" name="Text 20"/>
          <p:cNvSpPr/>
          <p:nvPr/>
        </p:nvSpPr>
        <p:spPr>
          <a:xfrm>
            <a:off x="4551578" y="3438144"/>
            <a:ext cx="2859938" cy="320040"/>
          </a:xfrm>
          <a:prstGeom prst="rect">
            <a:avLst/>
          </a:prstGeom>
          <a:noFill/>
          <a:ln/>
        </p:spPr>
        <p:txBody>
          <a:bodyPr wrap="square" lIns="0" tIns="0" rIns="0" bIns="0" rtlCol="0" anchor="ctr"/>
          <a:lstStyle/>
          <a:p>
            <a:pPr marL="0" indent="0">
              <a:buNone/>
            </a:pPr>
            <a:r>
              <a:rPr lang="en-US" sz="1100" dirty="0">
                <a:solidFill>
                  <a:srgbClr val="33415A"/>
                </a:solidFill>
                <a:latin typeface="Calibri" pitchFamily="34" charset="0"/>
                <a:ea typeface="Calibri" pitchFamily="34" charset="-122"/>
                <a:cs typeface="Calibri" pitchFamily="34" charset="-120"/>
              </a:rPr>
              <a:t>Vector Search endpoint</a:t>
            </a:r>
            <a:endParaRPr lang="en-US" sz="1100" dirty="0"/>
          </a:p>
        </p:txBody>
      </p:sp>
      <p:sp>
        <p:nvSpPr>
          <p:cNvPr id="23" name="Text 21"/>
          <p:cNvSpPr/>
          <p:nvPr/>
        </p:nvSpPr>
        <p:spPr>
          <a:xfrm>
            <a:off x="4551578" y="3438144"/>
            <a:ext cx="3198266" cy="320040"/>
          </a:xfrm>
          <a:prstGeom prst="rect">
            <a:avLst/>
          </a:prstGeom>
          <a:noFill/>
          <a:ln/>
        </p:spPr>
        <p:txBody>
          <a:bodyPr wrap="square" lIns="0" tIns="0" rIns="0" bIns="0" rtlCol="0" anchor="ctr"/>
          <a:lstStyle/>
          <a:p>
            <a:pPr marL="0" indent="0" algn="r">
              <a:buNone/>
            </a:pPr>
            <a:r>
              <a:rPr lang="en-US" sz="1100" b="1" dirty="0">
                <a:solidFill>
                  <a:srgbClr val="0B1B2E"/>
                </a:solidFill>
                <a:latin typeface="Calibri" pitchFamily="34" charset="0"/>
                <a:ea typeface="Calibri" pitchFamily="34" charset="-122"/>
                <a:cs typeface="Calibri" pitchFamily="34" charset="-120"/>
              </a:rPr>
              <a:t>$360</a:t>
            </a:r>
            <a:endParaRPr lang="en-US" sz="1100" dirty="0"/>
          </a:p>
        </p:txBody>
      </p:sp>
      <p:sp>
        <p:nvSpPr>
          <p:cNvPr id="24" name="Text 22"/>
          <p:cNvSpPr/>
          <p:nvPr/>
        </p:nvSpPr>
        <p:spPr>
          <a:xfrm>
            <a:off x="4551578" y="3785616"/>
            <a:ext cx="2859938" cy="320040"/>
          </a:xfrm>
          <a:prstGeom prst="rect">
            <a:avLst/>
          </a:prstGeom>
          <a:noFill/>
          <a:ln/>
        </p:spPr>
        <p:txBody>
          <a:bodyPr wrap="square" lIns="0" tIns="0" rIns="0" bIns="0" rtlCol="0" anchor="ctr"/>
          <a:lstStyle/>
          <a:p>
            <a:pPr marL="0" indent="0">
              <a:buNone/>
            </a:pPr>
            <a:r>
              <a:rPr lang="en-US" sz="1100" dirty="0">
                <a:solidFill>
                  <a:srgbClr val="33415A"/>
                </a:solidFill>
                <a:latin typeface="Calibri" pitchFamily="34" charset="0"/>
                <a:ea typeface="Calibri" pitchFamily="34" charset="-122"/>
                <a:cs typeface="Calibri" pitchFamily="34" charset="-120"/>
              </a:rPr>
              <a:t>SQL Warehouse (Genie)</a:t>
            </a:r>
            <a:endParaRPr lang="en-US" sz="1100" dirty="0"/>
          </a:p>
        </p:txBody>
      </p:sp>
      <p:sp>
        <p:nvSpPr>
          <p:cNvPr id="25" name="Text 23"/>
          <p:cNvSpPr/>
          <p:nvPr/>
        </p:nvSpPr>
        <p:spPr>
          <a:xfrm>
            <a:off x="4551578" y="3785616"/>
            <a:ext cx="3198266" cy="320040"/>
          </a:xfrm>
          <a:prstGeom prst="rect">
            <a:avLst/>
          </a:prstGeom>
          <a:noFill/>
          <a:ln/>
        </p:spPr>
        <p:txBody>
          <a:bodyPr wrap="square" lIns="0" tIns="0" rIns="0" bIns="0" rtlCol="0" anchor="ctr"/>
          <a:lstStyle/>
          <a:p>
            <a:pPr marL="0" indent="0" algn="r">
              <a:buNone/>
            </a:pPr>
            <a:r>
              <a:rPr lang="en-US" sz="1100" b="1" dirty="0">
                <a:solidFill>
                  <a:srgbClr val="0B1B2E"/>
                </a:solidFill>
                <a:latin typeface="Calibri" pitchFamily="34" charset="0"/>
                <a:ea typeface="Calibri" pitchFamily="34" charset="-122"/>
                <a:cs typeface="Calibri" pitchFamily="34" charset="-120"/>
              </a:rPr>
              <a:t>$200</a:t>
            </a:r>
            <a:endParaRPr lang="en-US" sz="1100" dirty="0"/>
          </a:p>
        </p:txBody>
      </p:sp>
      <p:sp>
        <p:nvSpPr>
          <p:cNvPr id="26" name="Text 24"/>
          <p:cNvSpPr/>
          <p:nvPr/>
        </p:nvSpPr>
        <p:spPr>
          <a:xfrm>
            <a:off x="4551578" y="4133088"/>
            <a:ext cx="2859938" cy="320040"/>
          </a:xfrm>
          <a:prstGeom prst="rect">
            <a:avLst/>
          </a:prstGeom>
          <a:noFill/>
          <a:ln/>
        </p:spPr>
        <p:txBody>
          <a:bodyPr wrap="square" lIns="0" tIns="0" rIns="0" bIns="0" rtlCol="0" anchor="ctr"/>
          <a:lstStyle/>
          <a:p>
            <a:pPr marL="0" indent="0">
              <a:buNone/>
            </a:pPr>
            <a:r>
              <a:rPr lang="en-US" sz="1100" dirty="0">
                <a:solidFill>
                  <a:srgbClr val="33415A"/>
                </a:solidFill>
                <a:latin typeface="Calibri" pitchFamily="34" charset="0"/>
                <a:ea typeface="Calibri" pitchFamily="34" charset="-122"/>
                <a:cs typeface="Calibri" pitchFamily="34" charset="-120"/>
              </a:rPr>
              <a:t>Genie LLM calls</a:t>
            </a:r>
            <a:endParaRPr lang="en-US" sz="1100" dirty="0"/>
          </a:p>
        </p:txBody>
      </p:sp>
      <p:sp>
        <p:nvSpPr>
          <p:cNvPr id="27" name="Text 25"/>
          <p:cNvSpPr/>
          <p:nvPr/>
        </p:nvSpPr>
        <p:spPr>
          <a:xfrm>
            <a:off x="4551578" y="4133088"/>
            <a:ext cx="3198266" cy="320040"/>
          </a:xfrm>
          <a:prstGeom prst="rect">
            <a:avLst/>
          </a:prstGeom>
          <a:noFill/>
          <a:ln/>
        </p:spPr>
        <p:txBody>
          <a:bodyPr wrap="square" lIns="0" tIns="0" rIns="0" bIns="0" rtlCol="0" anchor="ctr"/>
          <a:lstStyle/>
          <a:p>
            <a:pPr marL="0" indent="0" algn="r">
              <a:buNone/>
            </a:pPr>
            <a:r>
              <a:rPr lang="en-US" sz="1100" b="1" dirty="0">
                <a:solidFill>
                  <a:srgbClr val="0B1B2E"/>
                </a:solidFill>
                <a:latin typeface="Calibri" pitchFamily="34" charset="0"/>
                <a:ea typeface="Calibri" pitchFamily="34" charset="-122"/>
                <a:cs typeface="Calibri" pitchFamily="34" charset="-120"/>
              </a:rPr>
              <a:t>$195</a:t>
            </a:r>
            <a:endParaRPr lang="en-US" sz="1100" dirty="0"/>
          </a:p>
        </p:txBody>
      </p:sp>
      <p:sp>
        <p:nvSpPr>
          <p:cNvPr id="28" name="Text 26"/>
          <p:cNvSpPr/>
          <p:nvPr/>
        </p:nvSpPr>
        <p:spPr>
          <a:xfrm>
            <a:off x="4551578" y="4480560"/>
            <a:ext cx="2859938" cy="320040"/>
          </a:xfrm>
          <a:prstGeom prst="rect">
            <a:avLst/>
          </a:prstGeom>
          <a:noFill/>
          <a:ln/>
        </p:spPr>
        <p:txBody>
          <a:bodyPr wrap="square" lIns="0" tIns="0" rIns="0" bIns="0" rtlCol="0" anchor="ctr"/>
          <a:lstStyle/>
          <a:p>
            <a:pPr marL="0" indent="0">
              <a:buNone/>
            </a:pPr>
            <a:r>
              <a:rPr lang="en-US" sz="1100" dirty="0">
                <a:solidFill>
                  <a:srgbClr val="33415A"/>
                </a:solidFill>
                <a:latin typeface="Calibri" pitchFamily="34" charset="0"/>
                <a:ea typeface="Calibri" pitchFamily="34" charset="-122"/>
                <a:cs typeface="Calibri" pitchFamily="34" charset="-120"/>
              </a:rPr>
              <a:t>Compute refresh jobs</a:t>
            </a:r>
            <a:endParaRPr lang="en-US" sz="1100" dirty="0"/>
          </a:p>
        </p:txBody>
      </p:sp>
      <p:sp>
        <p:nvSpPr>
          <p:cNvPr id="29" name="Text 27"/>
          <p:cNvSpPr/>
          <p:nvPr/>
        </p:nvSpPr>
        <p:spPr>
          <a:xfrm>
            <a:off x="4551578" y="4480560"/>
            <a:ext cx="3198266" cy="320040"/>
          </a:xfrm>
          <a:prstGeom prst="rect">
            <a:avLst/>
          </a:prstGeom>
          <a:noFill/>
          <a:ln/>
        </p:spPr>
        <p:txBody>
          <a:bodyPr wrap="square" lIns="0" tIns="0" rIns="0" bIns="0" rtlCol="0" anchor="ctr"/>
          <a:lstStyle/>
          <a:p>
            <a:pPr marL="0" indent="0" algn="r">
              <a:buNone/>
            </a:pPr>
            <a:r>
              <a:rPr lang="en-US" sz="1100" b="1" dirty="0">
                <a:solidFill>
                  <a:srgbClr val="0B1B2E"/>
                </a:solidFill>
                <a:latin typeface="Calibri" pitchFamily="34" charset="0"/>
                <a:ea typeface="Calibri" pitchFamily="34" charset="-122"/>
                <a:cs typeface="Calibri" pitchFamily="34" charset="-120"/>
              </a:rPr>
              <a:t>$45</a:t>
            </a:r>
            <a:endParaRPr lang="en-US" sz="1100" dirty="0"/>
          </a:p>
        </p:txBody>
      </p:sp>
      <p:sp>
        <p:nvSpPr>
          <p:cNvPr id="30" name="Text 28"/>
          <p:cNvSpPr/>
          <p:nvPr/>
        </p:nvSpPr>
        <p:spPr>
          <a:xfrm>
            <a:off x="4551578" y="4828032"/>
            <a:ext cx="2859938" cy="320040"/>
          </a:xfrm>
          <a:prstGeom prst="rect">
            <a:avLst/>
          </a:prstGeom>
          <a:noFill/>
          <a:ln/>
        </p:spPr>
        <p:txBody>
          <a:bodyPr wrap="square" lIns="0" tIns="0" rIns="0" bIns="0" rtlCol="0" anchor="ctr"/>
          <a:lstStyle/>
          <a:p>
            <a:pPr marL="0" indent="0">
              <a:buNone/>
            </a:pPr>
            <a:r>
              <a:rPr lang="en-US" sz="1100" dirty="0">
                <a:solidFill>
                  <a:srgbClr val="33415A"/>
                </a:solidFill>
                <a:latin typeface="Calibri" pitchFamily="34" charset="0"/>
                <a:ea typeface="Calibri" pitchFamily="34" charset="-122"/>
                <a:cs typeface="Calibri" pitchFamily="34" charset="-120"/>
              </a:rPr>
              <a:t>Monitoring &amp; telemetry</a:t>
            </a:r>
            <a:endParaRPr lang="en-US" sz="1100" dirty="0"/>
          </a:p>
        </p:txBody>
      </p:sp>
      <p:sp>
        <p:nvSpPr>
          <p:cNvPr id="31" name="Text 29"/>
          <p:cNvSpPr/>
          <p:nvPr/>
        </p:nvSpPr>
        <p:spPr>
          <a:xfrm>
            <a:off x="4551578" y="4828032"/>
            <a:ext cx="3198266" cy="320040"/>
          </a:xfrm>
          <a:prstGeom prst="rect">
            <a:avLst/>
          </a:prstGeom>
          <a:noFill/>
          <a:ln/>
        </p:spPr>
        <p:txBody>
          <a:bodyPr wrap="square" lIns="0" tIns="0" rIns="0" bIns="0" rtlCol="0" anchor="ctr"/>
          <a:lstStyle/>
          <a:p>
            <a:pPr marL="0" indent="0" algn="r">
              <a:buNone/>
            </a:pPr>
            <a:r>
              <a:rPr lang="en-US" sz="1100" b="1" dirty="0">
                <a:solidFill>
                  <a:srgbClr val="0B1B2E"/>
                </a:solidFill>
                <a:latin typeface="Calibri" pitchFamily="34" charset="0"/>
                <a:ea typeface="Calibri" pitchFamily="34" charset="-122"/>
                <a:cs typeface="Calibri" pitchFamily="34" charset="-120"/>
              </a:rPr>
              <a:t>$25</a:t>
            </a:r>
            <a:endParaRPr lang="en-US" sz="1100" dirty="0"/>
          </a:p>
        </p:txBody>
      </p:sp>
      <p:sp>
        <p:nvSpPr>
          <p:cNvPr id="32" name="Text 30"/>
          <p:cNvSpPr/>
          <p:nvPr/>
        </p:nvSpPr>
        <p:spPr>
          <a:xfrm>
            <a:off x="4551578" y="5175504"/>
            <a:ext cx="2859938" cy="320040"/>
          </a:xfrm>
          <a:prstGeom prst="rect">
            <a:avLst/>
          </a:prstGeom>
          <a:noFill/>
          <a:ln/>
        </p:spPr>
        <p:txBody>
          <a:bodyPr wrap="square" lIns="0" tIns="0" rIns="0" bIns="0" rtlCol="0" anchor="ctr"/>
          <a:lstStyle/>
          <a:p>
            <a:pPr marL="0" indent="0">
              <a:buNone/>
            </a:pPr>
            <a:r>
              <a:rPr lang="en-US" sz="1100" dirty="0">
                <a:solidFill>
                  <a:srgbClr val="33415A"/>
                </a:solidFill>
                <a:latin typeface="Calibri" pitchFamily="34" charset="0"/>
                <a:ea typeface="Calibri" pitchFamily="34" charset="-122"/>
                <a:cs typeface="Calibri" pitchFamily="34" charset="-120"/>
              </a:rPr>
              <a:t>Storage (ADLS)</a:t>
            </a:r>
            <a:endParaRPr lang="en-US" sz="1100" dirty="0"/>
          </a:p>
        </p:txBody>
      </p:sp>
      <p:sp>
        <p:nvSpPr>
          <p:cNvPr id="33" name="Text 31"/>
          <p:cNvSpPr/>
          <p:nvPr/>
        </p:nvSpPr>
        <p:spPr>
          <a:xfrm>
            <a:off x="4551578" y="5175504"/>
            <a:ext cx="3198266" cy="320040"/>
          </a:xfrm>
          <a:prstGeom prst="rect">
            <a:avLst/>
          </a:prstGeom>
          <a:noFill/>
          <a:ln/>
        </p:spPr>
        <p:txBody>
          <a:bodyPr wrap="square" lIns="0" tIns="0" rIns="0" bIns="0" rtlCol="0" anchor="ctr"/>
          <a:lstStyle/>
          <a:p>
            <a:pPr marL="0" indent="0" algn="r">
              <a:buNone/>
            </a:pPr>
            <a:r>
              <a:rPr lang="en-US" sz="1100" b="1" dirty="0">
                <a:solidFill>
                  <a:srgbClr val="0B1B2E"/>
                </a:solidFill>
                <a:latin typeface="Calibri" pitchFamily="34" charset="0"/>
                <a:ea typeface="Calibri" pitchFamily="34" charset="-122"/>
                <a:cs typeface="Calibri" pitchFamily="34" charset="-120"/>
              </a:rPr>
              <a:t>&lt;$1</a:t>
            </a:r>
            <a:endParaRPr lang="en-US" sz="1100" dirty="0"/>
          </a:p>
        </p:txBody>
      </p:sp>
      <p:sp>
        <p:nvSpPr>
          <p:cNvPr id="34" name="Shape 32"/>
          <p:cNvSpPr/>
          <p:nvPr/>
        </p:nvSpPr>
        <p:spPr>
          <a:xfrm>
            <a:off x="8097317" y="1901952"/>
            <a:ext cx="3545738" cy="3127248"/>
          </a:xfrm>
          <a:prstGeom prst="rect">
            <a:avLst/>
          </a:prstGeom>
          <a:solidFill>
            <a:srgbClr val="F8FAFC"/>
          </a:solidFill>
          <a:ln/>
          <a:effectLst>
            <a:outerShdw blurRad="101600" dist="25400" dir="8100000" algn="bl" rotWithShape="0">
              <a:srgbClr val="1E293B">
                <a:alpha val="11000"/>
              </a:srgbClr>
            </a:outerShdw>
          </a:effectLst>
        </p:spPr>
        <p:txBody>
          <a:bodyPr/>
          <a:lstStyle/>
          <a:p>
            <a:endParaRPr lang="en-IN"/>
          </a:p>
        </p:txBody>
      </p:sp>
      <p:sp>
        <p:nvSpPr>
          <p:cNvPr id="35" name="Shape 33"/>
          <p:cNvSpPr/>
          <p:nvPr/>
        </p:nvSpPr>
        <p:spPr>
          <a:xfrm>
            <a:off x="8097317" y="1901952"/>
            <a:ext cx="82296" cy="3127248"/>
          </a:xfrm>
          <a:prstGeom prst="rect">
            <a:avLst/>
          </a:prstGeom>
          <a:solidFill>
            <a:srgbClr val="0F766E"/>
          </a:solidFill>
          <a:ln/>
        </p:spPr>
        <p:txBody>
          <a:bodyPr/>
          <a:lstStyle/>
          <a:p>
            <a:endParaRPr lang="en-IN"/>
          </a:p>
        </p:txBody>
      </p:sp>
      <p:sp>
        <p:nvSpPr>
          <p:cNvPr id="36" name="Text 34"/>
          <p:cNvSpPr/>
          <p:nvPr/>
        </p:nvSpPr>
        <p:spPr>
          <a:xfrm>
            <a:off x="8325917" y="2029968"/>
            <a:ext cx="3198266" cy="347472"/>
          </a:xfrm>
          <a:prstGeom prst="rect">
            <a:avLst/>
          </a:prstGeom>
          <a:noFill/>
          <a:ln/>
        </p:spPr>
        <p:txBody>
          <a:bodyPr wrap="square" lIns="0" tIns="0" rIns="0" bIns="0" rtlCol="0" anchor="ctr"/>
          <a:lstStyle/>
          <a:p>
            <a:pPr marL="0" indent="0">
              <a:lnSpc>
                <a:spcPts val="1200"/>
              </a:lnSpc>
              <a:buNone/>
            </a:pPr>
            <a:r>
              <a:rPr lang="en-US" sz="1000" b="1" kern="0" spc="120" dirty="0">
                <a:solidFill>
                  <a:srgbClr val="0F766E"/>
                </a:solidFill>
                <a:latin typeface="Calibri" pitchFamily="34" charset="0"/>
                <a:ea typeface="Calibri" pitchFamily="34" charset="-122"/>
                <a:cs typeface="Calibri" pitchFamily="34" charset="-120"/>
              </a:rPr>
              <a:t>PHASE 3 — YEAR 1 TCO</a:t>
            </a:r>
            <a:endParaRPr lang="en-US" sz="1000" dirty="0"/>
          </a:p>
        </p:txBody>
      </p:sp>
      <p:sp>
        <p:nvSpPr>
          <p:cNvPr id="37" name="Text 35"/>
          <p:cNvSpPr/>
          <p:nvPr/>
        </p:nvSpPr>
        <p:spPr>
          <a:xfrm>
            <a:off x="8325917" y="2423160"/>
            <a:ext cx="3198266" cy="475488"/>
          </a:xfrm>
          <a:prstGeom prst="rect">
            <a:avLst/>
          </a:prstGeom>
          <a:noFill/>
          <a:ln/>
        </p:spPr>
        <p:txBody>
          <a:bodyPr wrap="square" lIns="0" tIns="0" rIns="0" bIns="0" rtlCol="0" anchor="ctr"/>
          <a:lstStyle/>
          <a:p>
            <a:pPr marL="0" indent="0">
              <a:buNone/>
            </a:pPr>
            <a:r>
              <a:rPr lang="en-US" sz="2200" b="1" dirty="0">
                <a:solidFill>
                  <a:srgbClr val="0B1B2E"/>
                </a:solidFill>
                <a:latin typeface="Georgia" pitchFamily="34" charset="0"/>
                <a:ea typeface="Georgia" pitchFamily="34" charset="-122"/>
                <a:cs typeface="Georgia" pitchFamily="34" charset="-120"/>
              </a:rPr>
              <a:t>$23,776</a:t>
            </a:r>
            <a:endParaRPr lang="en-US" sz="2200" dirty="0"/>
          </a:p>
        </p:txBody>
      </p:sp>
      <p:sp>
        <p:nvSpPr>
          <p:cNvPr id="38" name="Shape 36"/>
          <p:cNvSpPr/>
          <p:nvPr/>
        </p:nvSpPr>
        <p:spPr>
          <a:xfrm>
            <a:off x="8325917" y="2971800"/>
            <a:ext cx="3179978" cy="0"/>
          </a:xfrm>
          <a:prstGeom prst="line">
            <a:avLst/>
          </a:prstGeom>
          <a:noFill/>
          <a:ln w="12700">
            <a:solidFill>
              <a:srgbClr val="E3E9F0"/>
            </a:solidFill>
            <a:prstDash val="solid"/>
          </a:ln>
        </p:spPr>
        <p:txBody>
          <a:bodyPr/>
          <a:lstStyle/>
          <a:p>
            <a:endParaRPr lang="en-IN"/>
          </a:p>
        </p:txBody>
      </p:sp>
      <p:sp>
        <p:nvSpPr>
          <p:cNvPr id="39" name="Text 37"/>
          <p:cNvSpPr/>
          <p:nvPr/>
        </p:nvSpPr>
        <p:spPr>
          <a:xfrm>
            <a:off x="8325917" y="3090672"/>
            <a:ext cx="2859938" cy="320040"/>
          </a:xfrm>
          <a:prstGeom prst="rect">
            <a:avLst/>
          </a:prstGeom>
          <a:noFill/>
          <a:ln/>
        </p:spPr>
        <p:txBody>
          <a:bodyPr wrap="square" lIns="0" tIns="0" rIns="0" bIns="0" rtlCol="0" anchor="ctr"/>
          <a:lstStyle/>
          <a:p>
            <a:pPr marL="0" indent="0">
              <a:buNone/>
            </a:pPr>
            <a:r>
              <a:rPr lang="en-US" sz="1100" dirty="0">
                <a:solidFill>
                  <a:srgbClr val="33415A"/>
                </a:solidFill>
                <a:latin typeface="Calibri" pitchFamily="34" charset="0"/>
                <a:ea typeface="Calibri" pitchFamily="34" charset="-122"/>
                <a:cs typeface="Calibri" pitchFamily="34" charset="-120"/>
              </a:rPr>
              <a:t>Build cost (one-time)</a:t>
            </a:r>
            <a:endParaRPr lang="en-US" sz="1100" dirty="0"/>
          </a:p>
        </p:txBody>
      </p:sp>
      <p:sp>
        <p:nvSpPr>
          <p:cNvPr id="40" name="Text 38"/>
          <p:cNvSpPr/>
          <p:nvPr/>
        </p:nvSpPr>
        <p:spPr>
          <a:xfrm>
            <a:off x="8325917" y="3090672"/>
            <a:ext cx="3198266" cy="320040"/>
          </a:xfrm>
          <a:prstGeom prst="rect">
            <a:avLst/>
          </a:prstGeom>
          <a:noFill/>
          <a:ln/>
        </p:spPr>
        <p:txBody>
          <a:bodyPr wrap="square" lIns="0" tIns="0" rIns="0" bIns="0" rtlCol="0" anchor="ctr"/>
          <a:lstStyle/>
          <a:p>
            <a:pPr marL="0" indent="0" algn="r">
              <a:buNone/>
            </a:pPr>
            <a:r>
              <a:rPr lang="en-US" sz="1100" b="1" dirty="0">
                <a:solidFill>
                  <a:srgbClr val="0B1B2E"/>
                </a:solidFill>
                <a:latin typeface="Calibri" pitchFamily="34" charset="0"/>
                <a:ea typeface="Calibri" pitchFamily="34" charset="-122"/>
                <a:cs typeface="Calibri" pitchFamily="34" charset="-120"/>
              </a:rPr>
              <a:t>$7,864</a:t>
            </a:r>
            <a:endParaRPr lang="en-US" sz="1100" dirty="0"/>
          </a:p>
        </p:txBody>
      </p:sp>
      <p:sp>
        <p:nvSpPr>
          <p:cNvPr id="41" name="Text 39"/>
          <p:cNvSpPr/>
          <p:nvPr/>
        </p:nvSpPr>
        <p:spPr>
          <a:xfrm>
            <a:off x="8325917" y="3438144"/>
            <a:ext cx="2859938" cy="320040"/>
          </a:xfrm>
          <a:prstGeom prst="rect">
            <a:avLst/>
          </a:prstGeom>
          <a:noFill/>
          <a:ln/>
        </p:spPr>
        <p:txBody>
          <a:bodyPr wrap="square" lIns="0" tIns="0" rIns="0" bIns="0" rtlCol="0" anchor="ctr"/>
          <a:lstStyle/>
          <a:p>
            <a:pPr marL="0" indent="0">
              <a:buNone/>
            </a:pPr>
            <a:r>
              <a:rPr lang="en-US" sz="1100" dirty="0">
                <a:solidFill>
                  <a:srgbClr val="33415A"/>
                </a:solidFill>
                <a:latin typeface="Calibri" pitchFamily="34" charset="0"/>
                <a:ea typeface="Calibri" pitchFamily="34" charset="-122"/>
                <a:cs typeface="Calibri" pitchFamily="34" charset="-120"/>
              </a:rPr>
              <a:t>Annual operating ($1,326×12)</a:t>
            </a:r>
            <a:endParaRPr lang="en-US" sz="1100" dirty="0"/>
          </a:p>
        </p:txBody>
      </p:sp>
      <p:sp>
        <p:nvSpPr>
          <p:cNvPr id="42" name="Text 40"/>
          <p:cNvSpPr/>
          <p:nvPr/>
        </p:nvSpPr>
        <p:spPr>
          <a:xfrm>
            <a:off x="8325917" y="3438144"/>
            <a:ext cx="3198266" cy="320040"/>
          </a:xfrm>
          <a:prstGeom prst="rect">
            <a:avLst/>
          </a:prstGeom>
          <a:noFill/>
          <a:ln/>
        </p:spPr>
        <p:txBody>
          <a:bodyPr wrap="square" lIns="0" tIns="0" rIns="0" bIns="0" rtlCol="0" anchor="ctr"/>
          <a:lstStyle/>
          <a:p>
            <a:pPr marL="0" indent="0" algn="r">
              <a:buNone/>
            </a:pPr>
            <a:r>
              <a:rPr lang="en-US" sz="1100" b="1" dirty="0">
                <a:solidFill>
                  <a:srgbClr val="0B1B2E"/>
                </a:solidFill>
                <a:latin typeface="Calibri" pitchFamily="34" charset="0"/>
                <a:ea typeface="Calibri" pitchFamily="34" charset="-122"/>
                <a:cs typeface="Calibri" pitchFamily="34" charset="-120"/>
              </a:rPr>
              <a:t>$15,912</a:t>
            </a:r>
            <a:endParaRPr lang="en-US" sz="1100" dirty="0"/>
          </a:p>
        </p:txBody>
      </p:sp>
      <p:sp>
        <p:nvSpPr>
          <p:cNvPr id="43" name="Text 41"/>
          <p:cNvSpPr/>
          <p:nvPr/>
        </p:nvSpPr>
        <p:spPr>
          <a:xfrm>
            <a:off x="8325917" y="3785616"/>
            <a:ext cx="2859938" cy="320040"/>
          </a:xfrm>
          <a:prstGeom prst="rect">
            <a:avLst/>
          </a:prstGeom>
          <a:noFill/>
          <a:ln/>
        </p:spPr>
        <p:txBody>
          <a:bodyPr wrap="square" lIns="0" tIns="0" rIns="0" bIns="0" rtlCol="0" anchor="ctr"/>
          <a:lstStyle/>
          <a:p>
            <a:pPr marL="0" indent="0">
              <a:buNone/>
            </a:pPr>
            <a:r>
              <a:rPr lang="en-US" sz="1100" dirty="0">
                <a:solidFill>
                  <a:srgbClr val="33415A"/>
                </a:solidFill>
                <a:latin typeface="Calibri" pitchFamily="34" charset="0"/>
                <a:ea typeface="Calibri" pitchFamily="34" charset="-122"/>
                <a:cs typeface="Calibri" pitchFamily="34" charset="-120"/>
              </a:rPr>
              <a:t>Per additional plan (est.)</a:t>
            </a:r>
            <a:endParaRPr lang="en-US" sz="1100" dirty="0"/>
          </a:p>
        </p:txBody>
      </p:sp>
      <p:sp>
        <p:nvSpPr>
          <p:cNvPr id="44" name="Text 42"/>
          <p:cNvSpPr/>
          <p:nvPr/>
        </p:nvSpPr>
        <p:spPr>
          <a:xfrm>
            <a:off x="8325917" y="3785616"/>
            <a:ext cx="3198266" cy="320040"/>
          </a:xfrm>
          <a:prstGeom prst="rect">
            <a:avLst/>
          </a:prstGeom>
          <a:noFill/>
          <a:ln/>
        </p:spPr>
        <p:txBody>
          <a:bodyPr wrap="square" lIns="0" tIns="0" rIns="0" bIns="0" rtlCol="0" anchor="ctr"/>
          <a:lstStyle/>
          <a:p>
            <a:pPr marL="0" indent="0" algn="r">
              <a:buNone/>
            </a:pPr>
            <a:r>
              <a:rPr lang="en-US" sz="1100" b="1" dirty="0">
                <a:solidFill>
                  <a:srgbClr val="0B1B2E"/>
                </a:solidFill>
                <a:latin typeface="Calibri" pitchFamily="34" charset="0"/>
                <a:ea typeface="Calibri" pitchFamily="34" charset="-122"/>
                <a:cs typeface="Calibri" pitchFamily="34" charset="-120"/>
              </a:rPr>
              <a:t>~55% less</a:t>
            </a:r>
            <a:endParaRPr lang="en-US" sz="1100" dirty="0"/>
          </a:p>
        </p:txBody>
      </p:sp>
      <p:sp>
        <p:nvSpPr>
          <p:cNvPr id="45" name="Text 43"/>
          <p:cNvSpPr/>
          <p:nvPr/>
        </p:nvSpPr>
        <p:spPr>
          <a:xfrm>
            <a:off x="8325917" y="4133088"/>
            <a:ext cx="2859938" cy="320040"/>
          </a:xfrm>
          <a:prstGeom prst="rect">
            <a:avLst/>
          </a:prstGeom>
          <a:noFill/>
          <a:ln/>
        </p:spPr>
        <p:txBody>
          <a:bodyPr wrap="square" lIns="0" tIns="0" rIns="0" bIns="0" rtlCol="0" anchor="ctr"/>
          <a:lstStyle/>
          <a:p>
            <a:pPr marL="0" indent="0">
              <a:buNone/>
            </a:pPr>
            <a:r>
              <a:rPr lang="en-US" sz="1100" dirty="0">
                <a:solidFill>
                  <a:srgbClr val="33415A"/>
                </a:solidFill>
                <a:latin typeface="Calibri" pitchFamily="34" charset="0"/>
                <a:ea typeface="Calibri" pitchFamily="34" charset="-122"/>
                <a:cs typeface="Calibri" pitchFamily="34" charset="-120"/>
              </a:rPr>
              <a:t>At 5 plans, per plan/yr</a:t>
            </a:r>
            <a:endParaRPr lang="en-US" sz="1100" dirty="0"/>
          </a:p>
        </p:txBody>
      </p:sp>
      <p:sp>
        <p:nvSpPr>
          <p:cNvPr id="46" name="Text 44"/>
          <p:cNvSpPr/>
          <p:nvPr/>
        </p:nvSpPr>
        <p:spPr>
          <a:xfrm>
            <a:off x="8325917" y="4133088"/>
            <a:ext cx="3198266" cy="320040"/>
          </a:xfrm>
          <a:prstGeom prst="rect">
            <a:avLst/>
          </a:prstGeom>
          <a:noFill/>
          <a:ln/>
        </p:spPr>
        <p:txBody>
          <a:bodyPr wrap="square" lIns="0" tIns="0" rIns="0" bIns="0" rtlCol="0" anchor="ctr"/>
          <a:lstStyle/>
          <a:p>
            <a:pPr marL="0" indent="0" algn="r">
              <a:buNone/>
            </a:pPr>
            <a:r>
              <a:rPr lang="en-US" sz="1100" b="1" dirty="0">
                <a:solidFill>
                  <a:srgbClr val="0B1B2E"/>
                </a:solidFill>
                <a:latin typeface="Calibri" pitchFamily="34" charset="0"/>
                <a:ea typeface="Calibri" pitchFamily="34" charset="-122"/>
                <a:cs typeface="Calibri" pitchFamily="34" charset="-120"/>
              </a:rPr>
              <a:t>~$6,734</a:t>
            </a:r>
            <a:endParaRPr lang="en-US" sz="1100" dirty="0"/>
          </a:p>
        </p:txBody>
      </p:sp>
      <p:sp>
        <p:nvSpPr>
          <p:cNvPr id="47" name="Text 45"/>
          <p:cNvSpPr/>
          <p:nvPr/>
        </p:nvSpPr>
        <p:spPr>
          <a:xfrm>
            <a:off x="548640" y="5524500"/>
            <a:ext cx="5486400" cy="256032"/>
          </a:xfrm>
          <a:prstGeom prst="rect">
            <a:avLst/>
          </a:prstGeom>
          <a:noFill/>
          <a:ln/>
        </p:spPr>
        <p:txBody>
          <a:bodyPr wrap="square" lIns="0" tIns="0" rIns="0" bIns="0" rtlCol="0" anchor="ctr"/>
          <a:lstStyle/>
          <a:p>
            <a:pPr marL="0" indent="0">
              <a:buNone/>
            </a:pPr>
            <a:r>
              <a:rPr lang="en-US" sz="1000" b="1" kern="0" spc="100" dirty="0">
                <a:solidFill>
                  <a:srgbClr val="14B8A6"/>
                </a:solidFill>
                <a:latin typeface="Calibri" pitchFamily="34" charset="0"/>
                <a:ea typeface="Calibri" pitchFamily="34" charset="-122"/>
                <a:cs typeface="Calibri" pitchFamily="34" charset="-120"/>
              </a:rPr>
              <a:t>MONTHLY OPERATING COST BY CATEGORY</a:t>
            </a:r>
            <a:endParaRPr lang="en-US" sz="1000" dirty="0"/>
          </a:p>
        </p:txBody>
      </p:sp>
      <p:graphicFrame>
        <p:nvGraphicFramePr>
          <p:cNvPr id="48" name="Chart 0"/>
          <p:cNvGraphicFramePr/>
          <p:nvPr>
            <p:extLst>
              <p:ext uri="{D42A27DB-BD31-4B8C-83A1-F6EECF244321}">
                <p14:modId xmlns:p14="http://schemas.microsoft.com/office/powerpoint/2010/main" val="4289904179"/>
              </p:ext>
            </p:extLst>
          </p:nvPr>
        </p:nvGraphicFramePr>
        <p:xfrm>
          <a:off x="548640" y="5816600"/>
          <a:ext cx="6858000" cy="609600"/>
        </p:xfrm>
        <a:graphic>
          <a:graphicData uri="http://schemas.openxmlformats.org/drawingml/2006/chart">
            <c:chart xmlns:c="http://schemas.openxmlformats.org/drawingml/2006/chart" xmlns:r="http://schemas.openxmlformats.org/officeDocument/2006/relationships" r:id="rId3"/>
          </a:graphicData>
        </a:graphic>
      </p:graphicFrame>
      <p:sp>
        <p:nvSpPr>
          <p:cNvPr id="49" name="Shape 46"/>
          <p:cNvSpPr/>
          <p:nvPr/>
        </p:nvSpPr>
        <p:spPr>
          <a:xfrm>
            <a:off x="7429500" y="5524500"/>
            <a:ext cx="1387754" cy="914400"/>
          </a:xfrm>
          <a:prstGeom prst="rect">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50" name="Shape 47"/>
          <p:cNvSpPr/>
          <p:nvPr/>
        </p:nvSpPr>
        <p:spPr>
          <a:xfrm>
            <a:off x="7429500" y="5524500"/>
            <a:ext cx="73152" cy="914400"/>
          </a:xfrm>
          <a:prstGeom prst="rect">
            <a:avLst/>
          </a:prstGeom>
          <a:solidFill>
            <a:srgbClr val="F26A4B"/>
          </a:solidFill>
          <a:ln/>
        </p:spPr>
        <p:txBody>
          <a:bodyPr/>
          <a:lstStyle/>
          <a:p>
            <a:endParaRPr lang="en-IN"/>
          </a:p>
        </p:txBody>
      </p:sp>
      <p:sp>
        <p:nvSpPr>
          <p:cNvPr id="51" name="Text 48"/>
          <p:cNvSpPr/>
          <p:nvPr/>
        </p:nvSpPr>
        <p:spPr>
          <a:xfrm>
            <a:off x="7632700" y="5651500"/>
            <a:ext cx="1095146" cy="317500"/>
          </a:xfrm>
          <a:prstGeom prst="rect">
            <a:avLst/>
          </a:prstGeom>
          <a:noFill/>
          <a:ln/>
        </p:spPr>
        <p:txBody>
          <a:bodyPr wrap="square" lIns="0" tIns="0" rIns="0" bIns="0" rtlCol="0" anchor="ctr"/>
          <a:lstStyle/>
          <a:p>
            <a:pPr marL="0" indent="0">
              <a:buNone/>
            </a:pPr>
            <a:r>
              <a:rPr lang="en-US" sz="2400" b="1" dirty="0">
                <a:solidFill>
                  <a:srgbClr val="F26A4B"/>
                </a:solidFill>
                <a:latin typeface="Georgia" pitchFamily="34" charset="0"/>
                <a:ea typeface="Georgia" pitchFamily="34" charset="-122"/>
                <a:cs typeface="Georgia" pitchFamily="34" charset="-120"/>
              </a:rPr>
              <a:t>$0.74</a:t>
            </a:r>
            <a:endParaRPr lang="en-US" sz="2400" dirty="0"/>
          </a:p>
        </p:txBody>
      </p:sp>
      <p:sp>
        <p:nvSpPr>
          <p:cNvPr id="52" name="Text 49"/>
          <p:cNvSpPr/>
          <p:nvPr/>
        </p:nvSpPr>
        <p:spPr>
          <a:xfrm>
            <a:off x="7632700" y="5994400"/>
            <a:ext cx="1095146" cy="347472"/>
          </a:xfrm>
          <a:prstGeom prst="rect">
            <a:avLst/>
          </a:prstGeom>
          <a:noFill/>
          <a:ln/>
        </p:spPr>
        <p:txBody>
          <a:bodyPr wrap="square" lIns="0" tIns="0" rIns="0" bIns="0" rtlCol="0" anchor="ctr"/>
          <a:lstStyle/>
          <a:p>
            <a:pPr marL="0" indent="0">
              <a:lnSpc>
                <a:spcPts val="1100"/>
              </a:lnSpc>
              <a:buNone/>
            </a:pPr>
            <a:r>
              <a:rPr lang="en-US" sz="850" b="1" kern="0" spc="80" dirty="0">
                <a:solidFill>
                  <a:srgbClr val="93A4BD"/>
                </a:solidFill>
                <a:latin typeface="Calibri" pitchFamily="34" charset="0"/>
                <a:ea typeface="Calibri" pitchFamily="34" charset="-122"/>
                <a:cs typeface="Calibri" pitchFamily="34" charset="-120"/>
              </a:rPr>
              <a:t>PER CONTRACT PROCESSED</a:t>
            </a:r>
            <a:endParaRPr lang="en-US" sz="850" dirty="0"/>
          </a:p>
        </p:txBody>
      </p:sp>
      <p:sp>
        <p:nvSpPr>
          <p:cNvPr id="53" name="Shape 50"/>
          <p:cNvSpPr/>
          <p:nvPr/>
        </p:nvSpPr>
        <p:spPr>
          <a:xfrm>
            <a:off x="8839200" y="5524500"/>
            <a:ext cx="1387754" cy="914400"/>
          </a:xfrm>
          <a:prstGeom prst="rect">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54" name="Shape 51"/>
          <p:cNvSpPr/>
          <p:nvPr/>
        </p:nvSpPr>
        <p:spPr>
          <a:xfrm>
            <a:off x="8839200" y="5524500"/>
            <a:ext cx="73152" cy="914400"/>
          </a:xfrm>
          <a:prstGeom prst="rect">
            <a:avLst/>
          </a:prstGeom>
          <a:solidFill>
            <a:srgbClr val="0F766E"/>
          </a:solidFill>
          <a:ln/>
        </p:spPr>
        <p:txBody>
          <a:bodyPr/>
          <a:lstStyle/>
          <a:p>
            <a:endParaRPr lang="en-IN"/>
          </a:p>
        </p:txBody>
      </p:sp>
      <p:sp>
        <p:nvSpPr>
          <p:cNvPr id="55" name="Text 52"/>
          <p:cNvSpPr/>
          <p:nvPr/>
        </p:nvSpPr>
        <p:spPr>
          <a:xfrm>
            <a:off x="9042400" y="5651500"/>
            <a:ext cx="1095146" cy="317500"/>
          </a:xfrm>
          <a:prstGeom prst="rect">
            <a:avLst/>
          </a:prstGeom>
          <a:noFill/>
          <a:ln/>
        </p:spPr>
        <p:txBody>
          <a:bodyPr wrap="square" lIns="0" tIns="0" rIns="0" bIns="0" rtlCol="0" anchor="ctr"/>
          <a:lstStyle/>
          <a:p>
            <a:pPr marL="0" indent="0">
              <a:buNone/>
            </a:pPr>
            <a:r>
              <a:rPr lang="en-US" sz="2400" b="1" dirty="0">
                <a:solidFill>
                  <a:srgbClr val="0F766E"/>
                </a:solidFill>
                <a:latin typeface="Georgia" pitchFamily="34" charset="0"/>
                <a:ea typeface="Georgia" pitchFamily="34" charset="-122"/>
                <a:cs typeface="Georgia" pitchFamily="34" charset="-120"/>
              </a:rPr>
              <a:t>$6.63</a:t>
            </a:r>
            <a:endParaRPr lang="en-US" sz="2400" dirty="0"/>
          </a:p>
        </p:txBody>
      </p:sp>
      <p:sp>
        <p:nvSpPr>
          <p:cNvPr id="56" name="Text 53"/>
          <p:cNvSpPr/>
          <p:nvPr/>
        </p:nvSpPr>
        <p:spPr>
          <a:xfrm>
            <a:off x="9042400" y="5994400"/>
            <a:ext cx="1095146" cy="347472"/>
          </a:xfrm>
          <a:prstGeom prst="rect">
            <a:avLst/>
          </a:prstGeom>
          <a:noFill/>
          <a:ln/>
        </p:spPr>
        <p:txBody>
          <a:bodyPr wrap="square" lIns="0" tIns="0" rIns="0" bIns="0" rtlCol="0" anchor="ctr"/>
          <a:lstStyle/>
          <a:p>
            <a:pPr marL="0" indent="0">
              <a:lnSpc>
                <a:spcPts val="1100"/>
              </a:lnSpc>
              <a:buNone/>
            </a:pPr>
            <a:r>
              <a:rPr lang="en-US" sz="850" b="1" kern="0" spc="80" dirty="0">
                <a:solidFill>
                  <a:srgbClr val="93A4BD"/>
                </a:solidFill>
                <a:latin typeface="Calibri" pitchFamily="34" charset="0"/>
                <a:ea typeface="Calibri" pitchFamily="34" charset="-122"/>
                <a:cs typeface="Calibri" pitchFamily="34" charset="-120"/>
              </a:rPr>
              <a:t>PER USER / MONTH</a:t>
            </a:r>
            <a:endParaRPr lang="en-US" sz="850" dirty="0"/>
          </a:p>
        </p:txBody>
      </p:sp>
      <p:sp>
        <p:nvSpPr>
          <p:cNvPr id="57" name="Shape 54"/>
          <p:cNvSpPr/>
          <p:nvPr/>
        </p:nvSpPr>
        <p:spPr>
          <a:xfrm>
            <a:off x="10248900" y="5524500"/>
            <a:ext cx="1387754" cy="914400"/>
          </a:xfrm>
          <a:prstGeom prst="rect">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58" name="Shape 55"/>
          <p:cNvSpPr/>
          <p:nvPr/>
        </p:nvSpPr>
        <p:spPr>
          <a:xfrm>
            <a:off x="10248900" y="5524500"/>
            <a:ext cx="73152" cy="914400"/>
          </a:xfrm>
          <a:prstGeom prst="rect">
            <a:avLst/>
          </a:prstGeom>
          <a:solidFill>
            <a:srgbClr val="0F766E"/>
          </a:solidFill>
          <a:ln/>
        </p:spPr>
        <p:txBody>
          <a:bodyPr/>
          <a:lstStyle/>
          <a:p>
            <a:endParaRPr lang="en-IN"/>
          </a:p>
        </p:txBody>
      </p:sp>
      <p:sp>
        <p:nvSpPr>
          <p:cNvPr id="59" name="Text 56"/>
          <p:cNvSpPr/>
          <p:nvPr/>
        </p:nvSpPr>
        <p:spPr>
          <a:xfrm>
            <a:off x="10452100" y="5651500"/>
            <a:ext cx="1095146" cy="317500"/>
          </a:xfrm>
          <a:prstGeom prst="rect">
            <a:avLst/>
          </a:prstGeom>
          <a:noFill/>
          <a:ln/>
        </p:spPr>
        <p:txBody>
          <a:bodyPr wrap="square" lIns="0" tIns="0" rIns="0" bIns="0" rtlCol="0" anchor="ctr"/>
          <a:lstStyle/>
          <a:p>
            <a:pPr marL="0" indent="0">
              <a:buNone/>
            </a:pPr>
            <a:r>
              <a:rPr lang="en-US" sz="2400" b="1" dirty="0">
                <a:solidFill>
                  <a:srgbClr val="0F766E"/>
                </a:solidFill>
                <a:latin typeface="Georgia" pitchFamily="34" charset="0"/>
                <a:ea typeface="Georgia" pitchFamily="34" charset="-122"/>
                <a:cs typeface="Georgia" pitchFamily="34" charset="-120"/>
              </a:rPr>
              <a:t>~$0.01</a:t>
            </a:r>
            <a:endParaRPr lang="en-US" sz="2400" dirty="0"/>
          </a:p>
        </p:txBody>
      </p:sp>
      <p:sp>
        <p:nvSpPr>
          <p:cNvPr id="60" name="Text 57"/>
          <p:cNvSpPr/>
          <p:nvPr/>
        </p:nvSpPr>
        <p:spPr>
          <a:xfrm>
            <a:off x="10452100" y="5994400"/>
            <a:ext cx="1095146" cy="347472"/>
          </a:xfrm>
          <a:prstGeom prst="rect">
            <a:avLst/>
          </a:prstGeom>
          <a:noFill/>
          <a:ln/>
        </p:spPr>
        <p:txBody>
          <a:bodyPr wrap="square" lIns="0" tIns="0" rIns="0" bIns="0" rtlCol="0" anchor="ctr"/>
          <a:lstStyle/>
          <a:p>
            <a:pPr marL="0" indent="0">
              <a:lnSpc>
                <a:spcPts val="1100"/>
              </a:lnSpc>
              <a:buNone/>
            </a:pPr>
            <a:r>
              <a:rPr lang="en-US" sz="850" b="1" kern="0" spc="80" dirty="0">
                <a:solidFill>
                  <a:srgbClr val="93A4BD"/>
                </a:solidFill>
                <a:latin typeface="Calibri" pitchFamily="34" charset="0"/>
                <a:ea typeface="Calibri" pitchFamily="34" charset="-122"/>
                <a:cs typeface="Calibri" pitchFamily="34" charset="-120"/>
              </a:rPr>
              <a:t>PER QUESTION ANSWERED</a:t>
            </a:r>
            <a:endParaRPr lang="en-US" sz="850" dirty="0"/>
          </a:p>
        </p:txBody>
      </p:sp>
      <p:sp>
        <p:nvSpPr>
          <p:cNvPr id="61" name="Text 58"/>
          <p:cNvSpPr/>
          <p:nvPr/>
        </p:nvSpPr>
        <p:spPr>
          <a:xfrm>
            <a:off x="548640" y="6473952"/>
            <a:ext cx="8229600" cy="256032"/>
          </a:xfrm>
          <a:prstGeom prst="rect">
            <a:avLst/>
          </a:prstGeom>
          <a:noFill/>
          <a:ln/>
        </p:spPr>
        <p:txBody>
          <a:bodyPr wrap="square" lIns="0" tIns="0" rIns="0" bIns="0" rtlCol="0" anchor="ctr"/>
          <a:lstStyle/>
          <a:p>
            <a:pPr marL="0" indent="0">
              <a:buNone/>
            </a:pPr>
            <a:r>
              <a:rPr lang="en-US" sz="800" b="1" kern="0" spc="80" dirty="0">
                <a:solidFill>
                  <a:srgbClr val="64748B"/>
                </a:solidFill>
                <a:latin typeface="Calibri" pitchFamily="34" charset="0"/>
                <a:ea typeface="Calibri" pitchFamily="34" charset="-122"/>
                <a:cs typeface="Calibri" pitchFamily="34" charset="-120"/>
              </a:rPr>
              <a:t>PROVIDER CONTRACT INTELLIGENCE PLATFORM</a:t>
            </a:r>
            <a:r>
              <a:rPr lang="en-US" sz="800" kern="0" spc="8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62" name="Text 59"/>
          <p:cNvSpPr/>
          <p:nvPr/>
        </p:nvSpPr>
        <p:spPr>
          <a:xfrm>
            <a:off x="10728655" y="6473952"/>
            <a:ext cx="914400" cy="256032"/>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256032"/>
          </a:xfrm>
          <a:prstGeom prst="rect">
            <a:avLst/>
          </a:prstGeom>
          <a:noFill/>
          <a:ln/>
        </p:spPr>
        <p:txBody>
          <a:bodyPr wrap="square" lIns="0" tIns="0" rIns="0" bIns="0" rtlCol="0" anchor="ctr"/>
          <a:lstStyle/>
          <a:p>
            <a:pPr marL="0" indent="0">
              <a:buNone/>
            </a:pPr>
            <a:r>
              <a:rPr lang="en-US" sz="1100" b="1" kern="0" spc="250" dirty="0">
                <a:solidFill>
                  <a:srgbClr val="0F766E"/>
                </a:solidFill>
                <a:latin typeface="Calibri" pitchFamily="34" charset="0"/>
                <a:ea typeface="Calibri" pitchFamily="34" charset="-122"/>
                <a:cs typeface="Calibri" pitchFamily="34" charset="-120"/>
              </a:rPr>
              <a:t>SECTION 12 · ROADMAP</a:t>
            </a:r>
            <a:endParaRPr lang="en-US" sz="1100" dirty="0"/>
          </a:p>
        </p:txBody>
      </p:sp>
      <p:sp>
        <p:nvSpPr>
          <p:cNvPr id="3" name="Text 1"/>
          <p:cNvSpPr/>
          <p:nvPr/>
        </p:nvSpPr>
        <p:spPr>
          <a:xfrm>
            <a:off x="548640" y="804672"/>
            <a:ext cx="7987979" cy="1005840"/>
          </a:xfrm>
          <a:prstGeom prst="rect">
            <a:avLst/>
          </a:prstGeom>
          <a:noFill/>
          <a:ln/>
        </p:spPr>
        <p:txBody>
          <a:bodyPr wrap="square" lIns="0" tIns="0" rIns="0" bIns="0" rtlCol="0" anchor="t"/>
          <a:lstStyle/>
          <a:p>
            <a:pPr marL="0" indent="0">
              <a:lnSpc>
                <a:spcPts val="3080"/>
              </a:lnSpc>
              <a:buNone/>
            </a:pPr>
            <a:r>
              <a:rPr lang="en-US" sz="2800" b="1" dirty="0">
                <a:solidFill>
                  <a:srgbClr val="0B1B2E"/>
                </a:solidFill>
                <a:latin typeface="Georgia" pitchFamily="34" charset="0"/>
                <a:ea typeface="Georgia" pitchFamily="34" charset="-122"/>
                <a:cs typeface="Georgia" pitchFamily="34" charset="-120"/>
              </a:rPr>
              <a:t>Three horizons — from foundation to enterprise scale</a:t>
            </a:r>
            <a:endParaRPr lang="en-US" sz="2800" dirty="0"/>
          </a:p>
        </p:txBody>
      </p:sp>
      <p:sp>
        <p:nvSpPr>
          <p:cNvPr id="4" name="Shape 2"/>
          <p:cNvSpPr/>
          <p:nvPr/>
        </p:nvSpPr>
        <p:spPr>
          <a:xfrm>
            <a:off x="548640" y="1965960"/>
            <a:ext cx="3515258" cy="566928"/>
          </a:xfrm>
          <a:prstGeom prst="rect">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5" name="Text 3"/>
          <p:cNvSpPr/>
          <p:nvPr/>
        </p:nvSpPr>
        <p:spPr>
          <a:xfrm>
            <a:off x="731520" y="1965960"/>
            <a:ext cx="3240938" cy="566928"/>
          </a:xfrm>
          <a:prstGeom prst="rect">
            <a:avLst/>
          </a:prstGeom>
          <a:noFill/>
          <a:ln/>
        </p:spPr>
        <p:txBody>
          <a:bodyPr wrap="square" lIns="0" tIns="0" rIns="0" bIns="0" rtlCol="0" anchor="ctr"/>
          <a:lstStyle/>
          <a:p>
            <a:pPr marL="0" indent="0">
              <a:buNone/>
            </a:pPr>
            <a:r>
              <a:rPr lang="en-US" sz="1300" b="1" kern="0" spc="150" dirty="0">
                <a:solidFill>
                  <a:srgbClr val="FFFFFF"/>
                </a:solidFill>
                <a:latin typeface="Calibri" pitchFamily="34" charset="0"/>
                <a:ea typeface="Calibri" pitchFamily="34" charset="-122"/>
                <a:cs typeface="Calibri" pitchFamily="34" charset="-120"/>
              </a:rPr>
              <a:t>PHASE 1</a:t>
            </a:r>
            <a:endParaRPr lang="en-US" sz="1300" dirty="0"/>
          </a:p>
        </p:txBody>
      </p:sp>
      <p:sp>
        <p:nvSpPr>
          <p:cNvPr id="6" name="Shape 4"/>
          <p:cNvSpPr/>
          <p:nvPr/>
        </p:nvSpPr>
        <p:spPr>
          <a:xfrm>
            <a:off x="548640" y="2578608"/>
            <a:ext cx="3515258" cy="3364992"/>
          </a:xfrm>
          <a:prstGeom prst="rect">
            <a:avLst/>
          </a:prstGeom>
          <a:solidFill>
            <a:srgbClr val="F8FAFC"/>
          </a:solidFill>
          <a:ln/>
        </p:spPr>
        <p:txBody>
          <a:bodyPr/>
          <a:lstStyle/>
          <a:p>
            <a:endParaRPr lang="en-IN"/>
          </a:p>
        </p:txBody>
      </p:sp>
      <p:sp>
        <p:nvSpPr>
          <p:cNvPr id="7" name="Shape 5"/>
          <p:cNvSpPr/>
          <p:nvPr/>
        </p:nvSpPr>
        <p:spPr>
          <a:xfrm>
            <a:off x="548640" y="2578608"/>
            <a:ext cx="82296" cy="3364992"/>
          </a:xfrm>
          <a:prstGeom prst="rect">
            <a:avLst/>
          </a:prstGeom>
          <a:solidFill>
            <a:srgbClr val="14B8A6"/>
          </a:solidFill>
          <a:ln/>
        </p:spPr>
        <p:txBody>
          <a:bodyPr/>
          <a:lstStyle/>
          <a:p>
            <a:endParaRPr lang="en-IN"/>
          </a:p>
        </p:txBody>
      </p:sp>
      <p:sp>
        <p:nvSpPr>
          <p:cNvPr id="8" name="Text 6"/>
          <p:cNvSpPr/>
          <p:nvPr/>
        </p:nvSpPr>
        <p:spPr>
          <a:xfrm>
            <a:off x="768096" y="2743200"/>
            <a:ext cx="3167786" cy="502920"/>
          </a:xfrm>
          <a:prstGeom prst="rect">
            <a:avLst/>
          </a:prstGeom>
          <a:noFill/>
          <a:ln/>
        </p:spPr>
        <p:txBody>
          <a:bodyPr wrap="square" lIns="0" tIns="0" rIns="0" bIns="0" rtlCol="0" anchor="ctr"/>
          <a:lstStyle/>
          <a:p>
            <a:pPr marL="0" indent="0">
              <a:lnSpc>
                <a:spcPts val="1700"/>
              </a:lnSpc>
              <a:buNone/>
            </a:pPr>
            <a:r>
              <a:rPr lang="en-US" sz="1550" b="1" dirty="0">
                <a:solidFill>
                  <a:srgbClr val="0B1B2E"/>
                </a:solidFill>
                <a:latin typeface="Georgia" pitchFamily="34" charset="0"/>
                <a:ea typeface="Georgia" pitchFamily="34" charset="-122"/>
                <a:cs typeface="Georgia" pitchFamily="34" charset="-120"/>
              </a:rPr>
              <a:t>Complete the foundation</a:t>
            </a:r>
            <a:endParaRPr lang="en-US" sz="1550" dirty="0"/>
          </a:p>
        </p:txBody>
      </p:sp>
      <p:sp>
        <p:nvSpPr>
          <p:cNvPr id="9" name="Shape 7"/>
          <p:cNvSpPr/>
          <p:nvPr/>
        </p:nvSpPr>
        <p:spPr>
          <a:xfrm>
            <a:off x="768096" y="3310128"/>
            <a:ext cx="3149498" cy="0"/>
          </a:xfrm>
          <a:prstGeom prst="line">
            <a:avLst/>
          </a:prstGeom>
          <a:noFill/>
          <a:ln w="12700">
            <a:solidFill>
              <a:srgbClr val="E3E9F0"/>
            </a:solidFill>
            <a:prstDash val="solid"/>
          </a:ln>
        </p:spPr>
        <p:txBody>
          <a:bodyPr/>
          <a:lstStyle/>
          <a:p>
            <a:endParaRPr lang="en-IN"/>
          </a:p>
        </p:txBody>
      </p:sp>
      <p:sp>
        <p:nvSpPr>
          <p:cNvPr id="10" name="Shape 8"/>
          <p:cNvSpPr/>
          <p:nvPr/>
        </p:nvSpPr>
        <p:spPr>
          <a:xfrm>
            <a:off x="768096" y="3520440"/>
            <a:ext cx="128016" cy="128016"/>
          </a:xfrm>
          <a:prstGeom prst="ellipse">
            <a:avLst/>
          </a:prstGeom>
          <a:solidFill>
            <a:srgbClr val="14B8A6"/>
          </a:solidFill>
          <a:ln/>
        </p:spPr>
        <p:txBody>
          <a:bodyPr/>
          <a:lstStyle/>
          <a:p>
            <a:endParaRPr lang="en-IN"/>
          </a:p>
        </p:txBody>
      </p:sp>
      <p:sp>
        <p:nvSpPr>
          <p:cNvPr id="11" name="Text 9"/>
          <p:cNvSpPr/>
          <p:nvPr/>
        </p:nvSpPr>
        <p:spPr>
          <a:xfrm>
            <a:off x="987552" y="3419856"/>
            <a:ext cx="2948330" cy="658368"/>
          </a:xfrm>
          <a:prstGeom prst="rect">
            <a:avLst/>
          </a:prstGeom>
          <a:noFill/>
          <a:ln/>
        </p:spPr>
        <p:txBody>
          <a:bodyPr wrap="square" lIns="0" tIns="0" rIns="0" bIns="0" rtlCol="0" anchor="t"/>
          <a:lstStyle/>
          <a:p>
            <a:pPr marL="0" indent="0">
              <a:lnSpc>
                <a:spcPts val="1500"/>
              </a:lnSpc>
              <a:buNone/>
            </a:pPr>
            <a:r>
              <a:rPr lang="en-US" sz="1150" dirty="0">
                <a:solidFill>
                  <a:srgbClr val="33415A"/>
                </a:solidFill>
                <a:latin typeface="Calibri" pitchFamily="34" charset="0"/>
                <a:ea typeface="Calibri" pitchFamily="34" charset="-122"/>
                <a:cs typeface="Calibri" pitchFamily="34" charset="-120"/>
              </a:rPr>
              <a:t>Process the remaining ~3,000 files to complete the full corpus</a:t>
            </a:r>
            <a:endParaRPr lang="en-US" sz="1150" dirty="0"/>
          </a:p>
        </p:txBody>
      </p:sp>
      <p:sp>
        <p:nvSpPr>
          <p:cNvPr id="12" name="Shape 10"/>
          <p:cNvSpPr/>
          <p:nvPr/>
        </p:nvSpPr>
        <p:spPr>
          <a:xfrm>
            <a:off x="768096" y="4270248"/>
            <a:ext cx="128016" cy="128016"/>
          </a:xfrm>
          <a:prstGeom prst="ellipse">
            <a:avLst/>
          </a:prstGeom>
          <a:solidFill>
            <a:srgbClr val="14B8A6"/>
          </a:solidFill>
          <a:ln/>
        </p:spPr>
        <p:txBody>
          <a:bodyPr/>
          <a:lstStyle/>
          <a:p>
            <a:endParaRPr lang="en-IN"/>
          </a:p>
        </p:txBody>
      </p:sp>
      <p:sp>
        <p:nvSpPr>
          <p:cNvPr id="13" name="Text 11"/>
          <p:cNvSpPr/>
          <p:nvPr/>
        </p:nvSpPr>
        <p:spPr>
          <a:xfrm>
            <a:off x="987552" y="4169664"/>
            <a:ext cx="2948330" cy="658368"/>
          </a:xfrm>
          <a:prstGeom prst="rect">
            <a:avLst/>
          </a:prstGeom>
          <a:noFill/>
          <a:ln/>
        </p:spPr>
        <p:txBody>
          <a:bodyPr wrap="square" lIns="0" tIns="0" rIns="0" bIns="0" rtlCol="0" anchor="t"/>
          <a:lstStyle/>
          <a:p>
            <a:pPr marL="0" indent="0">
              <a:lnSpc>
                <a:spcPts val="1500"/>
              </a:lnSpc>
              <a:buNone/>
            </a:pPr>
            <a:r>
              <a:rPr lang="en-US" sz="1150" dirty="0">
                <a:solidFill>
                  <a:srgbClr val="33415A"/>
                </a:solidFill>
                <a:latin typeface="Calibri" pitchFamily="34" charset="0"/>
                <a:ea typeface="Calibri" pitchFamily="34" charset="-122"/>
                <a:cs typeface="Calibri" pitchFamily="34" charset="-120"/>
              </a:rPr>
              <a:t>Automate pipeline orchestration and alerting</a:t>
            </a:r>
            <a:endParaRPr lang="en-US" sz="1150" dirty="0"/>
          </a:p>
        </p:txBody>
      </p:sp>
      <p:sp>
        <p:nvSpPr>
          <p:cNvPr id="14" name="Shape 12"/>
          <p:cNvSpPr/>
          <p:nvPr/>
        </p:nvSpPr>
        <p:spPr>
          <a:xfrm>
            <a:off x="768096" y="5020056"/>
            <a:ext cx="128016" cy="128016"/>
          </a:xfrm>
          <a:prstGeom prst="ellipse">
            <a:avLst/>
          </a:prstGeom>
          <a:solidFill>
            <a:srgbClr val="14B8A6"/>
          </a:solidFill>
          <a:ln/>
        </p:spPr>
        <p:txBody>
          <a:bodyPr/>
          <a:lstStyle/>
          <a:p>
            <a:endParaRPr lang="en-IN"/>
          </a:p>
        </p:txBody>
      </p:sp>
      <p:sp>
        <p:nvSpPr>
          <p:cNvPr id="15" name="Text 13"/>
          <p:cNvSpPr/>
          <p:nvPr/>
        </p:nvSpPr>
        <p:spPr>
          <a:xfrm>
            <a:off x="987552" y="4919472"/>
            <a:ext cx="2948330" cy="658368"/>
          </a:xfrm>
          <a:prstGeom prst="rect">
            <a:avLst/>
          </a:prstGeom>
          <a:noFill/>
          <a:ln/>
        </p:spPr>
        <p:txBody>
          <a:bodyPr wrap="square" lIns="0" tIns="0" rIns="0" bIns="0" rtlCol="0" anchor="t"/>
          <a:lstStyle/>
          <a:p>
            <a:pPr marL="0" indent="0">
              <a:lnSpc>
                <a:spcPts val="1500"/>
              </a:lnSpc>
              <a:buNone/>
            </a:pPr>
            <a:r>
              <a:rPr lang="en-US" sz="1150" dirty="0">
                <a:solidFill>
                  <a:srgbClr val="33415A"/>
                </a:solidFill>
                <a:latin typeface="Calibri" pitchFamily="34" charset="0"/>
                <a:ea typeface="Calibri" pitchFamily="34" charset="-122"/>
                <a:cs typeface="Calibri" pitchFamily="34" charset="-120"/>
              </a:rPr>
              <a:t>Harden governance — access masking, row-level security, audit logging</a:t>
            </a:r>
            <a:endParaRPr lang="en-US" sz="1150" dirty="0"/>
          </a:p>
        </p:txBody>
      </p:sp>
      <p:sp>
        <p:nvSpPr>
          <p:cNvPr id="16" name="Shape 14"/>
          <p:cNvSpPr/>
          <p:nvPr/>
        </p:nvSpPr>
        <p:spPr>
          <a:xfrm>
            <a:off x="4100474" y="2249424"/>
            <a:ext cx="201168" cy="0"/>
          </a:xfrm>
          <a:prstGeom prst="line">
            <a:avLst/>
          </a:prstGeom>
          <a:noFill/>
          <a:ln w="22860">
            <a:solidFill>
              <a:srgbClr val="0F766E"/>
            </a:solidFill>
            <a:prstDash val="solid"/>
            <a:tailEnd type="triangle"/>
          </a:ln>
        </p:spPr>
        <p:txBody>
          <a:bodyPr/>
          <a:lstStyle/>
          <a:p>
            <a:endParaRPr lang="en-IN"/>
          </a:p>
        </p:txBody>
      </p:sp>
      <p:sp>
        <p:nvSpPr>
          <p:cNvPr id="17" name="Shape 15"/>
          <p:cNvSpPr/>
          <p:nvPr/>
        </p:nvSpPr>
        <p:spPr>
          <a:xfrm>
            <a:off x="4338218" y="1965960"/>
            <a:ext cx="3515258" cy="566928"/>
          </a:xfrm>
          <a:prstGeom prst="rect">
            <a:avLst/>
          </a:prstGeom>
          <a:solidFill>
            <a:srgbClr val="0B1B2E"/>
          </a:solidFill>
          <a:ln/>
          <a:effectLst>
            <a:outerShdw blurRad="177800" dist="50800" dir="8100000" algn="bl" rotWithShape="0">
              <a:srgbClr val="000000">
                <a:alpha val="22000"/>
              </a:srgbClr>
            </a:outerShdw>
          </a:effectLst>
        </p:spPr>
        <p:txBody>
          <a:bodyPr/>
          <a:lstStyle/>
          <a:p>
            <a:endParaRPr lang="en-IN"/>
          </a:p>
        </p:txBody>
      </p:sp>
      <p:sp>
        <p:nvSpPr>
          <p:cNvPr id="18" name="Text 16"/>
          <p:cNvSpPr/>
          <p:nvPr/>
        </p:nvSpPr>
        <p:spPr>
          <a:xfrm>
            <a:off x="4521098" y="1965960"/>
            <a:ext cx="3240938" cy="566928"/>
          </a:xfrm>
          <a:prstGeom prst="rect">
            <a:avLst/>
          </a:prstGeom>
          <a:noFill/>
          <a:ln/>
        </p:spPr>
        <p:txBody>
          <a:bodyPr wrap="square" lIns="0" tIns="0" rIns="0" bIns="0" rtlCol="0" anchor="ctr"/>
          <a:lstStyle/>
          <a:p>
            <a:pPr marL="0" indent="0">
              <a:buNone/>
            </a:pPr>
            <a:r>
              <a:rPr lang="en-US" sz="1300" b="1" kern="0" spc="150" dirty="0">
                <a:solidFill>
                  <a:srgbClr val="FFFFFF"/>
                </a:solidFill>
                <a:latin typeface="Calibri" pitchFamily="34" charset="0"/>
                <a:ea typeface="Calibri" pitchFamily="34" charset="-122"/>
                <a:cs typeface="Calibri" pitchFamily="34" charset="-120"/>
              </a:rPr>
              <a:t>PHASE 2</a:t>
            </a:r>
            <a:endParaRPr lang="en-US" sz="1300" dirty="0"/>
          </a:p>
        </p:txBody>
      </p:sp>
      <p:sp>
        <p:nvSpPr>
          <p:cNvPr id="19" name="Shape 17"/>
          <p:cNvSpPr/>
          <p:nvPr/>
        </p:nvSpPr>
        <p:spPr>
          <a:xfrm>
            <a:off x="4338218" y="2578608"/>
            <a:ext cx="3515258" cy="3364992"/>
          </a:xfrm>
          <a:prstGeom prst="rect">
            <a:avLst/>
          </a:prstGeom>
          <a:solidFill>
            <a:srgbClr val="F8FAFC"/>
          </a:solidFill>
          <a:ln/>
        </p:spPr>
        <p:txBody>
          <a:bodyPr/>
          <a:lstStyle/>
          <a:p>
            <a:endParaRPr lang="en-IN"/>
          </a:p>
        </p:txBody>
      </p:sp>
      <p:sp>
        <p:nvSpPr>
          <p:cNvPr id="20" name="Shape 18"/>
          <p:cNvSpPr/>
          <p:nvPr/>
        </p:nvSpPr>
        <p:spPr>
          <a:xfrm>
            <a:off x="4338218" y="2578608"/>
            <a:ext cx="82296" cy="3364992"/>
          </a:xfrm>
          <a:prstGeom prst="rect">
            <a:avLst/>
          </a:prstGeom>
          <a:solidFill>
            <a:srgbClr val="14B8A6"/>
          </a:solidFill>
          <a:ln/>
        </p:spPr>
        <p:txBody>
          <a:bodyPr/>
          <a:lstStyle/>
          <a:p>
            <a:endParaRPr lang="en-IN"/>
          </a:p>
        </p:txBody>
      </p:sp>
      <p:sp>
        <p:nvSpPr>
          <p:cNvPr id="21" name="Text 19"/>
          <p:cNvSpPr/>
          <p:nvPr/>
        </p:nvSpPr>
        <p:spPr>
          <a:xfrm>
            <a:off x="4557674" y="2743200"/>
            <a:ext cx="3167786" cy="502920"/>
          </a:xfrm>
          <a:prstGeom prst="rect">
            <a:avLst/>
          </a:prstGeom>
          <a:noFill/>
          <a:ln/>
        </p:spPr>
        <p:txBody>
          <a:bodyPr wrap="square" lIns="0" tIns="0" rIns="0" bIns="0" rtlCol="0" anchor="ctr"/>
          <a:lstStyle/>
          <a:p>
            <a:pPr marL="0" indent="0">
              <a:lnSpc>
                <a:spcPts val="1700"/>
              </a:lnSpc>
              <a:buNone/>
            </a:pPr>
            <a:r>
              <a:rPr lang="en-US" sz="1550" b="1" dirty="0">
                <a:solidFill>
                  <a:srgbClr val="0B1B2E"/>
                </a:solidFill>
                <a:latin typeface="Georgia" pitchFamily="34" charset="0"/>
                <a:ea typeface="Georgia" pitchFamily="34" charset="-122"/>
                <a:cs typeface="Georgia" pitchFamily="34" charset="-120"/>
              </a:rPr>
              <a:t>Connect &amp; expand</a:t>
            </a:r>
            <a:endParaRPr lang="en-US" sz="1550" dirty="0"/>
          </a:p>
        </p:txBody>
      </p:sp>
      <p:sp>
        <p:nvSpPr>
          <p:cNvPr id="22" name="Shape 20"/>
          <p:cNvSpPr/>
          <p:nvPr/>
        </p:nvSpPr>
        <p:spPr>
          <a:xfrm>
            <a:off x="4557674" y="3310128"/>
            <a:ext cx="3149498" cy="0"/>
          </a:xfrm>
          <a:prstGeom prst="line">
            <a:avLst/>
          </a:prstGeom>
          <a:noFill/>
          <a:ln w="12700">
            <a:solidFill>
              <a:srgbClr val="E3E9F0"/>
            </a:solidFill>
            <a:prstDash val="solid"/>
          </a:ln>
        </p:spPr>
        <p:txBody>
          <a:bodyPr/>
          <a:lstStyle/>
          <a:p>
            <a:endParaRPr lang="en-IN"/>
          </a:p>
        </p:txBody>
      </p:sp>
      <p:sp>
        <p:nvSpPr>
          <p:cNvPr id="23" name="Shape 21"/>
          <p:cNvSpPr/>
          <p:nvPr/>
        </p:nvSpPr>
        <p:spPr>
          <a:xfrm>
            <a:off x="4557674" y="3520440"/>
            <a:ext cx="128016" cy="128016"/>
          </a:xfrm>
          <a:prstGeom prst="ellipse">
            <a:avLst/>
          </a:prstGeom>
          <a:solidFill>
            <a:srgbClr val="14B8A6"/>
          </a:solidFill>
          <a:ln/>
        </p:spPr>
        <p:txBody>
          <a:bodyPr/>
          <a:lstStyle/>
          <a:p>
            <a:endParaRPr lang="en-IN"/>
          </a:p>
        </p:txBody>
      </p:sp>
      <p:sp>
        <p:nvSpPr>
          <p:cNvPr id="24" name="Text 22"/>
          <p:cNvSpPr/>
          <p:nvPr/>
        </p:nvSpPr>
        <p:spPr>
          <a:xfrm>
            <a:off x="4777130" y="3419856"/>
            <a:ext cx="2948330" cy="658368"/>
          </a:xfrm>
          <a:prstGeom prst="rect">
            <a:avLst/>
          </a:prstGeom>
          <a:noFill/>
          <a:ln/>
        </p:spPr>
        <p:txBody>
          <a:bodyPr wrap="square" lIns="0" tIns="0" rIns="0" bIns="0" rtlCol="0" anchor="t"/>
          <a:lstStyle/>
          <a:p>
            <a:pPr marL="0" indent="0">
              <a:lnSpc>
                <a:spcPts val="1500"/>
              </a:lnSpc>
              <a:buNone/>
            </a:pPr>
            <a:r>
              <a:rPr lang="en-US" sz="1150" dirty="0">
                <a:solidFill>
                  <a:srgbClr val="33415A"/>
                </a:solidFill>
                <a:latin typeface="Calibri" pitchFamily="34" charset="0"/>
                <a:ea typeface="Calibri" pitchFamily="34" charset="-122"/>
                <a:cs typeface="Calibri" pitchFamily="34" charset="-120"/>
              </a:rPr>
              <a:t>Integrate claims and utilization data</a:t>
            </a:r>
            <a:endParaRPr lang="en-US" sz="1150" dirty="0"/>
          </a:p>
        </p:txBody>
      </p:sp>
      <p:sp>
        <p:nvSpPr>
          <p:cNvPr id="25" name="Shape 23"/>
          <p:cNvSpPr/>
          <p:nvPr/>
        </p:nvSpPr>
        <p:spPr>
          <a:xfrm>
            <a:off x="4557674" y="4270248"/>
            <a:ext cx="128016" cy="128016"/>
          </a:xfrm>
          <a:prstGeom prst="ellipse">
            <a:avLst/>
          </a:prstGeom>
          <a:solidFill>
            <a:srgbClr val="14B8A6"/>
          </a:solidFill>
          <a:ln/>
        </p:spPr>
        <p:txBody>
          <a:bodyPr/>
          <a:lstStyle/>
          <a:p>
            <a:endParaRPr lang="en-IN"/>
          </a:p>
        </p:txBody>
      </p:sp>
      <p:sp>
        <p:nvSpPr>
          <p:cNvPr id="26" name="Text 24"/>
          <p:cNvSpPr/>
          <p:nvPr/>
        </p:nvSpPr>
        <p:spPr>
          <a:xfrm>
            <a:off x="4777130" y="4169664"/>
            <a:ext cx="2948330" cy="658368"/>
          </a:xfrm>
          <a:prstGeom prst="rect">
            <a:avLst/>
          </a:prstGeom>
          <a:noFill/>
          <a:ln/>
        </p:spPr>
        <p:txBody>
          <a:bodyPr wrap="square" lIns="0" tIns="0" rIns="0" bIns="0" rtlCol="0" anchor="t"/>
          <a:lstStyle/>
          <a:p>
            <a:pPr marL="0" indent="0">
              <a:lnSpc>
                <a:spcPts val="1500"/>
              </a:lnSpc>
              <a:buNone/>
            </a:pPr>
            <a:r>
              <a:rPr lang="en-US" sz="1150" dirty="0">
                <a:solidFill>
                  <a:srgbClr val="33415A"/>
                </a:solidFill>
                <a:latin typeface="Calibri" pitchFamily="34" charset="0"/>
                <a:ea typeface="Calibri" pitchFamily="34" charset="-122"/>
                <a:cs typeface="Calibri" pitchFamily="34" charset="-120"/>
              </a:rPr>
              <a:t>Onboard additional plans using the same parameterized architecture</a:t>
            </a:r>
            <a:endParaRPr lang="en-US" sz="1150" dirty="0"/>
          </a:p>
        </p:txBody>
      </p:sp>
      <p:sp>
        <p:nvSpPr>
          <p:cNvPr id="27" name="Shape 25"/>
          <p:cNvSpPr/>
          <p:nvPr/>
        </p:nvSpPr>
        <p:spPr>
          <a:xfrm>
            <a:off x="4557674" y="5020056"/>
            <a:ext cx="128016" cy="128016"/>
          </a:xfrm>
          <a:prstGeom prst="ellipse">
            <a:avLst/>
          </a:prstGeom>
          <a:solidFill>
            <a:srgbClr val="14B8A6"/>
          </a:solidFill>
          <a:ln/>
        </p:spPr>
        <p:txBody>
          <a:bodyPr/>
          <a:lstStyle/>
          <a:p>
            <a:endParaRPr lang="en-IN"/>
          </a:p>
        </p:txBody>
      </p:sp>
      <p:sp>
        <p:nvSpPr>
          <p:cNvPr id="28" name="Text 26"/>
          <p:cNvSpPr/>
          <p:nvPr/>
        </p:nvSpPr>
        <p:spPr>
          <a:xfrm>
            <a:off x="4777130" y="4919472"/>
            <a:ext cx="2948330" cy="658368"/>
          </a:xfrm>
          <a:prstGeom prst="rect">
            <a:avLst/>
          </a:prstGeom>
          <a:noFill/>
          <a:ln/>
        </p:spPr>
        <p:txBody>
          <a:bodyPr wrap="square" lIns="0" tIns="0" rIns="0" bIns="0" rtlCol="0" anchor="t"/>
          <a:lstStyle/>
          <a:p>
            <a:pPr marL="0" indent="0">
              <a:lnSpc>
                <a:spcPts val="1500"/>
              </a:lnSpc>
              <a:buNone/>
            </a:pPr>
            <a:r>
              <a:rPr lang="en-US" sz="1150" dirty="0">
                <a:solidFill>
                  <a:srgbClr val="33415A"/>
                </a:solidFill>
                <a:latin typeface="Calibri" pitchFamily="34" charset="0"/>
                <a:ea typeface="Calibri" pitchFamily="34" charset="-122"/>
                <a:cs typeface="Calibri" pitchFamily="34" charset="-120"/>
              </a:rPr>
              <a:t>Expand provider analytics coverage</a:t>
            </a:r>
            <a:endParaRPr lang="en-US" sz="1150" dirty="0"/>
          </a:p>
        </p:txBody>
      </p:sp>
      <p:sp>
        <p:nvSpPr>
          <p:cNvPr id="29" name="Shape 27"/>
          <p:cNvSpPr/>
          <p:nvPr/>
        </p:nvSpPr>
        <p:spPr>
          <a:xfrm>
            <a:off x="8127797" y="1965960"/>
            <a:ext cx="3515258" cy="566928"/>
          </a:xfrm>
          <a:prstGeom prst="rect">
            <a:avLst/>
          </a:prstGeom>
          <a:solidFill>
            <a:srgbClr val="F26A4B"/>
          </a:solidFill>
          <a:ln/>
          <a:effectLst>
            <a:outerShdw blurRad="177800" dist="50800" dir="8100000" algn="bl" rotWithShape="0">
              <a:srgbClr val="000000">
                <a:alpha val="22000"/>
              </a:srgbClr>
            </a:outerShdw>
          </a:effectLst>
        </p:spPr>
        <p:txBody>
          <a:bodyPr/>
          <a:lstStyle/>
          <a:p>
            <a:endParaRPr lang="en-IN"/>
          </a:p>
        </p:txBody>
      </p:sp>
      <p:sp>
        <p:nvSpPr>
          <p:cNvPr id="30" name="Text 28"/>
          <p:cNvSpPr/>
          <p:nvPr/>
        </p:nvSpPr>
        <p:spPr>
          <a:xfrm>
            <a:off x="8310677" y="1965960"/>
            <a:ext cx="3240938" cy="566928"/>
          </a:xfrm>
          <a:prstGeom prst="rect">
            <a:avLst/>
          </a:prstGeom>
          <a:noFill/>
          <a:ln/>
        </p:spPr>
        <p:txBody>
          <a:bodyPr wrap="square" lIns="0" tIns="0" rIns="0" bIns="0" rtlCol="0" anchor="ctr"/>
          <a:lstStyle/>
          <a:p>
            <a:pPr marL="0" indent="0">
              <a:buNone/>
            </a:pPr>
            <a:r>
              <a:rPr lang="en-US" sz="1300" b="1" kern="0" spc="150" dirty="0">
                <a:solidFill>
                  <a:srgbClr val="FFFFFF"/>
                </a:solidFill>
                <a:latin typeface="Calibri" pitchFamily="34" charset="0"/>
                <a:ea typeface="Calibri" pitchFamily="34" charset="-122"/>
                <a:cs typeface="Calibri" pitchFamily="34" charset="-120"/>
              </a:rPr>
              <a:t>PHASE 3</a:t>
            </a:r>
            <a:endParaRPr lang="en-US" sz="1300" dirty="0"/>
          </a:p>
        </p:txBody>
      </p:sp>
      <p:sp>
        <p:nvSpPr>
          <p:cNvPr id="31" name="Shape 29"/>
          <p:cNvSpPr/>
          <p:nvPr/>
        </p:nvSpPr>
        <p:spPr>
          <a:xfrm>
            <a:off x="8127797" y="2578608"/>
            <a:ext cx="3515258" cy="3364992"/>
          </a:xfrm>
          <a:prstGeom prst="rect">
            <a:avLst/>
          </a:prstGeom>
          <a:solidFill>
            <a:srgbClr val="F8FAFC"/>
          </a:solidFill>
          <a:ln/>
        </p:spPr>
        <p:txBody>
          <a:bodyPr/>
          <a:lstStyle/>
          <a:p>
            <a:endParaRPr lang="en-IN"/>
          </a:p>
        </p:txBody>
      </p:sp>
      <p:sp>
        <p:nvSpPr>
          <p:cNvPr id="32" name="Shape 30"/>
          <p:cNvSpPr/>
          <p:nvPr/>
        </p:nvSpPr>
        <p:spPr>
          <a:xfrm>
            <a:off x="8127797" y="2578608"/>
            <a:ext cx="82296" cy="3364992"/>
          </a:xfrm>
          <a:prstGeom prst="rect">
            <a:avLst/>
          </a:prstGeom>
          <a:solidFill>
            <a:srgbClr val="F26A4B"/>
          </a:solidFill>
          <a:ln/>
        </p:spPr>
        <p:txBody>
          <a:bodyPr/>
          <a:lstStyle/>
          <a:p>
            <a:endParaRPr lang="en-IN"/>
          </a:p>
        </p:txBody>
      </p:sp>
      <p:sp>
        <p:nvSpPr>
          <p:cNvPr id="33" name="Text 31"/>
          <p:cNvSpPr/>
          <p:nvPr/>
        </p:nvSpPr>
        <p:spPr>
          <a:xfrm>
            <a:off x="8347253" y="2743200"/>
            <a:ext cx="3167786" cy="502920"/>
          </a:xfrm>
          <a:prstGeom prst="rect">
            <a:avLst/>
          </a:prstGeom>
          <a:noFill/>
          <a:ln/>
        </p:spPr>
        <p:txBody>
          <a:bodyPr wrap="square" lIns="0" tIns="0" rIns="0" bIns="0" rtlCol="0" anchor="ctr"/>
          <a:lstStyle/>
          <a:p>
            <a:pPr marL="0" indent="0">
              <a:lnSpc>
                <a:spcPts val="1700"/>
              </a:lnSpc>
              <a:buNone/>
            </a:pPr>
            <a:r>
              <a:rPr lang="en-US" sz="1550" b="1" dirty="0">
                <a:solidFill>
                  <a:srgbClr val="0B1B2E"/>
                </a:solidFill>
                <a:latin typeface="Georgia" pitchFamily="34" charset="0"/>
                <a:ea typeface="Georgia" pitchFamily="34" charset="-122"/>
                <a:cs typeface="Georgia" pitchFamily="34" charset="-120"/>
              </a:rPr>
              <a:t>Intelligent automation</a:t>
            </a:r>
            <a:endParaRPr lang="en-US" sz="1550" dirty="0"/>
          </a:p>
        </p:txBody>
      </p:sp>
      <p:sp>
        <p:nvSpPr>
          <p:cNvPr id="34" name="Shape 32"/>
          <p:cNvSpPr/>
          <p:nvPr/>
        </p:nvSpPr>
        <p:spPr>
          <a:xfrm>
            <a:off x="8347253" y="3310128"/>
            <a:ext cx="3149498" cy="0"/>
          </a:xfrm>
          <a:prstGeom prst="line">
            <a:avLst/>
          </a:prstGeom>
          <a:noFill/>
          <a:ln w="12700">
            <a:solidFill>
              <a:srgbClr val="E3E9F0"/>
            </a:solidFill>
            <a:prstDash val="solid"/>
          </a:ln>
        </p:spPr>
        <p:txBody>
          <a:bodyPr/>
          <a:lstStyle/>
          <a:p>
            <a:endParaRPr lang="en-IN"/>
          </a:p>
        </p:txBody>
      </p:sp>
      <p:sp>
        <p:nvSpPr>
          <p:cNvPr id="35" name="Shape 33"/>
          <p:cNvSpPr/>
          <p:nvPr/>
        </p:nvSpPr>
        <p:spPr>
          <a:xfrm>
            <a:off x="8347253" y="3520440"/>
            <a:ext cx="128016" cy="128016"/>
          </a:xfrm>
          <a:prstGeom prst="ellipse">
            <a:avLst/>
          </a:prstGeom>
          <a:solidFill>
            <a:srgbClr val="F26A4B"/>
          </a:solidFill>
          <a:ln/>
        </p:spPr>
        <p:txBody>
          <a:bodyPr/>
          <a:lstStyle/>
          <a:p>
            <a:endParaRPr lang="en-IN"/>
          </a:p>
        </p:txBody>
      </p:sp>
      <p:sp>
        <p:nvSpPr>
          <p:cNvPr id="36" name="Text 34"/>
          <p:cNvSpPr/>
          <p:nvPr/>
        </p:nvSpPr>
        <p:spPr>
          <a:xfrm>
            <a:off x="8566709" y="3419856"/>
            <a:ext cx="2948330" cy="658368"/>
          </a:xfrm>
          <a:prstGeom prst="rect">
            <a:avLst/>
          </a:prstGeom>
          <a:noFill/>
          <a:ln/>
        </p:spPr>
        <p:txBody>
          <a:bodyPr wrap="square" lIns="0" tIns="0" rIns="0" bIns="0" rtlCol="0" anchor="t"/>
          <a:lstStyle/>
          <a:p>
            <a:pPr marL="0" indent="0">
              <a:lnSpc>
                <a:spcPts val="1500"/>
              </a:lnSpc>
              <a:buNone/>
            </a:pPr>
            <a:r>
              <a:rPr lang="en-US" sz="1150" dirty="0">
                <a:solidFill>
                  <a:srgbClr val="33415A"/>
                </a:solidFill>
                <a:latin typeface="Calibri" pitchFamily="34" charset="0"/>
                <a:ea typeface="Calibri" pitchFamily="34" charset="-122"/>
                <a:cs typeface="Calibri" pitchFamily="34" charset="-120"/>
              </a:rPr>
              <a:t>Negotiation preparation copilots</a:t>
            </a:r>
            <a:endParaRPr lang="en-US" sz="1150" dirty="0"/>
          </a:p>
        </p:txBody>
      </p:sp>
      <p:sp>
        <p:nvSpPr>
          <p:cNvPr id="37" name="Shape 35"/>
          <p:cNvSpPr/>
          <p:nvPr/>
        </p:nvSpPr>
        <p:spPr>
          <a:xfrm>
            <a:off x="8347253" y="4270248"/>
            <a:ext cx="128016" cy="128016"/>
          </a:xfrm>
          <a:prstGeom prst="ellipse">
            <a:avLst/>
          </a:prstGeom>
          <a:solidFill>
            <a:srgbClr val="F26A4B"/>
          </a:solidFill>
          <a:ln/>
        </p:spPr>
        <p:txBody>
          <a:bodyPr/>
          <a:lstStyle/>
          <a:p>
            <a:endParaRPr lang="en-IN"/>
          </a:p>
        </p:txBody>
      </p:sp>
      <p:sp>
        <p:nvSpPr>
          <p:cNvPr id="38" name="Text 36"/>
          <p:cNvSpPr/>
          <p:nvPr/>
        </p:nvSpPr>
        <p:spPr>
          <a:xfrm>
            <a:off x="8566709" y="4169664"/>
            <a:ext cx="2948330" cy="658368"/>
          </a:xfrm>
          <a:prstGeom prst="rect">
            <a:avLst/>
          </a:prstGeom>
          <a:noFill/>
          <a:ln/>
        </p:spPr>
        <p:txBody>
          <a:bodyPr wrap="square" lIns="0" tIns="0" rIns="0" bIns="0" rtlCol="0" anchor="t"/>
          <a:lstStyle/>
          <a:p>
            <a:pPr marL="0" indent="0">
              <a:lnSpc>
                <a:spcPts val="1500"/>
              </a:lnSpc>
              <a:buNone/>
            </a:pPr>
            <a:r>
              <a:rPr lang="en-US" sz="1150" dirty="0">
                <a:solidFill>
                  <a:srgbClr val="33415A"/>
                </a:solidFill>
                <a:latin typeface="Calibri" pitchFamily="34" charset="0"/>
                <a:ea typeface="Calibri" pitchFamily="34" charset="-122"/>
                <a:cs typeface="Calibri" pitchFamily="34" charset="-120"/>
              </a:rPr>
              <a:t>Proactive renewal and expiry alerting</a:t>
            </a:r>
            <a:endParaRPr lang="en-US" sz="1150" dirty="0"/>
          </a:p>
        </p:txBody>
      </p:sp>
      <p:sp>
        <p:nvSpPr>
          <p:cNvPr id="39" name="Shape 37"/>
          <p:cNvSpPr/>
          <p:nvPr/>
        </p:nvSpPr>
        <p:spPr>
          <a:xfrm>
            <a:off x="8347253" y="5020056"/>
            <a:ext cx="128016" cy="128016"/>
          </a:xfrm>
          <a:prstGeom prst="ellipse">
            <a:avLst/>
          </a:prstGeom>
          <a:solidFill>
            <a:srgbClr val="F26A4B"/>
          </a:solidFill>
          <a:ln/>
        </p:spPr>
        <p:txBody>
          <a:bodyPr/>
          <a:lstStyle/>
          <a:p>
            <a:endParaRPr lang="en-IN"/>
          </a:p>
        </p:txBody>
      </p:sp>
      <p:sp>
        <p:nvSpPr>
          <p:cNvPr id="40" name="Text 38"/>
          <p:cNvSpPr/>
          <p:nvPr/>
        </p:nvSpPr>
        <p:spPr>
          <a:xfrm>
            <a:off x="8566709" y="4919472"/>
            <a:ext cx="2948330" cy="658368"/>
          </a:xfrm>
          <a:prstGeom prst="rect">
            <a:avLst/>
          </a:prstGeom>
          <a:noFill/>
          <a:ln/>
        </p:spPr>
        <p:txBody>
          <a:bodyPr wrap="square" lIns="0" tIns="0" rIns="0" bIns="0" rtlCol="0" anchor="t"/>
          <a:lstStyle/>
          <a:p>
            <a:pPr marL="0" indent="0">
              <a:lnSpc>
                <a:spcPts val="1500"/>
              </a:lnSpc>
              <a:buNone/>
            </a:pPr>
            <a:r>
              <a:rPr lang="en-US" sz="1150" dirty="0">
                <a:solidFill>
                  <a:srgbClr val="33415A"/>
                </a:solidFill>
                <a:latin typeface="Calibri" pitchFamily="34" charset="0"/>
                <a:ea typeface="Calibri" pitchFamily="34" charset="-122"/>
                <a:cs typeface="Calibri" pitchFamily="34" charset="-120"/>
              </a:rPr>
              <a:t>Enterprise-wide rollout across Blue plans</a:t>
            </a:r>
            <a:endParaRPr lang="en-US" sz="1150" dirty="0"/>
          </a:p>
        </p:txBody>
      </p:sp>
      <p:sp>
        <p:nvSpPr>
          <p:cNvPr id="41" name="Shape 39"/>
          <p:cNvSpPr/>
          <p:nvPr/>
        </p:nvSpPr>
        <p:spPr>
          <a:xfrm>
            <a:off x="548640" y="6108192"/>
            <a:ext cx="11094415" cy="0"/>
          </a:xfrm>
          <a:prstGeom prst="line">
            <a:avLst/>
          </a:prstGeom>
          <a:noFill/>
          <a:ln w="19050">
            <a:solidFill>
              <a:srgbClr val="E3E9F0"/>
            </a:solidFill>
            <a:prstDash val="solid"/>
            <a:tailEnd type="triangle"/>
          </a:ln>
        </p:spPr>
        <p:txBody>
          <a:bodyPr/>
          <a:lstStyle/>
          <a:p>
            <a:endParaRPr lang="en-IN"/>
          </a:p>
        </p:txBody>
      </p:sp>
      <p:sp>
        <p:nvSpPr>
          <p:cNvPr id="42" name="Text 40"/>
          <p:cNvSpPr/>
          <p:nvPr/>
        </p:nvSpPr>
        <p:spPr>
          <a:xfrm>
            <a:off x="548640" y="6172200"/>
            <a:ext cx="11094415" cy="256032"/>
          </a:xfrm>
          <a:prstGeom prst="rect">
            <a:avLst/>
          </a:prstGeom>
          <a:noFill/>
          <a:ln/>
        </p:spPr>
        <p:txBody>
          <a:bodyPr wrap="square" lIns="0" tIns="0" rIns="0" bIns="0" rtlCol="0" anchor="ctr"/>
          <a:lstStyle/>
          <a:p>
            <a:pPr marL="0" indent="0" algn="r">
              <a:buNone/>
            </a:pPr>
            <a:r>
              <a:rPr lang="en-US" sz="950" b="1" kern="0" spc="200" dirty="0">
                <a:solidFill>
                  <a:srgbClr val="64748B"/>
                </a:solidFill>
                <a:latin typeface="Calibri" pitchFamily="34" charset="0"/>
                <a:ea typeface="Calibri" pitchFamily="34" charset="-122"/>
                <a:cs typeface="Calibri" pitchFamily="34" charset="-120"/>
              </a:rPr>
              <a:t>TIME  ·  EACH PHASE COMPOUNDS ON THE LAST</a:t>
            </a:r>
            <a:endParaRPr lang="en-US" sz="950" dirty="0"/>
          </a:p>
        </p:txBody>
      </p:sp>
      <p:sp>
        <p:nvSpPr>
          <p:cNvPr id="43" name="Text 41"/>
          <p:cNvSpPr/>
          <p:nvPr/>
        </p:nvSpPr>
        <p:spPr>
          <a:xfrm>
            <a:off x="548640" y="6473952"/>
            <a:ext cx="8229600" cy="256032"/>
          </a:xfrm>
          <a:prstGeom prst="rect">
            <a:avLst/>
          </a:prstGeom>
          <a:noFill/>
          <a:ln/>
        </p:spPr>
        <p:txBody>
          <a:bodyPr wrap="square" lIns="0" tIns="0" rIns="0" bIns="0" rtlCol="0" anchor="ctr"/>
          <a:lstStyle/>
          <a:p>
            <a:pPr marL="0" indent="0">
              <a:buNone/>
            </a:pPr>
            <a:r>
              <a:rPr lang="en-US" sz="800" b="1" kern="0" spc="80" dirty="0">
                <a:solidFill>
                  <a:srgbClr val="64748B"/>
                </a:solidFill>
                <a:latin typeface="Calibri" pitchFamily="34" charset="0"/>
                <a:ea typeface="Calibri" pitchFamily="34" charset="-122"/>
                <a:cs typeface="Calibri" pitchFamily="34" charset="-120"/>
              </a:rPr>
              <a:t>PROVIDER CONTRACT INTELLIGENCE PLATFORM</a:t>
            </a:r>
            <a:r>
              <a:rPr lang="en-US" sz="800" kern="0" spc="8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44" name="Text 42"/>
          <p:cNvSpPr/>
          <p:nvPr/>
        </p:nvSpPr>
        <p:spPr>
          <a:xfrm>
            <a:off x="10728655" y="6473952"/>
            <a:ext cx="914400" cy="256032"/>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B1B2E"/>
        </a:solidFill>
        <a:effectLst/>
      </p:bgPr>
    </p:bg>
    <p:spTree>
      <p:nvGrpSpPr>
        <p:cNvPr id="1" name=""/>
        <p:cNvGrpSpPr/>
        <p:nvPr/>
      </p:nvGrpSpPr>
      <p:grpSpPr>
        <a:xfrm>
          <a:off x="0" y="0"/>
          <a:ext cx="0" cy="0"/>
          <a:chOff x="0" y="0"/>
          <a:chExt cx="0" cy="0"/>
        </a:xfrm>
      </p:grpSpPr>
      <p:sp>
        <p:nvSpPr>
          <p:cNvPr id="2" name="Shape 0"/>
          <p:cNvSpPr/>
          <p:nvPr/>
        </p:nvSpPr>
        <p:spPr>
          <a:xfrm>
            <a:off x="0" y="914400"/>
            <a:ext cx="164592" cy="640080"/>
          </a:xfrm>
          <a:prstGeom prst="rect">
            <a:avLst/>
          </a:prstGeom>
          <a:solidFill>
            <a:srgbClr val="14B8A6"/>
          </a:solidFill>
          <a:ln/>
        </p:spPr>
        <p:txBody>
          <a:bodyPr/>
          <a:lstStyle/>
          <a:p>
            <a:endParaRPr lang="en-IN"/>
          </a:p>
        </p:txBody>
      </p:sp>
      <p:sp>
        <p:nvSpPr>
          <p:cNvPr id="3" name="Shape 1"/>
          <p:cNvSpPr/>
          <p:nvPr/>
        </p:nvSpPr>
        <p:spPr>
          <a:xfrm>
            <a:off x="0" y="1783080"/>
            <a:ext cx="164592" cy="640080"/>
          </a:xfrm>
          <a:prstGeom prst="rect">
            <a:avLst/>
          </a:prstGeom>
          <a:solidFill>
            <a:srgbClr val="14B8A6"/>
          </a:solidFill>
          <a:ln/>
        </p:spPr>
        <p:txBody>
          <a:bodyPr/>
          <a:lstStyle/>
          <a:p>
            <a:endParaRPr lang="en-IN"/>
          </a:p>
        </p:txBody>
      </p:sp>
      <p:sp>
        <p:nvSpPr>
          <p:cNvPr id="4" name="Shape 2"/>
          <p:cNvSpPr/>
          <p:nvPr/>
        </p:nvSpPr>
        <p:spPr>
          <a:xfrm>
            <a:off x="0" y="2651760"/>
            <a:ext cx="164592" cy="640080"/>
          </a:xfrm>
          <a:prstGeom prst="rect">
            <a:avLst/>
          </a:prstGeom>
          <a:solidFill>
            <a:srgbClr val="F26A4B"/>
          </a:solidFill>
          <a:ln/>
        </p:spPr>
        <p:txBody>
          <a:bodyPr/>
          <a:lstStyle/>
          <a:p>
            <a:endParaRPr lang="en-IN"/>
          </a:p>
        </p:txBody>
      </p:sp>
      <p:sp>
        <p:nvSpPr>
          <p:cNvPr id="5" name="Shape 3"/>
          <p:cNvSpPr/>
          <p:nvPr/>
        </p:nvSpPr>
        <p:spPr>
          <a:xfrm>
            <a:off x="0" y="3520440"/>
            <a:ext cx="164592" cy="640080"/>
          </a:xfrm>
          <a:prstGeom prst="rect">
            <a:avLst/>
          </a:prstGeom>
          <a:solidFill>
            <a:srgbClr val="14B8A6"/>
          </a:solidFill>
          <a:ln/>
        </p:spPr>
        <p:txBody>
          <a:bodyPr/>
          <a:lstStyle/>
          <a:p>
            <a:endParaRPr lang="en-IN"/>
          </a:p>
        </p:txBody>
      </p:sp>
      <p:sp>
        <p:nvSpPr>
          <p:cNvPr id="6" name="Shape 4"/>
          <p:cNvSpPr/>
          <p:nvPr/>
        </p:nvSpPr>
        <p:spPr>
          <a:xfrm>
            <a:off x="0" y="4389120"/>
            <a:ext cx="164592" cy="640080"/>
          </a:xfrm>
          <a:prstGeom prst="rect">
            <a:avLst/>
          </a:prstGeom>
          <a:solidFill>
            <a:srgbClr val="14B8A6"/>
          </a:solidFill>
          <a:ln/>
        </p:spPr>
        <p:txBody>
          <a:bodyPr/>
          <a:lstStyle/>
          <a:p>
            <a:endParaRPr lang="en-IN"/>
          </a:p>
        </p:txBody>
      </p:sp>
      <p:sp>
        <p:nvSpPr>
          <p:cNvPr id="7" name="Text 5"/>
          <p:cNvSpPr/>
          <p:nvPr/>
        </p:nvSpPr>
        <p:spPr>
          <a:xfrm>
            <a:off x="548640" y="457200"/>
            <a:ext cx="11094415" cy="256032"/>
          </a:xfrm>
          <a:prstGeom prst="rect">
            <a:avLst/>
          </a:prstGeom>
          <a:noFill/>
          <a:ln/>
        </p:spPr>
        <p:txBody>
          <a:bodyPr wrap="square" lIns="0" tIns="0" rIns="0" bIns="0" rtlCol="0" anchor="ctr"/>
          <a:lstStyle/>
          <a:p>
            <a:pPr marL="0" indent="0">
              <a:buNone/>
            </a:pPr>
            <a:r>
              <a:rPr lang="en-US" sz="1100" b="1" kern="0" spc="250" dirty="0">
                <a:solidFill>
                  <a:srgbClr val="14B8A6"/>
                </a:solidFill>
                <a:latin typeface="Calibri" pitchFamily="34" charset="0"/>
                <a:ea typeface="Calibri" pitchFamily="34" charset="-122"/>
                <a:cs typeface="Calibri" pitchFamily="34" charset="-120"/>
              </a:rPr>
              <a:t>SECTION 13 · CLOSING</a:t>
            </a:r>
            <a:endParaRPr lang="en-US" sz="1100" dirty="0"/>
          </a:p>
        </p:txBody>
      </p:sp>
      <p:sp>
        <p:nvSpPr>
          <p:cNvPr id="8" name="Text 6"/>
          <p:cNvSpPr/>
          <p:nvPr/>
        </p:nvSpPr>
        <p:spPr>
          <a:xfrm>
            <a:off x="548640" y="1051560"/>
            <a:ext cx="8686800" cy="1691640"/>
          </a:xfrm>
          <a:prstGeom prst="rect">
            <a:avLst/>
          </a:prstGeom>
          <a:noFill/>
          <a:ln/>
        </p:spPr>
        <p:txBody>
          <a:bodyPr wrap="square" lIns="0" tIns="0" rIns="0" bIns="0" rtlCol="0" anchor="t"/>
          <a:lstStyle/>
          <a:p>
            <a:pPr marL="0" indent="0">
              <a:lnSpc>
                <a:spcPts val="4000"/>
              </a:lnSpc>
              <a:buNone/>
            </a:pPr>
            <a:r>
              <a:rPr lang="en-US" sz="3100" b="1" dirty="0">
                <a:solidFill>
                  <a:srgbClr val="FFFFFF"/>
                </a:solidFill>
                <a:latin typeface="Georgia" pitchFamily="34" charset="0"/>
                <a:ea typeface="Georgia" pitchFamily="34" charset="-122"/>
                <a:cs typeface="Georgia" pitchFamily="34" charset="-120"/>
              </a:rPr>
              <a:t>We turned our contracts into </a:t>
            </a:r>
            <a:r>
              <a:rPr lang="en-US" sz="3100" b="1" dirty="0">
                <a:solidFill>
                  <a:srgbClr val="5EEAD4"/>
                </a:solidFill>
                <a:latin typeface="Georgia" pitchFamily="34" charset="0"/>
                <a:ea typeface="Georgia" pitchFamily="34" charset="-122"/>
                <a:cs typeface="Georgia" pitchFamily="34" charset="-120"/>
              </a:rPr>
              <a:t>a governed intelligence asset</a:t>
            </a:r>
            <a:r>
              <a:rPr lang="en-US" sz="3100" b="1" dirty="0">
                <a:solidFill>
                  <a:srgbClr val="FFFFFF"/>
                </a:solidFill>
                <a:latin typeface="Georgia" pitchFamily="34" charset="0"/>
                <a:ea typeface="Georgia" pitchFamily="34" charset="-122"/>
                <a:cs typeface="Georgia" pitchFamily="34" charset="-120"/>
              </a:rPr>
              <a:t> — and a platform every Blue plan could run on.</a:t>
            </a:r>
            <a:endParaRPr lang="en-US" sz="3100" dirty="0"/>
          </a:p>
        </p:txBody>
      </p:sp>
      <p:sp>
        <p:nvSpPr>
          <p:cNvPr id="9" name="Text 7"/>
          <p:cNvSpPr/>
          <p:nvPr/>
        </p:nvSpPr>
        <p:spPr>
          <a:xfrm>
            <a:off x="548640" y="3017520"/>
            <a:ext cx="3401568" cy="1005840"/>
          </a:xfrm>
          <a:prstGeom prst="rect">
            <a:avLst/>
          </a:prstGeom>
          <a:noFill/>
          <a:ln/>
        </p:spPr>
        <p:txBody>
          <a:bodyPr wrap="square" lIns="0" tIns="0" rIns="0" bIns="0" rtlCol="0" anchor="t"/>
          <a:lstStyle/>
          <a:p>
            <a:pPr marL="0" indent="0">
              <a:lnSpc>
                <a:spcPts val="1800"/>
              </a:lnSpc>
              <a:buNone/>
            </a:pPr>
            <a:r>
              <a:rPr lang="en-US" sz="1350" b="1" dirty="0">
                <a:solidFill>
                  <a:srgbClr val="5EEAD4"/>
                </a:solidFill>
                <a:latin typeface="Calibri" pitchFamily="34" charset="0"/>
                <a:ea typeface="Calibri" pitchFamily="34" charset="-122"/>
                <a:cs typeface="Calibri" pitchFamily="34" charset="-120"/>
              </a:rPr>
              <a:t>Any rate. Any provider.</a:t>
            </a:r>
            <a:endParaRPr lang="en-US" sz="1350" dirty="0"/>
          </a:p>
          <a:p>
            <a:pPr marL="0" indent="0">
              <a:lnSpc>
                <a:spcPts val="1800"/>
              </a:lnSpc>
              <a:buNone/>
            </a:pPr>
            <a:r>
              <a:rPr lang="en-US" sz="1350" b="1" dirty="0">
                <a:solidFill>
                  <a:srgbClr val="5EEAD4"/>
                </a:solidFill>
                <a:latin typeface="Calibri" pitchFamily="34" charset="0"/>
                <a:ea typeface="Calibri" pitchFamily="34" charset="-122"/>
                <a:cs typeface="Calibri" pitchFamily="34" charset="-120"/>
              </a:rPr>
              <a:t>Any clause. Queryable today.</a:t>
            </a:r>
            <a:endParaRPr lang="en-US" sz="1350" dirty="0"/>
          </a:p>
        </p:txBody>
      </p:sp>
      <p:sp>
        <p:nvSpPr>
          <p:cNvPr id="10" name="Text 8"/>
          <p:cNvSpPr/>
          <p:nvPr/>
        </p:nvSpPr>
        <p:spPr>
          <a:xfrm>
            <a:off x="548640" y="4059936"/>
            <a:ext cx="3401568" cy="347472"/>
          </a:xfrm>
          <a:prstGeom prst="rect">
            <a:avLst/>
          </a:prstGeom>
          <a:noFill/>
          <a:ln/>
        </p:spPr>
        <p:txBody>
          <a:bodyPr wrap="square" lIns="0" tIns="0" rIns="0" bIns="0" rtlCol="0" anchor="ctr"/>
          <a:lstStyle/>
          <a:p>
            <a:pPr marL="0" indent="0">
              <a:buNone/>
            </a:pPr>
            <a:r>
              <a:rPr lang="en-US" sz="850" b="1" kern="0" spc="100" dirty="0">
                <a:solidFill>
                  <a:srgbClr val="93A4BD"/>
                </a:solidFill>
                <a:latin typeface="Calibri" pitchFamily="34" charset="0"/>
                <a:ea typeface="Calibri" pitchFamily="34" charset="-122"/>
                <a:cs typeface="Calibri" pitchFamily="34" charset="-120"/>
              </a:rPr>
              <a:t>TIME TO AN ANSWER</a:t>
            </a:r>
            <a:endParaRPr lang="en-US" sz="850" dirty="0"/>
          </a:p>
        </p:txBody>
      </p:sp>
      <p:sp>
        <p:nvSpPr>
          <p:cNvPr id="11" name="Text 9"/>
          <p:cNvSpPr/>
          <p:nvPr/>
        </p:nvSpPr>
        <p:spPr>
          <a:xfrm>
            <a:off x="4206240" y="3017520"/>
            <a:ext cx="3401568" cy="1005840"/>
          </a:xfrm>
          <a:prstGeom prst="rect">
            <a:avLst/>
          </a:prstGeom>
          <a:noFill/>
          <a:ln/>
        </p:spPr>
        <p:txBody>
          <a:bodyPr wrap="square" lIns="0" tIns="0" rIns="0" bIns="0" rtlCol="0" anchor="t"/>
          <a:lstStyle/>
          <a:p>
            <a:pPr marL="0" indent="0">
              <a:lnSpc>
                <a:spcPts val="1800"/>
              </a:lnSpc>
              <a:buNone/>
            </a:pPr>
            <a:r>
              <a:rPr lang="en-US" sz="1350" b="1" dirty="0">
                <a:solidFill>
                  <a:srgbClr val="5EEAD4"/>
                </a:solidFill>
                <a:latin typeface="Calibri" pitchFamily="34" charset="0"/>
                <a:ea typeface="Calibri" pitchFamily="34" charset="-122"/>
                <a:cs typeface="Calibri" pitchFamily="34" charset="-120"/>
              </a:rPr>
              <a:t>Governed by design.</a:t>
            </a:r>
            <a:endParaRPr lang="en-US" sz="1350" dirty="0"/>
          </a:p>
          <a:p>
            <a:pPr marL="0" indent="0">
              <a:lnSpc>
                <a:spcPts val="1800"/>
              </a:lnSpc>
              <a:buNone/>
            </a:pPr>
            <a:r>
              <a:rPr lang="en-US" sz="1350" b="1" dirty="0">
                <a:solidFill>
                  <a:srgbClr val="5EEAD4"/>
                </a:solidFill>
                <a:latin typeface="Calibri" pitchFamily="34" charset="0"/>
                <a:ea typeface="Calibri" pitchFamily="34" charset="-122"/>
                <a:cs typeface="Calibri" pitchFamily="34" charset="-120"/>
              </a:rPr>
              <a:t>Every answer traced, cited</a:t>
            </a:r>
            <a:endParaRPr lang="en-US" sz="1350" dirty="0"/>
          </a:p>
          <a:p>
            <a:pPr marL="0" indent="0">
              <a:lnSpc>
                <a:spcPts val="1800"/>
              </a:lnSpc>
              <a:buNone/>
            </a:pPr>
            <a:r>
              <a:rPr lang="en-US" sz="1350" b="1" dirty="0">
                <a:solidFill>
                  <a:srgbClr val="5EEAD4"/>
                </a:solidFill>
                <a:latin typeface="Calibri" pitchFamily="34" charset="0"/>
                <a:ea typeface="Calibri" pitchFamily="34" charset="-122"/>
                <a:cs typeface="Calibri" pitchFamily="34" charset="-120"/>
              </a:rPr>
              <a:t>and auditable.</a:t>
            </a:r>
            <a:endParaRPr lang="en-US" sz="1350" dirty="0"/>
          </a:p>
        </p:txBody>
      </p:sp>
      <p:sp>
        <p:nvSpPr>
          <p:cNvPr id="12" name="Text 10"/>
          <p:cNvSpPr/>
          <p:nvPr/>
        </p:nvSpPr>
        <p:spPr>
          <a:xfrm>
            <a:off x="4206240" y="4059936"/>
            <a:ext cx="3401568" cy="347472"/>
          </a:xfrm>
          <a:prstGeom prst="rect">
            <a:avLst/>
          </a:prstGeom>
          <a:noFill/>
          <a:ln/>
        </p:spPr>
        <p:txBody>
          <a:bodyPr wrap="square" lIns="0" tIns="0" rIns="0" bIns="0" rtlCol="0" anchor="ctr"/>
          <a:lstStyle/>
          <a:p>
            <a:pPr marL="0" indent="0">
              <a:buNone/>
            </a:pPr>
            <a:r>
              <a:rPr lang="en-US" sz="850" b="1" kern="0" spc="100" dirty="0">
                <a:solidFill>
                  <a:srgbClr val="93A4BD"/>
                </a:solidFill>
                <a:latin typeface="Calibri" pitchFamily="34" charset="0"/>
                <a:ea typeface="Calibri" pitchFamily="34" charset="-122"/>
                <a:cs typeface="Calibri" pitchFamily="34" charset="-120"/>
              </a:rPr>
              <a:t>TRUST · LINEAGE · AUDIT</a:t>
            </a:r>
            <a:endParaRPr lang="en-US" sz="850" dirty="0"/>
          </a:p>
        </p:txBody>
      </p:sp>
      <p:sp>
        <p:nvSpPr>
          <p:cNvPr id="13" name="Text 11"/>
          <p:cNvSpPr/>
          <p:nvPr/>
        </p:nvSpPr>
        <p:spPr>
          <a:xfrm>
            <a:off x="7863840" y="3017520"/>
            <a:ext cx="3401568" cy="1005840"/>
          </a:xfrm>
          <a:prstGeom prst="rect">
            <a:avLst/>
          </a:prstGeom>
          <a:noFill/>
          <a:ln/>
        </p:spPr>
        <p:txBody>
          <a:bodyPr wrap="square" lIns="0" tIns="0" rIns="0" bIns="0" rtlCol="0" anchor="t"/>
          <a:lstStyle/>
          <a:p>
            <a:pPr marL="0" indent="0">
              <a:lnSpc>
                <a:spcPts val="1800"/>
              </a:lnSpc>
              <a:buNone/>
            </a:pPr>
            <a:r>
              <a:rPr lang="en-US" sz="1350" b="1" dirty="0">
                <a:solidFill>
                  <a:srgbClr val="F26A4B"/>
                </a:solidFill>
                <a:latin typeface="Calibri" pitchFamily="34" charset="0"/>
                <a:ea typeface="Calibri" pitchFamily="34" charset="-122"/>
                <a:cs typeface="Calibri" pitchFamily="34" charset="-120"/>
              </a:rPr>
              <a:t>Built on what we already own.</a:t>
            </a:r>
            <a:endParaRPr lang="en-US" sz="1350" dirty="0"/>
          </a:p>
          <a:p>
            <a:pPr marL="0" indent="0">
              <a:lnSpc>
                <a:spcPts val="1800"/>
              </a:lnSpc>
              <a:buNone/>
            </a:pPr>
            <a:r>
              <a:rPr lang="en-US" sz="1350" b="1" dirty="0">
                <a:solidFill>
                  <a:srgbClr val="F26A4B"/>
                </a:solidFill>
                <a:latin typeface="Calibri" pitchFamily="34" charset="0"/>
                <a:ea typeface="Calibri" pitchFamily="34" charset="-122"/>
                <a:cs typeface="Calibri" pitchFamily="34" charset="-120"/>
              </a:rPr>
              <a:t>No new vendor.</a:t>
            </a:r>
            <a:endParaRPr lang="en-US" sz="1350" dirty="0"/>
          </a:p>
          <a:p>
            <a:pPr marL="0" indent="0">
              <a:lnSpc>
                <a:spcPts val="1800"/>
              </a:lnSpc>
              <a:buNone/>
            </a:pPr>
            <a:r>
              <a:rPr lang="en-US" sz="1350" b="1" dirty="0">
                <a:solidFill>
                  <a:srgbClr val="F26A4B"/>
                </a:solidFill>
                <a:latin typeface="Calibri" pitchFamily="34" charset="0"/>
                <a:ea typeface="Calibri" pitchFamily="34" charset="-122"/>
                <a:cs typeface="Calibri" pitchFamily="34" charset="-120"/>
              </a:rPr>
              <a:t>No new security review.</a:t>
            </a:r>
            <a:endParaRPr lang="en-US" sz="1350" dirty="0"/>
          </a:p>
        </p:txBody>
      </p:sp>
      <p:sp>
        <p:nvSpPr>
          <p:cNvPr id="14" name="Text 12"/>
          <p:cNvSpPr/>
          <p:nvPr/>
        </p:nvSpPr>
        <p:spPr>
          <a:xfrm>
            <a:off x="7863840" y="4059936"/>
            <a:ext cx="3401568" cy="347472"/>
          </a:xfrm>
          <a:prstGeom prst="rect">
            <a:avLst/>
          </a:prstGeom>
          <a:noFill/>
          <a:ln/>
        </p:spPr>
        <p:txBody>
          <a:bodyPr wrap="square" lIns="0" tIns="0" rIns="0" bIns="0" rtlCol="0" anchor="ctr"/>
          <a:lstStyle/>
          <a:p>
            <a:pPr marL="0" indent="0">
              <a:buNone/>
            </a:pPr>
            <a:r>
              <a:rPr lang="en-US" sz="850" b="1" kern="0" spc="100" dirty="0">
                <a:solidFill>
                  <a:srgbClr val="93A4BD"/>
                </a:solidFill>
                <a:latin typeface="Calibri" pitchFamily="34" charset="0"/>
                <a:ea typeface="Calibri" pitchFamily="34" charset="-122"/>
                <a:cs typeface="Calibri" pitchFamily="34" charset="-120"/>
              </a:rPr>
              <a:t>DATABRICKS · AZURE · UNITY CATALOG</a:t>
            </a:r>
            <a:endParaRPr lang="en-US" sz="850" dirty="0"/>
          </a:p>
        </p:txBody>
      </p:sp>
      <p:sp>
        <p:nvSpPr>
          <p:cNvPr id="15" name="Shape 13"/>
          <p:cNvSpPr/>
          <p:nvPr/>
        </p:nvSpPr>
        <p:spPr>
          <a:xfrm>
            <a:off x="548640" y="4645152"/>
            <a:ext cx="11094415" cy="1325880"/>
          </a:xfrm>
          <a:prstGeom prst="rect">
            <a:avLst/>
          </a:prstGeom>
          <a:solidFill>
            <a:srgbClr val="13283F"/>
          </a:solidFill>
          <a:ln/>
          <a:effectLst>
            <a:outerShdw blurRad="177800" dist="50800" dir="8100000" algn="bl" rotWithShape="0">
              <a:srgbClr val="000000">
                <a:alpha val="22000"/>
              </a:srgbClr>
            </a:outerShdw>
          </a:effectLst>
        </p:spPr>
        <p:txBody>
          <a:bodyPr/>
          <a:lstStyle/>
          <a:p>
            <a:endParaRPr lang="en-IN"/>
          </a:p>
        </p:txBody>
      </p:sp>
      <p:sp>
        <p:nvSpPr>
          <p:cNvPr id="16" name="Shape 14"/>
          <p:cNvSpPr/>
          <p:nvPr/>
        </p:nvSpPr>
        <p:spPr>
          <a:xfrm>
            <a:off x="548640" y="4645152"/>
            <a:ext cx="91440" cy="1325880"/>
          </a:xfrm>
          <a:prstGeom prst="rect">
            <a:avLst/>
          </a:prstGeom>
          <a:solidFill>
            <a:srgbClr val="F26A4B"/>
          </a:solidFill>
          <a:ln/>
        </p:spPr>
        <p:txBody>
          <a:bodyPr/>
          <a:lstStyle/>
          <a:p>
            <a:endParaRPr lang="en-IN"/>
          </a:p>
        </p:txBody>
      </p:sp>
      <p:sp>
        <p:nvSpPr>
          <p:cNvPr id="17" name="Text 15"/>
          <p:cNvSpPr/>
          <p:nvPr/>
        </p:nvSpPr>
        <p:spPr>
          <a:xfrm>
            <a:off x="868680" y="4773168"/>
            <a:ext cx="2743200" cy="256032"/>
          </a:xfrm>
          <a:prstGeom prst="rect">
            <a:avLst/>
          </a:prstGeom>
          <a:noFill/>
          <a:ln/>
        </p:spPr>
        <p:txBody>
          <a:bodyPr wrap="square" lIns="0" tIns="0" rIns="0" bIns="0" rtlCol="0" anchor="ctr"/>
          <a:lstStyle/>
          <a:p>
            <a:pPr marL="0" indent="0">
              <a:buNone/>
            </a:pPr>
            <a:r>
              <a:rPr lang="en-US" sz="1100" b="1" kern="0" spc="250" dirty="0">
                <a:solidFill>
                  <a:srgbClr val="F26A4B"/>
                </a:solidFill>
                <a:latin typeface="Calibri" pitchFamily="34" charset="0"/>
                <a:ea typeface="Calibri" pitchFamily="34" charset="-122"/>
                <a:cs typeface="Calibri" pitchFamily="34" charset="-120"/>
              </a:rPr>
              <a:t>THE ASK</a:t>
            </a:r>
            <a:endParaRPr lang="en-US" sz="1100" dirty="0"/>
          </a:p>
        </p:txBody>
      </p:sp>
      <p:sp>
        <p:nvSpPr>
          <p:cNvPr id="18" name="Shape 16"/>
          <p:cNvSpPr/>
          <p:nvPr/>
        </p:nvSpPr>
        <p:spPr>
          <a:xfrm>
            <a:off x="868680" y="5120640"/>
            <a:ext cx="384048" cy="384048"/>
          </a:xfrm>
          <a:prstGeom prst="ellipse">
            <a:avLst/>
          </a:prstGeom>
          <a:solidFill>
            <a:srgbClr val="14B8A6"/>
          </a:solidFill>
          <a:ln/>
          <a:effectLst>
            <a:outerShdw blurRad="101600" dist="25400" dir="8100000" algn="bl" rotWithShape="0">
              <a:srgbClr val="1E293B">
                <a:alpha val="11000"/>
              </a:srgbClr>
            </a:outerShdw>
          </a:effectLst>
        </p:spPr>
        <p:txBody>
          <a:bodyPr/>
          <a:lstStyle/>
          <a:p>
            <a:endParaRPr lang="en-IN"/>
          </a:p>
        </p:txBody>
      </p:sp>
      <p:sp>
        <p:nvSpPr>
          <p:cNvPr id="19" name="Text 17"/>
          <p:cNvSpPr/>
          <p:nvPr/>
        </p:nvSpPr>
        <p:spPr>
          <a:xfrm>
            <a:off x="868680" y="512064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Text 18"/>
          <p:cNvSpPr/>
          <p:nvPr/>
        </p:nvSpPr>
        <p:spPr>
          <a:xfrm>
            <a:off x="1399032" y="5102352"/>
            <a:ext cx="2893466" cy="566928"/>
          </a:xfrm>
          <a:prstGeom prst="rect">
            <a:avLst/>
          </a:prstGeom>
          <a:noFill/>
          <a:ln/>
        </p:spPr>
        <p:txBody>
          <a:bodyPr wrap="square" lIns="0" tIns="0" rIns="0" bIns="0" rtlCol="0" anchor="ctr"/>
          <a:lstStyle/>
          <a:p>
            <a:pPr marL="0" indent="0">
              <a:lnSpc>
                <a:spcPts val="1500"/>
              </a:lnSpc>
              <a:buNone/>
            </a:pPr>
            <a:r>
              <a:rPr lang="en-US" sz="1150" b="1" dirty="0">
                <a:solidFill>
                  <a:srgbClr val="FFFFFF"/>
                </a:solidFill>
                <a:latin typeface="Calibri" pitchFamily="34" charset="0"/>
                <a:ea typeface="Calibri" pitchFamily="34" charset="-122"/>
                <a:cs typeface="Calibri" pitchFamily="34" charset="-120"/>
              </a:rPr>
              <a:t>Executive sponsorship — to move from project to platform</a:t>
            </a:r>
            <a:endParaRPr lang="en-US" sz="1150" dirty="0"/>
          </a:p>
        </p:txBody>
      </p:sp>
      <p:sp>
        <p:nvSpPr>
          <p:cNvPr id="21" name="Shape 19"/>
          <p:cNvSpPr/>
          <p:nvPr/>
        </p:nvSpPr>
        <p:spPr>
          <a:xfrm>
            <a:off x="4383938" y="5120640"/>
            <a:ext cx="384048" cy="384048"/>
          </a:xfrm>
          <a:prstGeom prst="ellipse">
            <a:avLst/>
          </a:prstGeom>
          <a:solidFill>
            <a:srgbClr val="14B8A6"/>
          </a:solidFill>
          <a:ln/>
          <a:effectLst>
            <a:outerShdw blurRad="101600" dist="25400" dir="8100000" algn="bl" rotWithShape="0">
              <a:srgbClr val="1E293B">
                <a:alpha val="11000"/>
              </a:srgbClr>
            </a:outerShdw>
          </a:effectLst>
        </p:spPr>
        <p:txBody>
          <a:bodyPr/>
          <a:lstStyle/>
          <a:p>
            <a:endParaRPr lang="en-IN"/>
          </a:p>
        </p:txBody>
      </p:sp>
      <p:sp>
        <p:nvSpPr>
          <p:cNvPr id="22" name="Text 20"/>
          <p:cNvSpPr/>
          <p:nvPr/>
        </p:nvSpPr>
        <p:spPr>
          <a:xfrm>
            <a:off x="4383938" y="512064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p:nvPr/>
        </p:nvSpPr>
        <p:spPr>
          <a:xfrm>
            <a:off x="4914290" y="5102352"/>
            <a:ext cx="2893466" cy="566928"/>
          </a:xfrm>
          <a:prstGeom prst="rect">
            <a:avLst/>
          </a:prstGeom>
          <a:noFill/>
          <a:ln/>
        </p:spPr>
        <p:txBody>
          <a:bodyPr wrap="square" lIns="0" tIns="0" rIns="0" bIns="0" rtlCol="0" anchor="ctr"/>
          <a:lstStyle/>
          <a:p>
            <a:pPr marL="0" indent="0">
              <a:lnSpc>
                <a:spcPts val="1500"/>
              </a:lnSpc>
              <a:buNone/>
            </a:pPr>
            <a:r>
              <a:rPr lang="en-US" sz="1150" b="1" dirty="0">
                <a:solidFill>
                  <a:srgbClr val="FFFFFF"/>
                </a:solidFill>
                <a:latin typeface="Calibri" pitchFamily="34" charset="0"/>
                <a:ea typeface="Calibri" pitchFamily="34" charset="-122"/>
                <a:cs typeface="Calibri" pitchFamily="34" charset="-120"/>
              </a:rPr>
              <a:t>Pilot approval — open access to a defined group of business users</a:t>
            </a:r>
            <a:endParaRPr lang="en-US" sz="1150" dirty="0"/>
          </a:p>
        </p:txBody>
      </p:sp>
      <p:sp>
        <p:nvSpPr>
          <p:cNvPr id="24" name="Shape 22"/>
          <p:cNvSpPr/>
          <p:nvPr/>
        </p:nvSpPr>
        <p:spPr>
          <a:xfrm>
            <a:off x="7899197" y="5120640"/>
            <a:ext cx="384048" cy="384048"/>
          </a:xfrm>
          <a:prstGeom prst="ellipse">
            <a:avLst/>
          </a:prstGeom>
          <a:solidFill>
            <a:srgbClr val="F26A4B"/>
          </a:solidFill>
          <a:ln/>
          <a:effectLst>
            <a:outerShdw blurRad="101600" dist="25400" dir="8100000" algn="bl" rotWithShape="0">
              <a:srgbClr val="1E293B">
                <a:alpha val="11000"/>
              </a:srgbClr>
            </a:outerShdw>
          </a:effectLst>
        </p:spPr>
        <p:txBody>
          <a:bodyPr/>
          <a:lstStyle/>
          <a:p>
            <a:endParaRPr lang="en-IN"/>
          </a:p>
        </p:txBody>
      </p:sp>
      <p:sp>
        <p:nvSpPr>
          <p:cNvPr id="25" name="Text 23"/>
          <p:cNvSpPr/>
          <p:nvPr/>
        </p:nvSpPr>
        <p:spPr>
          <a:xfrm>
            <a:off x="7899197" y="512064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Text 24"/>
          <p:cNvSpPr/>
          <p:nvPr/>
        </p:nvSpPr>
        <p:spPr>
          <a:xfrm>
            <a:off x="8429549" y="5102352"/>
            <a:ext cx="2893466" cy="566928"/>
          </a:xfrm>
          <a:prstGeom prst="rect">
            <a:avLst/>
          </a:prstGeom>
          <a:noFill/>
          <a:ln/>
        </p:spPr>
        <p:txBody>
          <a:bodyPr wrap="square" lIns="0" tIns="0" rIns="0" bIns="0" rtlCol="0" anchor="ctr"/>
          <a:lstStyle/>
          <a:p>
            <a:pPr marL="0" indent="0">
              <a:lnSpc>
                <a:spcPts val="1500"/>
              </a:lnSpc>
              <a:buNone/>
            </a:pPr>
            <a:r>
              <a:rPr lang="en-US" sz="1150" b="1" dirty="0">
                <a:solidFill>
                  <a:srgbClr val="FFFFFF"/>
                </a:solidFill>
                <a:latin typeface="Calibri" pitchFamily="34" charset="0"/>
                <a:ea typeface="Calibri" pitchFamily="34" charset="-122"/>
                <a:cs typeface="Calibri" pitchFamily="34" charset="-120"/>
              </a:rPr>
              <a:t>Roadmap commitment — complete corpus, harden governance, connect claims data</a:t>
            </a:r>
            <a:endParaRPr lang="en-US" sz="1150" dirty="0"/>
          </a:p>
        </p:txBody>
      </p:sp>
      <p:sp>
        <p:nvSpPr>
          <p:cNvPr id="27" name="Text 25"/>
          <p:cNvSpPr/>
          <p:nvPr/>
        </p:nvSpPr>
        <p:spPr>
          <a:xfrm>
            <a:off x="548640" y="6144768"/>
            <a:ext cx="11094415" cy="292100"/>
          </a:xfrm>
          <a:prstGeom prst="rect">
            <a:avLst/>
          </a:prstGeom>
          <a:noFill/>
          <a:ln/>
        </p:spPr>
        <p:txBody>
          <a:bodyPr wrap="square" lIns="0" tIns="0" rIns="0" bIns="0" rtlCol="0" anchor="ctr"/>
          <a:lstStyle/>
          <a:p>
            <a:pPr marL="0" indent="0">
              <a:buNone/>
            </a:pPr>
            <a:r>
              <a:rPr lang="en-US" sz="1450" i="1" dirty="0">
                <a:solidFill>
                  <a:srgbClr val="5EEAD4"/>
                </a:solidFill>
                <a:latin typeface="Calibri" pitchFamily="34" charset="0"/>
                <a:ea typeface="Calibri" pitchFamily="34" charset="-122"/>
                <a:cs typeface="Calibri" pitchFamily="34" charset="-120"/>
              </a:rPr>
              <a:t>The technology is proven. The data is real. The next move is organizational.</a:t>
            </a:r>
            <a:endParaRPr lang="en-US" sz="1450" dirty="0"/>
          </a:p>
        </p:txBody>
      </p:sp>
      <p:sp>
        <p:nvSpPr>
          <p:cNvPr id="28" name="Text 26"/>
          <p:cNvSpPr/>
          <p:nvPr/>
        </p:nvSpPr>
        <p:spPr>
          <a:xfrm>
            <a:off x="548640" y="6473952"/>
            <a:ext cx="8229600" cy="256032"/>
          </a:xfrm>
          <a:prstGeom prst="rect">
            <a:avLst/>
          </a:prstGeom>
          <a:noFill/>
          <a:ln/>
        </p:spPr>
        <p:txBody>
          <a:bodyPr wrap="square" lIns="0" tIns="0" rIns="0" bIns="0" rtlCol="0" anchor="ctr"/>
          <a:lstStyle/>
          <a:p>
            <a:pPr marL="0" indent="0">
              <a:buNone/>
            </a:pPr>
            <a:r>
              <a:rPr lang="en-US" sz="800" b="1" kern="0" spc="80" dirty="0">
                <a:solidFill>
                  <a:srgbClr val="93A4BD"/>
                </a:solidFill>
                <a:latin typeface="Calibri" pitchFamily="34" charset="0"/>
                <a:ea typeface="Calibri" pitchFamily="34" charset="-122"/>
                <a:cs typeface="Calibri" pitchFamily="34" charset="-120"/>
              </a:rPr>
              <a:t>PROVIDER CONTRACT INTELLIGENCE PLATFORM</a:t>
            </a:r>
            <a:r>
              <a:rPr lang="en-US" sz="800" kern="0" spc="80" dirty="0">
                <a:solidFill>
                  <a:srgbClr val="93A4BD"/>
                </a:solidFill>
                <a:latin typeface="Calibri" pitchFamily="34" charset="0"/>
                <a:ea typeface="Calibri" pitchFamily="34" charset="-122"/>
                <a:cs typeface="Calibri" pitchFamily="34" charset="-120"/>
              </a:rPr>
              <a:t>   ·   Confidential — Internal</a:t>
            </a:r>
            <a:endParaRPr lang="en-US" sz="800" dirty="0"/>
          </a:p>
        </p:txBody>
      </p:sp>
      <p:sp>
        <p:nvSpPr>
          <p:cNvPr id="29" name="Text 27"/>
          <p:cNvSpPr/>
          <p:nvPr/>
        </p:nvSpPr>
        <p:spPr>
          <a:xfrm>
            <a:off x="10728655" y="6473952"/>
            <a:ext cx="914400" cy="256032"/>
          </a:xfrm>
          <a:prstGeom prst="rect">
            <a:avLst/>
          </a:prstGeom>
          <a:noFill/>
          <a:ln/>
        </p:spPr>
        <p:txBody>
          <a:bodyPr wrap="square" lIns="0" tIns="0" rIns="0" bIns="0" rtlCol="0" anchor="ctr"/>
          <a:lstStyle/>
          <a:p>
            <a:pPr marL="0" indent="0" algn="r">
              <a:buNone/>
            </a:pPr>
            <a:r>
              <a:rPr lang="en-US" sz="900" dirty="0">
                <a:solidFill>
                  <a:srgbClr val="93A4BD"/>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BF8C704-E558-43AC-AFBE-96FF9F685478}">
  <we:reference id="wa200010001" version="1.0.0.1" store="en-US" storeType="OMEX"/>
  <we:alternateReferences>
    <we:reference id="wa200010001" version="1.0.0.1" store="en-US" storeType="OMEX"/>
  </we:alternateReferences>
  <we:properties>
    <we:property name="claude.fileId" value="&quot;3bc937c2-3037-4826-bcd3-b667bacb386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562</TotalTime>
  <Words>3274</Words>
  <Application>Microsoft Office PowerPoint</Application>
  <PresentationFormat>Widescreen</PresentationFormat>
  <Paragraphs>510</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Blue Shield of California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Provider Contract Intelligence Platform</dc:title>
  <dc:subject>PptxGenJS Presentation</dc:subject>
  <dc:creator>Provider Contracting Analytics</dc:creator>
  <cp:lastModifiedBy>Anukul Dixit</cp:lastModifiedBy>
  <cp:revision>2</cp:revision>
  <dcterms:created xsi:type="dcterms:W3CDTF">2026-05-27T05:28:59Z</dcterms:created>
  <dcterms:modified xsi:type="dcterms:W3CDTF">2026-05-27T15:01:18Z</dcterms:modified>
</cp:coreProperties>
</file>