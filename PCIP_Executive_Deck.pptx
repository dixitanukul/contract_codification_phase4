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Programs</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14B8A6"/>
              </a:solidFill>
              <a:effectLst/>
            </c:spPr>
          </c:dPt>
          <c:dPt>
            <c:idx val="2"/>
            <c:bubble3D val="0"/>
            <c:spPr>
              <a:solidFill>
                <a:srgbClr val="5EEAD4"/>
              </a:solidFill>
              <a:effectLst/>
            </c:spPr>
          </c:dPt>
          <c:dPt>
            <c:idx val="3"/>
            <c:bubble3D val="0"/>
            <c:spPr>
              <a:solidFill>
                <a:srgbClr val="99E9DF"/>
              </a:solidFill>
              <a:effectLst/>
            </c:spPr>
          </c:dPt>
          <c:dPt>
            <c:idx val="4"/>
            <c:bubble3D val="0"/>
            <c:spPr>
              <a:solidFill>
                <a:srgbClr val="F59E0B"/>
              </a:solidFill>
              <a:effectLst/>
            </c:spPr>
          </c:dPt>
          <c:dPt>
            <c:idx val="5"/>
            <c:bubble3D val="0"/>
            <c:spPr>
              <a:solidFill>
                <a:srgbClr val="CBD5E1"/>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Commercial</c:v>
                </c:pt>
                <c:pt idx="1">
                  <c:v>Medicare</c:v>
                </c:pt>
                <c:pt idx="2">
                  <c:v>Medi-Cal</c:v>
                </c:pt>
                <c:pt idx="3">
                  <c:v>All Programs</c:v>
                </c:pt>
                <c:pt idx="4">
                  <c:v>CalPERS</c:v>
                </c:pt>
                <c:pt idx="5">
                  <c:v>Other</c:v>
                </c:pt>
              </c:strCache>
            </c:strRef>
          </c:cat>
          <c:val>
            <c:numRef>
              <c:f>Sheet1!$B$2:$B$7</c:f>
              <c:numCache>
                <c:ptCount val="6"/>
                <c:pt idx="0">
                  <c:v>68</c:v>
                </c:pt>
                <c:pt idx="1">
                  <c:v>10</c:v>
                </c:pt>
                <c:pt idx="2">
                  <c:v>9</c:v>
                </c:pt>
                <c:pt idx="3">
                  <c:v>8</c:v>
                </c:pt>
                <c:pt idx="4">
                  <c:v>3</c:v>
                </c:pt>
                <c:pt idx="5">
                  <c:v>2</c:v>
                </c:pt>
              </c:numCache>
            </c:numRef>
          </c:val>
        </c:ser>
        <c:firstSliceAng val="0"/>
        <c:holeSize val="62"/>
      </c:doughnutChart>
      <c:spPr>
        <a:noFill/>
        <a:ln>
          <a:noFill/>
        </a:ln>
        <a:effectLst/>
      </c:spPr>
    </c:plotArea>
    <c:legend>
      <c:legendPos val="r"/>
      <c:overlay val="0"/>
      <c:txPr>
        <a:bodyPr/>
        <a:lstStyle/>
        <a:p>
          <a:pPr>
            <a:defRPr sz="900">
              <a:solidFill>
                <a:srgbClr val="33415A"/>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USD / month</c:v>
                </c:pt>
              </c:strCache>
            </c:strRef>
          </c:tx>
          <c:spPr>
            <a:solidFill>
              <a:srgbClr val="0F766E"/>
            </a:solidFill>
            <a:effectLst/>
          </c:spPr>
          <c:invertIfNegative val="0"/>
          <c:dLbls>
            <c:numFmt formatCode="$#,##0" sourceLinked="0"/>
            <c:txPr>
              <a:bodyPr/>
              <a:lstStyle/>
              <a:p>
                <a:pPr>
                  <a:defRPr b="0" i="0" strike="noStrike" sz="900" u="none">
                    <a:solidFill>
                      <a:srgbClr val="33415A"/>
                    </a:solidFill>
                    <a:latin typeface="Arial"/>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14B8A6"/>
              </a:solidFill>
              <a:effectLst/>
            </c:spPr>
          </c:dPt>
          <c:dPt>
            <c:idx val="2"/>
            <c:invertIfNegative val="0"/>
            <c:bubble3D val="0"/>
            <c:spPr>
              <a:solidFill>
                <a:srgbClr val="2DD4BF"/>
              </a:solidFill>
              <a:effectLst/>
            </c:spPr>
          </c:dPt>
          <c:dPt>
            <c:idx val="3"/>
            <c:invertIfNegative val="0"/>
            <c:bubble3D val="0"/>
            <c:spPr>
              <a:solidFill>
                <a:srgbClr val="5EEAD4"/>
              </a:solidFill>
              <a:effectLst/>
            </c:spPr>
          </c:dPt>
          <c:dPt>
            <c:idx val="4"/>
            <c:invertIfNegative val="0"/>
            <c:bubble3D val="0"/>
            <c:spPr>
              <a:solidFill>
                <a:srgbClr val="99E9DF"/>
              </a:solidFill>
              <a:effectLst/>
            </c:spPr>
          </c:dPt>
          <c:dPt>
            <c:idx val="5"/>
            <c:invertIfNegative val="0"/>
            <c:bubble3D val="0"/>
            <c:spPr>
              <a:solidFill>
                <a:srgbClr val="CBD5E1"/>
              </a:solidFill>
              <a:effectLst/>
            </c:spPr>
          </c:dPt>
          <c:cat>
            <c:multiLvlStrRef>
              <c:f>Sheet1!$A$2:$A$7</c:f>
              <c:multiLvlStrCache>
                <c:ptCount val="6"/>
                <c:lvl>
                  <c:pt idx="0">
                    <c:v>Platform</c:v>
                  </c:pt>
                  <c:pt idx="1">
                    <c:v>Vector
Search</c:v>
                  </c:pt>
                  <c:pt idx="2">
                    <c:v>SQL
warehouse</c:v>
                  </c:pt>
                  <c:pt idx="3">
                    <c:v>Genie
LLM</c:v>
                  </c:pt>
                  <c:pt idx="4">
                    <c:v>Compute</c:v>
                  </c:pt>
                  <c:pt idx="5">
                    <c:v>Monitoring</c:v>
                  </c:pt>
                </c:lvl>
              </c:multiLvlStrCache>
            </c:multiLvlStrRef>
          </c:cat>
          <c:val>
            <c:numRef>
              <c:f>Sheet1!$B$2:$B$7</c:f>
              <c:numCache>
                <c:formatCode>General</c:formatCode>
                <c:ptCount val="6"/>
                <c:pt idx="0">
                  <c:v>500</c:v>
                </c:pt>
                <c:pt idx="1">
                  <c:v>360</c:v>
                </c:pt>
                <c:pt idx="2">
                  <c:v>200</c:v>
                </c:pt>
                <c:pt idx="3">
                  <c:v>195</c:v>
                </c:pt>
                <c:pt idx="4">
                  <c:v>45</c:v>
                </c:pt>
                <c:pt idx="5">
                  <c:v>25</c:v>
                </c:pt>
              </c:numCache>
            </c:numRef>
          </c:val>
        </c:ser>
        <c:dLbls>
          <c:numFmt formatCode="$#,##0" sourceLinked="0"/>
          <c:txPr>
            <a:bodyPr/>
            <a:lstStyle/>
            <a:p>
              <a:pPr>
                <a:defRPr b="0" i="0" strike="noStrike" sz="900" u="none">
                  <a:solidFill>
                    <a:srgbClr val="33415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 (3-yr TCO)</c:v>
                </c:pt>
              </c:strCache>
            </c:strRef>
          </c:tx>
          <c:spPr>
            <a:solidFill>
              <a:srgbClr val="F26A4B"/>
            </a:solidFill>
            <a:effectLst/>
          </c:spPr>
          <c:invertIfNegative val="0"/>
          <c:dLbls>
            <c:numFmt formatCode="&quot;$&quot;0.0&quot;M&quot;" sourceLinked="0"/>
            <c:txPr>
              <a:bodyPr/>
              <a:lstStyle/>
              <a:p>
                <a:pPr>
                  <a:defRPr b="0" i="0" strike="noStrike" sz="1000" u="none">
                    <a:solidFill>
                      <a:srgbClr val="33415A"/>
                    </a:solidFill>
                    <a:latin typeface="Arial"/>
                  </a:defRPr>
                </a:pPr>
              </a:p>
            </c:txPr>
            <c:showLegendKey val="0"/>
            <c:showVal val="1"/>
            <c:showCatName val="0"/>
            <c:showSerName val="0"/>
            <c:showPercent val="0"/>
            <c:showBubbleSize val="0"/>
            <c:showLeaderLines val="0"/>
          </c:dLbls>
          <c:dPt>
            <c:idx val="0"/>
            <c:invertIfNegative val="0"/>
            <c:bubble3D val="0"/>
            <c:spPr>
              <a:solidFill>
                <a:srgbClr val="F26A4B"/>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cat>
            <c:multiLvlStrRef>
              <c:f>Sheet1!$A$2:$A$5</c:f>
              <c:multiLvlStrCache>
                <c:ptCount val="4"/>
                <c:lvl>
                  <c:pt idx="0">
                    <c:v>This
platform</c:v>
                  </c:pt>
                  <c:pt idx="1">
                    <c:v>Enterprise
CLM</c:v>
                  </c:pt>
                  <c:pt idx="2">
                    <c:v>Consulting
build</c:v>
                  </c:pt>
                  <c:pt idx="3">
                    <c:v>Manual
status quo</c:v>
                  </c:pt>
                </c:lvl>
              </c:multiLvlStrCache>
            </c:multiLvlStrRef>
          </c:cat>
          <c:val>
            <c:numRef>
              <c:f>Sheet1!$B$2:$B$5</c:f>
              <c:numCache>
                <c:formatCode>General</c:formatCode>
                <c:ptCount val="4"/>
                <c:pt idx="0">
                  <c:v>0.6</c:v>
                </c:pt>
                <c:pt idx="1">
                  <c:v>1.8</c:v>
                </c:pt>
                <c:pt idx="2">
                  <c:v>3.9</c:v>
                </c:pt>
                <c:pt idx="3">
                  <c:v>11.4</c:v>
                </c:pt>
              </c:numCache>
            </c:numRef>
          </c:val>
        </c:ser>
        <c:dLbls>
          <c:numFmt formatCode="&quot;$&quot;0.0&quot;M&quot;" sourceLinked="0"/>
          <c:txPr>
            <a:bodyPr/>
            <a:lstStyle/>
            <a:p>
              <a:pPr>
                <a:defRPr b="0" i="0" strike="noStrike" sz="1000" u="none">
                  <a:solidFill>
                    <a:srgbClr val="33415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 per plan / yr</c:v>
                </c:pt>
              </c:strCache>
            </c:strRef>
          </c:tx>
          <c:spPr>
            <a:solidFill>
              <a:srgbClr val="0F766E"/>
            </a:solidFill>
            <a:effectLst/>
          </c:spPr>
          <c:invertIfNegative val="0"/>
          <c:dLbls>
            <c:numFmt formatCode="&quot;$&quot;0.0&quot;K&quot;" sourceLinked="0"/>
            <c:txPr>
              <a:bodyPr/>
              <a:lstStyle/>
              <a:p>
                <a:pPr>
                  <a:defRPr b="0" i="0" strike="noStrike" sz="950" u="none">
                    <a:solidFill>
                      <a:srgbClr val="33415A"/>
                    </a:solidFill>
                    <a:latin typeface="Arial"/>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14B8A6"/>
              </a:solidFill>
              <a:effectLst/>
            </c:spPr>
          </c:dPt>
          <c:dPt>
            <c:idx val="2"/>
            <c:invertIfNegative val="0"/>
            <c:bubble3D val="0"/>
            <c:spPr>
              <a:solidFill>
                <a:srgbClr val="2DD4BF"/>
              </a:solidFill>
              <a:effectLst/>
            </c:spPr>
          </c:dPt>
          <c:dPt>
            <c:idx val="3"/>
            <c:invertIfNegative val="0"/>
            <c:bubble3D val="0"/>
            <c:spPr>
              <a:solidFill>
                <a:srgbClr val="5EEAD4"/>
              </a:solidFill>
              <a:effectLst/>
            </c:spPr>
          </c:dPt>
          <c:dPt>
            <c:idx val="4"/>
            <c:invertIfNegative val="0"/>
            <c:bubble3D val="0"/>
            <c:spPr>
              <a:solidFill>
                <a:srgbClr val="99E9DF"/>
              </a:solidFill>
              <a:effectLst/>
            </c:spPr>
          </c:dPt>
          <c:cat>
            <c:multiLvlStrRef>
              <c:f>Sheet1!$A$2:$A$6</c:f>
              <c:multiLvlStrCache>
                <c:ptCount val="5"/>
                <c:lvl>
                  <c:pt idx="0">
                    <c:v>1 plan</c:v>
                  </c:pt>
                  <c:pt idx="1">
                    <c:v>2</c:v>
                  </c:pt>
                  <c:pt idx="2">
                    <c:v>3</c:v>
                  </c:pt>
                  <c:pt idx="3">
                    <c:v>5</c:v>
                  </c:pt>
                  <c:pt idx="4">
                    <c:v>10 plans</c:v>
                  </c:pt>
                </c:lvl>
              </c:multiLvlStrCache>
            </c:multiLvlStrRef>
          </c:cat>
          <c:val>
            <c:numRef>
              <c:f>Sheet1!$B$2:$B$6</c:f>
              <c:numCache>
                <c:formatCode>General</c:formatCode>
                <c:ptCount val="5"/>
                <c:pt idx="0">
                  <c:v>15.9</c:v>
                </c:pt>
                <c:pt idx="1">
                  <c:v>10.2</c:v>
                </c:pt>
                <c:pt idx="2">
                  <c:v>8.3</c:v>
                </c:pt>
                <c:pt idx="3">
                  <c:v>6.7</c:v>
                </c:pt>
                <c:pt idx="4">
                  <c:v>5.6</c:v>
                </c:pt>
              </c:numCache>
            </c:numRef>
          </c:val>
        </c:ser>
        <c:dLbls>
          <c:numFmt formatCode="&quot;$&quot;0.0&quot;K&quot;" sourceLinked="0"/>
          <c:txPr>
            <a:bodyPr/>
            <a:lstStyle/>
            <a:p>
              <a:pPr>
                <a:defRPr b="0" i="0" strike="noStrike" sz="950" u="none">
                  <a:solidFill>
                    <a:srgbClr val="33415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hook. 'Every year Blue Shield negotiates billions in provider contracts. Until now, the intelligence inside 10,372 PDFs — decades of amendments, tens of thousands of rate schedules — was reachable only by manual search. A question like "What is Sharp Memorial's current per diem?" took an analyst 2–4 hours. Today it takes seconds. We built a platform that reads every contract like a senior analyst, tracks every amendment like a lawyer, and answers like a colleague who has memorized the portfolio.' Position as an enterprise, production-oriented, governed platform — not a chatbot or experiment. Pause after the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 thesis slide — read the headline slowly and let it land. Then frame the order of the story: business transformation first, AI second, governance always, architecture third. The three pillars are the spine of the whole deck. Emphasize 'governed' and 'production-oriented' to pre-empt the 'is this a science project?'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business terms. Numbers to emphasize: ~500 facilities, 15+ amendments per contract, 30 years of history. The killer line: analysts spend 60%+ of their time finding information, not analyzing it. The right-hand panel quantifies the pain — roughly $1.5M/yr of analyst time and a real risk of citing stale rates in negotiation. Do NOT jump to the solution yet; let the pain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questions: 'Why not just keep doing it manually / buy a CLM / use ChatGPT?' Walk left to right. The point isn't that the other options are bad — it's that none of them simultaneously delivers full-corpus coverage, structured validated output, amendment awareness, AND enterprise governance. That intersection is what we built. Land on the rightmost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vision in one arc: Unstructured → Structured &amp; Governed → Askable. Stress that the middle step (validated, governed Delta) is what makes the third step trustworthy — most 'AI for documents' efforts skip it. The bottom principle line is the responsible-AI framing: AI does the reading and structuring; humans make the decisions; governance wraps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COO/VP slide — operational, not technical. Walk a couple of rows, especially 'prepare for a negotiation: 3 days → 15 minutes' and the last row: the platform inverts the analyst time split from 60% finding / 40% analyzing to analysis-first. Frame it as a structural change in the operating model, not just a productivity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spine. Read top to bottom: raw PDFs enter at the top; each layer adds structure and trust; business users consume at the bottom. Two messages for executives: (1) it's a layered, enterprise architecture — every layer has a clear job; (2) governance (the right-hand rail) spans ALL layers via Unity Catalog — it isn't bolted on at the end. Keep it conceptual; details come in later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medallion pattern in plain language: Bronze = raw extracted facts, Silver = normalized and validated business entities (with amendment supersession resolved), Gold = curated serving tables the business consumes. The ascending steps reinforce that value and trustworthiness increase left to right. Executives don't need the table names — they need to see disciplined refinement, not a data dump.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messages: breadth of capability (left grid) and scale of coverage (right). The doughnut shows the platform already spans the real program mix — Commercial-heavy with Medicare, Medi-Cal, CalPERS, etc. Use the right-hand stat callouts as anchors: 81K+ rate lines, 83K+ legal units, 284 facilities. This slide answers 'what does it actually do, and how much does it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nine stages left to right. Highlight the teal (AI-driven) steps vs grey (deterministic) — the platform interleaves AI with rule-based checks rather than trusting the model blindly. The three bottom callouts are the hard-won engineering decisions that make it production-grade: REST-API per-file isolation (eliminated multi-hour batch stalls), checkpoint-resume, and adaptive concurrency. Keep the tone 'disciplined pipeline,' not 'cool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(1) a 2-tier OCR strategy captures both native-text and scanned PDFs, with a quality gate so nothing is silently lost; (2) instead of one generic prompt, the platform routes each document to a specialized prompt by type before Claude reads it, then enforces a structured 20-section JSON schema. Analogy for executives: it reads like a specialist who knows the difference between a base agreement and an amendment — not a generalist skimming.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an enterprise audience — slow down. Five independent layers, each catching what the previous might miss: prevent, constrain, verify, audit, ground. Use the exact framing on the right and NEVER say 'hallucinations eliminated' — say 'hallucination risk is actively controlled through layered governance and grounded retrieval.' The 'refuse rather than guess' behavior is a trust feature, not a limitation. This is what separates a governed platform from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validation feel like an engineered fabric, not an afterthought. Six independent mechanisms (the grid) plus a self-correcting quality loop (bottom): the system audits its own extractions, scores the gaps, re-extracts the weak spots, and re-validates. Tie back to the previous slide: this is the machinery behind 'risk actively 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CTO/CISO. Six governance capabilities all rest on one foundation — Unity Catalog. The strategic message: this runs on infrastructure we already own and have already approved. No new vendor, no new data residency question (data stays in our Azure tenant), no fresh security review. Governance isn't a future promise — it's the substrate the platform is built on. Note which items are 'in place' vs 'on the hardening roadmap' honestly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differentiator — generic tools miss it. Walk the chain: base plus four amendments; the platform knows AMD 4 holds the current rates and earlier ones are superseded. Explain the three scope types (full replacement, targeted, term extension) because real amendments behave differently. Land on the right-hand 'why it matters': citing a superseded rate in a live negotiation is a real exposure; this makes the current state automatic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Contracts aren't static files — they're entities with state. The flow shows the lifecycle: a base agreement becomes ACTIVE and eventually moves to EXPIRED, TERMINATED, or SUPERSEDED. Because state is explicit, the platform delivers point-in-time truth (what was the rate on any date), proactive renewal visibility (nothing lapses unnoticed), and audit-ready traceability. This is the foundation that makes benchmarking and renewal intelligence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deep-retrieval engine behind legal Q&amp;A. A question is interpreted, then searched four complementary ways (semantic vector, keyword, structured metadata, document structure). Results are fused (RRF), reranked for legal relevance, and every answer is checked against its source before it's returned — with confidence, and a refusal path when evidence is weak. Critical point: retrieval is amendment-aware, so cited evidence reflects the current contract, not a superseded clause. This is RAG done for an enterprise, with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'vector search' for executives: contracts are split into ~83K legal units, each turned into a numeric vector, indexed, and matched by meaning — not just keywords. Then the grounding checks (left) run before any answer is returned. Outcome (right): every answer carries its source, and weak-evidence questions are declined. Keep it concrete: 'search by meaning, then prove the answer against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Genie is the last mile — the business-user interface. Walk the left flow once: question in English -&gt; semantic layer (curated tables + business descriptions) -&gt; governed SQL -&gt; answer in ~10 seconds, no SQL and no data-team ticket. The right panel explains why it's reliable: Genie only sees a curated, well-described set of tables, and canonical naming means 'Providence' just works across sub-entities. One interface serves contracting, finance, network, compliance and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complementary, not competing. Genie = fast structured answers for any business user over curated tables. RAG notebook = deep, citation-grounded legal/clause retrieval over full text for analysts and compliance. The unifying message at the bottom is the important one: both front doors read from the same governed, validated foundation, so the organization gets consistent answers regardless of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'Enough slides — let me show you live.' Run the four acts in order. Pre-warm the SQL warehouse 10 minutes before; only ask pre-tested questions; keep a backup screenshot deck open in another tab. If anything is slow or fails, narrate the architecture while it loads, or switch to the dashboard/screenshots — the story must never depend on a live system. Pause after the first Genie answer to let the speed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CFO-friendly — no token math. The shape of the economics: extraction is a bounded one-time investment; ongoing cost is light and dominated by managed compute and queries. The chart shows where the modest monthly operating spend goes. The per-unit callouts make it visceral: about $6.63 per user per month — less than a streaming subscription — and roughly a penny per question. Cost governance (tagging, budgets, auto-stop) keeps it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 ROI, but stay conservative in language: 'roughly 800% even on conservative value capture, payback in weeks.' Then the value sources (time, negotiation speed, rate-leakage visibility). The chart is the closer: a 3-year TCO comparison — this platform is a small fraction of enterprise CLM, consulting builds, or the manual status quo. Coral bar = us; grey = alternatives. Frame: 'we built a competitive advantage for a fraction of what buying it would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Strategic-scale message. The same pipeline and serving layer work for any plan with a folder of contracts; each plan gets its own isolated schema for governance, while shared dimensions and a cross-plan view enable network-wide benchmarking. The chart shows the economics: per-plan cost drops sharply as you add plans because infrastructure is shared — software-like margins. Onboarding a new plan is weeks, not years. This is where 'project' becomes 'platform/product.'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left to right. NOW is unglamorous but essential — finish the corpus, automate orchestration, and complete governance hardening (masking, row-level security). NEXT adds monitoring and a reranker for retrieval quality. THEN connects claims/utilization data, which unlocks spend-weighted benchmarks and multi-plan expansion. HORIZON is the exciting part for leadership: negotiation copilots and provider intelligence at enterprise scale. Emphasize that each phase compounds — and that the foundation to support all of it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conviction, not 'any questions?'. Recap the three things they should remember: hours to seconds, governed by design, payback in weeks. Then make a SPECIFIC ask — executive sponsorship, pilot approval for ~30 users, and 0.5 FTE to operate and extend. End on the final line: 'The technology is proven. The economics are decisive. The next move is organizational.' Then hand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8412480" y="868680"/>
            <a:ext cx="3246120" cy="658368"/>
          </a:xfrm>
          <a:prstGeom prst="rect">
            <a:avLst/>
          </a:prstGeom>
          <a:solidFill>
            <a:srgbClr val="13283F"/>
          </a:solidFill>
          <a:ln/>
        </p:spPr>
      </p:sp>
      <p:sp>
        <p:nvSpPr>
          <p:cNvPr id="3" name="Shape 1"/>
          <p:cNvSpPr/>
          <p:nvPr/>
        </p:nvSpPr>
        <p:spPr>
          <a:xfrm>
            <a:off x="8412480" y="868680"/>
            <a:ext cx="73152" cy="658368"/>
          </a:xfrm>
          <a:prstGeom prst="rect">
            <a:avLst/>
          </a:prstGeom>
          <a:solidFill>
            <a:srgbClr val="14B8A6"/>
          </a:solidFill>
          <a:ln/>
        </p:spPr>
      </p:sp>
      <p:sp>
        <p:nvSpPr>
          <p:cNvPr id="4" name="Text 2"/>
          <p:cNvSpPr/>
          <p:nvPr/>
        </p:nvSpPr>
        <p:spPr>
          <a:xfrm>
            <a:off x="8641080" y="868680"/>
            <a:ext cx="2926080" cy="658368"/>
          </a:xfrm>
          <a:prstGeom prst="rect">
            <a:avLst/>
          </a:prstGeom>
          <a:noFill/>
          <a:ln/>
        </p:spPr>
        <p:txBody>
          <a:bodyPr wrap="square" lIns="0" tIns="0" rIns="0" bIns="0" rtlCol="0" anchor="ctr"/>
          <a:lstStyle/>
          <a:p>
            <a:pPr indent="0" marL="0">
              <a:buNone/>
            </a:pPr>
            <a:r>
              <a:rPr lang="en-US" sz="1200" b="1" spc="200" kern="0" dirty="0">
                <a:solidFill>
                  <a:srgbClr val="93A4BD"/>
                </a:solidFill>
                <a:latin typeface="Calibri" pitchFamily="34" charset="0"/>
                <a:ea typeface="Calibri" pitchFamily="34" charset="-122"/>
                <a:cs typeface="Calibri" pitchFamily="34" charset="-120"/>
              </a:rPr>
              <a:t>EXTRACTION</a:t>
            </a:r>
            <a:endParaRPr lang="en-US" sz="1200" dirty="0"/>
          </a:p>
        </p:txBody>
      </p:sp>
      <p:sp>
        <p:nvSpPr>
          <p:cNvPr id="5" name="Shape 3"/>
          <p:cNvSpPr/>
          <p:nvPr/>
        </p:nvSpPr>
        <p:spPr>
          <a:xfrm>
            <a:off x="8412480" y="1709928"/>
            <a:ext cx="3246120" cy="658368"/>
          </a:xfrm>
          <a:prstGeom prst="rect">
            <a:avLst/>
          </a:prstGeom>
          <a:solidFill>
            <a:srgbClr val="13283F"/>
          </a:solidFill>
          <a:ln/>
        </p:spPr>
      </p:sp>
      <p:sp>
        <p:nvSpPr>
          <p:cNvPr id="6" name="Shape 4"/>
          <p:cNvSpPr/>
          <p:nvPr/>
        </p:nvSpPr>
        <p:spPr>
          <a:xfrm>
            <a:off x="8412480" y="1709928"/>
            <a:ext cx="73152" cy="658368"/>
          </a:xfrm>
          <a:prstGeom prst="rect">
            <a:avLst/>
          </a:prstGeom>
          <a:solidFill>
            <a:srgbClr val="14B8A6"/>
          </a:solidFill>
          <a:ln/>
        </p:spPr>
      </p:sp>
      <p:sp>
        <p:nvSpPr>
          <p:cNvPr id="7" name="Text 5"/>
          <p:cNvSpPr/>
          <p:nvPr/>
        </p:nvSpPr>
        <p:spPr>
          <a:xfrm>
            <a:off x="8641080" y="1709928"/>
            <a:ext cx="2926080" cy="658368"/>
          </a:xfrm>
          <a:prstGeom prst="rect">
            <a:avLst/>
          </a:prstGeom>
          <a:noFill/>
          <a:ln/>
        </p:spPr>
        <p:txBody>
          <a:bodyPr wrap="square" lIns="0" tIns="0" rIns="0" bIns="0" rtlCol="0" anchor="ctr"/>
          <a:lstStyle/>
          <a:p>
            <a:pPr indent="0" marL="0">
              <a:buNone/>
            </a:pPr>
            <a:r>
              <a:rPr lang="en-US" sz="1200" b="1" spc="200" kern="0" dirty="0">
                <a:solidFill>
                  <a:srgbClr val="93A4BD"/>
                </a:solidFill>
                <a:latin typeface="Calibri" pitchFamily="34" charset="0"/>
                <a:ea typeface="Calibri" pitchFamily="34" charset="-122"/>
                <a:cs typeface="Calibri" pitchFamily="34" charset="-120"/>
              </a:rPr>
              <a:t>FOUNDATION</a:t>
            </a:r>
            <a:endParaRPr lang="en-US" sz="1200" dirty="0"/>
          </a:p>
        </p:txBody>
      </p:sp>
      <p:sp>
        <p:nvSpPr>
          <p:cNvPr id="8" name="Shape 6"/>
          <p:cNvSpPr/>
          <p:nvPr/>
        </p:nvSpPr>
        <p:spPr>
          <a:xfrm>
            <a:off x="8412480" y="2551176"/>
            <a:ext cx="3246120" cy="658368"/>
          </a:xfrm>
          <a:prstGeom prst="rect">
            <a:avLst/>
          </a:prstGeom>
          <a:solidFill>
            <a:srgbClr val="13283F"/>
          </a:solidFill>
          <a:ln/>
        </p:spPr>
      </p:sp>
      <p:sp>
        <p:nvSpPr>
          <p:cNvPr id="9" name="Shape 7"/>
          <p:cNvSpPr/>
          <p:nvPr/>
        </p:nvSpPr>
        <p:spPr>
          <a:xfrm>
            <a:off x="8412480" y="2551176"/>
            <a:ext cx="73152" cy="658368"/>
          </a:xfrm>
          <a:prstGeom prst="rect">
            <a:avLst/>
          </a:prstGeom>
          <a:solidFill>
            <a:srgbClr val="F26A4B"/>
          </a:solidFill>
          <a:ln/>
        </p:spPr>
      </p:sp>
      <p:sp>
        <p:nvSpPr>
          <p:cNvPr id="10" name="Text 8"/>
          <p:cNvSpPr/>
          <p:nvPr/>
        </p:nvSpPr>
        <p:spPr>
          <a:xfrm>
            <a:off x="8641080" y="2551176"/>
            <a:ext cx="2926080" cy="658368"/>
          </a:xfrm>
          <a:prstGeom prst="rect">
            <a:avLst/>
          </a:prstGeom>
          <a:noFill/>
          <a:ln/>
        </p:spPr>
        <p:txBody>
          <a:bodyPr wrap="square" lIns="0" tIns="0" rIns="0" bIns="0" rtlCol="0" anchor="ctr"/>
          <a:lstStyle/>
          <a:p>
            <a:pPr indent="0" marL="0">
              <a:buNone/>
            </a:pPr>
            <a:r>
              <a:rPr lang="en-US" sz="1200" b="1" spc="200" kern="0" dirty="0">
                <a:solidFill>
                  <a:srgbClr val="5EEAD4"/>
                </a:solidFill>
                <a:latin typeface="Calibri" pitchFamily="34" charset="0"/>
                <a:ea typeface="Calibri" pitchFamily="34" charset="-122"/>
                <a:cs typeface="Calibri" pitchFamily="34" charset="-120"/>
              </a:rPr>
              <a:t>RETRIEVAL</a:t>
            </a:r>
            <a:endParaRPr lang="en-US" sz="1200" dirty="0"/>
          </a:p>
        </p:txBody>
      </p:sp>
      <p:sp>
        <p:nvSpPr>
          <p:cNvPr id="11" name="Shape 9"/>
          <p:cNvSpPr/>
          <p:nvPr/>
        </p:nvSpPr>
        <p:spPr>
          <a:xfrm>
            <a:off x="8412480" y="3392424"/>
            <a:ext cx="3246120" cy="658368"/>
          </a:xfrm>
          <a:prstGeom prst="rect">
            <a:avLst/>
          </a:prstGeom>
          <a:solidFill>
            <a:srgbClr val="13283F"/>
          </a:solidFill>
          <a:ln/>
        </p:spPr>
      </p:sp>
      <p:sp>
        <p:nvSpPr>
          <p:cNvPr id="12" name="Shape 10"/>
          <p:cNvSpPr/>
          <p:nvPr/>
        </p:nvSpPr>
        <p:spPr>
          <a:xfrm>
            <a:off x="8412480" y="3392424"/>
            <a:ext cx="73152" cy="658368"/>
          </a:xfrm>
          <a:prstGeom prst="rect">
            <a:avLst/>
          </a:prstGeom>
          <a:solidFill>
            <a:srgbClr val="14B8A6"/>
          </a:solidFill>
          <a:ln/>
        </p:spPr>
      </p:sp>
      <p:sp>
        <p:nvSpPr>
          <p:cNvPr id="13" name="Text 11"/>
          <p:cNvSpPr/>
          <p:nvPr/>
        </p:nvSpPr>
        <p:spPr>
          <a:xfrm>
            <a:off x="8641080" y="3392424"/>
            <a:ext cx="2926080" cy="658368"/>
          </a:xfrm>
          <a:prstGeom prst="rect">
            <a:avLst/>
          </a:prstGeom>
          <a:noFill/>
          <a:ln/>
        </p:spPr>
        <p:txBody>
          <a:bodyPr wrap="square" lIns="0" tIns="0" rIns="0" bIns="0" rtlCol="0" anchor="ctr"/>
          <a:lstStyle/>
          <a:p>
            <a:pPr indent="0" marL="0">
              <a:buNone/>
            </a:pPr>
            <a:r>
              <a:rPr lang="en-US" sz="1200" b="1" spc="200" kern="0" dirty="0">
                <a:solidFill>
                  <a:srgbClr val="93A4BD"/>
                </a:solidFill>
                <a:latin typeface="Calibri" pitchFamily="34" charset="0"/>
                <a:ea typeface="Calibri" pitchFamily="34" charset="-122"/>
                <a:cs typeface="Calibri" pitchFamily="34" charset="-120"/>
              </a:rPr>
              <a:t>INTELLIGENCE</a:t>
            </a:r>
            <a:endParaRPr lang="en-US" sz="1200" dirty="0"/>
          </a:p>
        </p:txBody>
      </p:sp>
      <p:sp>
        <p:nvSpPr>
          <p:cNvPr id="14" name="Shape 12"/>
          <p:cNvSpPr/>
          <p:nvPr/>
        </p:nvSpPr>
        <p:spPr>
          <a:xfrm>
            <a:off x="8412480" y="4233672"/>
            <a:ext cx="3246120" cy="658368"/>
          </a:xfrm>
          <a:prstGeom prst="rect">
            <a:avLst/>
          </a:prstGeom>
          <a:solidFill>
            <a:srgbClr val="13283F"/>
          </a:solidFill>
          <a:ln/>
        </p:spPr>
      </p:sp>
      <p:sp>
        <p:nvSpPr>
          <p:cNvPr id="15" name="Shape 13"/>
          <p:cNvSpPr/>
          <p:nvPr/>
        </p:nvSpPr>
        <p:spPr>
          <a:xfrm>
            <a:off x="8412480" y="4233672"/>
            <a:ext cx="73152" cy="658368"/>
          </a:xfrm>
          <a:prstGeom prst="rect">
            <a:avLst/>
          </a:prstGeom>
          <a:solidFill>
            <a:srgbClr val="14B8A6"/>
          </a:solidFill>
          <a:ln/>
        </p:spPr>
      </p:sp>
      <p:sp>
        <p:nvSpPr>
          <p:cNvPr id="16" name="Text 14"/>
          <p:cNvSpPr/>
          <p:nvPr/>
        </p:nvSpPr>
        <p:spPr>
          <a:xfrm>
            <a:off x="8641080" y="4233672"/>
            <a:ext cx="2926080" cy="658368"/>
          </a:xfrm>
          <a:prstGeom prst="rect">
            <a:avLst/>
          </a:prstGeom>
          <a:noFill/>
          <a:ln/>
        </p:spPr>
        <p:txBody>
          <a:bodyPr wrap="square" lIns="0" tIns="0" rIns="0" bIns="0" rtlCol="0" anchor="ctr"/>
          <a:lstStyle/>
          <a:p>
            <a:pPr indent="0" marL="0">
              <a:buNone/>
            </a:pPr>
            <a:r>
              <a:rPr lang="en-US" sz="1200" b="1" spc="200" kern="0" dirty="0">
                <a:solidFill>
                  <a:srgbClr val="93A4BD"/>
                </a:solidFill>
                <a:latin typeface="Calibri" pitchFamily="34" charset="0"/>
                <a:ea typeface="Calibri" pitchFamily="34" charset="-122"/>
                <a:cs typeface="Calibri" pitchFamily="34" charset="-120"/>
              </a:rPr>
              <a:t>SERVING</a:t>
            </a:r>
            <a:endParaRPr lang="en-US" sz="1200" dirty="0"/>
          </a:p>
        </p:txBody>
      </p:sp>
      <p:sp>
        <p:nvSpPr>
          <p:cNvPr id="17" name="Text 15"/>
          <p:cNvSpPr/>
          <p:nvPr/>
        </p:nvSpPr>
        <p:spPr>
          <a:xfrm>
            <a:off x="566928" y="105156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ENTERPRISE AI · HEALTHCARE OPERATIONS · DATABRICKS</a:t>
            </a:r>
            <a:endParaRPr lang="en-US" sz="1150" dirty="0"/>
          </a:p>
        </p:txBody>
      </p:sp>
      <p:sp>
        <p:nvSpPr>
          <p:cNvPr id="18" name="Text 16"/>
          <p:cNvSpPr/>
          <p:nvPr/>
        </p:nvSpPr>
        <p:spPr>
          <a:xfrm>
            <a:off x="566928" y="1554480"/>
            <a:ext cx="7863840" cy="2194560"/>
          </a:xfrm>
          <a:prstGeom prst="rect">
            <a:avLst/>
          </a:prstGeom>
          <a:noFill/>
          <a:ln/>
        </p:spPr>
        <p:txBody>
          <a:bodyPr wrap="square" lIns="0" tIns="0" rIns="0" bIns="0" rtlCol="0" anchor="t"/>
          <a:lstStyle/>
          <a:p>
            <a:pPr indent="0" marL="0">
              <a:lnSpc>
                <a:spcPts val="5000"/>
              </a:lnSpc>
              <a:buNone/>
            </a:pPr>
            <a:r>
              <a:rPr lang="en-US" sz="4600" b="1" dirty="0">
                <a:solidFill>
                  <a:srgbClr val="FFFFFF"/>
                </a:solidFill>
                <a:latin typeface="Georgia" pitchFamily="34" charset="0"/>
                <a:ea typeface="Georgia" pitchFamily="34" charset="-122"/>
                <a:cs typeface="Georgia" pitchFamily="34" charset="-120"/>
              </a:rPr>
              <a:t>Provider Contract</a:t>
            </a:r>
            <a:endParaRPr lang="en-US" sz="4600" dirty="0"/>
          </a:p>
          <a:p>
            <a:pPr indent="0" marL="0">
              <a:lnSpc>
                <a:spcPts val="5000"/>
              </a:lnSpc>
              <a:buNone/>
            </a:pPr>
            <a:r>
              <a:rPr lang="en-US" sz="4600" b="1" dirty="0">
                <a:solidFill>
                  <a:srgbClr val="FFFFFF"/>
                </a:solidFill>
                <a:latin typeface="Georgia" pitchFamily="34" charset="0"/>
                <a:ea typeface="Georgia" pitchFamily="34" charset="-122"/>
                <a:cs typeface="Georgia" pitchFamily="34" charset="-120"/>
              </a:rPr>
              <a:t>Intelligence Platform</a:t>
            </a:r>
            <a:endParaRPr lang="en-US" sz="4600" dirty="0"/>
          </a:p>
        </p:txBody>
      </p:sp>
      <p:sp>
        <p:nvSpPr>
          <p:cNvPr id="19" name="Shape 17"/>
          <p:cNvSpPr/>
          <p:nvPr/>
        </p:nvSpPr>
        <p:spPr>
          <a:xfrm>
            <a:off x="585216" y="3794760"/>
            <a:ext cx="777240" cy="54864"/>
          </a:xfrm>
          <a:prstGeom prst="rect">
            <a:avLst/>
          </a:prstGeom>
          <a:solidFill>
            <a:srgbClr val="F26A4B"/>
          </a:solidFill>
          <a:ln/>
        </p:spPr>
      </p:sp>
      <p:sp>
        <p:nvSpPr>
          <p:cNvPr id="20" name="Text 18"/>
          <p:cNvSpPr/>
          <p:nvPr/>
        </p:nvSpPr>
        <p:spPr>
          <a:xfrm>
            <a:off x="566928" y="3977640"/>
            <a:ext cx="7589520" cy="822960"/>
          </a:xfrm>
          <a:prstGeom prst="rect">
            <a:avLst/>
          </a:prstGeom>
          <a:noFill/>
          <a:ln/>
        </p:spPr>
        <p:txBody>
          <a:bodyPr wrap="square" lIns="0" tIns="0" rIns="0" bIns="0" rtlCol="0" anchor="ctr"/>
          <a:lstStyle/>
          <a:p>
            <a:pPr indent="0" marL="0">
              <a:lnSpc>
                <a:spcPts val="2200"/>
              </a:lnSpc>
              <a:buNone/>
            </a:pPr>
            <a:r>
              <a:rPr lang="en-US" sz="1600" i="1" dirty="0">
                <a:solidFill>
                  <a:srgbClr val="5EEAD4"/>
                </a:solidFill>
                <a:latin typeface="Calibri" pitchFamily="34" charset="0"/>
                <a:ea typeface="Calibri" pitchFamily="34" charset="-122"/>
                <a:cs typeface="Calibri" pitchFamily="34" charset="-120"/>
              </a:rPr>
              <a:t>Transforming unstructured provider contracts into governed, queryable operational intelligence.</a:t>
            </a:r>
            <a:endParaRPr lang="en-US" sz="1600" dirty="0"/>
          </a:p>
        </p:txBody>
      </p:sp>
      <p:sp>
        <p:nvSpPr>
          <p:cNvPr id="21" name="Text 19"/>
          <p:cNvSpPr/>
          <p:nvPr/>
        </p:nvSpPr>
        <p:spPr>
          <a:xfrm>
            <a:off x="566928" y="5349240"/>
            <a:ext cx="2468880" cy="548640"/>
          </a:xfrm>
          <a:prstGeom prst="rect">
            <a:avLst/>
          </a:prstGeom>
          <a:noFill/>
          <a:ln/>
        </p:spPr>
        <p:txBody>
          <a:bodyPr wrap="square" lIns="0" tIns="0" rIns="0" bIns="0" rtlCol="0" anchor="ctr"/>
          <a:lstStyle/>
          <a:p>
            <a:pPr algn="l" indent="0" marL="0">
              <a:buNone/>
            </a:pPr>
            <a:r>
              <a:rPr lang="en-US" sz="2600" b="1" dirty="0">
                <a:solidFill>
                  <a:srgbClr val="F26A4B"/>
                </a:solidFill>
                <a:latin typeface="Georgia" pitchFamily="34" charset="0"/>
                <a:ea typeface="Georgia" pitchFamily="34" charset="-122"/>
                <a:cs typeface="Georgia" pitchFamily="34" charset="-120"/>
              </a:rPr>
              <a:t>10,372</a:t>
            </a:r>
            <a:endParaRPr lang="en-US" sz="2600" dirty="0"/>
          </a:p>
        </p:txBody>
      </p:sp>
      <p:sp>
        <p:nvSpPr>
          <p:cNvPr id="22" name="Text 20"/>
          <p:cNvSpPr/>
          <p:nvPr/>
        </p:nvSpPr>
        <p:spPr>
          <a:xfrm>
            <a:off x="566928" y="5897880"/>
            <a:ext cx="2468880" cy="365760"/>
          </a:xfrm>
          <a:prstGeom prst="rect">
            <a:avLst/>
          </a:prstGeom>
          <a:noFill/>
          <a:ln/>
        </p:spPr>
        <p:txBody>
          <a:bodyPr wrap="square" lIns="0" tIns="0" rIns="0" bIns="0" rtlCol="0" anchor="ctr"/>
          <a:lstStyle/>
          <a:p>
            <a:pPr algn="l" indent="0" marL="0">
              <a:buNone/>
            </a:pPr>
            <a:r>
              <a:rPr lang="en-US" sz="900" b="1" spc="120" kern="0" dirty="0">
                <a:solidFill>
                  <a:srgbClr val="93A4BD"/>
                </a:solidFill>
                <a:latin typeface="Calibri" pitchFamily="34" charset="0"/>
                <a:ea typeface="Calibri" pitchFamily="34" charset="-122"/>
                <a:cs typeface="Calibri" pitchFamily="34" charset="-120"/>
              </a:rPr>
              <a:t>CONTRACTS PROCESSED</a:t>
            </a:r>
            <a:endParaRPr lang="en-US" sz="900" dirty="0"/>
          </a:p>
        </p:txBody>
      </p:sp>
      <p:sp>
        <p:nvSpPr>
          <p:cNvPr id="23" name="Text 21"/>
          <p:cNvSpPr/>
          <p:nvPr/>
        </p:nvSpPr>
        <p:spPr>
          <a:xfrm>
            <a:off x="3355848" y="5349240"/>
            <a:ext cx="2468880" cy="548640"/>
          </a:xfrm>
          <a:prstGeom prst="rect">
            <a:avLst/>
          </a:prstGeom>
          <a:noFill/>
          <a:ln/>
        </p:spPr>
        <p:txBody>
          <a:bodyPr wrap="square" lIns="0" tIns="0" rIns="0" bIns="0" rtlCol="0" anchor="ctr"/>
          <a:lstStyle/>
          <a:p>
            <a:pPr algn="l" indent="0" marL="0">
              <a:buNone/>
            </a:pPr>
            <a:r>
              <a:rPr lang="en-US" sz="2600" b="1" dirty="0">
                <a:solidFill>
                  <a:srgbClr val="5EEAD4"/>
                </a:solidFill>
                <a:latin typeface="Georgia" pitchFamily="34" charset="0"/>
                <a:ea typeface="Georgia" pitchFamily="34" charset="-122"/>
                <a:cs typeface="Georgia" pitchFamily="34" charset="-120"/>
              </a:rPr>
              <a:t>~27 GB</a:t>
            </a:r>
            <a:endParaRPr lang="en-US" sz="2600" dirty="0"/>
          </a:p>
        </p:txBody>
      </p:sp>
      <p:sp>
        <p:nvSpPr>
          <p:cNvPr id="24" name="Text 22"/>
          <p:cNvSpPr/>
          <p:nvPr/>
        </p:nvSpPr>
        <p:spPr>
          <a:xfrm>
            <a:off x="3355848" y="5897880"/>
            <a:ext cx="2468880" cy="365760"/>
          </a:xfrm>
          <a:prstGeom prst="rect">
            <a:avLst/>
          </a:prstGeom>
          <a:noFill/>
          <a:ln/>
        </p:spPr>
        <p:txBody>
          <a:bodyPr wrap="square" lIns="0" tIns="0" rIns="0" bIns="0" rtlCol="0" anchor="ctr"/>
          <a:lstStyle/>
          <a:p>
            <a:pPr algn="l" indent="0" marL="0">
              <a:buNone/>
            </a:pPr>
            <a:r>
              <a:rPr lang="en-US" sz="900" b="1" spc="120" kern="0" dirty="0">
                <a:solidFill>
                  <a:srgbClr val="93A4BD"/>
                </a:solidFill>
                <a:latin typeface="Calibri" pitchFamily="34" charset="0"/>
                <a:ea typeface="Calibri" pitchFamily="34" charset="-122"/>
                <a:cs typeface="Calibri" pitchFamily="34" charset="-120"/>
              </a:rPr>
              <a:t>DOCUMENT CORPUS</a:t>
            </a:r>
            <a:endParaRPr lang="en-US" sz="900" dirty="0"/>
          </a:p>
        </p:txBody>
      </p:sp>
      <p:sp>
        <p:nvSpPr>
          <p:cNvPr id="25" name="Text 23"/>
          <p:cNvSpPr/>
          <p:nvPr/>
        </p:nvSpPr>
        <p:spPr>
          <a:xfrm>
            <a:off x="6144768" y="5349240"/>
            <a:ext cx="2468880" cy="548640"/>
          </a:xfrm>
          <a:prstGeom prst="rect">
            <a:avLst/>
          </a:prstGeom>
          <a:noFill/>
          <a:ln/>
        </p:spPr>
        <p:txBody>
          <a:bodyPr wrap="square" lIns="0" tIns="0" rIns="0" bIns="0" rtlCol="0" anchor="ctr"/>
          <a:lstStyle/>
          <a:p>
            <a:pPr algn="l" indent="0" marL="0">
              <a:buNone/>
            </a:pPr>
            <a:r>
              <a:rPr lang="en-US" sz="2600" b="1" dirty="0">
                <a:solidFill>
                  <a:srgbClr val="5EEAD4"/>
                </a:solidFill>
                <a:latin typeface="Georgia" pitchFamily="34" charset="0"/>
                <a:ea typeface="Georgia" pitchFamily="34" charset="-122"/>
                <a:cs typeface="Georgia" pitchFamily="34" charset="-120"/>
              </a:rPr>
              <a:t>81K+</a:t>
            </a:r>
            <a:endParaRPr lang="en-US" sz="2600" dirty="0"/>
          </a:p>
        </p:txBody>
      </p:sp>
      <p:sp>
        <p:nvSpPr>
          <p:cNvPr id="26" name="Text 24"/>
          <p:cNvSpPr/>
          <p:nvPr/>
        </p:nvSpPr>
        <p:spPr>
          <a:xfrm>
            <a:off x="6144768" y="5897880"/>
            <a:ext cx="2468880" cy="365760"/>
          </a:xfrm>
          <a:prstGeom prst="rect">
            <a:avLst/>
          </a:prstGeom>
          <a:noFill/>
          <a:ln/>
        </p:spPr>
        <p:txBody>
          <a:bodyPr wrap="square" lIns="0" tIns="0" rIns="0" bIns="0" rtlCol="0" anchor="ctr"/>
          <a:lstStyle/>
          <a:p>
            <a:pPr algn="l" indent="0" marL="0">
              <a:buNone/>
            </a:pPr>
            <a:r>
              <a:rPr lang="en-US" sz="900" b="1" spc="120" kern="0" dirty="0">
                <a:solidFill>
                  <a:srgbClr val="93A4BD"/>
                </a:solidFill>
                <a:latin typeface="Calibri" pitchFamily="34" charset="0"/>
                <a:ea typeface="Calibri" pitchFamily="34" charset="-122"/>
                <a:cs typeface="Calibri" pitchFamily="34" charset="-120"/>
              </a:rPr>
              <a:t>RATE LINES EXTRACTED</a:t>
            </a:r>
            <a:endParaRPr lang="en-US" sz="900" dirty="0"/>
          </a:p>
        </p:txBody>
      </p:sp>
      <p:sp>
        <p:nvSpPr>
          <p:cNvPr id="27" name="Text 25"/>
          <p:cNvSpPr/>
          <p:nvPr/>
        </p:nvSpPr>
        <p:spPr>
          <a:xfrm>
            <a:off x="8933688" y="5349240"/>
            <a:ext cx="2468880" cy="548640"/>
          </a:xfrm>
          <a:prstGeom prst="rect">
            <a:avLst/>
          </a:prstGeom>
          <a:noFill/>
          <a:ln/>
        </p:spPr>
        <p:txBody>
          <a:bodyPr wrap="square" lIns="0" tIns="0" rIns="0" bIns="0" rtlCol="0" anchor="ctr"/>
          <a:lstStyle/>
          <a:p>
            <a:pPr algn="l" indent="0" marL="0">
              <a:buNone/>
            </a:pPr>
            <a:r>
              <a:rPr lang="en-US" sz="2600" b="1" dirty="0">
                <a:solidFill>
                  <a:srgbClr val="5EEAD4"/>
                </a:solidFill>
                <a:latin typeface="Georgia" pitchFamily="34" charset="0"/>
                <a:ea typeface="Georgia" pitchFamily="34" charset="-122"/>
                <a:cs typeface="Georgia" pitchFamily="34" charset="-120"/>
              </a:rPr>
              <a:t>83K+</a:t>
            </a:r>
            <a:endParaRPr lang="en-US" sz="2600" dirty="0"/>
          </a:p>
        </p:txBody>
      </p:sp>
      <p:sp>
        <p:nvSpPr>
          <p:cNvPr id="28" name="Text 26"/>
          <p:cNvSpPr/>
          <p:nvPr/>
        </p:nvSpPr>
        <p:spPr>
          <a:xfrm>
            <a:off x="8933688" y="5897880"/>
            <a:ext cx="2468880" cy="365760"/>
          </a:xfrm>
          <a:prstGeom prst="rect">
            <a:avLst/>
          </a:prstGeom>
          <a:noFill/>
          <a:ln/>
        </p:spPr>
        <p:txBody>
          <a:bodyPr wrap="square" lIns="0" tIns="0" rIns="0" bIns="0" rtlCol="0" anchor="ctr"/>
          <a:lstStyle/>
          <a:p>
            <a:pPr algn="l" indent="0" marL="0">
              <a:buNone/>
            </a:pPr>
            <a:r>
              <a:rPr lang="en-US" sz="900" b="1" spc="120" kern="0" dirty="0">
                <a:solidFill>
                  <a:srgbClr val="93A4BD"/>
                </a:solidFill>
                <a:latin typeface="Calibri" pitchFamily="34" charset="0"/>
                <a:ea typeface="Calibri" pitchFamily="34" charset="-122"/>
                <a:cs typeface="Calibri" pitchFamily="34" charset="-120"/>
              </a:rPr>
              <a:t>LEGAL RETRIEVAL UNITS</a:t>
            </a:r>
            <a:endParaRPr lang="en-US" sz="900" dirty="0"/>
          </a:p>
        </p:txBody>
      </p:sp>
      <p:sp>
        <p:nvSpPr>
          <p:cNvPr id="29" name="Text 27"/>
          <p:cNvSpPr/>
          <p:nvPr/>
        </p:nvSpPr>
        <p:spPr>
          <a:xfrm>
            <a:off x="566928" y="6400800"/>
            <a:ext cx="10058400" cy="274320"/>
          </a:xfrm>
          <a:prstGeom prst="rect">
            <a:avLst/>
          </a:prstGeom>
          <a:noFill/>
          <a:ln/>
        </p:spPr>
        <p:txBody>
          <a:bodyPr wrap="square" lIns="0" tIns="0" rIns="0" bIns="0" rtlCol="0" anchor="ctr"/>
          <a:lstStyle/>
          <a:p>
            <a:pPr indent="0" marL="0">
              <a:buNone/>
            </a:pPr>
            <a:r>
              <a:rPr lang="en-US" sz="950" spc="100" kern="0" dirty="0">
                <a:solidFill>
                  <a:srgbClr val="93A4BD"/>
                </a:solidFill>
                <a:latin typeface="Calibri" pitchFamily="34" charset="0"/>
                <a:ea typeface="Calibri" pitchFamily="34" charset="-122"/>
                <a:cs typeface="Calibri" pitchFamily="34" charset="-120"/>
              </a:rPr>
              <a:t>Executive Briefing  ·  Blue Shield of California  ·  Provider Contracting Analytics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2E"/>
        </a:solidFill>
      </p:bgPr>
    </p:bg>
    <p:spTree>
      <p:nvGrpSpPr>
        <p:cNvPr id="1" name=""/>
        <p:cNvGrpSpPr/>
        <p:nvPr/>
      </p:nvGrpSpPr>
      <p:grpSpPr>
        <a:xfrm>
          <a:off x="0" y="0"/>
          <a:ext cx="0" cy="0"/>
          <a:chOff x="0" y="0"/>
          <a:chExt cx="0" cy="0"/>
        </a:xfrm>
      </p:grpSpPr>
      <p:sp>
        <p:nvSpPr>
          <p:cNvPr id="2" name="Text 0"/>
          <p:cNvSpPr/>
          <p:nvPr/>
        </p:nvSpPr>
        <p:spPr>
          <a:xfrm>
            <a:off x="566928" y="54864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THE ONE THING TO REMEMBER</a:t>
            </a:r>
            <a:endParaRPr lang="en-US" sz="1150" dirty="0"/>
          </a:p>
        </p:txBody>
      </p:sp>
      <p:sp>
        <p:nvSpPr>
          <p:cNvPr id="3" name="Text 1"/>
          <p:cNvSpPr/>
          <p:nvPr/>
        </p:nvSpPr>
        <p:spPr>
          <a:xfrm>
            <a:off x="566928" y="960120"/>
            <a:ext cx="11057839" cy="1371600"/>
          </a:xfrm>
          <a:prstGeom prst="rect">
            <a:avLst/>
          </a:prstGeom>
          <a:noFill/>
          <a:ln/>
        </p:spPr>
        <p:txBody>
          <a:bodyPr wrap="square" lIns="0" tIns="0" rIns="0" bIns="0" rtlCol="0" anchor="t"/>
          <a:lstStyle/>
          <a:p>
            <a:pPr indent="0" marL="0">
              <a:lnSpc>
                <a:spcPts val="3800"/>
              </a:lnSpc>
              <a:buNone/>
            </a:pPr>
            <a:r>
              <a:rPr lang="en-US" sz="3000" b="1" dirty="0">
                <a:solidFill>
                  <a:srgbClr val="FFFFFF"/>
                </a:solidFill>
                <a:latin typeface="Georgia" pitchFamily="34" charset="0"/>
                <a:ea typeface="Georgia" pitchFamily="34" charset="-122"/>
                <a:cs typeface="Georgia" pitchFamily="34" charset="-120"/>
              </a:rPr>
              <a:t>We turned a 27 GB archive of static PDFs into a </a:t>
            </a:r>
            <a:pPr indent="0" marL="0">
              <a:lnSpc>
                <a:spcPts val="3800"/>
              </a:lnSpc>
              <a:buNone/>
            </a:pPr>
            <a:r>
              <a:rPr lang="en-US" sz="3000" b="1" dirty="0">
                <a:solidFill>
                  <a:srgbClr val="5EEAD4"/>
                </a:solidFill>
                <a:latin typeface="Georgia" pitchFamily="34" charset="0"/>
                <a:ea typeface="Georgia" pitchFamily="34" charset="-122"/>
                <a:cs typeface="Georgia" pitchFamily="34" charset="-120"/>
              </a:rPr>
              <a:t>governed intelligence layer</a:t>
            </a:r>
            <a:pPr indent="0" marL="0">
              <a:lnSpc>
                <a:spcPts val="3800"/>
              </a:lnSpc>
              <a:buNone/>
            </a:pPr>
            <a:r>
              <a:rPr lang="en-US" sz="3000" b="1" dirty="0">
                <a:solidFill>
                  <a:srgbClr val="FFFFFF"/>
                </a:solidFill>
                <a:latin typeface="Georgia" pitchFamily="34" charset="0"/>
                <a:ea typeface="Georgia" pitchFamily="34" charset="-122"/>
                <a:cs typeface="Georgia" pitchFamily="34" charset="-120"/>
              </a:rPr>
              <a:t> the business can simply ask questions of.</a:t>
            </a:r>
            <a:endParaRPr lang="en-US" sz="3000" dirty="0"/>
          </a:p>
        </p:txBody>
      </p:sp>
      <p:sp>
        <p:nvSpPr>
          <p:cNvPr id="4" name="Shape 2"/>
          <p:cNvSpPr/>
          <p:nvPr/>
        </p:nvSpPr>
        <p:spPr>
          <a:xfrm>
            <a:off x="566928" y="2697480"/>
            <a:ext cx="3472586" cy="214884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5" name="Shape 3"/>
          <p:cNvSpPr/>
          <p:nvPr/>
        </p:nvSpPr>
        <p:spPr>
          <a:xfrm>
            <a:off x="566928" y="2697480"/>
            <a:ext cx="3472586" cy="73152"/>
          </a:xfrm>
          <a:prstGeom prst="rect">
            <a:avLst/>
          </a:prstGeom>
          <a:solidFill>
            <a:srgbClr val="14B8A6"/>
          </a:solidFill>
          <a:ln/>
        </p:spPr>
      </p:sp>
      <p:sp>
        <p:nvSpPr>
          <p:cNvPr id="6" name="Text 4"/>
          <p:cNvSpPr/>
          <p:nvPr/>
        </p:nvSpPr>
        <p:spPr>
          <a:xfrm>
            <a:off x="859536" y="2926080"/>
            <a:ext cx="1097280" cy="548640"/>
          </a:xfrm>
          <a:prstGeom prst="rect">
            <a:avLst/>
          </a:prstGeom>
          <a:noFill/>
          <a:ln/>
        </p:spPr>
        <p:txBody>
          <a:bodyPr wrap="square" lIns="0" tIns="0" rIns="0" bIns="0" rtlCol="0" anchor="ctr"/>
          <a:lstStyle/>
          <a:p>
            <a:pPr indent="0" marL="0">
              <a:buNone/>
            </a:pPr>
            <a:r>
              <a:rPr lang="en-US" sz="2600" b="1" dirty="0">
                <a:solidFill>
                  <a:srgbClr val="5EEAD4"/>
                </a:solidFill>
                <a:latin typeface="Georgia" pitchFamily="34" charset="0"/>
                <a:ea typeface="Georgia" pitchFamily="34" charset="-122"/>
                <a:cs typeface="Georgia" pitchFamily="34" charset="-120"/>
              </a:rPr>
              <a:t>01</a:t>
            </a:r>
            <a:endParaRPr lang="en-US" sz="2600" dirty="0"/>
          </a:p>
        </p:txBody>
      </p:sp>
      <p:sp>
        <p:nvSpPr>
          <p:cNvPr id="7" name="Text 5"/>
          <p:cNvSpPr/>
          <p:nvPr/>
        </p:nvSpPr>
        <p:spPr>
          <a:xfrm>
            <a:off x="859536" y="3520440"/>
            <a:ext cx="2923946" cy="640080"/>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Business transformation first</a:t>
            </a:r>
            <a:endParaRPr lang="en-US" sz="1450" dirty="0"/>
          </a:p>
        </p:txBody>
      </p:sp>
      <p:sp>
        <p:nvSpPr>
          <p:cNvPr id="8" name="Text 6"/>
          <p:cNvSpPr/>
          <p:nvPr/>
        </p:nvSpPr>
        <p:spPr>
          <a:xfrm>
            <a:off x="859536" y="4114800"/>
            <a:ext cx="2923946" cy="685800"/>
          </a:xfrm>
          <a:prstGeom prst="rect">
            <a:avLst/>
          </a:prstGeom>
          <a:noFill/>
          <a:ln/>
        </p:spPr>
        <p:txBody>
          <a:bodyPr wrap="square" lIns="0" tIns="0" rIns="0" bIns="0" rtlCol="0" anchor="ctr"/>
          <a:lstStyle/>
          <a:p>
            <a:pPr indent="0" marL="0">
              <a:lnSpc>
                <a:spcPts val="1500"/>
              </a:lnSpc>
              <a:buNone/>
            </a:pPr>
            <a:r>
              <a:rPr lang="en-US" sz="1100" dirty="0">
                <a:solidFill>
                  <a:srgbClr val="93A4BD"/>
                </a:solidFill>
                <a:latin typeface="Calibri" pitchFamily="34" charset="0"/>
                <a:ea typeface="Calibri" pitchFamily="34" charset="-122"/>
                <a:cs typeface="Calibri" pitchFamily="34" charset="-120"/>
              </a:rPr>
              <a:t>Contract lookup drops from hours to seconds; negotiation prep from days to minutes — self-service for 200+ users.</a:t>
            </a:r>
            <a:endParaRPr lang="en-US" sz="1100" dirty="0"/>
          </a:p>
        </p:txBody>
      </p:sp>
      <p:sp>
        <p:nvSpPr>
          <p:cNvPr id="9" name="Shape 7"/>
          <p:cNvSpPr/>
          <p:nvPr/>
        </p:nvSpPr>
        <p:spPr>
          <a:xfrm>
            <a:off x="4359554" y="2697480"/>
            <a:ext cx="3472586" cy="214884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0" name="Shape 8"/>
          <p:cNvSpPr/>
          <p:nvPr/>
        </p:nvSpPr>
        <p:spPr>
          <a:xfrm>
            <a:off x="4359554" y="2697480"/>
            <a:ext cx="3472586" cy="73152"/>
          </a:xfrm>
          <a:prstGeom prst="rect">
            <a:avLst/>
          </a:prstGeom>
          <a:solidFill>
            <a:srgbClr val="F26A4B"/>
          </a:solidFill>
          <a:ln/>
        </p:spPr>
      </p:sp>
      <p:sp>
        <p:nvSpPr>
          <p:cNvPr id="11" name="Text 9"/>
          <p:cNvSpPr/>
          <p:nvPr/>
        </p:nvSpPr>
        <p:spPr>
          <a:xfrm>
            <a:off x="4652162" y="2926080"/>
            <a:ext cx="1097280" cy="548640"/>
          </a:xfrm>
          <a:prstGeom prst="rect">
            <a:avLst/>
          </a:prstGeom>
          <a:noFill/>
          <a:ln/>
        </p:spPr>
        <p:txBody>
          <a:bodyPr wrap="square" lIns="0" tIns="0" rIns="0" bIns="0" rtlCol="0" anchor="ctr"/>
          <a:lstStyle/>
          <a:p>
            <a:pPr indent="0" marL="0">
              <a:buNone/>
            </a:pPr>
            <a:r>
              <a:rPr lang="en-US" sz="2600" b="1" dirty="0">
                <a:solidFill>
                  <a:srgbClr val="F26A4B"/>
                </a:solidFill>
                <a:latin typeface="Georgia" pitchFamily="34" charset="0"/>
                <a:ea typeface="Georgia" pitchFamily="34" charset="-122"/>
                <a:cs typeface="Georgia" pitchFamily="34" charset="-120"/>
              </a:rPr>
              <a:t>02</a:t>
            </a:r>
            <a:endParaRPr lang="en-US" sz="2600" dirty="0"/>
          </a:p>
        </p:txBody>
      </p:sp>
      <p:sp>
        <p:nvSpPr>
          <p:cNvPr id="12" name="Text 10"/>
          <p:cNvSpPr/>
          <p:nvPr/>
        </p:nvSpPr>
        <p:spPr>
          <a:xfrm>
            <a:off x="4652162" y="3520440"/>
            <a:ext cx="2923946" cy="640080"/>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AI applied with control</a:t>
            </a:r>
            <a:endParaRPr lang="en-US" sz="1450" dirty="0"/>
          </a:p>
        </p:txBody>
      </p:sp>
      <p:sp>
        <p:nvSpPr>
          <p:cNvPr id="13" name="Text 11"/>
          <p:cNvSpPr/>
          <p:nvPr/>
        </p:nvSpPr>
        <p:spPr>
          <a:xfrm>
            <a:off x="4652162" y="4114800"/>
            <a:ext cx="2923946" cy="685800"/>
          </a:xfrm>
          <a:prstGeom prst="rect">
            <a:avLst/>
          </a:prstGeom>
          <a:noFill/>
          <a:ln/>
        </p:spPr>
        <p:txBody>
          <a:bodyPr wrap="square" lIns="0" tIns="0" rIns="0" bIns="0" rtlCol="0" anchor="ctr"/>
          <a:lstStyle/>
          <a:p>
            <a:pPr indent="0" marL="0">
              <a:lnSpc>
                <a:spcPts val="1500"/>
              </a:lnSpc>
              <a:buNone/>
            </a:pPr>
            <a:r>
              <a:rPr lang="en-US" sz="1100" dirty="0">
                <a:solidFill>
                  <a:srgbClr val="93A4BD"/>
                </a:solidFill>
                <a:latin typeface="Calibri" pitchFamily="34" charset="0"/>
                <a:ea typeface="Calibri" pitchFamily="34" charset="-122"/>
                <a:cs typeface="Calibri" pitchFamily="34" charset="-120"/>
              </a:rPr>
              <a:t>Claude Sonnet 4.5 extraction, OCR and RAG — wrapped in deterministic validation, audit and citation grounding.</a:t>
            </a:r>
            <a:endParaRPr lang="en-US" sz="1100" dirty="0"/>
          </a:p>
        </p:txBody>
      </p:sp>
      <p:sp>
        <p:nvSpPr>
          <p:cNvPr id="14" name="Shape 12"/>
          <p:cNvSpPr/>
          <p:nvPr/>
        </p:nvSpPr>
        <p:spPr>
          <a:xfrm>
            <a:off x="8152181" y="2697480"/>
            <a:ext cx="3472586" cy="214884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5" name="Shape 13"/>
          <p:cNvSpPr/>
          <p:nvPr/>
        </p:nvSpPr>
        <p:spPr>
          <a:xfrm>
            <a:off x="8152181" y="2697480"/>
            <a:ext cx="3472586" cy="73152"/>
          </a:xfrm>
          <a:prstGeom prst="rect">
            <a:avLst/>
          </a:prstGeom>
          <a:solidFill>
            <a:srgbClr val="14B8A6"/>
          </a:solidFill>
          <a:ln/>
        </p:spPr>
      </p:sp>
      <p:sp>
        <p:nvSpPr>
          <p:cNvPr id="16" name="Text 14"/>
          <p:cNvSpPr/>
          <p:nvPr/>
        </p:nvSpPr>
        <p:spPr>
          <a:xfrm>
            <a:off x="8444789" y="2926080"/>
            <a:ext cx="1097280" cy="548640"/>
          </a:xfrm>
          <a:prstGeom prst="rect">
            <a:avLst/>
          </a:prstGeom>
          <a:noFill/>
          <a:ln/>
        </p:spPr>
        <p:txBody>
          <a:bodyPr wrap="square" lIns="0" tIns="0" rIns="0" bIns="0" rtlCol="0" anchor="ctr"/>
          <a:lstStyle/>
          <a:p>
            <a:pPr indent="0" marL="0">
              <a:buNone/>
            </a:pPr>
            <a:r>
              <a:rPr lang="en-US" sz="2600" b="1" dirty="0">
                <a:solidFill>
                  <a:srgbClr val="5EEAD4"/>
                </a:solidFill>
                <a:latin typeface="Georgia" pitchFamily="34" charset="0"/>
                <a:ea typeface="Georgia" pitchFamily="34" charset="-122"/>
                <a:cs typeface="Georgia" pitchFamily="34" charset="-120"/>
              </a:rPr>
              <a:t>03</a:t>
            </a:r>
            <a:endParaRPr lang="en-US" sz="2600" dirty="0"/>
          </a:p>
        </p:txBody>
      </p:sp>
      <p:sp>
        <p:nvSpPr>
          <p:cNvPr id="17" name="Text 15"/>
          <p:cNvSpPr/>
          <p:nvPr/>
        </p:nvSpPr>
        <p:spPr>
          <a:xfrm>
            <a:off x="8444789" y="3520440"/>
            <a:ext cx="2923946" cy="640080"/>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Enterprise by construction</a:t>
            </a:r>
            <a:endParaRPr lang="en-US" sz="1450" dirty="0"/>
          </a:p>
        </p:txBody>
      </p:sp>
      <p:sp>
        <p:nvSpPr>
          <p:cNvPr id="18" name="Text 16"/>
          <p:cNvSpPr/>
          <p:nvPr/>
        </p:nvSpPr>
        <p:spPr>
          <a:xfrm>
            <a:off x="8444789" y="4114800"/>
            <a:ext cx="2923946" cy="685800"/>
          </a:xfrm>
          <a:prstGeom prst="rect">
            <a:avLst/>
          </a:prstGeom>
          <a:noFill/>
          <a:ln/>
        </p:spPr>
        <p:txBody>
          <a:bodyPr wrap="square" lIns="0" tIns="0" rIns="0" bIns="0" rtlCol="0" anchor="ctr"/>
          <a:lstStyle/>
          <a:p>
            <a:pPr indent="0" marL="0">
              <a:lnSpc>
                <a:spcPts val="1500"/>
              </a:lnSpc>
              <a:buNone/>
            </a:pPr>
            <a:r>
              <a:rPr lang="en-US" sz="1100" dirty="0">
                <a:solidFill>
                  <a:srgbClr val="93A4BD"/>
                </a:solidFill>
                <a:latin typeface="Calibri" pitchFamily="34" charset="0"/>
                <a:ea typeface="Calibri" pitchFamily="34" charset="-122"/>
                <a:cs typeface="Calibri" pitchFamily="34" charset="-120"/>
              </a:rPr>
              <a:t>Built on Databricks: Delta Lake, Unity Catalog governance, lineage and telemetry. Production-oriented, not a prototype.</a:t>
            </a:r>
            <a:endParaRPr lang="en-US" sz="1100" dirty="0"/>
          </a:p>
        </p:txBody>
      </p:sp>
      <p:sp>
        <p:nvSpPr>
          <p:cNvPr id="19" name="Text 17"/>
          <p:cNvSpPr/>
          <p:nvPr/>
        </p:nvSpPr>
        <p:spPr>
          <a:xfrm>
            <a:off x="566928" y="5074920"/>
            <a:ext cx="5486400" cy="274320"/>
          </a:xfrm>
          <a:prstGeom prst="rect">
            <a:avLst/>
          </a:prstGeom>
          <a:noFill/>
          <a:ln/>
        </p:spPr>
        <p:txBody>
          <a:bodyPr wrap="square" lIns="0" tIns="0" rIns="0" bIns="0" rtlCol="0" anchor="ctr"/>
          <a:lstStyle/>
          <a:p>
            <a:pPr indent="0" marL="0">
              <a:buNone/>
            </a:pPr>
            <a:r>
              <a:rPr lang="en-US" sz="1000" b="1" spc="250" kern="0" dirty="0">
                <a:solidFill>
                  <a:srgbClr val="14B8A6"/>
                </a:solidFill>
                <a:latin typeface="Calibri" pitchFamily="34" charset="0"/>
                <a:ea typeface="Calibri" pitchFamily="34" charset="-122"/>
                <a:cs typeface="Calibri" pitchFamily="34" charset="-120"/>
              </a:rPr>
              <a:t>PLATFORM AT A GLANCE</a:t>
            </a:r>
            <a:endParaRPr lang="en-US" sz="1000" dirty="0"/>
          </a:p>
        </p:txBody>
      </p:sp>
      <p:sp>
        <p:nvSpPr>
          <p:cNvPr id="20" name="Text 18"/>
          <p:cNvSpPr/>
          <p:nvPr/>
        </p:nvSpPr>
        <p:spPr>
          <a:xfrm>
            <a:off x="566928" y="5394960"/>
            <a:ext cx="2120128" cy="457200"/>
          </a:xfrm>
          <a:prstGeom prst="rect">
            <a:avLst/>
          </a:prstGeom>
          <a:noFill/>
          <a:ln/>
        </p:spPr>
        <p:txBody>
          <a:bodyPr wrap="square" lIns="0" tIns="0" rIns="0" bIns="0" rtlCol="0" anchor="ctr"/>
          <a:lstStyle/>
          <a:p>
            <a:pPr indent="0" marL="0">
              <a:buNone/>
            </a:pPr>
            <a:r>
              <a:rPr lang="en-US" sz="2100" b="1" dirty="0">
                <a:solidFill>
                  <a:srgbClr val="5EEAD4"/>
                </a:solidFill>
                <a:latin typeface="Georgia" pitchFamily="34" charset="0"/>
                <a:ea typeface="Georgia" pitchFamily="34" charset="-122"/>
                <a:cs typeface="Georgia" pitchFamily="34" charset="-120"/>
              </a:rPr>
              <a:t>284</a:t>
            </a:r>
            <a:endParaRPr lang="en-US" sz="2100" dirty="0"/>
          </a:p>
        </p:txBody>
      </p:sp>
      <p:sp>
        <p:nvSpPr>
          <p:cNvPr id="21" name="Text 19"/>
          <p:cNvSpPr/>
          <p:nvPr/>
        </p:nvSpPr>
        <p:spPr>
          <a:xfrm>
            <a:off x="566928" y="5870448"/>
            <a:ext cx="2120128" cy="457200"/>
          </a:xfrm>
          <a:prstGeom prst="rect">
            <a:avLst/>
          </a:prstGeom>
          <a:noFill/>
          <a:ln/>
        </p:spPr>
        <p:txBody>
          <a:bodyPr wrap="square" lIns="0" tIns="0" rIns="0" bIns="0" rtlCol="0" anchor="ctr"/>
          <a:lstStyle/>
          <a:p>
            <a:pPr indent="0" marL="0">
              <a:lnSpc>
                <a:spcPts val="1000"/>
              </a:lnSpc>
              <a:buNone/>
            </a:pPr>
            <a:r>
              <a:rPr lang="en-US" sz="850" b="1" spc="100" kern="0" dirty="0">
                <a:solidFill>
                  <a:srgbClr val="93A4BD"/>
                </a:solidFill>
                <a:latin typeface="Calibri" pitchFamily="34" charset="0"/>
                <a:ea typeface="Calibri" pitchFamily="34" charset="-122"/>
                <a:cs typeface="Calibri" pitchFamily="34" charset="-120"/>
              </a:rPr>
              <a:t>PROVIDER FACILITIES</a:t>
            </a:r>
            <a:endParaRPr lang="en-US" sz="850" dirty="0"/>
          </a:p>
        </p:txBody>
      </p:sp>
      <p:sp>
        <p:nvSpPr>
          <p:cNvPr id="22" name="Text 20"/>
          <p:cNvSpPr/>
          <p:nvPr/>
        </p:nvSpPr>
        <p:spPr>
          <a:xfrm>
            <a:off x="2778496" y="5394960"/>
            <a:ext cx="2120128" cy="457200"/>
          </a:xfrm>
          <a:prstGeom prst="rect">
            <a:avLst/>
          </a:prstGeom>
          <a:noFill/>
          <a:ln/>
        </p:spPr>
        <p:txBody>
          <a:bodyPr wrap="square" lIns="0" tIns="0" rIns="0" bIns="0" rtlCol="0" anchor="ctr"/>
          <a:lstStyle/>
          <a:p>
            <a:pPr indent="0" marL="0">
              <a:buNone/>
            </a:pPr>
            <a:r>
              <a:rPr lang="en-US" sz="2100" b="1" dirty="0">
                <a:solidFill>
                  <a:srgbClr val="5EEAD4"/>
                </a:solidFill>
                <a:latin typeface="Georgia" pitchFamily="34" charset="0"/>
                <a:ea typeface="Georgia" pitchFamily="34" charset="-122"/>
                <a:cs typeface="Georgia" pitchFamily="34" charset="-120"/>
              </a:rPr>
              <a:t>30+ yrs</a:t>
            </a:r>
            <a:endParaRPr lang="en-US" sz="2100" dirty="0"/>
          </a:p>
        </p:txBody>
      </p:sp>
      <p:sp>
        <p:nvSpPr>
          <p:cNvPr id="23" name="Text 21"/>
          <p:cNvSpPr/>
          <p:nvPr/>
        </p:nvSpPr>
        <p:spPr>
          <a:xfrm>
            <a:off x="2778496" y="5870448"/>
            <a:ext cx="2120128" cy="457200"/>
          </a:xfrm>
          <a:prstGeom prst="rect">
            <a:avLst/>
          </a:prstGeom>
          <a:noFill/>
          <a:ln/>
        </p:spPr>
        <p:txBody>
          <a:bodyPr wrap="square" lIns="0" tIns="0" rIns="0" bIns="0" rtlCol="0" anchor="ctr"/>
          <a:lstStyle/>
          <a:p>
            <a:pPr indent="0" marL="0">
              <a:lnSpc>
                <a:spcPts val="1000"/>
              </a:lnSpc>
              <a:buNone/>
            </a:pPr>
            <a:r>
              <a:rPr lang="en-US" sz="850" b="1" spc="100" kern="0" dirty="0">
                <a:solidFill>
                  <a:srgbClr val="93A4BD"/>
                </a:solidFill>
                <a:latin typeface="Calibri" pitchFamily="34" charset="0"/>
                <a:ea typeface="Calibri" pitchFamily="34" charset="-122"/>
                <a:cs typeface="Calibri" pitchFamily="34" charset="-120"/>
              </a:rPr>
              <a:t>AMENDMENT HISTORY</a:t>
            </a:r>
            <a:endParaRPr lang="en-US" sz="850" dirty="0"/>
          </a:p>
        </p:txBody>
      </p:sp>
      <p:sp>
        <p:nvSpPr>
          <p:cNvPr id="24" name="Text 22"/>
          <p:cNvSpPr/>
          <p:nvPr/>
        </p:nvSpPr>
        <p:spPr>
          <a:xfrm>
            <a:off x="4990064" y="5394960"/>
            <a:ext cx="2120128" cy="457200"/>
          </a:xfrm>
          <a:prstGeom prst="rect">
            <a:avLst/>
          </a:prstGeom>
          <a:noFill/>
          <a:ln/>
        </p:spPr>
        <p:txBody>
          <a:bodyPr wrap="square" lIns="0" tIns="0" rIns="0" bIns="0" rtlCol="0" anchor="ctr"/>
          <a:lstStyle/>
          <a:p>
            <a:pPr indent="0" marL="0">
              <a:buNone/>
            </a:pPr>
            <a:r>
              <a:rPr lang="en-US" sz="2100" b="1" dirty="0">
                <a:solidFill>
                  <a:srgbClr val="5EEAD4"/>
                </a:solidFill>
                <a:latin typeface="Georgia" pitchFamily="34" charset="0"/>
                <a:ea typeface="Georgia" pitchFamily="34" charset="-122"/>
                <a:cs typeface="Georgia" pitchFamily="34" charset="-120"/>
              </a:rPr>
              <a:t>4</a:t>
            </a:r>
            <a:endParaRPr lang="en-US" sz="2100" dirty="0"/>
          </a:p>
        </p:txBody>
      </p:sp>
      <p:sp>
        <p:nvSpPr>
          <p:cNvPr id="25" name="Text 23"/>
          <p:cNvSpPr/>
          <p:nvPr/>
        </p:nvSpPr>
        <p:spPr>
          <a:xfrm>
            <a:off x="4990064" y="5870448"/>
            <a:ext cx="2120128" cy="457200"/>
          </a:xfrm>
          <a:prstGeom prst="rect">
            <a:avLst/>
          </a:prstGeom>
          <a:noFill/>
          <a:ln/>
        </p:spPr>
        <p:txBody>
          <a:bodyPr wrap="square" lIns="0" tIns="0" rIns="0" bIns="0" rtlCol="0" anchor="ctr"/>
          <a:lstStyle/>
          <a:p>
            <a:pPr indent="0" marL="0">
              <a:lnSpc>
                <a:spcPts val="1000"/>
              </a:lnSpc>
              <a:buNone/>
            </a:pPr>
            <a:r>
              <a:rPr lang="en-US" sz="850" b="1" spc="100" kern="0" dirty="0">
                <a:solidFill>
                  <a:srgbClr val="93A4BD"/>
                </a:solidFill>
                <a:latin typeface="Calibri" pitchFamily="34" charset="0"/>
                <a:ea typeface="Calibri" pitchFamily="34" charset="-122"/>
                <a:cs typeface="Calibri" pitchFamily="34" charset="-120"/>
              </a:rPr>
              <a:t>ARCHITECTURE LAYERS</a:t>
            </a:r>
            <a:endParaRPr lang="en-US" sz="850" dirty="0"/>
          </a:p>
        </p:txBody>
      </p:sp>
      <p:sp>
        <p:nvSpPr>
          <p:cNvPr id="26" name="Text 24"/>
          <p:cNvSpPr/>
          <p:nvPr/>
        </p:nvSpPr>
        <p:spPr>
          <a:xfrm>
            <a:off x="7201632" y="5394960"/>
            <a:ext cx="2120128" cy="457200"/>
          </a:xfrm>
          <a:prstGeom prst="rect">
            <a:avLst/>
          </a:prstGeom>
          <a:noFill/>
          <a:ln/>
        </p:spPr>
        <p:txBody>
          <a:bodyPr wrap="square" lIns="0" tIns="0" rIns="0" bIns="0" rtlCol="0" anchor="ctr"/>
          <a:lstStyle/>
          <a:p>
            <a:pPr indent="0" marL="0">
              <a:buNone/>
            </a:pPr>
            <a:r>
              <a:rPr lang="en-US" sz="2100" b="1" dirty="0">
                <a:solidFill>
                  <a:srgbClr val="5EEAD4"/>
                </a:solidFill>
                <a:latin typeface="Georgia" pitchFamily="34" charset="0"/>
                <a:ea typeface="Georgia" pitchFamily="34" charset="-122"/>
                <a:cs typeface="Georgia" pitchFamily="34" charset="-120"/>
              </a:rPr>
              <a:t>8-check</a:t>
            </a:r>
            <a:endParaRPr lang="en-US" sz="2100" dirty="0"/>
          </a:p>
        </p:txBody>
      </p:sp>
      <p:sp>
        <p:nvSpPr>
          <p:cNvPr id="27" name="Text 25"/>
          <p:cNvSpPr/>
          <p:nvPr/>
        </p:nvSpPr>
        <p:spPr>
          <a:xfrm>
            <a:off x="7201632" y="5870448"/>
            <a:ext cx="2120128" cy="457200"/>
          </a:xfrm>
          <a:prstGeom prst="rect">
            <a:avLst/>
          </a:prstGeom>
          <a:noFill/>
          <a:ln/>
        </p:spPr>
        <p:txBody>
          <a:bodyPr wrap="square" lIns="0" tIns="0" rIns="0" bIns="0" rtlCol="0" anchor="ctr"/>
          <a:lstStyle/>
          <a:p>
            <a:pPr indent="0" marL="0">
              <a:lnSpc>
                <a:spcPts val="1000"/>
              </a:lnSpc>
              <a:buNone/>
            </a:pPr>
            <a:r>
              <a:rPr lang="en-US" sz="850" b="1" spc="100" kern="0" dirty="0">
                <a:solidFill>
                  <a:srgbClr val="93A4BD"/>
                </a:solidFill>
                <a:latin typeface="Calibri" pitchFamily="34" charset="0"/>
                <a:ea typeface="Calibri" pitchFamily="34" charset="-122"/>
                <a:cs typeface="Calibri" pitchFamily="34" charset="-120"/>
              </a:rPr>
              <a:t>VALIDATION SUITE</a:t>
            </a:r>
            <a:endParaRPr lang="en-US" sz="850" dirty="0"/>
          </a:p>
        </p:txBody>
      </p:sp>
      <p:sp>
        <p:nvSpPr>
          <p:cNvPr id="28" name="Text 26"/>
          <p:cNvSpPr/>
          <p:nvPr/>
        </p:nvSpPr>
        <p:spPr>
          <a:xfrm>
            <a:off x="9413199" y="5394960"/>
            <a:ext cx="2120128" cy="457200"/>
          </a:xfrm>
          <a:prstGeom prst="rect">
            <a:avLst/>
          </a:prstGeom>
          <a:noFill/>
          <a:ln/>
        </p:spPr>
        <p:txBody>
          <a:bodyPr wrap="square" lIns="0" tIns="0" rIns="0" bIns="0" rtlCol="0" anchor="ctr"/>
          <a:lstStyle/>
          <a:p>
            <a:pPr indent="0" marL="0">
              <a:buNone/>
            </a:pPr>
            <a:r>
              <a:rPr lang="en-US" sz="2100" b="1" dirty="0">
                <a:solidFill>
                  <a:srgbClr val="5EEAD4"/>
                </a:solidFill>
                <a:latin typeface="Georgia" pitchFamily="34" charset="0"/>
                <a:ea typeface="Georgia" pitchFamily="34" charset="-122"/>
                <a:cs typeface="Georgia" pitchFamily="34" charset="-120"/>
              </a:rPr>
              <a:t>10 sec</a:t>
            </a:r>
            <a:endParaRPr lang="en-US" sz="2100" dirty="0"/>
          </a:p>
        </p:txBody>
      </p:sp>
      <p:sp>
        <p:nvSpPr>
          <p:cNvPr id="29" name="Text 27"/>
          <p:cNvSpPr/>
          <p:nvPr/>
        </p:nvSpPr>
        <p:spPr>
          <a:xfrm>
            <a:off x="9413199" y="5870448"/>
            <a:ext cx="2120128" cy="457200"/>
          </a:xfrm>
          <a:prstGeom prst="rect">
            <a:avLst/>
          </a:prstGeom>
          <a:noFill/>
          <a:ln/>
        </p:spPr>
        <p:txBody>
          <a:bodyPr wrap="square" lIns="0" tIns="0" rIns="0" bIns="0" rtlCol="0" anchor="ctr"/>
          <a:lstStyle/>
          <a:p>
            <a:pPr indent="0" marL="0">
              <a:lnSpc>
                <a:spcPts val="1000"/>
              </a:lnSpc>
              <a:buNone/>
            </a:pPr>
            <a:r>
              <a:rPr lang="en-US" sz="850" b="1" spc="100" kern="0" dirty="0">
                <a:solidFill>
                  <a:srgbClr val="93A4BD"/>
                </a:solidFill>
                <a:latin typeface="Calibri" pitchFamily="34" charset="0"/>
                <a:ea typeface="Calibri" pitchFamily="34" charset="-122"/>
                <a:cs typeface="Calibri" pitchFamily="34" charset="-120"/>
              </a:rPr>
              <a:t>TIME TO ANSWER</a:t>
            </a:r>
            <a:endParaRPr lang="en-US" sz="850" dirty="0"/>
          </a:p>
        </p:txBody>
      </p:sp>
      <p:sp>
        <p:nvSpPr>
          <p:cNvPr id="30" name="Text 28"/>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93A4BD"/>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93A4BD"/>
                </a:solidFill>
                <a:latin typeface="Calibri" pitchFamily="34" charset="0"/>
                <a:ea typeface="Calibri" pitchFamily="34" charset="-122"/>
                <a:cs typeface="Calibri" pitchFamily="34" charset="-120"/>
              </a:rPr>
              <a:t>   ·   Confidential — Internal</a:t>
            </a:r>
            <a:endParaRPr lang="en-US" sz="800" dirty="0"/>
          </a:p>
        </p:txBody>
      </p:sp>
      <p:sp>
        <p:nvSpPr>
          <p:cNvPr id="31" name="Text 29"/>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93A4BD"/>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02 · THE BUSINESS PROBLEM</a:t>
            </a:r>
            <a:endParaRPr lang="en-US" sz="1150" dirty="0"/>
          </a:p>
        </p:txBody>
      </p:sp>
      <p:sp>
        <p:nvSpPr>
          <p:cNvPr id="3" name="Text 1"/>
          <p:cNvSpPr/>
          <p:nvPr/>
        </p:nvSpPr>
        <p:spPr>
          <a:xfrm>
            <a:off x="566928" y="777240"/>
            <a:ext cx="7863840"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Our most valuable data asset is trapped in documents</a:t>
            </a:r>
            <a:endParaRPr lang="en-US" sz="2900" dirty="0"/>
          </a:p>
        </p:txBody>
      </p:sp>
      <p:sp>
        <p:nvSpPr>
          <p:cNvPr id="4" name="Text 2"/>
          <p:cNvSpPr/>
          <p:nvPr/>
        </p:nvSpPr>
        <p:spPr>
          <a:xfrm>
            <a:off x="566928" y="1828800"/>
            <a:ext cx="5486400" cy="1097280"/>
          </a:xfrm>
          <a:prstGeom prst="rect">
            <a:avLst/>
          </a:prstGeom>
          <a:noFill/>
          <a:ln/>
        </p:spPr>
        <p:txBody>
          <a:bodyPr wrap="square" lIns="0" tIns="0" rIns="0" bIns="0" rtlCol="0" anchor="t"/>
          <a:lstStyle/>
          <a:p>
            <a:pPr indent="0" marL="0">
              <a:lnSpc>
                <a:spcPts val="2100"/>
              </a:lnSpc>
              <a:buNone/>
            </a:pPr>
            <a:r>
              <a:rPr lang="en-US" sz="1450" dirty="0">
                <a:solidFill>
                  <a:srgbClr val="33415A"/>
                </a:solidFill>
                <a:latin typeface="Calibri" pitchFamily="34" charset="0"/>
                <a:ea typeface="Calibri" pitchFamily="34" charset="-122"/>
                <a:cs typeface="Calibri" pitchFamily="34" charset="-120"/>
              </a:rPr>
              <a:t>Blue Shield contracts with ~500 provider facilities. Every rate, clause, and obligation lives inside PDFs — modified by </a:t>
            </a:r>
            <a:pPr indent="0" marL="0">
              <a:lnSpc>
                <a:spcPts val="2100"/>
              </a:lnSpc>
              <a:buNone/>
            </a:pPr>
            <a:r>
              <a:rPr lang="en-US" sz="1450" b="1" dirty="0">
                <a:solidFill>
                  <a:srgbClr val="0B1B2E"/>
                </a:solidFill>
                <a:latin typeface="Calibri" pitchFamily="34" charset="0"/>
                <a:ea typeface="Calibri" pitchFamily="34" charset="-122"/>
                <a:cs typeface="Calibri" pitchFamily="34" charset="-120"/>
              </a:rPr>
              <a:t>up to 15+ amendments</a:t>
            </a:r>
            <a:pPr indent="0" marL="0">
              <a:lnSpc>
                <a:spcPts val="2100"/>
              </a:lnSpc>
              <a:buNone/>
            </a:pPr>
            <a:r>
              <a:rPr lang="en-US" sz="1450" dirty="0">
                <a:solidFill>
                  <a:srgbClr val="33415A"/>
                </a:solidFill>
                <a:latin typeface="Calibri" pitchFamily="34" charset="0"/>
                <a:ea typeface="Calibri" pitchFamily="34" charset="-122"/>
                <a:cs typeface="Calibri" pitchFamily="34" charset="-120"/>
              </a:rPr>
              <a:t> per contract, spanning three decades.</a:t>
            </a:r>
            <a:endParaRPr lang="en-US" sz="1450" dirty="0"/>
          </a:p>
        </p:txBody>
      </p:sp>
      <p:sp>
        <p:nvSpPr>
          <p:cNvPr id="5" name="Text 3"/>
          <p:cNvSpPr/>
          <p:nvPr/>
        </p:nvSpPr>
        <p:spPr>
          <a:xfrm>
            <a:off x="566928" y="2926080"/>
            <a:ext cx="5486400" cy="822960"/>
          </a:xfrm>
          <a:prstGeom prst="rect">
            <a:avLst/>
          </a:prstGeom>
          <a:noFill/>
          <a:ln/>
        </p:spPr>
        <p:txBody>
          <a:bodyPr wrap="square" lIns="0" tIns="0" rIns="0" bIns="0" rtlCol="0" anchor="ctr"/>
          <a:lstStyle/>
          <a:p>
            <a:pPr indent="0" marL="0">
              <a:lnSpc>
                <a:spcPts val="1900"/>
              </a:lnSpc>
              <a:buNone/>
            </a:pPr>
            <a:r>
              <a:rPr lang="en-US" sz="1400" i="1" dirty="0">
                <a:solidFill>
                  <a:srgbClr val="0F766E"/>
                </a:solidFill>
                <a:latin typeface="Calibri" pitchFamily="34" charset="0"/>
                <a:ea typeface="Calibri" pitchFamily="34" charset="-122"/>
                <a:cs typeface="Calibri" pitchFamily="34" charset="-120"/>
              </a:rPr>
              <a:t>The result: analysts spend the majority of their time finding information — not analyzing it.</a:t>
            </a:r>
            <a:endParaRPr lang="en-US" sz="1400" dirty="0"/>
          </a:p>
        </p:txBody>
      </p:sp>
      <p:sp>
        <p:nvSpPr>
          <p:cNvPr id="6" name="Shape 4"/>
          <p:cNvSpPr/>
          <p:nvPr/>
        </p:nvSpPr>
        <p:spPr>
          <a:xfrm>
            <a:off x="566928" y="3913632"/>
            <a:ext cx="146304" cy="146304"/>
          </a:xfrm>
          <a:prstGeom prst="ellipse">
            <a:avLst/>
          </a:prstGeom>
          <a:solidFill>
            <a:srgbClr val="F26A4B"/>
          </a:solidFill>
          <a:ln/>
        </p:spPr>
      </p:sp>
      <p:sp>
        <p:nvSpPr>
          <p:cNvPr id="7" name="Text 5"/>
          <p:cNvSpPr/>
          <p:nvPr/>
        </p:nvSpPr>
        <p:spPr>
          <a:xfrm>
            <a:off x="859536" y="3831336"/>
            <a:ext cx="5212080" cy="457200"/>
          </a:xfrm>
          <a:prstGeom prst="rect">
            <a:avLst/>
          </a:prstGeom>
          <a:noFill/>
          <a:ln/>
        </p:spPr>
        <p:txBody>
          <a:bodyPr wrap="square" lIns="0" tIns="0" rIns="0" bIns="0" rtlCol="0" anchor="t"/>
          <a:lstStyle/>
          <a:p>
            <a:pPr indent="0" marL="0">
              <a:lnSpc>
                <a:spcPts val="1500"/>
              </a:lnSpc>
              <a:buNone/>
            </a:pPr>
            <a:r>
              <a:rPr lang="en-US" sz="1200" b="1" dirty="0">
                <a:solidFill>
                  <a:srgbClr val="0B1B2E"/>
                </a:solidFill>
                <a:latin typeface="Calibri" pitchFamily="34" charset="0"/>
                <a:ea typeface="Calibri" pitchFamily="34" charset="-122"/>
                <a:cs typeface="Calibri" pitchFamily="34" charset="-120"/>
              </a:rPr>
              <a:t>Rate lookups  </a:t>
            </a:r>
            <a:pPr indent="0" marL="0">
              <a:lnSpc>
                <a:spcPts val="1500"/>
              </a:lnSpc>
              <a:buNone/>
            </a:pPr>
            <a:r>
              <a:rPr lang="en-US" sz="1200" dirty="0">
                <a:solidFill>
                  <a:srgbClr val="64748B"/>
                </a:solidFill>
                <a:latin typeface="Calibri" pitchFamily="34" charset="0"/>
                <a:ea typeface="Calibri" pitchFamily="34" charset="-122"/>
                <a:cs typeface="Calibri" pitchFamily="34" charset="-120"/>
              </a:rPr>
              <a:t>2–4 hours of manual PDF search for a single number</a:t>
            </a:r>
            <a:endParaRPr lang="en-US" sz="1200" dirty="0"/>
          </a:p>
        </p:txBody>
      </p:sp>
      <p:sp>
        <p:nvSpPr>
          <p:cNvPr id="8" name="Shape 6"/>
          <p:cNvSpPr/>
          <p:nvPr/>
        </p:nvSpPr>
        <p:spPr>
          <a:xfrm>
            <a:off x="566928" y="4480560"/>
            <a:ext cx="146304" cy="146304"/>
          </a:xfrm>
          <a:prstGeom prst="ellipse">
            <a:avLst/>
          </a:prstGeom>
          <a:solidFill>
            <a:srgbClr val="F26A4B"/>
          </a:solidFill>
          <a:ln/>
        </p:spPr>
      </p:sp>
      <p:sp>
        <p:nvSpPr>
          <p:cNvPr id="9" name="Text 7"/>
          <p:cNvSpPr/>
          <p:nvPr/>
        </p:nvSpPr>
        <p:spPr>
          <a:xfrm>
            <a:off x="859536" y="4398264"/>
            <a:ext cx="5212080" cy="457200"/>
          </a:xfrm>
          <a:prstGeom prst="rect">
            <a:avLst/>
          </a:prstGeom>
          <a:noFill/>
          <a:ln/>
        </p:spPr>
        <p:txBody>
          <a:bodyPr wrap="square" lIns="0" tIns="0" rIns="0" bIns="0" rtlCol="0" anchor="t"/>
          <a:lstStyle/>
          <a:p>
            <a:pPr indent="0" marL="0">
              <a:lnSpc>
                <a:spcPts val="1500"/>
              </a:lnSpc>
              <a:buNone/>
            </a:pPr>
            <a:r>
              <a:rPr lang="en-US" sz="1200" b="1" dirty="0">
                <a:solidFill>
                  <a:srgbClr val="0B1B2E"/>
                </a:solidFill>
                <a:latin typeface="Calibri" pitchFamily="34" charset="0"/>
                <a:ea typeface="Calibri" pitchFamily="34" charset="-122"/>
                <a:cs typeface="Calibri" pitchFamily="34" charset="-120"/>
              </a:rPr>
              <a:t>Amendment risk  </a:t>
            </a:r>
            <a:pPr indent="0" marL="0">
              <a:lnSpc>
                <a:spcPts val="1500"/>
              </a:lnSpc>
              <a:buNone/>
            </a:pPr>
            <a:r>
              <a:rPr lang="en-US" sz="1200" dirty="0">
                <a:solidFill>
                  <a:srgbClr val="64748B"/>
                </a:solidFill>
                <a:latin typeface="Calibri" pitchFamily="34" charset="0"/>
                <a:ea typeface="Calibri" pitchFamily="34" charset="-122"/>
                <a:cs typeface="Calibri" pitchFamily="34" charset="-120"/>
              </a:rPr>
              <a:t>A superseded rate cited in a negotiation is a real exposure</a:t>
            </a:r>
            <a:endParaRPr lang="en-US" sz="1200" dirty="0"/>
          </a:p>
        </p:txBody>
      </p:sp>
      <p:sp>
        <p:nvSpPr>
          <p:cNvPr id="10" name="Shape 8"/>
          <p:cNvSpPr/>
          <p:nvPr/>
        </p:nvSpPr>
        <p:spPr>
          <a:xfrm>
            <a:off x="566928" y="5047488"/>
            <a:ext cx="146304" cy="146304"/>
          </a:xfrm>
          <a:prstGeom prst="ellipse">
            <a:avLst/>
          </a:prstGeom>
          <a:solidFill>
            <a:srgbClr val="F26A4B"/>
          </a:solidFill>
          <a:ln/>
        </p:spPr>
      </p:sp>
      <p:sp>
        <p:nvSpPr>
          <p:cNvPr id="11" name="Text 9"/>
          <p:cNvSpPr/>
          <p:nvPr/>
        </p:nvSpPr>
        <p:spPr>
          <a:xfrm>
            <a:off x="859536" y="4965192"/>
            <a:ext cx="5212080" cy="457200"/>
          </a:xfrm>
          <a:prstGeom prst="rect">
            <a:avLst/>
          </a:prstGeom>
          <a:noFill/>
          <a:ln/>
        </p:spPr>
        <p:txBody>
          <a:bodyPr wrap="square" lIns="0" tIns="0" rIns="0" bIns="0" rtlCol="0" anchor="t"/>
          <a:lstStyle/>
          <a:p>
            <a:pPr indent="0" marL="0">
              <a:lnSpc>
                <a:spcPts val="1500"/>
              </a:lnSpc>
              <a:buNone/>
            </a:pPr>
            <a:r>
              <a:rPr lang="en-US" sz="1200" b="1" dirty="0">
                <a:solidFill>
                  <a:srgbClr val="0B1B2E"/>
                </a:solidFill>
                <a:latin typeface="Calibri" pitchFamily="34" charset="0"/>
                <a:ea typeface="Calibri" pitchFamily="34" charset="-122"/>
                <a:cs typeface="Calibri" pitchFamily="34" charset="-120"/>
              </a:rPr>
              <a:t>No portfolio view  </a:t>
            </a:r>
            <a:pPr indent="0" marL="0">
              <a:lnSpc>
                <a:spcPts val="1500"/>
              </a:lnSpc>
              <a:buNone/>
            </a:pPr>
            <a:r>
              <a:rPr lang="en-US" sz="1200" dirty="0">
                <a:solidFill>
                  <a:srgbClr val="64748B"/>
                </a:solidFill>
                <a:latin typeface="Calibri" pitchFamily="34" charset="0"/>
                <a:ea typeface="Calibri" pitchFamily="34" charset="-122"/>
                <a:cs typeface="Calibri" pitchFamily="34" charset="-120"/>
              </a:rPr>
              <a:t>Cross-provider benchmarking was effectively impossible</a:t>
            </a:r>
            <a:endParaRPr lang="en-US" sz="1200" dirty="0"/>
          </a:p>
        </p:txBody>
      </p:sp>
      <p:sp>
        <p:nvSpPr>
          <p:cNvPr id="12" name="Shape 10"/>
          <p:cNvSpPr/>
          <p:nvPr/>
        </p:nvSpPr>
        <p:spPr>
          <a:xfrm>
            <a:off x="6583680" y="1828800"/>
            <a:ext cx="5041087" cy="416052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13" name="Text 11"/>
          <p:cNvSpPr/>
          <p:nvPr/>
        </p:nvSpPr>
        <p:spPr>
          <a:xfrm>
            <a:off x="6903720" y="2103120"/>
            <a:ext cx="4572000" cy="274320"/>
          </a:xfrm>
          <a:prstGeom prst="rect">
            <a:avLst/>
          </a:prstGeom>
          <a:noFill/>
          <a:ln/>
        </p:spPr>
        <p:txBody>
          <a:bodyPr wrap="square" lIns="0" tIns="0" rIns="0" bIns="0" rtlCol="0" anchor="ctr"/>
          <a:lstStyle/>
          <a:p>
            <a:pPr indent="0" marL="0">
              <a:buNone/>
            </a:pPr>
            <a:r>
              <a:rPr lang="en-US" sz="1050" b="1" spc="200" kern="0" dirty="0">
                <a:solidFill>
                  <a:srgbClr val="5EEAD4"/>
                </a:solidFill>
                <a:latin typeface="Calibri" pitchFamily="34" charset="0"/>
                <a:ea typeface="Calibri" pitchFamily="34" charset="-122"/>
                <a:cs typeface="Calibri" pitchFamily="34" charset="-120"/>
              </a:rPr>
              <a:t>THE COST OF THE STATUS QUO</a:t>
            </a:r>
            <a:endParaRPr lang="en-US" sz="1050" dirty="0"/>
          </a:p>
        </p:txBody>
      </p:sp>
      <p:sp>
        <p:nvSpPr>
          <p:cNvPr id="14" name="Text 12"/>
          <p:cNvSpPr/>
          <p:nvPr/>
        </p:nvSpPr>
        <p:spPr>
          <a:xfrm>
            <a:off x="6903720" y="2514600"/>
            <a:ext cx="4572000" cy="594360"/>
          </a:xfrm>
          <a:prstGeom prst="rect">
            <a:avLst/>
          </a:prstGeom>
          <a:noFill/>
          <a:ln/>
        </p:spPr>
        <p:txBody>
          <a:bodyPr wrap="square" lIns="0" tIns="0" rIns="0" bIns="0" rtlCol="0" anchor="ctr"/>
          <a:lstStyle/>
          <a:p>
            <a:pPr indent="0" marL="0">
              <a:buNone/>
            </a:pPr>
            <a:r>
              <a:rPr lang="en-US" sz="3000" b="1" dirty="0">
                <a:solidFill>
                  <a:srgbClr val="F26A4B"/>
                </a:solidFill>
                <a:latin typeface="Georgia" pitchFamily="34" charset="0"/>
                <a:ea typeface="Georgia" pitchFamily="34" charset="-122"/>
                <a:cs typeface="Georgia" pitchFamily="34" charset="-120"/>
              </a:rPr>
              <a:t>2–4 hrs</a:t>
            </a:r>
            <a:endParaRPr lang="en-US" sz="3000" dirty="0"/>
          </a:p>
        </p:txBody>
      </p:sp>
      <p:sp>
        <p:nvSpPr>
          <p:cNvPr id="15" name="Text 13"/>
          <p:cNvSpPr/>
          <p:nvPr/>
        </p:nvSpPr>
        <p:spPr>
          <a:xfrm>
            <a:off x="6903720" y="3081528"/>
            <a:ext cx="4572000" cy="320040"/>
          </a:xfrm>
          <a:prstGeom prst="rect">
            <a:avLst/>
          </a:prstGeom>
          <a:noFill/>
          <a:ln/>
        </p:spPr>
        <p:txBody>
          <a:bodyPr wrap="square" lIns="0" tIns="0" rIns="0" bIns="0" rtlCol="0" anchor="ctr"/>
          <a:lstStyle/>
          <a:p>
            <a:pPr indent="0" marL="0">
              <a:buNone/>
            </a:pPr>
            <a:r>
              <a:rPr lang="en-US" sz="950" b="1" spc="100" kern="0" dirty="0">
                <a:solidFill>
                  <a:srgbClr val="93A4BD"/>
                </a:solidFill>
                <a:latin typeface="Calibri" pitchFamily="34" charset="0"/>
                <a:ea typeface="Calibri" pitchFamily="34" charset="-122"/>
                <a:cs typeface="Calibri" pitchFamily="34" charset="-120"/>
              </a:rPr>
              <a:t>PER CONTRACT QUESTION, MANUALLY</a:t>
            </a:r>
            <a:endParaRPr lang="en-US" sz="950" dirty="0"/>
          </a:p>
        </p:txBody>
      </p:sp>
      <p:sp>
        <p:nvSpPr>
          <p:cNvPr id="16" name="Text 14"/>
          <p:cNvSpPr/>
          <p:nvPr/>
        </p:nvSpPr>
        <p:spPr>
          <a:xfrm>
            <a:off x="6903720" y="3630168"/>
            <a:ext cx="4572000" cy="594360"/>
          </a:xfrm>
          <a:prstGeom prst="rect">
            <a:avLst/>
          </a:prstGeom>
          <a:noFill/>
          <a:ln/>
        </p:spPr>
        <p:txBody>
          <a:bodyPr wrap="square" lIns="0" tIns="0" rIns="0" bIns="0" rtlCol="0" anchor="ctr"/>
          <a:lstStyle/>
          <a:p>
            <a:pPr indent="0" marL="0">
              <a:buNone/>
            </a:pPr>
            <a:r>
              <a:rPr lang="en-US" sz="3000" b="1" dirty="0">
                <a:solidFill>
                  <a:srgbClr val="5EEAD4"/>
                </a:solidFill>
                <a:latin typeface="Georgia" pitchFamily="34" charset="0"/>
                <a:ea typeface="Georgia" pitchFamily="34" charset="-122"/>
                <a:cs typeface="Georgia" pitchFamily="34" charset="-120"/>
              </a:rPr>
              <a:t>~$1.5M / yr</a:t>
            </a:r>
            <a:endParaRPr lang="en-US" sz="3000" dirty="0"/>
          </a:p>
        </p:txBody>
      </p:sp>
      <p:sp>
        <p:nvSpPr>
          <p:cNvPr id="17" name="Text 15"/>
          <p:cNvSpPr/>
          <p:nvPr/>
        </p:nvSpPr>
        <p:spPr>
          <a:xfrm>
            <a:off x="6903720" y="4197096"/>
            <a:ext cx="4572000" cy="320040"/>
          </a:xfrm>
          <a:prstGeom prst="rect">
            <a:avLst/>
          </a:prstGeom>
          <a:noFill/>
          <a:ln/>
        </p:spPr>
        <p:txBody>
          <a:bodyPr wrap="square" lIns="0" tIns="0" rIns="0" bIns="0" rtlCol="0" anchor="ctr"/>
          <a:lstStyle/>
          <a:p>
            <a:pPr indent="0" marL="0">
              <a:buNone/>
            </a:pPr>
            <a:r>
              <a:rPr lang="en-US" sz="950" b="1" spc="100" kern="0" dirty="0">
                <a:solidFill>
                  <a:srgbClr val="93A4BD"/>
                </a:solidFill>
                <a:latin typeface="Calibri" pitchFamily="34" charset="0"/>
                <a:ea typeface="Calibri" pitchFamily="34" charset="-122"/>
                <a:cs typeface="Calibri" pitchFamily="34" charset="-120"/>
              </a:rPr>
              <a:t>EQUIVALENT ANALYST TIME ON LOOKUP</a:t>
            </a:r>
            <a:endParaRPr lang="en-US" sz="950" dirty="0"/>
          </a:p>
        </p:txBody>
      </p:sp>
      <p:sp>
        <p:nvSpPr>
          <p:cNvPr id="18" name="Text 16"/>
          <p:cNvSpPr/>
          <p:nvPr/>
        </p:nvSpPr>
        <p:spPr>
          <a:xfrm>
            <a:off x="6903720" y="4745736"/>
            <a:ext cx="4572000" cy="594360"/>
          </a:xfrm>
          <a:prstGeom prst="rect">
            <a:avLst/>
          </a:prstGeom>
          <a:noFill/>
          <a:ln/>
        </p:spPr>
        <p:txBody>
          <a:bodyPr wrap="square" lIns="0" tIns="0" rIns="0" bIns="0" rtlCol="0" anchor="ctr"/>
          <a:lstStyle/>
          <a:p>
            <a:pPr indent="0" marL="0">
              <a:buNone/>
            </a:pPr>
            <a:r>
              <a:rPr lang="en-US" sz="3000" b="1" dirty="0">
                <a:solidFill>
                  <a:srgbClr val="5EEAD4"/>
                </a:solidFill>
                <a:latin typeface="Georgia" pitchFamily="34" charset="0"/>
                <a:ea typeface="Georgia" pitchFamily="34" charset="-122"/>
                <a:cs typeface="Georgia" pitchFamily="34" charset="-120"/>
              </a:rPr>
              <a:t>10,372</a:t>
            </a:r>
            <a:endParaRPr lang="en-US" sz="3000" dirty="0"/>
          </a:p>
        </p:txBody>
      </p:sp>
      <p:sp>
        <p:nvSpPr>
          <p:cNvPr id="19" name="Text 17"/>
          <p:cNvSpPr/>
          <p:nvPr/>
        </p:nvSpPr>
        <p:spPr>
          <a:xfrm>
            <a:off x="6903720" y="5312664"/>
            <a:ext cx="4572000" cy="320040"/>
          </a:xfrm>
          <a:prstGeom prst="rect">
            <a:avLst/>
          </a:prstGeom>
          <a:noFill/>
          <a:ln/>
        </p:spPr>
        <p:txBody>
          <a:bodyPr wrap="square" lIns="0" tIns="0" rIns="0" bIns="0" rtlCol="0" anchor="ctr"/>
          <a:lstStyle/>
          <a:p>
            <a:pPr indent="0" marL="0">
              <a:buNone/>
            </a:pPr>
            <a:r>
              <a:rPr lang="en-US" sz="950" b="1" spc="100" kern="0" dirty="0">
                <a:solidFill>
                  <a:srgbClr val="93A4BD"/>
                </a:solidFill>
                <a:latin typeface="Calibri" pitchFamily="34" charset="0"/>
                <a:ea typeface="Calibri" pitchFamily="34" charset="-122"/>
                <a:cs typeface="Calibri" pitchFamily="34" charset="-120"/>
              </a:rPr>
              <a:t>DOCUMENTS NO ONE COULD QUERY AT SCALE</a:t>
            </a:r>
            <a:endParaRPr lang="en-US" sz="950" dirty="0"/>
          </a:p>
        </p:txBody>
      </p:sp>
      <p:sp>
        <p:nvSpPr>
          <p:cNvPr id="20" name="Text 18"/>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21" name="Text 19"/>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03 · WHY TRADITIONAL APPROACHES FALL SHORT</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Four obvious options — none solves the real problem</a:t>
            </a:r>
            <a:endParaRPr lang="en-US" sz="2900" dirty="0"/>
          </a:p>
        </p:txBody>
      </p:sp>
      <p:sp>
        <p:nvSpPr>
          <p:cNvPr id="4" name="Shape 2"/>
          <p:cNvSpPr/>
          <p:nvPr/>
        </p:nvSpPr>
        <p:spPr>
          <a:xfrm>
            <a:off x="566928" y="1874520"/>
            <a:ext cx="2627300" cy="3977640"/>
          </a:xfrm>
          <a:prstGeom prst="rect">
            <a:avLst/>
          </a:prstGeom>
          <a:solidFill>
            <a:srgbClr val="F2F6F9"/>
          </a:solidFill>
          <a:ln/>
          <a:effectLst>
            <a:outerShdw sx="100000" sy="100000" kx="0" ky="0" algn="bl" rotWithShape="0" blurRad="114300" dist="38100" dir="8100000">
              <a:srgbClr val="1E293B">
                <a:alpha val="12000"/>
              </a:srgbClr>
            </a:outerShdw>
          </a:effectLst>
        </p:spPr>
      </p:sp>
      <p:sp>
        <p:nvSpPr>
          <p:cNvPr id="5" name="Shape 3"/>
          <p:cNvSpPr/>
          <p:nvPr/>
        </p:nvSpPr>
        <p:spPr>
          <a:xfrm>
            <a:off x="566928" y="1874520"/>
            <a:ext cx="2627300" cy="82296"/>
          </a:xfrm>
          <a:prstGeom prst="rect">
            <a:avLst/>
          </a:prstGeom>
          <a:solidFill>
            <a:srgbClr val="64748B"/>
          </a:solidFill>
          <a:ln/>
        </p:spPr>
      </p:sp>
      <p:sp>
        <p:nvSpPr>
          <p:cNvPr id="6" name="Text 4"/>
          <p:cNvSpPr/>
          <p:nvPr/>
        </p:nvSpPr>
        <p:spPr>
          <a:xfrm>
            <a:off x="795528" y="2121408"/>
            <a:ext cx="21701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STATUS QUO</a:t>
            </a:r>
            <a:endParaRPr lang="en-US" sz="900" dirty="0"/>
          </a:p>
        </p:txBody>
      </p:sp>
      <p:sp>
        <p:nvSpPr>
          <p:cNvPr id="7" name="Text 5"/>
          <p:cNvSpPr/>
          <p:nvPr/>
        </p:nvSpPr>
        <p:spPr>
          <a:xfrm>
            <a:off x="795528" y="2395728"/>
            <a:ext cx="2170100" cy="822960"/>
          </a:xfrm>
          <a:prstGeom prst="rect">
            <a:avLst/>
          </a:prstGeom>
          <a:noFill/>
          <a:ln/>
        </p:spPr>
        <p:txBody>
          <a:bodyPr wrap="square" lIns="0" tIns="0" rIns="0" bIns="0" rtlCol="0" anchor="ctr"/>
          <a:lstStyle/>
          <a:p>
            <a:pPr indent="0" marL="0">
              <a:lnSpc>
                <a:spcPts val="1900"/>
              </a:lnSpc>
              <a:buNone/>
            </a:pPr>
            <a:r>
              <a:rPr lang="en-US" sz="1650" b="1" dirty="0">
                <a:solidFill>
                  <a:srgbClr val="0B1B2E"/>
                </a:solidFill>
                <a:latin typeface="Georgia" pitchFamily="34" charset="0"/>
                <a:ea typeface="Georgia" pitchFamily="34" charset="-122"/>
                <a:cs typeface="Georgia" pitchFamily="34" charset="-120"/>
              </a:rPr>
              <a:t>Manual search</a:t>
            </a:r>
            <a:endParaRPr lang="en-US" sz="1650" dirty="0"/>
          </a:p>
        </p:txBody>
      </p:sp>
      <p:sp>
        <p:nvSpPr>
          <p:cNvPr id="8" name="Shape 6"/>
          <p:cNvSpPr/>
          <p:nvPr/>
        </p:nvSpPr>
        <p:spPr>
          <a:xfrm>
            <a:off x="795528" y="3246120"/>
            <a:ext cx="2170100" cy="0"/>
          </a:xfrm>
          <a:prstGeom prst="line">
            <a:avLst/>
          </a:prstGeom>
          <a:noFill/>
          <a:ln w="12700">
            <a:solidFill>
              <a:srgbClr val="E3E9F0"/>
            </a:solidFill>
            <a:prstDash val="solid"/>
          </a:ln>
        </p:spPr>
      </p:sp>
      <p:sp>
        <p:nvSpPr>
          <p:cNvPr id="9" name="Text 7"/>
          <p:cNvSpPr/>
          <p:nvPr/>
        </p:nvSpPr>
        <p:spPr>
          <a:xfrm>
            <a:off x="795528" y="3383280"/>
            <a:ext cx="2170100" cy="1828800"/>
          </a:xfrm>
          <a:prstGeom prst="rect">
            <a:avLst/>
          </a:prstGeom>
          <a:noFill/>
          <a:ln/>
        </p:spPr>
        <p:txBody>
          <a:bodyPr wrap="square" lIns="0" tIns="0" rIns="0" bIns="0" rtlCol="0" anchor="t"/>
          <a:lstStyle/>
          <a:p>
            <a:pPr indent="0" marL="0">
              <a:lnSpc>
                <a:spcPts val="1600"/>
              </a:lnSpc>
              <a:buNone/>
            </a:pPr>
            <a:r>
              <a:rPr lang="en-US" sz="1150" dirty="0">
                <a:solidFill>
                  <a:srgbClr val="33415A"/>
                </a:solidFill>
                <a:latin typeface="Calibri" pitchFamily="34" charset="0"/>
                <a:ea typeface="Calibri" pitchFamily="34" charset="-122"/>
                <a:cs typeface="Calibri" pitchFamily="34" charset="-120"/>
              </a:rPr>
              <a:t>Accurate but unscalable: hours per question, inconsistent interpretation, no portfolio view.</a:t>
            </a:r>
            <a:endParaRPr lang="en-US" sz="1150" dirty="0"/>
          </a:p>
        </p:txBody>
      </p:sp>
      <p:sp>
        <p:nvSpPr>
          <p:cNvPr id="10" name="Text 8"/>
          <p:cNvSpPr/>
          <p:nvPr/>
        </p:nvSpPr>
        <p:spPr>
          <a:xfrm>
            <a:off x="795528" y="5440680"/>
            <a:ext cx="2170100" cy="320040"/>
          </a:xfrm>
          <a:prstGeom prst="rect">
            <a:avLst/>
          </a:prstGeom>
          <a:noFill/>
          <a:ln/>
        </p:spPr>
        <p:txBody>
          <a:bodyPr wrap="square" lIns="0" tIns="0" rIns="0" bIns="0" rtlCol="0" anchor="ctr"/>
          <a:lstStyle/>
          <a:p>
            <a:pPr indent="0" marL="0">
              <a:buNone/>
            </a:pPr>
            <a:r>
              <a:rPr lang="en-US" sz="1100" b="1" spc="200" kern="0" dirty="0">
                <a:solidFill>
                  <a:srgbClr val="F26A4B"/>
                </a:solidFill>
                <a:latin typeface="Calibri" pitchFamily="34" charset="0"/>
                <a:ea typeface="Calibri" pitchFamily="34" charset="-122"/>
                <a:cs typeface="Calibri" pitchFamily="34" charset="-120"/>
              </a:rPr>
              <a:t>GAP</a:t>
            </a:r>
            <a:endParaRPr lang="en-US" sz="1100" dirty="0"/>
          </a:p>
        </p:txBody>
      </p:sp>
      <p:sp>
        <p:nvSpPr>
          <p:cNvPr id="11" name="Shape 9"/>
          <p:cNvSpPr/>
          <p:nvPr/>
        </p:nvSpPr>
        <p:spPr>
          <a:xfrm>
            <a:off x="3377108" y="1874520"/>
            <a:ext cx="2627300" cy="3977640"/>
          </a:xfrm>
          <a:prstGeom prst="rect">
            <a:avLst/>
          </a:prstGeom>
          <a:solidFill>
            <a:srgbClr val="F2F6F9"/>
          </a:solidFill>
          <a:ln/>
          <a:effectLst>
            <a:outerShdw sx="100000" sy="100000" kx="0" ky="0" algn="bl" rotWithShape="0" blurRad="114300" dist="38100" dir="8100000">
              <a:srgbClr val="1E293B">
                <a:alpha val="12000"/>
              </a:srgbClr>
            </a:outerShdw>
          </a:effectLst>
        </p:spPr>
      </p:sp>
      <p:sp>
        <p:nvSpPr>
          <p:cNvPr id="12" name="Shape 10"/>
          <p:cNvSpPr/>
          <p:nvPr/>
        </p:nvSpPr>
        <p:spPr>
          <a:xfrm>
            <a:off x="3377108" y="1874520"/>
            <a:ext cx="2627300" cy="82296"/>
          </a:xfrm>
          <a:prstGeom prst="rect">
            <a:avLst/>
          </a:prstGeom>
          <a:solidFill>
            <a:srgbClr val="64748B"/>
          </a:solidFill>
          <a:ln/>
        </p:spPr>
      </p:sp>
      <p:sp>
        <p:nvSpPr>
          <p:cNvPr id="13" name="Text 11"/>
          <p:cNvSpPr/>
          <p:nvPr/>
        </p:nvSpPr>
        <p:spPr>
          <a:xfrm>
            <a:off x="3605708" y="2121408"/>
            <a:ext cx="21701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ENTERPRISE SOFTWARE</a:t>
            </a:r>
            <a:endParaRPr lang="en-US" sz="900" dirty="0"/>
          </a:p>
        </p:txBody>
      </p:sp>
      <p:sp>
        <p:nvSpPr>
          <p:cNvPr id="14" name="Text 12"/>
          <p:cNvSpPr/>
          <p:nvPr/>
        </p:nvSpPr>
        <p:spPr>
          <a:xfrm>
            <a:off x="3605708" y="2395728"/>
            <a:ext cx="2170100" cy="822960"/>
          </a:xfrm>
          <a:prstGeom prst="rect">
            <a:avLst/>
          </a:prstGeom>
          <a:noFill/>
          <a:ln/>
        </p:spPr>
        <p:txBody>
          <a:bodyPr wrap="square" lIns="0" tIns="0" rIns="0" bIns="0" rtlCol="0" anchor="ctr"/>
          <a:lstStyle/>
          <a:p>
            <a:pPr indent="0" marL="0">
              <a:lnSpc>
                <a:spcPts val="1900"/>
              </a:lnSpc>
              <a:buNone/>
            </a:pPr>
            <a:r>
              <a:rPr lang="en-US" sz="1650" b="1" dirty="0">
                <a:solidFill>
                  <a:srgbClr val="0B1B2E"/>
                </a:solidFill>
                <a:latin typeface="Georgia" pitchFamily="34" charset="0"/>
                <a:ea typeface="Georgia" pitchFamily="34" charset="-122"/>
                <a:cs typeface="Georgia" pitchFamily="34" charset="-120"/>
              </a:rPr>
              <a:t>Keyword / CLM tools</a:t>
            </a:r>
            <a:endParaRPr lang="en-US" sz="1650" dirty="0"/>
          </a:p>
        </p:txBody>
      </p:sp>
      <p:sp>
        <p:nvSpPr>
          <p:cNvPr id="15" name="Shape 13"/>
          <p:cNvSpPr/>
          <p:nvPr/>
        </p:nvSpPr>
        <p:spPr>
          <a:xfrm>
            <a:off x="3605708" y="3246120"/>
            <a:ext cx="2170100" cy="0"/>
          </a:xfrm>
          <a:prstGeom prst="line">
            <a:avLst/>
          </a:prstGeom>
          <a:noFill/>
          <a:ln w="12700">
            <a:solidFill>
              <a:srgbClr val="E3E9F0"/>
            </a:solidFill>
            <a:prstDash val="solid"/>
          </a:ln>
        </p:spPr>
      </p:sp>
      <p:sp>
        <p:nvSpPr>
          <p:cNvPr id="16" name="Text 14"/>
          <p:cNvSpPr/>
          <p:nvPr/>
        </p:nvSpPr>
        <p:spPr>
          <a:xfrm>
            <a:off x="3605708" y="3383280"/>
            <a:ext cx="2170100" cy="1828800"/>
          </a:xfrm>
          <a:prstGeom prst="rect">
            <a:avLst/>
          </a:prstGeom>
          <a:noFill/>
          <a:ln/>
        </p:spPr>
        <p:txBody>
          <a:bodyPr wrap="square" lIns="0" tIns="0" rIns="0" bIns="0" rtlCol="0" anchor="t"/>
          <a:lstStyle/>
          <a:p>
            <a:pPr indent="0" marL="0">
              <a:lnSpc>
                <a:spcPts val="1600"/>
              </a:lnSpc>
              <a:buNone/>
            </a:pPr>
            <a:r>
              <a:rPr lang="en-US" sz="1150" dirty="0">
                <a:solidFill>
                  <a:srgbClr val="33415A"/>
                </a:solidFill>
                <a:latin typeface="Calibri" pitchFamily="34" charset="0"/>
                <a:ea typeface="Calibri" pitchFamily="34" charset="-122"/>
                <a:cs typeface="Calibri" pitchFamily="34" charset="-120"/>
              </a:rPr>
              <a:t>$300K–$1M/yr, generic, not healthcare-native; no rate-table or amendment understanding.</a:t>
            </a:r>
            <a:endParaRPr lang="en-US" sz="1150" dirty="0"/>
          </a:p>
        </p:txBody>
      </p:sp>
      <p:sp>
        <p:nvSpPr>
          <p:cNvPr id="17" name="Text 15"/>
          <p:cNvSpPr/>
          <p:nvPr/>
        </p:nvSpPr>
        <p:spPr>
          <a:xfrm>
            <a:off x="3605708" y="5440680"/>
            <a:ext cx="2170100" cy="320040"/>
          </a:xfrm>
          <a:prstGeom prst="rect">
            <a:avLst/>
          </a:prstGeom>
          <a:noFill/>
          <a:ln/>
        </p:spPr>
        <p:txBody>
          <a:bodyPr wrap="square" lIns="0" tIns="0" rIns="0" bIns="0" rtlCol="0" anchor="ctr"/>
          <a:lstStyle/>
          <a:p>
            <a:pPr indent="0" marL="0">
              <a:buNone/>
            </a:pPr>
            <a:r>
              <a:rPr lang="en-US" sz="1100" b="1" spc="200" kern="0" dirty="0">
                <a:solidFill>
                  <a:srgbClr val="F26A4B"/>
                </a:solidFill>
                <a:latin typeface="Calibri" pitchFamily="34" charset="0"/>
                <a:ea typeface="Calibri" pitchFamily="34" charset="-122"/>
                <a:cs typeface="Calibri" pitchFamily="34" charset="-120"/>
              </a:rPr>
              <a:t>GAP</a:t>
            </a:r>
            <a:endParaRPr lang="en-US" sz="1100" dirty="0"/>
          </a:p>
        </p:txBody>
      </p:sp>
      <p:sp>
        <p:nvSpPr>
          <p:cNvPr id="18" name="Shape 16"/>
          <p:cNvSpPr/>
          <p:nvPr/>
        </p:nvSpPr>
        <p:spPr>
          <a:xfrm>
            <a:off x="6187288" y="1874520"/>
            <a:ext cx="2627300" cy="3977640"/>
          </a:xfrm>
          <a:prstGeom prst="rect">
            <a:avLst/>
          </a:prstGeom>
          <a:solidFill>
            <a:srgbClr val="F2F6F9"/>
          </a:solidFill>
          <a:ln/>
          <a:effectLst>
            <a:outerShdw sx="100000" sy="100000" kx="0" ky="0" algn="bl" rotWithShape="0" blurRad="114300" dist="38100" dir="8100000">
              <a:srgbClr val="1E293B">
                <a:alpha val="12000"/>
              </a:srgbClr>
            </a:outerShdw>
          </a:effectLst>
        </p:spPr>
      </p:sp>
      <p:sp>
        <p:nvSpPr>
          <p:cNvPr id="19" name="Shape 17"/>
          <p:cNvSpPr/>
          <p:nvPr/>
        </p:nvSpPr>
        <p:spPr>
          <a:xfrm>
            <a:off x="6187288" y="1874520"/>
            <a:ext cx="2627300" cy="82296"/>
          </a:xfrm>
          <a:prstGeom prst="rect">
            <a:avLst/>
          </a:prstGeom>
          <a:solidFill>
            <a:srgbClr val="64748B"/>
          </a:solidFill>
          <a:ln/>
        </p:spPr>
      </p:sp>
      <p:sp>
        <p:nvSpPr>
          <p:cNvPr id="20" name="Text 18"/>
          <p:cNvSpPr/>
          <p:nvPr/>
        </p:nvSpPr>
        <p:spPr>
          <a:xfrm>
            <a:off x="6415888" y="2121408"/>
            <a:ext cx="2170100" cy="274320"/>
          </a:xfrm>
          <a:prstGeom prst="rect">
            <a:avLst/>
          </a:prstGeom>
          <a:noFill/>
          <a:ln/>
        </p:spPr>
        <p:txBody>
          <a:bodyPr wrap="square" lIns="0" tIns="0" rIns="0" bIns="0" rtlCol="0" anchor="ctr"/>
          <a:lstStyle/>
          <a:p>
            <a:pPr indent="0" marL="0">
              <a:buNone/>
            </a:pPr>
            <a:r>
              <a:rPr lang="en-US" sz="900" b="1" spc="150" kern="0" dirty="0">
                <a:solidFill>
                  <a:srgbClr val="64748B"/>
                </a:solidFill>
                <a:latin typeface="Calibri" pitchFamily="34" charset="0"/>
                <a:ea typeface="Calibri" pitchFamily="34" charset="-122"/>
                <a:cs typeface="Calibri" pitchFamily="34" charset="-120"/>
              </a:rPr>
              <a:t>UPLOAD-A-DOC</a:t>
            </a:r>
            <a:endParaRPr lang="en-US" sz="900" dirty="0"/>
          </a:p>
        </p:txBody>
      </p:sp>
      <p:sp>
        <p:nvSpPr>
          <p:cNvPr id="21" name="Text 19"/>
          <p:cNvSpPr/>
          <p:nvPr/>
        </p:nvSpPr>
        <p:spPr>
          <a:xfrm>
            <a:off x="6415888" y="2395728"/>
            <a:ext cx="2170100" cy="822960"/>
          </a:xfrm>
          <a:prstGeom prst="rect">
            <a:avLst/>
          </a:prstGeom>
          <a:noFill/>
          <a:ln/>
        </p:spPr>
        <p:txBody>
          <a:bodyPr wrap="square" lIns="0" tIns="0" rIns="0" bIns="0" rtlCol="0" anchor="ctr"/>
          <a:lstStyle/>
          <a:p>
            <a:pPr indent="0" marL="0">
              <a:lnSpc>
                <a:spcPts val="1900"/>
              </a:lnSpc>
              <a:buNone/>
            </a:pPr>
            <a:r>
              <a:rPr lang="en-US" sz="1650" b="1" dirty="0">
                <a:solidFill>
                  <a:srgbClr val="0B1B2E"/>
                </a:solidFill>
                <a:latin typeface="Georgia" pitchFamily="34" charset="0"/>
                <a:ea typeface="Georgia" pitchFamily="34" charset="-122"/>
                <a:cs typeface="Georgia" pitchFamily="34" charset="-120"/>
              </a:rPr>
              <a:t>Generic AI chatbot</a:t>
            </a:r>
            <a:endParaRPr lang="en-US" sz="1650" dirty="0"/>
          </a:p>
        </p:txBody>
      </p:sp>
      <p:sp>
        <p:nvSpPr>
          <p:cNvPr id="22" name="Shape 20"/>
          <p:cNvSpPr/>
          <p:nvPr/>
        </p:nvSpPr>
        <p:spPr>
          <a:xfrm>
            <a:off x="6415888" y="3246120"/>
            <a:ext cx="2170100" cy="0"/>
          </a:xfrm>
          <a:prstGeom prst="line">
            <a:avLst/>
          </a:prstGeom>
          <a:noFill/>
          <a:ln w="12700">
            <a:solidFill>
              <a:srgbClr val="E3E9F0"/>
            </a:solidFill>
            <a:prstDash val="solid"/>
          </a:ln>
        </p:spPr>
      </p:sp>
      <p:sp>
        <p:nvSpPr>
          <p:cNvPr id="23" name="Text 21"/>
          <p:cNvSpPr/>
          <p:nvPr/>
        </p:nvSpPr>
        <p:spPr>
          <a:xfrm>
            <a:off x="6415888" y="3383280"/>
            <a:ext cx="2170100" cy="1828800"/>
          </a:xfrm>
          <a:prstGeom prst="rect">
            <a:avLst/>
          </a:prstGeom>
          <a:noFill/>
          <a:ln/>
        </p:spPr>
        <p:txBody>
          <a:bodyPr wrap="square" lIns="0" tIns="0" rIns="0" bIns="0" rtlCol="0" anchor="t"/>
          <a:lstStyle/>
          <a:p>
            <a:pPr indent="0" marL="0">
              <a:lnSpc>
                <a:spcPts val="1600"/>
              </a:lnSpc>
              <a:buNone/>
            </a:pPr>
            <a:r>
              <a:rPr lang="en-US" sz="1150" dirty="0">
                <a:solidFill>
                  <a:srgbClr val="33415A"/>
                </a:solidFill>
                <a:latin typeface="Calibri" pitchFamily="34" charset="0"/>
                <a:ea typeface="Calibri" pitchFamily="34" charset="-122"/>
                <a:cs typeface="Calibri" pitchFamily="34" charset="-120"/>
              </a:rPr>
              <a:t>One file at a time, unstructured output, no validation, no governance — shadow-AI risk.</a:t>
            </a:r>
            <a:endParaRPr lang="en-US" sz="1150" dirty="0"/>
          </a:p>
        </p:txBody>
      </p:sp>
      <p:sp>
        <p:nvSpPr>
          <p:cNvPr id="24" name="Text 22"/>
          <p:cNvSpPr/>
          <p:nvPr/>
        </p:nvSpPr>
        <p:spPr>
          <a:xfrm>
            <a:off x="6415888" y="5440680"/>
            <a:ext cx="2170100" cy="320040"/>
          </a:xfrm>
          <a:prstGeom prst="rect">
            <a:avLst/>
          </a:prstGeom>
          <a:noFill/>
          <a:ln/>
        </p:spPr>
        <p:txBody>
          <a:bodyPr wrap="square" lIns="0" tIns="0" rIns="0" bIns="0" rtlCol="0" anchor="ctr"/>
          <a:lstStyle/>
          <a:p>
            <a:pPr indent="0" marL="0">
              <a:buNone/>
            </a:pPr>
            <a:r>
              <a:rPr lang="en-US" sz="1100" b="1" spc="200" kern="0" dirty="0">
                <a:solidFill>
                  <a:srgbClr val="F26A4B"/>
                </a:solidFill>
                <a:latin typeface="Calibri" pitchFamily="34" charset="0"/>
                <a:ea typeface="Calibri" pitchFamily="34" charset="-122"/>
                <a:cs typeface="Calibri" pitchFamily="34" charset="-120"/>
              </a:rPr>
              <a:t>GAP</a:t>
            </a:r>
            <a:endParaRPr lang="en-US" sz="1100" dirty="0"/>
          </a:p>
        </p:txBody>
      </p:sp>
      <p:sp>
        <p:nvSpPr>
          <p:cNvPr id="25" name="Shape 23"/>
          <p:cNvSpPr/>
          <p:nvPr/>
        </p:nvSpPr>
        <p:spPr>
          <a:xfrm>
            <a:off x="8997467" y="1874520"/>
            <a:ext cx="2627300" cy="397764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26" name="Shape 24"/>
          <p:cNvSpPr/>
          <p:nvPr/>
        </p:nvSpPr>
        <p:spPr>
          <a:xfrm>
            <a:off x="8997467" y="1874520"/>
            <a:ext cx="2627300" cy="82296"/>
          </a:xfrm>
          <a:prstGeom prst="rect">
            <a:avLst/>
          </a:prstGeom>
          <a:solidFill>
            <a:srgbClr val="14B8A6"/>
          </a:solidFill>
          <a:ln/>
        </p:spPr>
      </p:sp>
      <p:sp>
        <p:nvSpPr>
          <p:cNvPr id="27" name="Text 25"/>
          <p:cNvSpPr/>
          <p:nvPr/>
        </p:nvSpPr>
        <p:spPr>
          <a:xfrm>
            <a:off x="9226067" y="2121408"/>
            <a:ext cx="2170100" cy="274320"/>
          </a:xfrm>
          <a:prstGeom prst="rect">
            <a:avLst/>
          </a:prstGeom>
          <a:noFill/>
          <a:ln/>
        </p:spPr>
        <p:txBody>
          <a:bodyPr wrap="square" lIns="0" tIns="0" rIns="0" bIns="0" rtlCol="0" anchor="ctr"/>
          <a:lstStyle/>
          <a:p>
            <a:pPr indent="0" marL="0">
              <a:buNone/>
            </a:pPr>
            <a:r>
              <a:rPr lang="en-US" sz="900" b="1" spc="150" kern="0" dirty="0">
                <a:solidFill>
                  <a:srgbClr val="5EEAD4"/>
                </a:solidFill>
                <a:latin typeface="Calibri" pitchFamily="34" charset="0"/>
                <a:ea typeface="Calibri" pitchFamily="34" charset="-122"/>
                <a:cs typeface="Calibri" pitchFamily="34" charset="-120"/>
              </a:rPr>
              <a:t>AI-NATIVE, GOVERNED</a:t>
            </a:r>
            <a:endParaRPr lang="en-US" sz="900" dirty="0"/>
          </a:p>
        </p:txBody>
      </p:sp>
      <p:sp>
        <p:nvSpPr>
          <p:cNvPr id="28" name="Text 26"/>
          <p:cNvSpPr/>
          <p:nvPr/>
        </p:nvSpPr>
        <p:spPr>
          <a:xfrm>
            <a:off x="9226067" y="2395728"/>
            <a:ext cx="2170100" cy="822960"/>
          </a:xfrm>
          <a:prstGeom prst="rect">
            <a:avLst/>
          </a:prstGeom>
          <a:noFill/>
          <a:ln/>
        </p:spPr>
        <p:txBody>
          <a:bodyPr wrap="square" lIns="0" tIns="0" rIns="0" bIns="0" rtlCol="0" anchor="ctr"/>
          <a:lstStyle/>
          <a:p>
            <a:pPr indent="0" marL="0">
              <a:lnSpc>
                <a:spcPts val="1900"/>
              </a:lnSpc>
              <a:buNone/>
            </a:pPr>
            <a:r>
              <a:rPr lang="en-US" sz="1650" b="1" dirty="0">
                <a:solidFill>
                  <a:srgbClr val="FFFFFF"/>
                </a:solidFill>
                <a:latin typeface="Georgia" pitchFamily="34" charset="0"/>
                <a:ea typeface="Georgia" pitchFamily="34" charset="-122"/>
                <a:cs typeface="Georgia" pitchFamily="34" charset="-120"/>
              </a:rPr>
              <a:t>This platform</a:t>
            </a:r>
            <a:endParaRPr lang="en-US" sz="1650" dirty="0"/>
          </a:p>
        </p:txBody>
      </p:sp>
      <p:sp>
        <p:nvSpPr>
          <p:cNvPr id="29" name="Shape 27"/>
          <p:cNvSpPr/>
          <p:nvPr/>
        </p:nvSpPr>
        <p:spPr>
          <a:xfrm>
            <a:off x="9226067" y="3246120"/>
            <a:ext cx="2170100" cy="0"/>
          </a:xfrm>
          <a:prstGeom prst="line">
            <a:avLst/>
          </a:prstGeom>
          <a:noFill/>
          <a:ln w="12700">
            <a:solidFill>
              <a:srgbClr val="27405E"/>
            </a:solidFill>
            <a:prstDash val="solid"/>
          </a:ln>
        </p:spPr>
      </p:sp>
      <p:sp>
        <p:nvSpPr>
          <p:cNvPr id="30" name="Text 28"/>
          <p:cNvSpPr/>
          <p:nvPr/>
        </p:nvSpPr>
        <p:spPr>
          <a:xfrm>
            <a:off x="9226067" y="3383280"/>
            <a:ext cx="2170100" cy="1828800"/>
          </a:xfrm>
          <a:prstGeom prst="rect">
            <a:avLst/>
          </a:prstGeom>
          <a:noFill/>
          <a:ln/>
        </p:spPr>
        <p:txBody>
          <a:bodyPr wrap="square" lIns="0" tIns="0" rIns="0" bIns="0" rtlCol="0" anchor="t"/>
          <a:lstStyle/>
          <a:p>
            <a:pPr indent="0" marL="0">
              <a:lnSpc>
                <a:spcPts val="1600"/>
              </a:lnSpc>
              <a:buNone/>
            </a:pPr>
            <a:r>
              <a:rPr lang="en-US" sz="1150" dirty="0">
                <a:solidFill>
                  <a:srgbClr val="93A4BD"/>
                </a:solidFill>
                <a:latin typeface="Calibri" pitchFamily="34" charset="0"/>
                <a:ea typeface="Calibri" pitchFamily="34" charset="-122"/>
                <a:cs typeface="Calibri" pitchFamily="34" charset="-120"/>
              </a:rPr>
              <a:t>Whole corpus, structured &amp; validated, amendment-aware, fully governed on Databricks.</a:t>
            </a:r>
            <a:endParaRPr lang="en-US" sz="1150" dirty="0"/>
          </a:p>
        </p:txBody>
      </p:sp>
      <p:sp>
        <p:nvSpPr>
          <p:cNvPr id="31" name="Text 29"/>
          <p:cNvSpPr/>
          <p:nvPr/>
        </p:nvSpPr>
        <p:spPr>
          <a:xfrm>
            <a:off x="9226067" y="5440680"/>
            <a:ext cx="2170100" cy="320040"/>
          </a:xfrm>
          <a:prstGeom prst="rect">
            <a:avLst/>
          </a:prstGeom>
          <a:noFill/>
          <a:ln/>
        </p:spPr>
        <p:txBody>
          <a:bodyPr wrap="square" lIns="0" tIns="0" rIns="0" bIns="0" rtlCol="0" anchor="ctr"/>
          <a:lstStyle/>
          <a:p>
            <a:pPr indent="0" marL="0">
              <a:buNone/>
            </a:pPr>
            <a:r>
              <a:rPr lang="en-US" sz="1100" b="1" spc="200" kern="0" dirty="0">
                <a:solidFill>
                  <a:srgbClr val="5EEAD4"/>
                </a:solidFill>
                <a:latin typeface="Calibri" pitchFamily="34" charset="0"/>
                <a:ea typeface="Calibri" pitchFamily="34" charset="-122"/>
                <a:cs typeface="Calibri" pitchFamily="34" charset="-120"/>
              </a:rPr>
              <a:t>FIT</a:t>
            </a:r>
            <a:endParaRPr lang="en-US" sz="1100" dirty="0"/>
          </a:p>
        </p:txBody>
      </p:sp>
      <p:sp>
        <p:nvSpPr>
          <p:cNvPr id="32" name="Text 30"/>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33" name="Text 31"/>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E"/>
        </a:solidFill>
      </p:bgPr>
    </p:bg>
    <p:spTree>
      <p:nvGrpSpPr>
        <p:cNvPr id="1" name=""/>
        <p:cNvGrpSpPr/>
        <p:nvPr/>
      </p:nvGrpSpPr>
      <p:grpSpPr>
        <a:xfrm>
          <a:off x="0" y="0"/>
          <a:ext cx="0" cy="0"/>
          <a:chOff x="0" y="0"/>
          <a:chExt cx="0" cy="0"/>
        </a:xfrm>
      </p:grpSpPr>
      <p:sp>
        <p:nvSpPr>
          <p:cNvPr id="2" name="Text 0"/>
          <p:cNvSpPr/>
          <p:nvPr/>
        </p:nvSpPr>
        <p:spPr>
          <a:xfrm>
            <a:off x="566928" y="54864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04 · THE AI-NATIVE VISION</a:t>
            </a:r>
            <a:endParaRPr lang="en-US" sz="1150" dirty="0"/>
          </a:p>
        </p:txBody>
      </p:sp>
      <p:sp>
        <p:nvSpPr>
          <p:cNvPr id="3" name="Text 1"/>
          <p:cNvSpPr/>
          <p:nvPr/>
        </p:nvSpPr>
        <p:spPr>
          <a:xfrm>
            <a:off x="566928" y="896112"/>
            <a:ext cx="11057839" cy="914400"/>
          </a:xfrm>
          <a:prstGeom prst="rect">
            <a:avLst/>
          </a:prstGeom>
          <a:noFill/>
          <a:ln/>
        </p:spPr>
        <p:txBody>
          <a:bodyPr wrap="square" lIns="0" tIns="0" rIns="0" bIns="0" rtlCol="0" anchor="t"/>
          <a:lstStyle/>
          <a:p>
            <a:pPr algn="l" indent="0" marL="0">
              <a:lnSpc>
                <a:spcPts val="3120"/>
              </a:lnSpc>
              <a:buNone/>
            </a:pPr>
            <a:r>
              <a:rPr lang="en-US" sz="3000" b="1" dirty="0">
                <a:solidFill>
                  <a:srgbClr val="FFFFFF"/>
                </a:solidFill>
                <a:latin typeface="Georgia" pitchFamily="34" charset="0"/>
                <a:ea typeface="Georgia" pitchFamily="34" charset="-122"/>
                <a:cs typeface="Georgia" pitchFamily="34" charset="-120"/>
              </a:rPr>
              <a:t>From static documents to governed operational intelligence</a:t>
            </a:r>
            <a:endParaRPr lang="en-US" sz="3000" dirty="0"/>
          </a:p>
        </p:txBody>
      </p:sp>
      <p:sp>
        <p:nvSpPr>
          <p:cNvPr id="4" name="Shape 2"/>
          <p:cNvSpPr/>
          <p:nvPr/>
        </p:nvSpPr>
        <p:spPr>
          <a:xfrm>
            <a:off x="566928" y="2331720"/>
            <a:ext cx="3137306" cy="233172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5" name="Shape 3"/>
          <p:cNvSpPr/>
          <p:nvPr/>
        </p:nvSpPr>
        <p:spPr>
          <a:xfrm>
            <a:off x="566928" y="2331720"/>
            <a:ext cx="3137306" cy="82296"/>
          </a:xfrm>
          <a:prstGeom prst="rect">
            <a:avLst/>
          </a:prstGeom>
          <a:solidFill>
            <a:srgbClr val="93A4BD"/>
          </a:solidFill>
          <a:ln/>
        </p:spPr>
      </p:sp>
      <p:sp>
        <p:nvSpPr>
          <p:cNvPr id="6" name="Text 4"/>
          <p:cNvSpPr/>
          <p:nvPr/>
        </p:nvSpPr>
        <p:spPr>
          <a:xfrm>
            <a:off x="841248" y="2624328"/>
            <a:ext cx="2588666" cy="365760"/>
          </a:xfrm>
          <a:prstGeom prst="rect">
            <a:avLst/>
          </a:prstGeom>
          <a:noFill/>
          <a:ln/>
        </p:spPr>
        <p:txBody>
          <a:bodyPr wrap="square" lIns="0" tIns="0" rIns="0" bIns="0" rtlCol="0" anchor="ctr"/>
          <a:lstStyle/>
          <a:p>
            <a:pPr indent="0" marL="0">
              <a:buNone/>
            </a:pPr>
            <a:r>
              <a:rPr lang="en-US" sz="1100" b="1" spc="200" kern="0" dirty="0">
                <a:solidFill>
                  <a:srgbClr val="93A4BD"/>
                </a:solidFill>
                <a:latin typeface="Calibri" pitchFamily="34" charset="0"/>
                <a:ea typeface="Calibri" pitchFamily="34" charset="-122"/>
                <a:cs typeface="Calibri" pitchFamily="34" charset="-120"/>
              </a:rPr>
              <a:t>UNSTRUCTURED</a:t>
            </a:r>
            <a:endParaRPr lang="en-US" sz="1100" dirty="0"/>
          </a:p>
        </p:txBody>
      </p:sp>
      <p:sp>
        <p:nvSpPr>
          <p:cNvPr id="7" name="Text 5"/>
          <p:cNvSpPr/>
          <p:nvPr/>
        </p:nvSpPr>
        <p:spPr>
          <a:xfrm>
            <a:off x="841248" y="3044952"/>
            <a:ext cx="2588666" cy="731520"/>
          </a:xfrm>
          <a:prstGeom prst="rect">
            <a:avLst/>
          </a:prstGeom>
          <a:noFill/>
          <a:ln/>
        </p:spPr>
        <p:txBody>
          <a:bodyPr wrap="square" lIns="0" tIns="0" rIns="0" bIns="0" rtlCol="0" anchor="ctr"/>
          <a:lstStyle/>
          <a:p>
            <a:pPr indent="0" marL="0">
              <a:lnSpc>
                <a:spcPts val="2100"/>
              </a:lnSpc>
              <a:buNone/>
            </a:pPr>
            <a:r>
              <a:rPr lang="en-US" sz="1800" b="1" dirty="0">
                <a:solidFill>
                  <a:srgbClr val="FFFFFF"/>
                </a:solidFill>
                <a:latin typeface="Georgia" pitchFamily="34" charset="0"/>
                <a:ea typeface="Georgia" pitchFamily="34" charset="-122"/>
                <a:cs typeface="Georgia" pitchFamily="34" charset="-120"/>
              </a:rPr>
              <a:t>10,372 PDFs · 27 GB</a:t>
            </a:r>
            <a:endParaRPr lang="en-US" sz="1800" dirty="0"/>
          </a:p>
        </p:txBody>
      </p:sp>
      <p:sp>
        <p:nvSpPr>
          <p:cNvPr id="8" name="Text 6"/>
          <p:cNvSpPr/>
          <p:nvPr/>
        </p:nvSpPr>
        <p:spPr>
          <a:xfrm>
            <a:off x="841248" y="3794760"/>
            <a:ext cx="2588666" cy="777240"/>
          </a:xfrm>
          <a:prstGeom prst="rect">
            <a:avLst/>
          </a:prstGeom>
          <a:noFill/>
          <a:ln/>
        </p:spPr>
        <p:txBody>
          <a:bodyPr wrap="square" lIns="0" tIns="0" rIns="0" bIns="0" rtlCol="0" anchor="t"/>
          <a:lstStyle/>
          <a:p>
            <a:pPr indent="0" marL="0">
              <a:lnSpc>
                <a:spcPts val="1550"/>
              </a:lnSpc>
              <a:buNone/>
            </a:pPr>
            <a:r>
              <a:rPr lang="en-US" sz="1150" dirty="0">
                <a:solidFill>
                  <a:srgbClr val="93A4BD"/>
                </a:solidFill>
                <a:latin typeface="Calibri" pitchFamily="34" charset="0"/>
                <a:ea typeface="Calibri" pitchFamily="34" charset="-122"/>
                <a:cs typeface="Calibri" pitchFamily="34" charset="-120"/>
              </a:rPr>
              <a:t>Decades of amendments locked in prose and scanned rate tables</a:t>
            </a:r>
            <a:endParaRPr lang="en-US" sz="1150" dirty="0"/>
          </a:p>
        </p:txBody>
      </p:sp>
      <p:sp>
        <p:nvSpPr>
          <p:cNvPr id="9" name="Shape 7"/>
          <p:cNvSpPr/>
          <p:nvPr/>
        </p:nvSpPr>
        <p:spPr>
          <a:xfrm>
            <a:off x="3868826" y="3493008"/>
            <a:ext cx="502920" cy="0"/>
          </a:xfrm>
          <a:prstGeom prst="line">
            <a:avLst/>
          </a:prstGeom>
          <a:noFill/>
          <a:ln w="25400">
            <a:solidFill>
              <a:srgbClr val="5EEAD4"/>
            </a:solidFill>
            <a:prstDash val="solid"/>
            <a:tailEnd type="triangle"/>
          </a:ln>
        </p:spPr>
      </p:sp>
      <p:sp>
        <p:nvSpPr>
          <p:cNvPr id="10" name="Shape 8"/>
          <p:cNvSpPr/>
          <p:nvPr/>
        </p:nvSpPr>
        <p:spPr>
          <a:xfrm>
            <a:off x="4527194" y="2331720"/>
            <a:ext cx="3137306" cy="233172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1" name="Shape 9"/>
          <p:cNvSpPr/>
          <p:nvPr/>
        </p:nvSpPr>
        <p:spPr>
          <a:xfrm>
            <a:off x="4527194" y="2331720"/>
            <a:ext cx="3137306" cy="82296"/>
          </a:xfrm>
          <a:prstGeom prst="rect">
            <a:avLst/>
          </a:prstGeom>
          <a:solidFill>
            <a:srgbClr val="14B8A6"/>
          </a:solidFill>
          <a:ln/>
        </p:spPr>
      </p:sp>
      <p:sp>
        <p:nvSpPr>
          <p:cNvPr id="12" name="Text 10"/>
          <p:cNvSpPr/>
          <p:nvPr/>
        </p:nvSpPr>
        <p:spPr>
          <a:xfrm>
            <a:off x="4801514" y="2624328"/>
            <a:ext cx="2588666" cy="365760"/>
          </a:xfrm>
          <a:prstGeom prst="rect">
            <a:avLst/>
          </a:prstGeom>
          <a:noFill/>
          <a:ln/>
        </p:spPr>
        <p:txBody>
          <a:bodyPr wrap="square" lIns="0" tIns="0" rIns="0" bIns="0" rtlCol="0" anchor="ctr"/>
          <a:lstStyle/>
          <a:p>
            <a:pPr indent="0" marL="0">
              <a:buNone/>
            </a:pPr>
            <a:r>
              <a:rPr lang="en-US" sz="1100" b="1" spc="200" kern="0" dirty="0">
                <a:solidFill>
                  <a:srgbClr val="5EEAD4"/>
                </a:solidFill>
                <a:latin typeface="Calibri" pitchFamily="34" charset="0"/>
                <a:ea typeface="Calibri" pitchFamily="34" charset="-122"/>
                <a:cs typeface="Calibri" pitchFamily="34" charset="-120"/>
              </a:rPr>
              <a:t>STRUCTURED &amp; GOVERNED</a:t>
            </a:r>
            <a:endParaRPr lang="en-US" sz="1100" dirty="0"/>
          </a:p>
        </p:txBody>
      </p:sp>
      <p:sp>
        <p:nvSpPr>
          <p:cNvPr id="13" name="Text 11"/>
          <p:cNvSpPr/>
          <p:nvPr/>
        </p:nvSpPr>
        <p:spPr>
          <a:xfrm>
            <a:off x="4801514" y="3044952"/>
            <a:ext cx="2588666" cy="731520"/>
          </a:xfrm>
          <a:prstGeom prst="rect">
            <a:avLst/>
          </a:prstGeom>
          <a:noFill/>
          <a:ln/>
        </p:spPr>
        <p:txBody>
          <a:bodyPr wrap="square" lIns="0" tIns="0" rIns="0" bIns="0" rtlCol="0" anchor="ctr"/>
          <a:lstStyle/>
          <a:p>
            <a:pPr indent="0" marL="0">
              <a:lnSpc>
                <a:spcPts val="2100"/>
              </a:lnSpc>
              <a:buNone/>
            </a:pPr>
            <a:r>
              <a:rPr lang="en-US" sz="1800" b="1" dirty="0">
                <a:solidFill>
                  <a:srgbClr val="FFFFFF"/>
                </a:solidFill>
                <a:latin typeface="Georgia" pitchFamily="34" charset="0"/>
                <a:ea typeface="Georgia" pitchFamily="34" charset="-122"/>
                <a:cs typeface="Georgia" pitchFamily="34" charset="-120"/>
              </a:rPr>
              <a:t>Validated Delta intelligence</a:t>
            </a:r>
            <a:endParaRPr lang="en-US" sz="1800" dirty="0"/>
          </a:p>
        </p:txBody>
      </p:sp>
      <p:sp>
        <p:nvSpPr>
          <p:cNvPr id="14" name="Text 12"/>
          <p:cNvSpPr/>
          <p:nvPr/>
        </p:nvSpPr>
        <p:spPr>
          <a:xfrm>
            <a:off x="4801514" y="3794760"/>
            <a:ext cx="2588666" cy="777240"/>
          </a:xfrm>
          <a:prstGeom prst="rect">
            <a:avLst/>
          </a:prstGeom>
          <a:noFill/>
          <a:ln/>
        </p:spPr>
        <p:txBody>
          <a:bodyPr wrap="square" lIns="0" tIns="0" rIns="0" bIns="0" rtlCol="0" anchor="t"/>
          <a:lstStyle/>
          <a:p>
            <a:pPr indent="0" marL="0">
              <a:lnSpc>
                <a:spcPts val="1550"/>
              </a:lnSpc>
              <a:buNone/>
            </a:pPr>
            <a:r>
              <a:rPr lang="en-US" sz="1150" dirty="0">
                <a:solidFill>
                  <a:srgbClr val="93A4BD"/>
                </a:solidFill>
                <a:latin typeface="Calibri" pitchFamily="34" charset="0"/>
                <a:ea typeface="Calibri" pitchFamily="34" charset="-122"/>
                <a:cs typeface="Calibri" pitchFamily="34" charset="-120"/>
              </a:rPr>
              <a:t>Rates, clauses, amendments — extracted, normalized, lineage-tracked</a:t>
            </a:r>
            <a:endParaRPr lang="en-US" sz="1150" dirty="0"/>
          </a:p>
        </p:txBody>
      </p:sp>
      <p:sp>
        <p:nvSpPr>
          <p:cNvPr id="15" name="Shape 13"/>
          <p:cNvSpPr/>
          <p:nvPr/>
        </p:nvSpPr>
        <p:spPr>
          <a:xfrm>
            <a:off x="7829093" y="3493008"/>
            <a:ext cx="502920" cy="0"/>
          </a:xfrm>
          <a:prstGeom prst="line">
            <a:avLst/>
          </a:prstGeom>
          <a:noFill/>
          <a:ln w="25400">
            <a:solidFill>
              <a:srgbClr val="5EEAD4"/>
            </a:solidFill>
            <a:prstDash val="solid"/>
            <a:tailEnd type="triangle"/>
          </a:ln>
        </p:spPr>
      </p:sp>
      <p:sp>
        <p:nvSpPr>
          <p:cNvPr id="16" name="Shape 14"/>
          <p:cNvSpPr/>
          <p:nvPr/>
        </p:nvSpPr>
        <p:spPr>
          <a:xfrm>
            <a:off x="8487461" y="2331720"/>
            <a:ext cx="3137306" cy="233172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7" name="Shape 15"/>
          <p:cNvSpPr/>
          <p:nvPr/>
        </p:nvSpPr>
        <p:spPr>
          <a:xfrm>
            <a:off x="8487461" y="2331720"/>
            <a:ext cx="3137306" cy="82296"/>
          </a:xfrm>
          <a:prstGeom prst="rect">
            <a:avLst/>
          </a:prstGeom>
          <a:solidFill>
            <a:srgbClr val="F26A4B"/>
          </a:solidFill>
          <a:ln/>
        </p:spPr>
      </p:sp>
      <p:sp>
        <p:nvSpPr>
          <p:cNvPr id="18" name="Text 16"/>
          <p:cNvSpPr/>
          <p:nvPr/>
        </p:nvSpPr>
        <p:spPr>
          <a:xfrm>
            <a:off x="8761781" y="2624328"/>
            <a:ext cx="2588666" cy="365760"/>
          </a:xfrm>
          <a:prstGeom prst="rect">
            <a:avLst/>
          </a:prstGeom>
          <a:noFill/>
          <a:ln/>
        </p:spPr>
        <p:txBody>
          <a:bodyPr wrap="square" lIns="0" tIns="0" rIns="0" bIns="0" rtlCol="0" anchor="ctr"/>
          <a:lstStyle/>
          <a:p>
            <a:pPr indent="0" marL="0">
              <a:buNone/>
            </a:pPr>
            <a:r>
              <a:rPr lang="en-US" sz="1100" b="1" spc="200" kern="0" dirty="0">
                <a:solidFill>
                  <a:srgbClr val="F26A4B"/>
                </a:solidFill>
                <a:latin typeface="Calibri" pitchFamily="34" charset="0"/>
                <a:ea typeface="Calibri" pitchFamily="34" charset="-122"/>
                <a:cs typeface="Calibri" pitchFamily="34" charset="-120"/>
              </a:rPr>
              <a:t>ASKABLE</a:t>
            </a:r>
            <a:endParaRPr lang="en-US" sz="1100" dirty="0"/>
          </a:p>
        </p:txBody>
      </p:sp>
      <p:sp>
        <p:nvSpPr>
          <p:cNvPr id="19" name="Text 17"/>
          <p:cNvSpPr/>
          <p:nvPr/>
        </p:nvSpPr>
        <p:spPr>
          <a:xfrm>
            <a:off x="8761781" y="3044952"/>
            <a:ext cx="2588666" cy="731520"/>
          </a:xfrm>
          <a:prstGeom prst="rect">
            <a:avLst/>
          </a:prstGeom>
          <a:noFill/>
          <a:ln/>
        </p:spPr>
        <p:txBody>
          <a:bodyPr wrap="square" lIns="0" tIns="0" rIns="0" bIns="0" rtlCol="0" anchor="ctr"/>
          <a:lstStyle/>
          <a:p>
            <a:pPr indent="0" marL="0">
              <a:lnSpc>
                <a:spcPts val="2100"/>
              </a:lnSpc>
              <a:buNone/>
            </a:pPr>
            <a:r>
              <a:rPr lang="en-US" sz="1800" b="1" dirty="0">
                <a:solidFill>
                  <a:srgbClr val="FFFFFF"/>
                </a:solidFill>
                <a:latin typeface="Georgia" pitchFamily="34" charset="0"/>
                <a:ea typeface="Georgia" pitchFamily="34" charset="-122"/>
                <a:cs typeface="Georgia" pitchFamily="34" charset="-120"/>
              </a:rPr>
              <a:t>Natural-language answers</a:t>
            </a:r>
            <a:endParaRPr lang="en-US" sz="1800" dirty="0"/>
          </a:p>
        </p:txBody>
      </p:sp>
      <p:sp>
        <p:nvSpPr>
          <p:cNvPr id="20" name="Text 18"/>
          <p:cNvSpPr/>
          <p:nvPr/>
        </p:nvSpPr>
        <p:spPr>
          <a:xfrm>
            <a:off x="8761781" y="3794760"/>
            <a:ext cx="2588666" cy="777240"/>
          </a:xfrm>
          <a:prstGeom prst="rect">
            <a:avLst/>
          </a:prstGeom>
          <a:noFill/>
          <a:ln/>
        </p:spPr>
        <p:txBody>
          <a:bodyPr wrap="square" lIns="0" tIns="0" rIns="0" bIns="0" rtlCol="0" anchor="t"/>
          <a:lstStyle/>
          <a:p>
            <a:pPr indent="0" marL="0">
              <a:lnSpc>
                <a:spcPts val="1550"/>
              </a:lnSpc>
              <a:buNone/>
            </a:pPr>
            <a:r>
              <a:rPr lang="en-US" sz="1150" dirty="0">
                <a:solidFill>
                  <a:srgbClr val="93A4BD"/>
                </a:solidFill>
                <a:latin typeface="Calibri" pitchFamily="34" charset="0"/>
                <a:ea typeface="Calibri" pitchFamily="34" charset="-122"/>
                <a:cs typeface="Calibri" pitchFamily="34" charset="-120"/>
              </a:rPr>
              <a:t>Any user, any contract question, grounded and cited, in seconds</a:t>
            </a:r>
            <a:endParaRPr lang="en-US" sz="1150" dirty="0"/>
          </a:p>
        </p:txBody>
      </p:sp>
      <p:sp>
        <p:nvSpPr>
          <p:cNvPr id="21" name="Shape 19"/>
          <p:cNvSpPr/>
          <p:nvPr/>
        </p:nvSpPr>
        <p:spPr>
          <a:xfrm>
            <a:off x="566928" y="5074920"/>
            <a:ext cx="11057839" cy="960120"/>
          </a:xfrm>
          <a:prstGeom prst="rect">
            <a:avLst/>
          </a:prstGeom>
          <a:solidFill>
            <a:srgbClr val="13283F"/>
          </a:solidFill>
          <a:ln/>
        </p:spPr>
      </p:sp>
      <p:sp>
        <p:nvSpPr>
          <p:cNvPr id="22" name="Shape 20"/>
          <p:cNvSpPr/>
          <p:nvPr/>
        </p:nvSpPr>
        <p:spPr>
          <a:xfrm>
            <a:off x="566928" y="5074920"/>
            <a:ext cx="82296" cy="960120"/>
          </a:xfrm>
          <a:prstGeom prst="rect">
            <a:avLst/>
          </a:prstGeom>
          <a:solidFill>
            <a:srgbClr val="14B8A6"/>
          </a:solidFill>
          <a:ln/>
        </p:spPr>
      </p:sp>
      <p:sp>
        <p:nvSpPr>
          <p:cNvPr id="23" name="Text 21"/>
          <p:cNvSpPr/>
          <p:nvPr/>
        </p:nvSpPr>
        <p:spPr>
          <a:xfrm>
            <a:off x="886968" y="5212080"/>
            <a:ext cx="10417759" cy="731520"/>
          </a:xfrm>
          <a:prstGeom prst="rect">
            <a:avLst/>
          </a:prstGeom>
          <a:noFill/>
          <a:ln/>
        </p:spPr>
        <p:txBody>
          <a:bodyPr wrap="square" lIns="0" tIns="0" rIns="0" bIns="0" rtlCol="0" anchor="ctr"/>
          <a:lstStyle/>
          <a:p>
            <a:pPr indent="0" marL="0">
              <a:lnSpc>
                <a:spcPts val="1900"/>
              </a:lnSpc>
              <a:buNone/>
            </a:pPr>
            <a:r>
              <a:rPr lang="en-US" sz="1400" b="1" i="1" dirty="0">
                <a:solidFill>
                  <a:srgbClr val="5EEAD4"/>
                </a:solidFill>
                <a:latin typeface="Calibri" pitchFamily="34" charset="0"/>
                <a:ea typeface="Calibri" pitchFamily="34" charset="-122"/>
                <a:cs typeface="Calibri" pitchFamily="34" charset="-120"/>
              </a:rPr>
              <a:t>The principle:  </a:t>
            </a:r>
            <a:pPr indent="0" marL="0">
              <a:lnSpc>
                <a:spcPts val="1900"/>
              </a:lnSpc>
              <a:buNone/>
            </a:pPr>
            <a:r>
              <a:rPr lang="en-US" sz="1400" i="1" dirty="0">
                <a:solidFill>
                  <a:srgbClr val="FFFFFF"/>
                </a:solidFill>
                <a:latin typeface="Calibri" pitchFamily="34" charset="0"/>
                <a:ea typeface="Calibri" pitchFamily="34" charset="-122"/>
                <a:cs typeface="Calibri" pitchFamily="34" charset="-120"/>
              </a:rPr>
              <a:t>apply AI where it creates leverage — reading and structuring — while keeping humans in control of decisions and the system inside enterprise governance.</a:t>
            </a:r>
            <a:endParaRPr lang="en-US" sz="1400" dirty="0"/>
          </a:p>
        </p:txBody>
      </p:sp>
      <p:sp>
        <p:nvSpPr>
          <p:cNvPr id="24" name="Text 22"/>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93A4BD"/>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93A4BD"/>
                </a:solidFill>
                <a:latin typeface="Calibri" pitchFamily="34" charset="0"/>
                <a:ea typeface="Calibri" pitchFamily="34" charset="-122"/>
                <a:cs typeface="Calibri" pitchFamily="34" charset="-120"/>
              </a:rPr>
              <a:t>   ·   Confidential — Internal</a:t>
            </a:r>
            <a:endParaRPr lang="en-US" sz="800" dirty="0"/>
          </a:p>
        </p:txBody>
      </p:sp>
      <p:sp>
        <p:nvSpPr>
          <p:cNvPr id="25" name="Text 23"/>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93A4BD"/>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04 · OPERATIONAL TRANSFORMATION</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A structural shift in how contracting operates</a:t>
            </a:r>
            <a:endParaRPr lang="en-US" sz="2900" dirty="0"/>
          </a:p>
        </p:txBody>
      </p:sp>
      <p:sp>
        <p:nvSpPr>
          <p:cNvPr id="4" name="Shape 2"/>
          <p:cNvSpPr/>
          <p:nvPr/>
        </p:nvSpPr>
        <p:spPr>
          <a:xfrm>
            <a:off x="5486400" y="1783080"/>
            <a:ext cx="3063240" cy="457200"/>
          </a:xfrm>
          <a:prstGeom prst="rect">
            <a:avLst/>
          </a:prstGeom>
          <a:solidFill>
            <a:srgbClr val="F2F6F9"/>
          </a:solidFill>
          <a:ln/>
        </p:spPr>
      </p:sp>
      <p:sp>
        <p:nvSpPr>
          <p:cNvPr id="5" name="Shape 3"/>
          <p:cNvSpPr/>
          <p:nvPr/>
        </p:nvSpPr>
        <p:spPr>
          <a:xfrm>
            <a:off x="8732520" y="1783080"/>
            <a:ext cx="2892247" cy="457200"/>
          </a:xfrm>
          <a:prstGeom prst="rect">
            <a:avLst/>
          </a:prstGeom>
          <a:solidFill>
            <a:srgbClr val="0B1B2E"/>
          </a:solidFill>
          <a:ln/>
        </p:spPr>
      </p:sp>
      <p:sp>
        <p:nvSpPr>
          <p:cNvPr id="6" name="Text 4"/>
          <p:cNvSpPr/>
          <p:nvPr/>
        </p:nvSpPr>
        <p:spPr>
          <a:xfrm>
            <a:off x="5669280" y="1783080"/>
            <a:ext cx="2743200" cy="457200"/>
          </a:xfrm>
          <a:prstGeom prst="rect">
            <a:avLst/>
          </a:prstGeom>
          <a:noFill/>
          <a:ln/>
        </p:spPr>
        <p:txBody>
          <a:bodyPr wrap="square" lIns="0" tIns="0" rIns="0" bIns="0" rtlCol="0" anchor="ctr"/>
          <a:lstStyle/>
          <a:p>
            <a:pPr indent="0" marL="0">
              <a:buNone/>
            </a:pPr>
            <a:r>
              <a:rPr lang="en-US" sz="1100" b="1" spc="150" kern="0" dirty="0">
                <a:solidFill>
                  <a:srgbClr val="64748B"/>
                </a:solidFill>
                <a:latin typeface="Calibri" pitchFamily="34" charset="0"/>
                <a:ea typeface="Calibri" pitchFamily="34" charset="-122"/>
                <a:cs typeface="Calibri" pitchFamily="34" charset="-120"/>
              </a:rPr>
              <a:t>BEFORE — MANUAL</a:t>
            </a:r>
            <a:endParaRPr lang="en-US" sz="1100" dirty="0"/>
          </a:p>
        </p:txBody>
      </p:sp>
      <p:sp>
        <p:nvSpPr>
          <p:cNvPr id="7" name="Text 5"/>
          <p:cNvSpPr/>
          <p:nvPr/>
        </p:nvSpPr>
        <p:spPr>
          <a:xfrm>
            <a:off x="8915400" y="1783080"/>
            <a:ext cx="2743200" cy="457200"/>
          </a:xfrm>
          <a:prstGeom prst="rect">
            <a:avLst/>
          </a:prstGeom>
          <a:noFill/>
          <a:ln/>
        </p:spPr>
        <p:txBody>
          <a:bodyPr wrap="square" lIns="0" tIns="0" rIns="0" bIns="0" rtlCol="0" anchor="ctr"/>
          <a:lstStyle/>
          <a:p>
            <a:pPr indent="0" marL="0">
              <a:buNone/>
            </a:pPr>
            <a:r>
              <a:rPr lang="en-US" sz="1100" b="1" spc="150" kern="0" dirty="0">
                <a:solidFill>
                  <a:srgbClr val="5EEAD4"/>
                </a:solidFill>
                <a:latin typeface="Calibri" pitchFamily="34" charset="0"/>
                <a:ea typeface="Calibri" pitchFamily="34" charset="-122"/>
                <a:cs typeface="Calibri" pitchFamily="34" charset="-120"/>
              </a:rPr>
              <a:t>AFTER — AI-NATIVE</a:t>
            </a:r>
            <a:endParaRPr lang="en-US" sz="1100" dirty="0"/>
          </a:p>
        </p:txBody>
      </p:sp>
      <p:sp>
        <p:nvSpPr>
          <p:cNvPr id="8" name="Shape 6"/>
          <p:cNvSpPr/>
          <p:nvPr/>
        </p:nvSpPr>
        <p:spPr>
          <a:xfrm>
            <a:off x="566928" y="2377440"/>
            <a:ext cx="11057839" cy="576072"/>
          </a:xfrm>
          <a:prstGeom prst="rect">
            <a:avLst/>
          </a:prstGeom>
          <a:solidFill>
            <a:srgbClr val="F8FAFC"/>
          </a:solidFill>
          <a:ln/>
        </p:spPr>
      </p:sp>
      <p:sp>
        <p:nvSpPr>
          <p:cNvPr id="9" name="Text 7"/>
          <p:cNvSpPr/>
          <p:nvPr/>
        </p:nvSpPr>
        <p:spPr>
          <a:xfrm>
            <a:off x="612648" y="2377440"/>
            <a:ext cx="5212080" cy="576072"/>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Answer a rate question</a:t>
            </a:r>
            <a:endParaRPr lang="en-US" sz="1250" dirty="0"/>
          </a:p>
        </p:txBody>
      </p:sp>
      <p:sp>
        <p:nvSpPr>
          <p:cNvPr id="10" name="Text 8"/>
          <p:cNvSpPr/>
          <p:nvPr/>
        </p:nvSpPr>
        <p:spPr>
          <a:xfrm>
            <a:off x="5669280" y="2377440"/>
            <a:ext cx="2834640" cy="576072"/>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2–4 hours</a:t>
            </a:r>
            <a:endParaRPr lang="en-US" sz="1250" dirty="0"/>
          </a:p>
        </p:txBody>
      </p:sp>
      <p:sp>
        <p:nvSpPr>
          <p:cNvPr id="11" name="Text 9"/>
          <p:cNvSpPr/>
          <p:nvPr/>
        </p:nvSpPr>
        <p:spPr>
          <a:xfrm>
            <a:off x="8915400" y="2377440"/>
            <a:ext cx="2617927" cy="576072"/>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10 seconds</a:t>
            </a:r>
            <a:endParaRPr lang="en-US" sz="1250" dirty="0"/>
          </a:p>
        </p:txBody>
      </p:sp>
      <p:sp>
        <p:nvSpPr>
          <p:cNvPr id="12" name="Text 10"/>
          <p:cNvSpPr/>
          <p:nvPr/>
        </p:nvSpPr>
        <p:spPr>
          <a:xfrm>
            <a:off x="612648" y="2953512"/>
            <a:ext cx="5212080" cy="576072"/>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Prepare for a negotiation</a:t>
            </a:r>
            <a:endParaRPr lang="en-US" sz="1250" dirty="0"/>
          </a:p>
        </p:txBody>
      </p:sp>
      <p:sp>
        <p:nvSpPr>
          <p:cNvPr id="13" name="Text 11"/>
          <p:cNvSpPr/>
          <p:nvPr/>
        </p:nvSpPr>
        <p:spPr>
          <a:xfrm>
            <a:off x="5669280" y="2953512"/>
            <a:ext cx="2834640" cy="576072"/>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2–3 days</a:t>
            </a:r>
            <a:endParaRPr lang="en-US" sz="1250" dirty="0"/>
          </a:p>
        </p:txBody>
      </p:sp>
      <p:sp>
        <p:nvSpPr>
          <p:cNvPr id="14" name="Text 12"/>
          <p:cNvSpPr/>
          <p:nvPr/>
        </p:nvSpPr>
        <p:spPr>
          <a:xfrm>
            <a:off x="8915400" y="2953512"/>
            <a:ext cx="2617927" cy="576072"/>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~15 minutes</a:t>
            </a:r>
            <a:endParaRPr lang="en-US" sz="1250" dirty="0"/>
          </a:p>
        </p:txBody>
      </p:sp>
      <p:sp>
        <p:nvSpPr>
          <p:cNvPr id="15" name="Shape 13"/>
          <p:cNvSpPr/>
          <p:nvPr/>
        </p:nvSpPr>
        <p:spPr>
          <a:xfrm>
            <a:off x="566928" y="3529584"/>
            <a:ext cx="11057839" cy="576072"/>
          </a:xfrm>
          <a:prstGeom prst="rect">
            <a:avLst/>
          </a:prstGeom>
          <a:solidFill>
            <a:srgbClr val="F8FAFC"/>
          </a:solidFill>
          <a:ln/>
        </p:spPr>
      </p:sp>
      <p:sp>
        <p:nvSpPr>
          <p:cNvPr id="16" name="Text 14"/>
          <p:cNvSpPr/>
          <p:nvPr/>
        </p:nvSpPr>
        <p:spPr>
          <a:xfrm>
            <a:off x="612648" y="3529584"/>
            <a:ext cx="5212080" cy="576072"/>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Cross-provider benchmarking</a:t>
            </a:r>
            <a:endParaRPr lang="en-US" sz="1250" dirty="0"/>
          </a:p>
        </p:txBody>
      </p:sp>
      <p:sp>
        <p:nvSpPr>
          <p:cNvPr id="17" name="Text 15"/>
          <p:cNvSpPr/>
          <p:nvPr/>
        </p:nvSpPr>
        <p:spPr>
          <a:xfrm>
            <a:off x="5669280" y="3529584"/>
            <a:ext cx="2834640" cy="576072"/>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Not feasible</a:t>
            </a:r>
            <a:endParaRPr lang="en-US" sz="1250" dirty="0"/>
          </a:p>
        </p:txBody>
      </p:sp>
      <p:sp>
        <p:nvSpPr>
          <p:cNvPr id="18" name="Text 16"/>
          <p:cNvSpPr/>
          <p:nvPr/>
        </p:nvSpPr>
        <p:spPr>
          <a:xfrm>
            <a:off x="8915400" y="3529584"/>
            <a:ext cx="2617927" cy="576072"/>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Instant, portfolio-wide</a:t>
            </a:r>
            <a:endParaRPr lang="en-US" sz="1250" dirty="0"/>
          </a:p>
        </p:txBody>
      </p:sp>
      <p:sp>
        <p:nvSpPr>
          <p:cNvPr id="19" name="Text 17"/>
          <p:cNvSpPr/>
          <p:nvPr/>
        </p:nvSpPr>
        <p:spPr>
          <a:xfrm>
            <a:off x="612648" y="4105656"/>
            <a:ext cx="5212080" cy="576072"/>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Amendment supersession</a:t>
            </a:r>
            <a:endParaRPr lang="en-US" sz="1250" dirty="0"/>
          </a:p>
        </p:txBody>
      </p:sp>
      <p:sp>
        <p:nvSpPr>
          <p:cNvPr id="20" name="Text 18"/>
          <p:cNvSpPr/>
          <p:nvPr/>
        </p:nvSpPr>
        <p:spPr>
          <a:xfrm>
            <a:off x="5669280" y="4105656"/>
            <a:ext cx="2834640" cy="576072"/>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Tracked by hand / email</a:t>
            </a:r>
            <a:endParaRPr lang="en-US" sz="1250" dirty="0"/>
          </a:p>
        </p:txBody>
      </p:sp>
      <p:sp>
        <p:nvSpPr>
          <p:cNvPr id="21" name="Text 19"/>
          <p:cNvSpPr/>
          <p:nvPr/>
        </p:nvSpPr>
        <p:spPr>
          <a:xfrm>
            <a:off x="8915400" y="4105656"/>
            <a:ext cx="2617927" cy="576072"/>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Automated &amp; auditable</a:t>
            </a:r>
            <a:endParaRPr lang="en-US" sz="1250" dirty="0"/>
          </a:p>
        </p:txBody>
      </p:sp>
      <p:sp>
        <p:nvSpPr>
          <p:cNvPr id="22" name="Shape 20"/>
          <p:cNvSpPr/>
          <p:nvPr/>
        </p:nvSpPr>
        <p:spPr>
          <a:xfrm>
            <a:off x="566928" y="4681728"/>
            <a:ext cx="11057839" cy="576072"/>
          </a:xfrm>
          <a:prstGeom prst="rect">
            <a:avLst/>
          </a:prstGeom>
          <a:solidFill>
            <a:srgbClr val="F8FAFC"/>
          </a:solidFill>
          <a:ln/>
        </p:spPr>
      </p:sp>
      <p:sp>
        <p:nvSpPr>
          <p:cNvPr id="23" name="Text 21"/>
          <p:cNvSpPr/>
          <p:nvPr/>
        </p:nvSpPr>
        <p:spPr>
          <a:xfrm>
            <a:off x="612648" y="4681728"/>
            <a:ext cx="5212080" cy="576072"/>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Access for business users</a:t>
            </a:r>
            <a:endParaRPr lang="en-US" sz="1250" dirty="0"/>
          </a:p>
        </p:txBody>
      </p:sp>
      <p:sp>
        <p:nvSpPr>
          <p:cNvPr id="24" name="Text 22"/>
          <p:cNvSpPr/>
          <p:nvPr/>
        </p:nvSpPr>
        <p:spPr>
          <a:xfrm>
            <a:off x="5669280" y="4681728"/>
            <a:ext cx="2834640" cy="576072"/>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SQL / data-team ticket</a:t>
            </a:r>
            <a:endParaRPr lang="en-US" sz="1250" dirty="0"/>
          </a:p>
        </p:txBody>
      </p:sp>
      <p:sp>
        <p:nvSpPr>
          <p:cNvPr id="25" name="Text 23"/>
          <p:cNvSpPr/>
          <p:nvPr/>
        </p:nvSpPr>
        <p:spPr>
          <a:xfrm>
            <a:off x="8915400" y="4681728"/>
            <a:ext cx="2617927" cy="576072"/>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Natural language, self-serve</a:t>
            </a:r>
            <a:endParaRPr lang="en-US" sz="1250" dirty="0"/>
          </a:p>
        </p:txBody>
      </p:sp>
      <p:sp>
        <p:nvSpPr>
          <p:cNvPr id="26" name="Text 24"/>
          <p:cNvSpPr/>
          <p:nvPr/>
        </p:nvSpPr>
        <p:spPr>
          <a:xfrm>
            <a:off x="612648" y="5257800"/>
            <a:ext cx="5212080" cy="576072"/>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Analyst time split</a:t>
            </a:r>
            <a:endParaRPr lang="en-US" sz="1250" dirty="0"/>
          </a:p>
        </p:txBody>
      </p:sp>
      <p:sp>
        <p:nvSpPr>
          <p:cNvPr id="27" name="Text 25"/>
          <p:cNvSpPr/>
          <p:nvPr/>
        </p:nvSpPr>
        <p:spPr>
          <a:xfrm>
            <a:off x="5669280" y="5257800"/>
            <a:ext cx="2834640" cy="576072"/>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60% finding · 40% analyzing</a:t>
            </a:r>
            <a:endParaRPr lang="en-US" sz="1250" dirty="0"/>
          </a:p>
        </p:txBody>
      </p:sp>
      <p:sp>
        <p:nvSpPr>
          <p:cNvPr id="28" name="Text 26"/>
          <p:cNvSpPr/>
          <p:nvPr/>
        </p:nvSpPr>
        <p:spPr>
          <a:xfrm>
            <a:off x="8915400" y="5257800"/>
            <a:ext cx="2617927" cy="576072"/>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Inverted: analysis-first</a:t>
            </a:r>
            <a:endParaRPr lang="en-US" sz="1250" dirty="0"/>
          </a:p>
        </p:txBody>
      </p:sp>
      <p:sp>
        <p:nvSpPr>
          <p:cNvPr id="29" name="Text 27"/>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30" name="Text 28"/>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05 · WHAT WE BUILT</a:t>
            </a:r>
            <a:endParaRPr lang="en-US" sz="1150" dirty="0"/>
          </a:p>
        </p:txBody>
      </p:sp>
      <p:sp>
        <p:nvSpPr>
          <p:cNvPr id="3" name="Text 1"/>
          <p:cNvSpPr/>
          <p:nvPr/>
        </p:nvSpPr>
        <p:spPr>
          <a:xfrm>
            <a:off x="566928" y="777240"/>
            <a:ext cx="8229600"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One platform, four layers, end to end on Databricks</a:t>
            </a:r>
            <a:endParaRPr lang="en-US" sz="2900" dirty="0"/>
          </a:p>
        </p:txBody>
      </p:sp>
      <p:sp>
        <p:nvSpPr>
          <p:cNvPr id="4" name="Shape 2"/>
          <p:cNvSpPr/>
          <p:nvPr/>
        </p:nvSpPr>
        <p:spPr>
          <a:xfrm>
            <a:off x="566928" y="1737360"/>
            <a:ext cx="9411919" cy="786384"/>
          </a:xfrm>
          <a:prstGeom prst="rect">
            <a:avLst/>
          </a:prstGeom>
          <a:solidFill>
            <a:srgbClr val="F2F6F9"/>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5" name="Shape 3"/>
          <p:cNvSpPr/>
          <p:nvPr/>
        </p:nvSpPr>
        <p:spPr>
          <a:xfrm>
            <a:off x="566928" y="1737360"/>
            <a:ext cx="91440" cy="786384"/>
          </a:xfrm>
          <a:prstGeom prst="rect">
            <a:avLst/>
          </a:prstGeom>
          <a:solidFill>
            <a:srgbClr val="64748B"/>
          </a:solidFill>
          <a:ln/>
        </p:spPr>
      </p:sp>
      <p:sp>
        <p:nvSpPr>
          <p:cNvPr id="6" name="Text 4"/>
          <p:cNvSpPr/>
          <p:nvPr/>
        </p:nvSpPr>
        <p:spPr>
          <a:xfrm>
            <a:off x="822960" y="1856232"/>
            <a:ext cx="3200400" cy="274320"/>
          </a:xfrm>
          <a:prstGeom prst="rect">
            <a:avLst/>
          </a:prstGeom>
          <a:noFill/>
          <a:ln/>
        </p:spPr>
        <p:txBody>
          <a:bodyPr wrap="square" lIns="0" tIns="0" rIns="0" bIns="0" rtlCol="0" anchor="ctr"/>
          <a:lstStyle/>
          <a:p>
            <a:pPr indent="0" marL="0">
              <a:buNone/>
            </a:pPr>
            <a:r>
              <a:rPr lang="en-US" sz="1050" b="1" spc="100" kern="0" dirty="0">
                <a:solidFill>
                  <a:srgbClr val="64748B"/>
                </a:solidFill>
                <a:latin typeface="Calibri" pitchFamily="34" charset="0"/>
                <a:ea typeface="Calibri" pitchFamily="34" charset="-122"/>
                <a:cs typeface="Calibri" pitchFamily="34" charset="-120"/>
              </a:rPr>
              <a:t>SOURCE</a:t>
            </a:r>
            <a:endParaRPr lang="en-US" sz="1050" dirty="0"/>
          </a:p>
        </p:txBody>
      </p:sp>
      <p:sp>
        <p:nvSpPr>
          <p:cNvPr id="7" name="Text 5"/>
          <p:cNvSpPr/>
          <p:nvPr/>
        </p:nvSpPr>
        <p:spPr>
          <a:xfrm>
            <a:off x="822960" y="2103120"/>
            <a:ext cx="3200400" cy="384048"/>
          </a:xfrm>
          <a:prstGeom prst="rect">
            <a:avLst/>
          </a:prstGeom>
          <a:noFill/>
          <a:ln/>
        </p:spPr>
        <p:txBody>
          <a:bodyPr wrap="square" lIns="0" tIns="0" rIns="0" bIns="0" rtlCol="0" anchor="ctr"/>
          <a:lstStyle/>
          <a:p>
            <a:pPr indent="0" marL="0">
              <a:lnSpc>
                <a:spcPts val="1500"/>
              </a:lnSpc>
              <a:buNone/>
            </a:pPr>
            <a:r>
              <a:rPr lang="en-US" sz="1400" b="1" dirty="0">
                <a:solidFill>
                  <a:srgbClr val="0B1B2E"/>
                </a:solidFill>
                <a:latin typeface="Georgia" pitchFamily="34" charset="0"/>
                <a:ea typeface="Georgia" pitchFamily="34" charset="-122"/>
                <a:cs typeface="Georgia" pitchFamily="34" charset="-120"/>
              </a:rPr>
              <a:t>Provider contract corpus</a:t>
            </a:r>
            <a:endParaRPr lang="en-US" sz="1400" dirty="0"/>
          </a:p>
        </p:txBody>
      </p:sp>
      <p:sp>
        <p:nvSpPr>
          <p:cNvPr id="8" name="Shape 6"/>
          <p:cNvSpPr/>
          <p:nvPr/>
        </p:nvSpPr>
        <p:spPr>
          <a:xfrm>
            <a:off x="4270248" y="1956816"/>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9" name="Text 7"/>
          <p:cNvSpPr/>
          <p:nvPr/>
        </p:nvSpPr>
        <p:spPr>
          <a:xfrm>
            <a:off x="4325112" y="1956816"/>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PDF documents</a:t>
            </a:r>
            <a:endParaRPr lang="en-US" sz="950" dirty="0"/>
          </a:p>
        </p:txBody>
      </p:sp>
      <p:sp>
        <p:nvSpPr>
          <p:cNvPr id="10" name="Shape 8"/>
          <p:cNvSpPr/>
          <p:nvPr/>
        </p:nvSpPr>
        <p:spPr>
          <a:xfrm>
            <a:off x="6127394" y="1956816"/>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11" name="Text 9"/>
          <p:cNvSpPr/>
          <p:nvPr/>
        </p:nvSpPr>
        <p:spPr>
          <a:xfrm>
            <a:off x="6182258" y="1956816"/>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Scanned &amp; native</a:t>
            </a:r>
            <a:endParaRPr lang="en-US" sz="950" dirty="0"/>
          </a:p>
        </p:txBody>
      </p:sp>
      <p:sp>
        <p:nvSpPr>
          <p:cNvPr id="12" name="Shape 10"/>
          <p:cNvSpPr/>
          <p:nvPr/>
        </p:nvSpPr>
        <p:spPr>
          <a:xfrm>
            <a:off x="7984541" y="1956816"/>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13" name="Text 11"/>
          <p:cNvSpPr/>
          <p:nvPr/>
        </p:nvSpPr>
        <p:spPr>
          <a:xfrm>
            <a:off x="8039405" y="1956816"/>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30+ yrs of amendments</a:t>
            </a:r>
            <a:endParaRPr lang="en-US" sz="950" dirty="0"/>
          </a:p>
        </p:txBody>
      </p:sp>
      <p:sp>
        <p:nvSpPr>
          <p:cNvPr id="14" name="Shape 12"/>
          <p:cNvSpPr/>
          <p:nvPr/>
        </p:nvSpPr>
        <p:spPr>
          <a:xfrm>
            <a:off x="2395728" y="2528316"/>
            <a:ext cx="0" cy="100584"/>
          </a:xfrm>
          <a:prstGeom prst="line">
            <a:avLst/>
          </a:prstGeom>
          <a:noFill/>
          <a:ln w="25400">
            <a:solidFill>
              <a:srgbClr val="0F766E"/>
            </a:solidFill>
            <a:prstDash val="solid"/>
            <a:tailEnd type="triangle"/>
          </a:ln>
        </p:spPr>
      </p:sp>
      <p:sp>
        <p:nvSpPr>
          <p:cNvPr id="15" name="Shape 13"/>
          <p:cNvSpPr/>
          <p:nvPr/>
        </p:nvSpPr>
        <p:spPr>
          <a:xfrm>
            <a:off x="566928" y="2633472"/>
            <a:ext cx="9411919" cy="786384"/>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6" name="Shape 14"/>
          <p:cNvSpPr/>
          <p:nvPr/>
        </p:nvSpPr>
        <p:spPr>
          <a:xfrm>
            <a:off x="566928" y="2633472"/>
            <a:ext cx="91440" cy="786384"/>
          </a:xfrm>
          <a:prstGeom prst="rect">
            <a:avLst/>
          </a:prstGeom>
          <a:solidFill>
            <a:srgbClr val="14B8A6"/>
          </a:solidFill>
          <a:ln/>
        </p:spPr>
      </p:sp>
      <p:sp>
        <p:nvSpPr>
          <p:cNvPr id="17" name="Text 15"/>
          <p:cNvSpPr/>
          <p:nvPr/>
        </p:nvSpPr>
        <p:spPr>
          <a:xfrm>
            <a:off x="822960" y="2752344"/>
            <a:ext cx="3200400" cy="274320"/>
          </a:xfrm>
          <a:prstGeom prst="rect">
            <a:avLst/>
          </a:prstGeom>
          <a:noFill/>
          <a:ln/>
        </p:spPr>
        <p:txBody>
          <a:bodyPr wrap="square" lIns="0" tIns="0" rIns="0" bIns="0" rtlCol="0" anchor="ctr"/>
          <a:lstStyle/>
          <a:p>
            <a:pPr indent="0" marL="0">
              <a:buNone/>
            </a:pPr>
            <a:r>
              <a:rPr lang="en-US" sz="1050" b="1" spc="100" kern="0" dirty="0">
                <a:solidFill>
                  <a:srgbClr val="0F766E"/>
                </a:solidFill>
                <a:latin typeface="Calibri" pitchFamily="34" charset="0"/>
                <a:ea typeface="Calibri" pitchFamily="34" charset="-122"/>
                <a:cs typeface="Calibri" pitchFamily="34" charset="-120"/>
              </a:rPr>
              <a:t>LAYER 1 · EXTRACTION</a:t>
            </a:r>
            <a:endParaRPr lang="en-US" sz="1050" dirty="0"/>
          </a:p>
        </p:txBody>
      </p:sp>
      <p:sp>
        <p:nvSpPr>
          <p:cNvPr id="18" name="Text 16"/>
          <p:cNvSpPr/>
          <p:nvPr/>
        </p:nvSpPr>
        <p:spPr>
          <a:xfrm>
            <a:off x="822960" y="2999232"/>
            <a:ext cx="3200400" cy="384048"/>
          </a:xfrm>
          <a:prstGeom prst="rect">
            <a:avLst/>
          </a:prstGeom>
          <a:noFill/>
          <a:ln/>
        </p:spPr>
        <p:txBody>
          <a:bodyPr wrap="square" lIns="0" tIns="0" rIns="0" bIns="0" rtlCol="0" anchor="ctr"/>
          <a:lstStyle/>
          <a:p>
            <a:pPr indent="0" marL="0">
              <a:lnSpc>
                <a:spcPts val="1500"/>
              </a:lnSpc>
              <a:buNone/>
            </a:pPr>
            <a:r>
              <a:rPr lang="en-US" sz="1400" b="1" dirty="0">
                <a:solidFill>
                  <a:srgbClr val="0B1B2E"/>
                </a:solidFill>
                <a:latin typeface="Georgia" pitchFamily="34" charset="0"/>
                <a:ea typeface="Georgia" pitchFamily="34" charset="-122"/>
                <a:cs typeface="Georgia" pitchFamily="34" charset="-120"/>
              </a:rPr>
              <a:t>Document → structured JSON</a:t>
            </a:r>
            <a:endParaRPr lang="en-US" sz="1400" dirty="0"/>
          </a:p>
        </p:txBody>
      </p:sp>
      <p:sp>
        <p:nvSpPr>
          <p:cNvPr id="19" name="Shape 17"/>
          <p:cNvSpPr/>
          <p:nvPr/>
        </p:nvSpPr>
        <p:spPr>
          <a:xfrm>
            <a:off x="4270248" y="2852928"/>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20" name="Text 18"/>
          <p:cNvSpPr/>
          <p:nvPr/>
        </p:nvSpPr>
        <p:spPr>
          <a:xfrm>
            <a:off x="4325112" y="2852928"/>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OCR engine</a:t>
            </a:r>
            <a:endParaRPr lang="en-US" sz="950" dirty="0"/>
          </a:p>
        </p:txBody>
      </p:sp>
      <p:sp>
        <p:nvSpPr>
          <p:cNvPr id="21" name="Shape 19"/>
          <p:cNvSpPr/>
          <p:nvPr/>
        </p:nvSpPr>
        <p:spPr>
          <a:xfrm>
            <a:off x="6127394" y="2852928"/>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22" name="Text 20"/>
          <p:cNvSpPr/>
          <p:nvPr/>
        </p:nvSpPr>
        <p:spPr>
          <a:xfrm>
            <a:off x="6182258" y="2852928"/>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Claude Sonnet 4.5</a:t>
            </a:r>
            <a:endParaRPr lang="en-US" sz="950" dirty="0"/>
          </a:p>
        </p:txBody>
      </p:sp>
      <p:sp>
        <p:nvSpPr>
          <p:cNvPr id="23" name="Shape 21"/>
          <p:cNvSpPr/>
          <p:nvPr/>
        </p:nvSpPr>
        <p:spPr>
          <a:xfrm>
            <a:off x="7984541" y="2852928"/>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24" name="Text 22"/>
          <p:cNvSpPr/>
          <p:nvPr/>
        </p:nvSpPr>
        <p:spPr>
          <a:xfrm>
            <a:off x="8039405" y="2852928"/>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8-check validation</a:t>
            </a:r>
            <a:endParaRPr lang="en-US" sz="950" dirty="0"/>
          </a:p>
        </p:txBody>
      </p:sp>
      <p:sp>
        <p:nvSpPr>
          <p:cNvPr id="25" name="Shape 23"/>
          <p:cNvSpPr/>
          <p:nvPr/>
        </p:nvSpPr>
        <p:spPr>
          <a:xfrm>
            <a:off x="2395728" y="3424428"/>
            <a:ext cx="0" cy="100584"/>
          </a:xfrm>
          <a:prstGeom prst="line">
            <a:avLst/>
          </a:prstGeom>
          <a:noFill/>
          <a:ln w="25400">
            <a:solidFill>
              <a:srgbClr val="0F766E"/>
            </a:solidFill>
            <a:prstDash val="solid"/>
            <a:tailEnd type="triangle"/>
          </a:ln>
        </p:spPr>
      </p:sp>
      <p:sp>
        <p:nvSpPr>
          <p:cNvPr id="26" name="Shape 24"/>
          <p:cNvSpPr/>
          <p:nvPr/>
        </p:nvSpPr>
        <p:spPr>
          <a:xfrm>
            <a:off x="566928" y="3529584"/>
            <a:ext cx="9411919" cy="786384"/>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27" name="Shape 25"/>
          <p:cNvSpPr/>
          <p:nvPr/>
        </p:nvSpPr>
        <p:spPr>
          <a:xfrm>
            <a:off x="566928" y="3529584"/>
            <a:ext cx="91440" cy="786384"/>
          </a:xfrm>
          <a:prstGeom prst="rect">
            <a:avLst/>
          </a:prstGeom>
          <a:solidFill>
            <a:srgbClr val="14B8A6"/>
          </a:solidFill>
          <a:ln/>
        </p:spPr>
      </p:sp>
      <p:sp>
        <p:nvSpPr>
          <p:cNvPr id="28" name="Text 26"/>
          <p:cNvSpPr/>
          <p:nvPr/>
        </p:nvSpPr>
        <p:spPr>
          <a:xfrm>
            <a:off x="822960" y="3648456"/>
            <a:ext cx="3200400" cy="274320"/>
          </a:xfrm>
          <a:prstGeom prst="rect">
            <a:avLst/>
          </a:prstGeom>
          <a:noFill/>
          <a:ln/>
        </p:spPr>
        <p:txBody>
          <a:bodyPr wrap="square" lIns="0" tIns="0" rIns="0" bIns="0" rtlCol="0" anchor="ctr"/>
          <a:lstStyle/>
          <a:p>
            <a:pPr indent="0" marL="0">
              <a:buNone/>
            </a:pPr>
            <a:r>
              <a:rPr lang="en-US" sz="1050" b="1" spc="100" kern="0" dirty="0">
                <a:solidFill>
                  <a:srgbClr val="0F766E"/>
                </a:solidFill>
                <a:latin typeface="Calibri" pitchFamily="34" charset="0"/>
                <a:ea typeface="Calibri" pitchFamily="34" charset="-122"/>
                <a:cs typeface="Calibri" pitchFamily="34" charset="-120"/>
              </a:rPr>
              <a:t>LAYER 2 · FOUNDATION</a:t>
            </a:r>
            <a:endParaRPr lang="en-US" sz="1050" dirty="0"/>
          </a:p>
        </p:txBody>
      </p:sp>
      <p:sp>
        <p:nvSpPr>
          <p:cNvPr id="29" name="Text 27"/>
          <p:cNvSpPr/>
          <p:nvPr/>
        </p:nvSpPr>
        <p:spPr>
          <a:xfrm>
            <a:off x="822960" y="3895344"/>
            <a:ext cx="3200400" cy="384048"/>
          </a:xfrm>
          <a:prstGeom prst="rect">
            <a:avLst/>
          </a:prstGeom>
          <a:noFill/>
          <a:ln/>
        </p:spPr>
        <p:txBody>
          <a:bodyPr wrap="square" lIns="0" tIns="0" rIns="0" bIns="0" rtlCol="0" anchor="ctr"/>
          <a:lstStyle/>
          <a:p>
            <a:pPr indent="0" marL="0">
              <a:lnSpc>
                <a:spcPts val="1500"/>
              </a:lnSpc>
              <a:buNone/>
            </a:pPr>
            <a:r>
              <a:rPr lang="en-US" sz="1400" b="1" dirty="0">
                <a:solidFill>
                  <a:srgbClr val="0B1B2E"/>
                </a:solidFill>
                <a:latin typeface="Georgia" pitchFamily="34" charset="0"/>
                <a:ea typeface="Georgia" pitchFamily="34" charset="-122"/>
                <a:cs typeface="Georgia" pitchFamily="34" charset="-120"/>
              </a:rPr>
              <a:t>State engine &amp; normalization</a:t>
            </a:r>
            <a:endParaRPr lang="en-US" sz="1400" dirty="0"/>
          </a:p>
        </p:txBody>
      </p:sp>
      <p:sp>
        <p:nvSpPr>
          <p:cNvPr id="30" name="Shape 28"/>
          <p:cNvSpPr/>
          <p:nvPr/>
        </p:nvSpPr>
        <p:spPr>
          <a:xfrm>
            <a:off x="4270248" y="3749040"/>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31" name="Text 29"/>
          <p:cNvSpPr/>
          <p:nvPr/>
        </p:nvSpPr>
        <p:spPr>
          <a:xfrm>
            <a:off x="4325112" y="3749040"/>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Contract registry</a:t>
            </a:r>
            <a:endParaRPr lang="en-US" sz="950" dirty="0"/>
          </a:p>
        </p:txBody>
      </p:sp>
      <p:sp>
        <p:nvSpPr>
          <p:cNvPr id="32" name="Shape 30"/>
          <p:cNvSpPr/>
          <p:nvPr/>
        </p:nvSpPr>
        <p:spPr>
          <a:xfrm>
            <a:off x="6127394" y="3749040"/>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33" name="Text 31"/>
          <p:cNvSpPr/>
          <p:nvPr/>
        </p:nvSpPr>
        <p:spPr>
          <a:xfrm>
            <a:off x="6182258" y="3749040"/>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Amendment registry</a:t>
            </a:r>
            <a:endParaRPr lang="en-US" sz="950" dirty="0"/>
          </a:p>
        </p:txBody>
      </p:sp>
      <p:sp>
        <p:nvSpPr>
          <p:cNvPr id="34" name="Shape 32"/>
          <p:cNvSpPr/>
          <p:nvPr/>
        </p:nvSpPr>
        <p:spPr>
          <a:xfrm>
            <a:off x="7984541" y="3749040"/>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35" name="Text 33"/>
          <p:cNvSpPr/>
          <p:nvPr/>
        </p:nvSpPr>
        <p:spPr>
          <a:xfrm>
            <a:off x="8039405" y="3749040"/>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Rate-rule engine</a:t>
            </a:r>
            <a:endParaRPr lang="en-US" sz="950" dirty="0"/>
          </a:p>
        </p:txBody>
      </p:sp>
      <p:sp>
        <p:nvSpPr>
          <p:cNvPr id="36" name="Shape 34"/>
          <p:cNvSpPr/>
          <p:nvPr/>
        </p:nvSpPr>
        <p:spPr>
          <a:xfrm>
            <a:off x="2395728" y="4320540"/>
            <a:ext cx="0" cy="100584"/>
          </a:xfrm>
          <a:prstGeom prst="line">
            <a:avLst/>
          </a:prstGeom>
          <a:noFill/>
          <a:ln w="25400">
            <a:solidFill>
              <a:srgbClr val="0F766E"/>
            </a:solidFill>
            <a:prstDash val="solid"/>
            <a:tailEnd type="triangle"/>
          </a:ln>
        </p:spPr>
      </p:sp>
      <p:sp>
        <p:nvSpPr>
          <p:cNvPr id="37" name="Shape 35"/>
          <p:cNvSpPr/>
          <p:nvPr/>
        </p:nvSpPr>
        <p:spPr>
          <a:xfrm>
            <a:off x="566928" y="4425696"/>
            <a:ext cx="9411919" cy="786384"/>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38" name="Shape 36"/>
          <p:cNvSpPr/>
          <p:nvPr/>
        </p:nvSpPr>
        <p:spPr>
          <a:xfrm>
            <a:off x="566928" y="4425696"/>
            <a:ext cx="91440" cy="786384"/>
          </a:xfrm>
          <a:prstGeom prst="rect">
            <a:avLst/>
          </a:prstGeom>
          <a:solidFill>
            <a:srgbClr val="14B8A6"/>
          </a:solidFill>
          <a:ln/>
        </p:spPr>
      </p:sp>
      <p:sp>
        <p:nvSpPr>
          <p:cNvPr id="39" name="Text 37"/>
          <p:cNvSpPr/>
          <p:nvPr/>
        </p:nvSpPr>
        <p:spPr>
          <a:xfrm>
            <a:off x="822960" y="4544568"/>
            <a:ext cx="3200400" cy="274320"/>
          </a:xfrm>
          <a:prstGeom prst="rect">
            <a:avLst/>
          </a:prstGeom>
          <a:noFill/>
          <a:ln/>
        </p:spPr>
        <p:txBody>
          <a:bodyPr wrap="square" lIns="0" tIns="0" rIns="0" bIns="0" rtlCol="0" anchor="ctr"/>
          <a:lstStyle/>
          <a:p>
            <a:pPr indent="0" marL="0">
              <a:buNone/>
            </a:pPr>
            <a:r>
              <a:rPr lang="en-US" sz="1050" b="1" spc="100" kern="0" dirty="0">
                <a:solidFill>
                  <a:srgbClr val="0F766E"/>
                </a:solidFill>
                <a:latin typeface="Calibri" pitchFamily="34" charset="0"/>
                <a:ea typeface="Calibri" pitchFamily="34" charset="-122"/>
                <a:cs typeface="Calibri" pitchFamily="34" charset="-120"/>
              </a:rPr>
              <a:t>LAYER 3 · RETRIEVAL &amp; INTELLIGENCE</a:t>
            </a:r>
            <a:endParaRPr lang="en-US" sz="1050" dirty="0"/>
          </a:p>
        </p:txBody>
      </p:sp>
      <p:sp>
        <p:nvSpPr>
          <p:cNvPr id="40" name="Text 38"/>
          <p:cNvSpPr/>
          <p:nvPr/>
        </p:nvSpPr>
        <p:spPr>
          <a:xfrm>
            <a:off x="822960" y="4791456"/>
            <a:ext cx="3200400" cy="384048"/>
          </a:xfrm>
          <a:prstGeom prst="rect">
            <a:avLst/>
          </a:prstGeom>
          <a:noFill/>
          <a:ln/>
        </p:spPr>
        <p:txBody>
          <a:bodyPr wrap="square" lIns="0" tIns="0" rIns="0" bIns="0" rtlCol="0" anchor="ctr"/>
          <a:lstStyle/>
          <a:p>
            <a:pPr indent="0" marL="0">
              <a:lnSpc>
                <a:spcPts val="1500"/>
              </a:lnSpc>
              <a:buNone/>
            </a:pPr>
            <a:r>
              <a:rPr lang="en-US" sz="1400" b="1" dirty="0">
                <a:solidFill>
                  <a:srgbClr val="0B1B2E"/>
                </a:solidFill>
                <a:latin typeface="Georgia" pitchFamily="34" charset="0"/>
                <a:ea typeface="Georgia" pitchFamily="34" charset="-122"/>
                <a:cs typeface="Georgia" pitchFamily="34" charset="-120"/>
              </a:rPr>
              <a:t>Search &amp; analytics</a:t>
            </a:r>
            <a:endParaRPr lang="en-US" sz="1400" dirty="0"/>
          </a:p>
        </p:txBody>
      </p:sp>
      <p:sp>
        <p:nvSpPr>
          <p:cNvPr id="41" name="Shape 39"/>
          <p:cNvSpPr/>
          <p:nvPr/>
        </p:nvSpPr>
        <p:spPr>
          <a:xfrm>
            <a:off x="4270248" y="4645152"/>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42" name="Text 40"/>
          <p:cNvSpPr/>
          <p:nvPr/>
        </p:nvSpPr>
        <p:spPr>
          <a:xfrm>
            <a:off x="4325112" y="4645152"/>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Legal chunking</a:t>
            </a:r>
            <a:endParaRPr lang="en-US" sz="950" dirty="0"/>
          </a:p>
        </p:txBody>
      </p:sp>
      <p:sp>
        <p:nvSpPr>
          <p:cNvPr id="43" name="Shape 41"/>
          <p:cNvSpPr/>
          <p:nvPr/>
        </p:nvSpPr>
        <p:spPr>
          <a:xfrm>
            <a:off x="6127394" y="4645152"/>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44" name="Text 42"/>
          <p:cNvSpPr/>
          <p:nvPr/>
        </p:nvSpPr>
        <p:spPr>
          <a:xfrm>
            <a:off x="6182258" y="4645152"/>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Vector + 4-channel RAG</a:t>
            </a:r>
            <a:endParaRPr lang="en-US" sz="950" dirty="0"/>
          </a:p>
        </p:txBody>
      </p:sp>
      <p:sp>
        <p:nvSpPr>
          <p:cNvPr id="45" name="Shape 43"/>
          <p:cNvSpPr/>
          <p:nvPr/>
        </p:nvSpPr>
        <p:spPr>
          <a:xfrm>
            <a:off x="7984541" y="4645152"/>
            <a:ext cx="1747418" cy="347472"/>
          </a:xfrm>
          <a:prstGeom prst="roundRect">
            <a:avLst>
              <a:gd name="adj" fmla="val 18421"/>
            </a:avLst>
          </a:prstGeom>
          <a:solidFill>
            <a:srgbClr val="FFFFFF"/>
          </a:solidFill>
          <a:ln/>
          <a:effectLst>
            <a:outerShdw sx="100000" sy="100000" kx="0" ky="0" algn="bl" rotWithShape="0" blurRad="114300" dist="38100" dir="8100000">
              <a:srgbClr val="1E293B">
                <a:alpha val="12000"/>
              </a:srgbClr>
            </a:outerShdw>
          </a:effectLst>
        </p:spPr>
      </p:sp>
      <p:sp>
        <p:nvSpPr>
          <p:cNvPr id="46" name="Text 44"/>
          <p:cNvSpPr/>
          <p:nvPr/>
        </p:nvSpPr>
        <p:spPr>
          <a:xfrm>
            <a:off x="8039405" y="4645152"/>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33415A"/>
                </a:solidFill>
                <a:latin typeface="Calibri" pitchFamily="34" charset="0"/>
                <a:ea typeface="Calibri" pitchFamily="34" charset="-122"/>
                <a:cs typeface="Calibri" pitchFamily="34" charset="-120"/>
              </a:rPr>
              <a:t>Benchmark intelligence</a:t>
            </a:r>
            <a:endParaRPr lang="en-US" sz="950" dirty="0"/>
          </a:p>
        </p:txBody>
      </p:sp>
      <p:sp>
        <p:nvSpPr>
          <p:cNvPr id="47" name="Shape 45"/>
          <p:cNvSpPr/>
          <p:nvPr/>
        </p:nvSpPr>
        <p:spPr>
          <a:xfrm>
            <a:off x="2395728" y="5216652"/>
            <a:ext cx="0" cy="100584"/>
          </a:xfrm>
          <a:prstGeom prst="line">
            <a:avLst/>
          </a:prstGeom>
          <a:noFill/>
          <a:ln w="25400">
            <a:solidFill>
              <a:srgbClr val="0F766E"/>
            </a:solidFill>
            <a:prstDash val="solid"/>
            <a:tailEnd type="triangle"/>
          </a:ln>
        </p:spPr>
      </p:sp>
      <p:sp>
        <p:nvSpPr>
          <p:cNvPr id="48" name="Shape 46"/>
          <p:cNvSpPr/>
          <p:nvPr/>
        </p:nvSpPr>
        <p:spPr>
          <a:xfrm>
            <a:off x="566928" y="5321808"/>
            <a:ext cx="9411919" cy="786384"/>
          </a:xfrm>
          <a:prstGeom prst="rect">
            <a:avLst/>
          </a:prstGeom>
          <a:solidFill>
            <a:srgbClr val="0B1B2E"/>
          </a:solidFill>
          <a:ln w="12700">
            <a:solidFill>
              <a:srgbClr val="E3E9F0"/>
            </a:solidFill>
            <a:prstDash val="solid"/>
          </a:ln>
          <a:effectLst>
            <a:outerShdw sx="100000" sy="100000" kx="0" ky="0" algn="bl" rotWithShape="0" blurRad="177800" dist="50800" dir="8100000">
              <a:srgbClr val="0B1B2E">
                <a:alpha val="22000"/>
              </a:srgbClr>
            </a:outerShdw>
          </a:effectLst>
        </p:spPr>
      </p:sp>
      <p:sp>
        <p:nvSpPr>
          <p:cNvPr id="49" name="Shape 47"/>
          <p:cNvSpPr/>
          <p:nvPr/>
        </p:nvSpPr>
        <p:spPr>
          <a:xfrm>
            <a:off x="566928" y="5321808"/>
            <a:ext cx="91440" cy="786384"/>
          </a:xfrm>
          <a:prstGeom prst="rect">
            <a:avLst/>
          </a:prstGeom>
          <a:solidFill>
            <a:srgbClr val="F26A4B"/>
          </a:solidFill>
          <a:ln/>
        </p:spPr>
      </p:sp>
      <p:sp>
        <p:nvSpPr>
          <p:cNvPr id="50" name="Text 48"/>
          <p:cNvSpPr/>
          <p:nvPr/>
        </p:nvSpPr>
        <p:spPr>
          <a:xfrm>
            <a:off x="822960" y="5440680"/>
            <a:ext cx="3200400" cy="274320"/>
          </a:xfrm>
          <a:prstGeom prst="rect">
            <a:avLst/>
          </a:prstGeom>
          <a:noFill/>
          <a:ln/>
        </p:spPr>
        <p:txBody>
          <a:bodyPr wrap="square" lIns="0" tIns="0" rIns="0" bIns="0" rtlCol="0" anchor="ctr"/>
          <a:lstStyle/>
          <a:p>
            <a:pPr indent="0" marL="0">
              <a:buNone/>
            </a:pPr>
            <a:r>
              <a:rPr lang="en-US" sz="1050" b="1" spc="100" kern="0" dirty="0">
                <a:solidFill>
                  <a:srgbClr val="F26A4B"/>
                </a:solidFill>
                <a:latin typeface="Calibri" pitchFamily="34" charset="0"/>
                <a:ea typeface="Calibri" pitchFamily="34" charset="-122"/>
                <a:cs typeface="Calibri" pitchFamily="34" charset="-120"/>
              </a:rPr>
              <a:t>LAYER 4 · SERVING</a:t>
            </a:r>
            <a:endParaRPr lang="en-US" sz="1050" dirty="0"/>
          </a:p>
        </p:txBody>
      </p:sp>
      <p:sp>
        <p:nvSpPr>
          <p:cNvPr id="51" name="Text 49"/>
          <p:cNvSpPr/>
          <p:nvPr/>
        </p:nvSpPr>
        <p:spPr>
          <a:xfrm>
            <a:off x="822960" y="5687568"/>
            <a:ext cx="3200400" cy="384048"/>
          </a:xfrm>
          <a:prstGeom prst="rect">
            <a:avLst/>
          </a:prstGeom>
          <a:noFill/>
          <a:ln/>
        </p:spPr>
        <p:txBody>
          <a:bodyPr wrap="square" lIns="0" tIns="0" rIns="0" bIns="0" rtlCol="0" anchor="ctr"/>
          <a:lstStyle/>
          <a:p>
            <a:pPr indent="0" marL="0">
              <a:lnSpc>
                <a:spcPts val="1500"/>
              </a:lnSpc>
              <a:buNone/>
            </a:pPr>
            <a:r>
              <a:rPr lang="en-US" sz="1400" b="1" dirty="0">
                <a:solidFill>
                  <a:srgbClr val="FFFFFF"/>
                </a:solidFill>
                <a:latin typeface="Georgia" pitchFamily="34" charset="0"/>
                <a:ea typeface="Georgia" pitchFamily="34" charset="-122"/>
                <a:cs typeface="Georgia" pitchFamily="34" charset="-120"/>
              </a:rPr>
              <a:t>Business consumption</a:t>
            </a:r>
            <a:endParaRPr lang="en-US" sz="1400" dirty="0"/>
          </a:p>
        </p:txBody>
      </p:sp>
      <p:sp>
        <p:nvSpPr>
          <p:cNvPr id="52" name="Shape 50"/>
          <p:cNvSpPr/>
          <p:nvPr/>
        </p:nvSpPr>
        <p:spPr>
          <a:xfrm>
            <a:off x="4270248" y="5541264"/>
            <a:ext cx="1747418" cy="347472"/>
          </a:xfrm>
          <a:prstGeom prst="roundRect">
            <a:avLst>
              <a:gd name="adj" fmla="val 18421"/>
            </a:avLst>
          </a:prstGeom>
          <a:solidFill>
            <a:srgbClr val="13283F"/>
          </a:solidFill>
          <a:ln/>
          <a:effectLst>
            <a:outerShdw sx="100000" sy="100000" kx="0" ky="0" algn="bl" rotWithShape="0" blurRad="114300" dist="38100" dir="8100000">
              <a:srgbClr val="1E293B">
                <a:alpha val="12000"/>
              </a:srgbClr>
            </a:outerShdw>
          </a:effectLst>
        </p:spPr>
      </p:sp>
      <p:sp>
        <p:nvSpPr>
          <p:cNvPr id="53" name="Text 51"/>
          <p:cNvSpPr/>
          <p:nvPr/>
        </p:nvSpPr>
        <p:spPr>
          <a:xfrm>
            <a:off x="4325112" y="5541264"/>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5EEAD4"/>
                </a:solidFill>
                <a:latin typeface="Calibri" pitchFamily="34" charset="0"/>
                <a:ea typeface="Calibri" pitchFamily="34" charset="-122"/>
                <a:cs typeface="Calibri" pitchFamily="34" charset="-120"/>
              </a:rPr>
              <a:t>Genie Space (NL→SQL)</a:t>
            </a:r>
            <a:endParaRPr lang="en-US" sz="950" dirty="0"/>
          </a:p>
        </p:txBody>
      </p:sp>
      <p:sp>
        <p:nvSpPr>
          <p:cNvPr id="54" name="Shape 52"/>
          <p:cNvSpPr/>
          <p:nvPr/>
        </p:nvSpPr>
        <p:spPr>
          <a:xfrm>
            <a:off x="6127394" y="5541264"/>
            <a:ext cx="1747418" cy="347472"/>
          </a:xfrm>
          <a:prstGeom prst="roundRect">
            <a:avLst>
              <a:gd name="adj" fmla="val 18421"/>
            </a:avLst>
          </a:prstGeom>
          <a:solidFill>
            <a:srgbClr val="13283F"/>
          </a:solidFill>
          <a:ln/>
          <a:effectLst>
            <a:outerShdw sx="100000" sy="100000" kx="0" ky="0" algn="bl" rotWithShape="0" blurRad="114300" dist="38100" dir="8100000">
              <a:srgbClr val="1E293B">
                <a:alpha val="12000"/>
              </a:srgbClr>
            </a:outerShdw>
          </a:effectLst>
        </p:spPr>
      </p:sp>
      <p:sp>
        <p:nvSpPr>
          <p:cNvPr id="55" name="Text 53"/>
          <p:cNvSpPr/>
          <p:nvPr/>
        </p:nvSpPr>
        <p:spPr>
          <a:xfrm>
            <a:off x="6182258" y="5541264"/>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5EEAD4"/>
                </a:solidFill>
                <a:latin typeface="Calibri" pitchFamily="34" charset="0"/>
                <a:ea typeface="Calibri" pitchFamily="34" charset="-122"/>
                <a:cs typeface="Calibri" pitchFamily="34" charset="-120"/>
              </a:rPr>
              <a:t>Portfolio dashboard</a:t>
            </a:r>
            <a:endParaRPr lang="en-US" sz="950" dirty="0"/>
          </a:p>
        </p:txBody>
      </p:sp>
      <p:sp>
        <p:nvSpPr>
          <p:cNvPr id="56" name="Shape 54"/>
          <p:cNvSpPr/>
          <p:nvPr/>
        </p:nvSpPr>
        <p:spPr>
          <a:xfrm>
            <a:off x="7984541" y="5541264"/>
            <a:ext cx="1747418" cy="347472"/>
          </a:xfrm>
          <a:prstGeom prst="roundRect">
            <a:avLst>
              <a:gd name="adj" fmla="val 18421"/>
            </a:avLst>
          </a:prstGeom>
          <a:solidFill>
            <a:srgbClr val="13283F"/>
          </a:solidFill>
          <a:ln/>
          <a:effectLst>
            <a:outerShdw sx="100000" sy="100000" kx="0" ky="0" algn="bl" rotWithShape="0" blurRad="114300" dist="38100" dir="8100000">
              <a:srgbClr val="1E293B">
                <a:alpha val="12000"/>
              </a:srgbClr>
            </a:outerShdw>
          </a:effectLst>
        </p:spPr>
      </p:sp>
      <p:sp>
        <p:nvSpPr>
          <p:cNvPr id="57" name="Text 55"/>
          <p:cNvSpPr/>
          <p:nvPr/>
        </p:nvSpPr>
        <p:spPr>
          <a:xfrm>
            <a:off x="8039405" y="5541264"/>
            <a:ext cx="1637690" cy="347472"/>
          </a:xfrm>
          <a:prstGeom prst="rect">
            <a:avLst/>
          </a:prstGeom>
          <a:noFill/>
          <a:ln/>
        </p:spPr>
        <p:txBody>
          <a:bodyPr wrap="square" lIns="0" tIns="0" rIns="0" bIns="0" rtlCol="0" anchor="ctr"/>
          <a:lstStyle/>
          <a:p>
            <a:pPr algn="ctr" indent="0" marL="0">
              <a:lnSpc>
                <a:spcPts val="969"/>
              </a:lnSpc>
              <a:buNone/>
            </a:pPr>
            <a:r>
              <a:rPr lang="en-US" sz="950" b="1" dirty="0">
                <a:solidFill>
                  <a:srgbClr val="5EEAD4"/>
                </a:solidFill>
                <a:latin typeface="Calibri" pitchFamily="34" charset="0"/>
                <a:ea typeface="Calibri" pitchFamily="34" charset="-122"/>
                <a:cs typeface="Calibri" pitchFamily="34" charset="-120"/>
              </a:rPr>
              <a:t>Citation-grounded RAG</a:t>
            </a:r>
            <a:endParaRPr lang="en-US" sz="950" dirty="0"/>
          </a:p>
        </p:txBody>
      </p:sp>
      <p:sp>
        <p:nvSpPr>
          <p:cNvPr id="58" name="Shape 56"/>
          <p:cNvSpPr/>
          <p:nvPr/>
        </p:nvSpPr>
        <p:spPr>
          <a:xfrm>
            <a:off x="10207447" y="1783080"/>
            <a:ext cx="1417320" cy="4325112"/>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59" name="Shape 57"/>
          <p:cNvSpPr/>
          <p:nvPr/>
        </p:nvSpPr>
        <p:spPr>
          <a:xfrm>
            <a:off x="10207447" y="1783080"/>
            <a:ext cx="1417320" cy="73152"/>
          </a:xfrm>
          <a:prstGeom prst="rect">
            <a:avLst/>
          </a:prstGeom>
          <a:solidFill>
            <a:srgbClr val="F59E0B"/>
          </a:solidFill>
          <a:ln/>
        </p:spPr>
      </p:sp>
      <p:sp>
        <p:nvSpPr>
          <p:cNvPr id="60" name="Text 58"/>
          <p:cNvSpPr/>
          <p:nvPr/>
        </p:nvSpPr>
        <p:spPr>
          <a:xfrm>
            <a:off x="10207447" y="2011680"/>
            <a:ext cx="1417320" cy="274320"/>
          </a:xfrm>
          <a:prstGeom prst="rect">
            <a:avLst/>
          </a:prstGeom>
          <a:noFill/>
          <a:ln/>
        </p:spPr>
        <p:txBody>
          <a:bodyPr wrap="square" lIns="0" tIns="0" rIns="0" bIns="0" rtlCol="0" anchor="ctr"/>
          <a:lstStyle/>
          <a:p>
            <a:pPr algn="ctr" indent="0" marL="0">
              <a:buNone/>
            </a:pPr>
            <a:r>
              <a:rPr lang="en-US" sz="1050" b="1" spc="100" kern="0" dirty="0">
                <a:solidFill>
                  <a:srgbClr val="F59E0B"/>
                </a:solidFill>
                <a:latin typeface="Calibri" pitchFamily="34" charset="0"/>
                <a:ea typeface="Calibri" pitchFamily="34" charset="-122"/>
                <a:cs typeface="Calibri" pitchFamily="34" charset="-120"/>
              </a:rPr>
              <a:t>GOVERNANCE</a:t>
            </a:r>
            <a:endParaRPr lang="en-US" sz="1050" dirty="0"/>
          </a:p>
        </p:txBody>
      </p:sp>
      <p:sp>
        <p:nvSpPr>
          <p:cNvPr id="61" name="Text 59"/>
          <p:cNvSpPr/>
          <p:nvPr/>
        </p:nvSpPr>
        <p:spPr>
          <a:xfrm>
            <a:off x="10317175" y="2514600"/>
            <a:ext cx="1234440" cy="2926080"/>
          </a:xfrm>
          <a:prstGeom prst="rect">
            <a:avLst/>
          </a:prstGeom>
          <a:noFill/>
          <a:ln/>
        </p:spPr>
        <p:txBody>
          <a:bodyPr wrap="square" lIns="0" tIns="0" rIns="0" bIns="0" rtlCol="0" anchor="t"/>
          <a:lstStyle/>
          <a:p>
            <a:pPr algn="ctr" indent="0" marL="0">
              <a:lnSpc>
                <a:spcPts val="2400"/>
              </a:lnSpc>
              <a:buNone/>
            </a:pPr>
            <a:r>
              <a:rPr lang="en-US" sz="1050" b="1" dirty="0">
                <a:solidFill>
                  <a:srgbClr val="FFFFFF"/>
                </a:solidFill>
                <a:latin typeface="Calibri" pitchFamily="34" charset="0"/>
                <a:ea typeface="Calibri" pitchFamily="34" charset="-122"/>
                <a:cs typeface="Calibri" pitchFamily="34" charset="-120"/>
              </a:rPr>
              <a:t>Unity Catalog</a:t>
            </a:r>
            <a:endParaRPr lang="en-US" sz="1050" dirty="0"/>
          </a:p>
          <a:p>
            <a:pPr algn="ctr" indent="0" marL="0">
              <a:lnSpc>
                <a:spcPts val="2400"/>
              </a:lnSpc>
              <a:buNone/>
            </a:pPr>
            <a:r>
              <a:rPr lang="en-US" sz="1050" dirty="0">
                <a:solidFill>
                  <a:srgbClr val="93A4BD"/>
                </a:solidFill>
                <a:latin typeface="Calibri" pitchFamily="34" charset="0"/>
                <a:ea typeface="Calibri" pitchFamily="34" charset="-122"/>
                <a:cs typeface="Calibri" pitchFamily="34" charset="-120"/>
              </a:rPr>
              <a:t>Lineage</a:t>
            </a:r>
            <a:endParaRPr lang="en-US" sz="1050" dirty="0"/>
          </a:p>
          <a:p>
            <a:pPr algn="ctr" indent="0" marL="0">
              <a:lnSpc>
                <a:spcPts val="2400"/>
              </a:lnSpc>
              <a:buNone/>
            </a:pPr>
            <a:r>
              <a:rPr lang="en-US" sz="1050" dirty="0">
                <a:solidFill>
                  <a:srgbClr val="93A4BD"/>
                </a:solidFill>
                <a:latin typeface="Calibri" pitchFamily="34" charset="0"/>
                <a:ea typeface="Calibri" pitchFamily="34" charset="-122"/>
                <a:cs typeface="Calibri" pitchFamily="34" charset="-120"/>
              </a:rPr>
              <a:t>Access · masking</a:t>
            </a:r>
            <a:endParaRPr lang="en-US" sz="1050" dirty="0"/>
          </a:p>
          <a:p>
            <a:pPr algn="ctr" indent="0" marL="0">
              <a:lnSpc>
                <a:spcPts val="2400"/>
              </a:lnSpc>
              <a:buNone/>
            </a:pPr>
            <a:r>
              <a:rPr lang="en-US" sz="1050" dirty="0">
                <a:solidFill>
                  <a:srgbClr val="93A4BD"/>
                </a:solidFill>
                <a:latin typeface="Calibri" pitchFamily="34" charset="0"/>
                <a:ea typeface="Calibri" pitchFamily="34" charset="-122"/>
                <a:cs typeface="Calibri" pitchFamily="34" charset="-120"/>
              </a:rPr>
              <a:t>Telemetry</a:t>
            </a:r>
            <a:endParaRPr lang="en-US" sz="1050" dirty="0"/>
          </a:p>
          <a:p>
            <a:pPr algn="ctr" indent="0" marL="0">
              <a:lnSpc>
                <a:spcPts val="2400"/>
              </a:lnSpc>
              <a:buNone/>
            </a:pPr>
            <a:r>
              <a:rPr lang="en-US" sz="1050" dirty="0">
                <a:solidFill>
                  <a:srgbClr val="93A4BD"/>
                </a:solidFill>
                <a:latin typeface="Calibri" pitchFamily="34" charset="0"/>
                <a:ea typeface="Calibri" pitchFamily="34" charset="-122"/>
                <a:cs typeface="Calibri" pitchFamily="34" charset="-120"/>
              </a:rPr>
              <a:t>Delta time-travel</a:t>
            </a:r>
            <a:endParaRPr lang="en-US" sz="1050" dirty="0"/>
          </a:p>
        </p:txBody>
      </p:sp>
      <p:sp>
        <p:nvSpPr>
          <p:cNvPr id="62" name="Text 60"/>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63" name="Text 61"/>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05 · DATA REFINEMENT</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Raw documents refined into trusted intelligence</a:t>
            </a:r>
            <a:endParaRPr lang="en-US" sz="2900" dirty="0"/>
          </a:p>
        </p:txBody>
      </p:sp>
      <p:sp>
        <p:nvSpPr>
          <p:cNvPr id="4" name="Shape 2"/>
          <p:cNvSpPr/>
          <p:nvPr/>
        </p:nvSpPr>
        <p:spPr>
          <a:xfrm>
            <a:off x="932688" y="3749040"/>
            <a:ext cx="3246120" cy="1828800"/>
          </a:xfrm>
          <a:prstGeom prst="rect">
            <a:avLst/>
          </a:prstGeom>
          <a:solidFill>
            <a:srgbClr val="F2F6F9"/>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5" name="Shape 3"/>
          <p:cNvSpPr/>
          <p:nvPr/>
        </p:nvSpPr>
        <p:spPr>
          <a:xfrm>
            <a:off x="932688" y="3749040"/>
            <a:ext cx="3246120" cy="91440"/>
          </a:xfrm>
          <a:prstGeom prst="rect">
            <a:avLst/>
          </a:prstGeom>
          <a:solidFill>
            <a:srgbClr val="B8743A"/>
          </a:solidFill>
          <a:ln/>
        </p:spPr>
      </p:sp>
      <p:sp>
        <p:nvSpPr>
          <p:cNvPr id="6" name="Text 4"/>
          <p:cNvSpPr/>
          <p:nvPr/>
        </p:nvSpPr>
        <p:spPr>
          <a:xfrm>
            <a:off x="1188720" y="4005072"/>
            <a:ext cx="2788920" cy="365760"/>
          </a:xfrm>
          <a:prstGeom prst="rect">
            <a:avLst/>
          </a:prstGeom>
          <a:noFill/>
          <a:ln/>
        </p:spPr>
        <p:txBody>
          <a:bodyPr wrap="square" lIns="0" tIns="0" rIns="0" bIns="0" rtlCol="0" anchor="ctr"/>
          <a:lstStyle/>
          <a:p>
            <a:pPr indent="0" marL="0">
              <a:buNone/>
            </a:pPr>
            <a:r>
              <a:rPr lang="en-US" sz="1300" b="1" spc="250" kern="0" dirty="0">
                <a:solidFill>
                  <a:srgbClr val="B8743A"/>
                </a:solidFill>
                <a:latin typeface="Calibri" pitchFamily="34" charset="0"/>
                <a:ea typeface="Calibri" pitchFamily="34" charset="-122"/>
                <a:cs typeface="Calibri" pitchFamily="34" charset="-120"/>
              </a:rPr>
              <a:t>BRONZE</a:t>
            </a:r>
            <a:endParaRPr lang="en-US" sz="1300" dirty="0"/>
          </a:p>
        </p:txBody>
      </p:sp>
      <p:sp>
        <p:nvSpPr>
          <p:cNvPr id="7" name="Text 5"/>
          <p:cNvSpPr/>
          <p:nvPr/>
        </p:nvSpPr>
        <p:spPr>
          <a:xfrm>
            <a:off x="1188720" y="4389120"/>
            <a:ext cx="2788920" cy="502920"/>
          </a:xfrm>
          <a:prstGeom prst="rect">
            <a:avLst/>
          </a:prstGeom>
          <a:noFill/>
          <a:ln/>
        </p:spPr>
        <p:txBody>
          <a:bodyPr wrap="square" lIns="0" tIns="0" rIns="0" bIns="0" rtlCol="0" anchor="ctr"/>
          <a:lstStyle/>
          <a:p>
            <a:pPr indent="0" marL="0">
              <a:lnSpc>
                <a:spcPts val="1800"/>
              </a:lnSpc>
              <a:buNone/>
            </a:pPr>
            <a:r>
              <a:rPr lang="en-US" sz="1600" b="1" dirty="0">
                <a:solidFill>
                  <a:srgbClr val="0B1B2E"/>
                </a:solidFill>
                <a:latin typeface="Georgia" pitchFamily="34" charset="0"/>
                <a:ea typeface="Georgia" pitchFamily="34" charset="-122"/>
                <a:cs typeface="Georgia" pitchFamily="34" charset="-120"/>
              </a:rPr>
              <a:t>Raw extraction</a:t>
            </a:r>
            <a:endParaRPr lang="en-US" sz="1600" dirty="0"/>
          </a:p>
        </p:txBody>
      </p:sp>
      <p:sp>
        <p:nvSpPr>
          <p:cNvPr id="8" name="Text 6"/>
          <p:cNvSpPr/>
          <p:nvPr/>
        </p:nvSpPr>
        <p:spPr>
          <a:xfrm>
            <a:off x="1188720" y="4937760"/>
            <a:ext cx="2743200" cy="502920"/>
          </a:xfrm>
          <a:prstGeom prst="rect">
            <a:avLst/>
          </a:prstGeom>
          <a:noFill/>
          <a:ln/>
        </p:spPr>
        <p:txBody>
          <a:bodyPr wrap="square" lIns="0" tIns="0" rIns="0" bIns="0" rtlCol="0" anchor="t"/>
          <a:lstStyle/>
          <a:p>
            <a:pPr indent="0" marL="0">
              <a:lnSpc>
                <a:spcPts val="1600"/>
              </a:lnSpc>
              <a:buNone/>
            </a:pPr>
            <a:r>
              <a:rPr lang="en-US" sz="1150" dirty="0">
                <a:solidFill>
                  <a:srgbClr val="33415A"/>
                </a:solidFill>
                <a:latin typeface="Calibri" pitchFamily="34" charset="0"/>
                <a:ea typeface="Calibri" pitchFamily="34" charset="-122"/>
                <a:cs typeface="Calibri" pitchFamily="34" charset="-120"/>
              </a:rPr>
              <a:t>Structured JSON from every PDF — one record per document, lineage preserved.</a:t>
            </a:r>
            <a:endParaRPr lang="en-US" sz="1150" dirty="0"/>
          </a:p>
        </p:txBody>
      </p:sp>
      <p:sp>
        <p:nvSpPr>
          <p:cNvPr id="9" name="Shape 7"/>
          <p:cNvSpPr/>
          <p:nvPr/>
        </p:nvSpPr>
        <p:spPr>
          <a:xfrm>
            <a:off x="4270248" y="5166360"/>
            <a:ext cx="320040" cy="0"/>
          </a:xfrm>
          <a:prstGeom prst="line">
            <a:avLst/>
          </a:prstGeom>
          <a:noFill/>
          <a:ln w="25400">
            <a:solidFill>
              <a:srgbClr val="0F766E"/>
            </a:solidFill>
            <a:prstDash val="solid"/>
            <a:tailEnd type="triangle"/>
          </a:ln>
        </p:spPr>
      </p:sp>
      <p:sp>
        <p:nvSpPr>
          <p:cNvPr id="10" name="Shape 8"/>
          <p:cNvSpPr/>
          <p:nvPr/>
        </p:nvSpPr>
        <p:spPr>
          <a:xfrm>
            <a:off x="4681728" y="3108960"/>
            <a:ext cx="3246120" cy="2468880"/>
          </a:xfrm>
          <a:prstGeom prst="rect">
            <a:avLst/>
          </a:prstGeom>
          <a:solidFill>
            <a:srgbClr val="F2F6F9"/>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1" name="Shape 9"/>
          <p:cNvSpPr/>
          <p:nvPr/>
        </p:nvSpPr>
        <p:spPr>
          <a:xfrm>
            <a:off x="4681728" y="3108960"/>
            <a:ext cx="3246120" cy="91440"/>
          </a:xfrm>
          <a:prstGeom prst="rect">
            <a:avLst/>
          </a:prstGeom>
          <a:solidFill>
            <a:srgbClr val="94A3B8"/>
          </a:solidFill>
          <a:ln/>
        </p:spPr>
      </p:sp>
      <p:sp>
        <p:nvSpPr>
          <p:cNvPr id="12" name="Text 10"/>
          <p:cNvSpPr/>
          <p:nvPr/>
        </p:nvSpPr>
        <p:spPr>
          <a:xfrm>
            <a:off x="4937760" y="3364992"/>
            <a:ext cx="2788920" cy="365760"/>
          </a:xfrm>
          <a:prstGeom prst="rect">
            <a:avLst/>
          </a:prstGeom>
          <a:noFill/>
          <a:ln/>
        </p:spPr>
        <p:txBody>
          <a:bodyPr wrap="square" lIns="0" tIns="0" rIns="0" bIns="0" rtlCol="0" anchor="ctr"/>
          <a:lstStyle/>
          <a:p>
            <a:pPr indent="0" marL="0">
              <a:buNone/>
            </a:pPr>
            <a:r>
              <a:rPr lang="en-US" sz="1300" b="1" spc="250" kern="0" dirty="0">
                <a:solidFill>
                  <a:srgbClr val="94A3B8"/>
                </a:solidFill>
                <a:latin typeface="Calibri" pitchFamily="34" charset="0"/>
                <a:ea typeface="Calibri" pitchFamily="34" charset="-122"/>
                <a:cs typeface="Calibri" pitchFamily="34" charset="-120"/>
              </a:rPr>
              <a:t>SILVER</a:t>
            </a:r>
            <a:endParaRPr lang="en-US" sz="1300" dirty="0"/>
          </a:p>
        </p:txBody>
      </p:sp>
      <p:sp>
        <p:nvSpPr>
          <p:cNvPr id="13" name="Text 11"/>
          <p:cNvSpPr/>
          <p:nvPr/>
        </p:nvSpPr>
        <p:spPr>
          <a:xfrm>
            <a:off x="4937760" y="3749040"/>
            <a:ext cx="2788920" cy="502920"/>
          </a:xfrm>
          <a:prstGeom prst="rect">
            <a:avLst/>
          </a:prstGeom>
          <a:noFill/>
          <a:ln/>
        </p:spPr>
        <p:txBody>
          <a:bodyPr wrap="square" lIns="0" tIns="0" rIns="0" bIns="0" rtlCol="0" anchor="ctr"/>
          <a:lstStyle/>
          <a:p>
            <a:pPr indent="0" marL="0">
              <a:lnSpc>
                <a:spcPts val="1800"/>
              </a:lnSpc>
              <a:buNone/>
            </a:pPr>
            <a:r>
              <a:rPr lang="en-US" sz="1600" b="1" dirty="0">
                <a:solidFill>
                  <a:srgbClr val="0B1B2E"/>
                </a:solidFill>
                <a:latin typeface="Georgia" pitchFamily="34" charset="0"/>
                <a:ea typeface="Georgia" pitchFamily="34" charset="-122"/>
                <a:cs typeface="Georgia" pitchFamily="34" charset="-120"/>
              </a:rPr>
              <a:t>Normalized &amp; validated</a:t>
            </a:r>
            <a:endParaRPr lang="en-US" sz="1600" dirty="0"/>
          </a:p>
        </p:txBody>
      </p:sp>
      <p:sp>
        <p:nvSpPr>
          <p:cNvPr id="14" name="Text 12"/>
          <p:cNvSpPr/>
          <p:nvPr/>
        </p:nvSpPr>
        <p:spPr>
          <a:xfrm>
            <a:off x="4937760" y="4297680"/>
            <a:ext cx="2743200" cy="1143000"/>
          </a:xfrm>
          <a:prstGeom prst="rect">
            <a:avLst/>
          </a:prstGeom>
          <a:noFill/>
          <a:ln/>
        </p:spPr>
        <p:txBody>
          <a:bodyPr wrap="square" lIns="0" tIns="0" rIns="0" bIns="0" rtlCol="0" anchor="t"/>
          <a:lstStyle/>
          <a:p>
            <a:pPr indent="0" marL="0">
              <a:lnSpc>
                <a:spcPts val="1600"/>
              </a:lnSpc>
              <a:buNone/>
            </a:pPr>
            <a:r>
              <a:rPr lang="en-US" sz="1150" dirty="0">
                <a:solidFill>
                  <a:srgbClr val="33415A"/>
                </a:solidFill>
                <a:latin typeface="Calibri" pitchFamily="34" charset="0"/>
                <a:ea typeface="Calibri" pitchFamily="34" charset="-122"/>
                <a:cs typeface="Calibri" pitchFamily="34" charset="-120"/>
              </a:rPr>
              <a:t>Contracts, amendments and reimbursement rules — typed, deduplicated, supersession-aware.</a:t>
            </a:r>
            <a:endParaRPr lang="en-US" sz="1150" dirty="0"/>
          </a:p>
        </p:txBody>
      </p:sp>
      <p:sp>
        <p:nvSpPr>
          <p:cNvPr id="15" name="Shape 13"/>
          <p:cNvSpPr/>
          <p:nvPr/>
        </p:nvSpPr>
        <p:spPr>
          <a:xfrm>
            <a:off x="8019288" y="5166360"/>
            <a:ext cx="320040" cy="0"/>
          </a:xfrm>
          <a:prstGeom prst="line">
            <a:avLst/>
          </a:prstGeom>
          <a:noFill/>
          <a:ln w="25400">
            <a:solidFill>
              <a:srgbClr val="0F766E"/>
            </a:solidFill>
            <a:prstDash val="solid"/>
            <a:tailEnd type="triangle"/>
          </a:ln>
        </p:spPr>
      </p:sp>
      <p:sp>
        <p:nvSpPr>
          <p:cNvPr id="16" name="Shape 14"/>
          <p:cNvSpPr/>
          <p:nvPr/>
        </p:nvSpPr>
        <p:spPr>
          <a:xfrm>
            <a:off x="8430768" y="2468880"/>
            <a:ext cx="3246120" cy="3108960"/>
          </a:xfrm>
          <a:prstGeom prst="rect">
            <a:avLst/>
          </a:prstGeom>
          <a:solidFill>
            <a:srgbClr val="0B1B2E"/>
          </a:solidFill>
          <a:ln w="12700">
            <a:solidFill>
              <a:srgbClr val="E3E9F0"/>
            </a:solidFill>
            <a:prstDash val="solid"/>
          </a:ln>
          <a:effectLst>
            <a:outerShdw sx="100000" sy="100000" kx="0" ky="0" algn="bl" rotWithShape="0" blurRad="177800" dist="50800" dir="8100000">
              <a:srgbClr val="0B1B2E">
                <a:alpha val="22000"/>
              </a:srgbClr>
            </a:outerShdw>
          </a:effectLst>
        </p:spPr>
      </p:sp>
      <p:sp>
        <p:nvSpPr>
          <p:cNvPr id="17" name="Shape 15"/>
          <p:cNvSpPr/>
          <p:nvPr/>
        </p:nvSpPr>
        <p:spPr>
          <a:xfrm>
            <a:off x="8430768" y="2468880"/>
            <a:ext cx="3246120" cy="91440"/>
          </a:xfrm>
          <a:prstGeom prst="rect">
            <a:avLst/>
          </a:prstGeom>
          <a:solidFill>
            <a:srgbClr val="0F766E"/>
          </a:solidFill>
          <a:ln/>
        </p:spPr>
      </p:sp>
      <p:sp>
        <p:nvSpPr>
          <p:cNvPr id="18" name="Text 16"/>
          <p:cNvSpPr/>
          <p:nvPr/>
        </p:nvSpPr>
        <p:spPr>
          <a:xfrm>
            <a:off x="8686800" y="2724912"/>
            <a:ext cx="2788920" cy="365760"/>
          </a:xfrm>
          <a:prstGeom prst="rect">
            <a:avLst/>
          </a:prstGeom>
          <a:noFill/>
          <a:ln/>
        </p:spPr>
        <p:txBody>
          <a:bodyPr wrap="square" lIns="0" tIns="0" rIns="0" bIns="0" rtlCol="0" anchor="ctr"/>
          <a:lstStyle/>
          <a:p>
            <a:pPr indent="0" marL="0">
              <a:buNone/>
            </a:pPr>
            <a:r>
              <a:rPr lang="en-US" sz="1300" b="1" spc="250" kern="0" dirty="0">
                <a:solidFill>
                  <a:srgbClr val="5EEAD4"/>
                </a:solidFill>
                <a:latin typeface="Calibri" pitchFamily="34" charset="0"/>
                <a:ea typeface="Calibri" pitchFamily="34" charset="-122"/>
                <a:cs typeface="Calibri" pitchFamily="34" charset="-120"/>
              </a:rPr>
              <a:t>GOLD</a:t>
            </a:r>
            <a:endParaRPr lang="en-US" sz="1300" dirty="0"/>
          </a:p>
        </p:txBody>
      </p:sp>
      <p:sp>
        <p:nvSpPr>
          <p:cNvPr id="19" name="Text 17"/>
          <p:cNvSpPr/>
          <p:nvPr/>
        </p:nvSpPr>
        <p:spPr>
          <a:xfrm>
            <a:off x="8686800" y="3108960"/>
            <a:ext cx="2788920" cy="502920"/>
          </a:xfrm>
          <a:prstGeom prst="rect">
            <a:avLst/>
          </a:prstGeom>
          <a:noFill/>
          <a:ln/>
        </p:spPr>
        <p:txBody>
          <a:bodyPr wrap="square" lIns="0" tIns="0" rIns="0" bIns="0" rtlCol="0" anchor="ctr"/>
          <a:lstStyle/>
          <a:p>
            <a:pPr indent="0" marL="0">
              <a:lnSpc>
                <a:spcPts val="1800"/>
              </a:lnSpc>
              <a:buNone/>
            </a:pPr>
            <a:r>
              <a:rPr lang="en-US" sz="1600" b="1" dirty="0">
                <a:solidFill>
                  <a:srgbClr val="FFFFFF"/>
                </a:solidFill>
                <a:latin typeface="Georgia" pitchFamily="34" charset="0"/>
                <a:ea typeface="Georgia" pitchFamily="34" charset="-122"/>
                <a:cs typeface="Georgia" pitchFamily="34" charset="-120"/>
              </a:rPr>
              <a:t>Serving intelligence</a:t>
            </a:r>
            <a:endParaRPr lang="en-US" sz="1600" dirty="0"/>
          </a:p>
        </p:txBody>
      </p:sp>
      <p:sp>
        <p:nvSpPr>
          <p:cNvPr id="20" name="Text 18"/>
          <p:cNvSpPr/>
          <p:nvPr/>
        </p:nvSpPr>
        <p:spPr>
          <a:xfrm>
            <a:off x="8686800" y="3657600"/>
            <a:ext cx="2743200" cy="1783080"/>
          </a:xfrm>
          <a:prstGeom prst="rect">
            <a:avLst/>
          </a:prstGeom>
          <a:noFill/>
          <a:ln/>
        </p:spPr>
        <p:txBody>
          <a:bodyPr wrap="square" lIns="0" tIns="0" rIns="0" bIns="0" rtlCol="0" anchor="t"/>
          <a:lstStyle/>
          <a:p>
            <a:pPr indent="0" marL="0">
              <a:lnSpc>
                <a:spcPts val="1600"/>
              </a:lnSpc>
              <a:buNone/>
            </a:pPr>
            <a:r>
              <a:rPr lang="en-US" sz="1150" dirty="0">
                <a:solidFill>
                  <a:srgbClr val="93A4BD"/>
                </a:solidFill>
                <a:latin typeface="Calibri" pitchFamily="34" charset="0"/>
                <a:ea typeface="Calibri" pitchFamily="34" charset="-122"/>
                <a:cs typeface="Calibri" pitchFamily="34" charset="-120"/>
              </a:rPr>
              <a:t>Curated, governed tables behind Genie, dashboards and RAG — ready for the business.</a:t>
            </a:r>
            <a:endParaRPr lang="en-US" sz="1150" dirty="0"/>
          </a:p>
        </p:txBody>
      </p:sp>
      <p:sp>
        <p:nvSpPr>
          <p:cNvPr id="21" name="Shape 19"/>
          <p:cNvSpPr/>
          <p:nvPr/>
        </p:nvSpPr>
        <p:spPr>
          <a:xfrm>
            <a:off x="932688" y="5806440"/>
            <a:ext cx="10326319" cy="0"/>
          </a:xfrm>
          <a:prstGeom prst="line">
            <a:avLst/>
          </a:prstGeom>
          <a:noFill/>
          <a:ln w="19050">
            <a:solidFill>
              <a:srgbClr val="E3E9F0"/>
            </a:solidFill>
            <a:prstDash val="solid"/>
            <a:tailEnd type="triangle"/>
          </a:ln>
        </p:spPr>
      </p:sp>
      <p:sp>
        <p:nvSpPr>
          <p:cNvPr id="22" name="Text 20"/>
          <p:cNvSpPr/>
          <p:nvPr/>
        </p:nvSpPr>
        <p:spPr>
          <a:xfrm>
            <a:off x="932688" y="5897880"/>
            <a:ext cx="10326319" cy="320040"/>
          </a:xfrm>
          <a:prstGeom prst="rect">
            <a:avLst/>
          </a:prstGeom>
          <a:noFill/>
          <a:ln/>
        </p:spPr>
        <p:txBody>
          <a:bodyPr wrap="square" lIns="0" tIns="0" rIns="0" bIns="0" rtlCol="0" anchor="ctr"/>
          <a:lstStyle/>
          <a:p>
            <a:pPr algn="r" indent="0" marL="0">
              <a:buNone/>
            </a:pPr>
            <a:r>
              <a:rPr lang="en-US" sz="950" b="1" spc="200" kern="0" dirty="0">
                <a:solidFill>
                  <a:srgbClr val="64748B"/>
                </a:solidFill>
                <a:latin typeface="Calibri" pitchFamily="34" charset="0"/>
                <a:ea typeface="Calibri" pitchFamily="34" charset="-122"/>
                <a:cs typeface="Calibri" pitchFamily="34" charset="-120"/>
              </a:rPr>
              <a:t>INCREASING TRUST, STRUCTURE &amp; BUSINESS VALUE</a:t>
            </a:r>
            <a:endParaRPr lang="en-US" sz="950" dirty="0"/>
          </a:p>
        </p:txBody>
      </p:sp>
      <p:sp>
        <p:nvSpPr>
          <p:cNvPr id="23" name="Text 21"/>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24" name="Text 22"/>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05 · SCOPE &amp; CAPABILITY</a:t>
            </a:r>
            <a:endParaRPr lang="en-US" sz="1150" dirty="0"/>
          </a:p>
        </p:txBody>
      </p:sp>
      <p:sp>
        <p:nvSpPr>
          <p:cNvPr id="3" name="Text 1"/>
          <p:cNvSpPr/>
          <p:nvPr/>
        </p:nvSpPr>
        <p:spPr>
          <a:xfrm>
            <a:off x="566928" y="777240"/>
            <a:ext cx="7772400"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What the platform delivers — at scale</a:t>
            </a:r>
            <a:endParaRPr lang="en-US" sz="2900" dirty="0"/>
          </a:p>
        </p:txBody>
      </p:sp>
      <p:sp>
        <p:nvSpPr>
          <p:cNvPr id="4" name="Shape 2"/>
          <p:cNvSpPr/>
          <p:nvPr/>
        </p:nvSpPr>
        <p:spPr>
          <a:xfrm>
            <a:off x="566928" y="1874520"/>
            <a:ext cx="2916936" cy="9144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5" name="Shape 3"/>
          <p:cNvSpPr/>
          <p:nvPr/>
        </p:nvSpPr>
        <p:spPr>
          <a:xfrm>
            <a:off x="566928" y="1874520"/>
            <a:ext cx="82296" cy="914400"/>
          </a:xfrm>
          <a:prstGeom prst="rect">
            <a:avLst/>
          </a:prstGeom>
          <a:solidFill>
            <a:srgbClr val="14B8A6"/>
          </a:solidFill>
          <a:ln/>
        </p:spPr>
      </p:sp>
      <p:sp>
        <p:nvSpPr>
          <p:cNvPr id="6" name="Text 4"/>
          <p:cNvSpPr/>
          <p:nvPr/>
        </p:nvSpPr>
        <p:spPr>
          <a:xfrm>
            <a:off x="795528" y="2020824"/>
            <a:ext cx="255117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Semantic extraction</a:t>
            </a:r>
            <a:endParaRPr lang="en-US" sz="1250" dirty="0"/>
          </a:p>
        </p:txBody>
      </p:sp>
      <p:sp>
        <p:nvSpPr>
          <p:cNvPr id="7" name="Text 5"/>
          <p:cNvSpPr/>
          <p:nvPr/>
        </p:nvSpPr>
        <p:spPr>
          <a:xfrm>
            <a:off x="795528" y="2350008"/>
            <a:ext cx="2551176" cy="384048"/>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Every rate, clause &amp; date as structured data</a:t>
            </a:r>
            <a:endParaRPr lang="en-US" sz="1050" dirty="0"/>
          </a:p>
        </p:txBody>
      </p:sp>
      <p:sp>
        <p:nvSpPr>
          <p:cNvPr id="8" name="Shape 6"/>
          <p:cNvSpPr/>
          <p:nvPr/>
        </p:nvSpPr>
        <p:spPr>
          <a:xfrm>
            <a:off x="3712464" y="1874520"/>
            <a:ext cx="2916936" cy="9144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9" name="Shape 7"/>
          <p:cNvSpPr/>
          <p:nvPr/>
        </p:nvSpPr>
        <p:spPr>
          <a:xfrm>
            <a:off x="3712464" y="1874520"/>
            <a:ext cx="82296" cy="914400"/>
          </a:xfrm>
          <a:prstGeom prst="rect">
            <a:avLst/>
          </a:prstGeom>
          <a:solidFill>
            <a:srgbClr val="14B8A6"/>
          </a:solidFill>
          <a:ln/>
        </p:spPr>
      </p:sp>
      <p:sp>
        <p:nvSpPr>
          <p:cNvPr id="10" name="Text 8"/>
          <p:cNvSpPr/>
          <p:nvPr/>
        </p:nvSpPr>
        <p:spPr>
          <a:xfrm>
            <a:off x="3941064" y="2020824"/>
            <a:ext cx="255117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Amendment intelligence</a:t>
            </a:r>
            <a:endParaRPr lang="en-US" sz="1250" dirty="0"/>
          </a:p>
        </p:txBody>
      </p:sp>
      <p:sp>
        <p:nvSpPr>
          <p:cNvPr id="11" name="Text 9"/>
          <p:cNvSpPr/>
          <p:nvPr/>
        </p:nvSpPr>
        <p:spPr>
          <a:xfrm>
            <a:off x="3941064" y="2350008"/>
            <a:ext cx="2551176" cy="384048"/>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Supersession resolved across the full chain</a:t>
            </a:r>
            <a:endParaRPr lang="en-US" sz="1050" dirty="0"/>
          </a:p>
        </p:txBody>
      </p:sp>
      <p:sp>
        <p:nvSpPr>
          <p:cNvPr id="12" name="Shape 10"/>
          <p:cNvSpPr/>
          <p:nvPr/>
        </p:nvSpPr>
        <p:spPr>
          <a:xfrm>
            <a:off x="566928" y="2990088"/>
            <a:ext cx="2916936" cy="9144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13" name="Shape 11"/>
          <p:cNvSpPr/>
          <p:nvPr/>
        </p:nvSpPr>
        <p:spPr>
          <a:xfrm>
            <a:off x="566928" y="2990088"/>
            <a:ext cx="82296" cy="914400"/>
          </a:xfrm>
          <a:prstGeom prst="rect">
            <a:avLst/>
          </a:prstGeom>
          <a:solidFill>
            <a:srgbClr val="14B8A6"/>
          </a:solidFill>
          <a:ln/>
        </p:spPr>
      </p:sp>
      <p:sp>
        <p:nvSpPr>
          <p:cNvPr id="14" name="Text 12"/>
          <p:cNvSpPr/>
          <p:nvPr/>
        </p:nvSpPr>
        <p:spPr>
          <a:xfrm>
            <a:off x="795528" y="3136392"/>
            <a:ext cx="255117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Reimbursement normalization</a:t>
            </a:r>
            <a:endParaRPr lang="en-US" sz="1250" dirty="0"/>
          </a:p>
        </p:txBody>
      </p:sp>
      <p:sp>
        <p:nvSpPr>
          <p:cNvPr id="15" name="Text 13"/>
          <p:cNvSpPr/>
          <p:nvPr/>
        </p:nvSpPr>
        <p:spPr>
          <a:xfrm>
            <a:off x="795528" y="3465576"/>
            <a:ext cx="2551176" cy="384048"/>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Per-diem, case, capitation &amp; % unified</a:t>
            </a:r>
            <a:endParaRPr lang="en-US" sz="1050" dirty="0"/>
          </a:p>
        </p:txBody>
      </p:sp>
      <p:sp>
        <p:nvSpPr>
          <p:cNvPr id="16" name="Shape 14"/>
          <p:cNvSpPr/>
          <p:nvPr/>
        </p:nvSpPr>
        <p:spPr>
          <a:xfrm>
            <a:off x="3712464" y="2990088"/>
            <a:ext cx="2916936" cy="9144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17" name="Shape 15"/>
          <p:cNvSpPr/>
          <p:nvPr/>
        </p:nvSpPr>
        <p:spPr>
          <a:xfrm>
            <a:off x="3712464" y="2990088"/>
            <a:ext cx="82296" cy="914400"/>
          </a:xfrm>
          <a:prstGeom prst="rect">
            <a:avLst/>
          </a:prstGeom>
          <a:solidFill>
            <a:srgbClr val="14B8A6"/>
          </a:solidFill>
          <a:ln/>
        </p:spPr>
      </p:sp>
      <p:sp>
        <p:nvSpPr>
          <p:cNvPr id="18" name="Text 16"/>
          <p:cNvSpPr/>
          <p:nvPr/>
        </p:nvSpPr>
        <p:spPr>
          <a:xfrm>
            <a:off x="3941064" y="3136392"/>
            <a:ext cx="255117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Grounded RAG Q&amp;A</a:t>
            </a:r>
            <a:endParaRPr lang="en-US" sz="1250" dirty="0"/>
          </a:p>
        </p:txBody>
      </p:sp>
      <p:sp>
        <p:nvSpPr>
          <p:cNvPr id="19" name="Text 17"/>
          <p:cNvSpPr/>
          <p:nvPr/>
        </p:nvSpPr>
        <p:spPr>
          <a:xfrm>
            <a:off x="3941064" y="3465576"/>
            <a:ext cx="2551176" cy="384048"/>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Citation-backed legal retrieval</a:t>
            </a:r>
            <a:endParaRPr lang="en-US" sz="1050" dirty="0"/>
          </a:p>
        </p:txBody>
      </p:sp>
      <p:sp>
        <p:nvSpPr>
          <p:cNvPr id="20" name="Shape 18"/>
          <p:cNvSpPr/>
          <p:nvPr/>
        </p:nvSpPr>
        <p:spPr>
          <a:xfrm>
            <a:off x="566928" y="4105656"/>
            <a:ext cx="2916936" cy="9144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1" name="Shape 19"/>
          <p:cNvSpPr/>
          <p:nvPr/>
        </p:nvSpPr>
        <p:spPr>
          <a:xfrm>
            <a:off x="566928" y="4105656"/>
            <a:ext cx="82296" cy="914400"/>
          </a:xfrm>
          <a:prstGeom prst="rect">
            <a:avLst/>
          </a:prstGeom>
          <a:solidFill>
            <a:srgbClr val="14B8A6"/>
          </a:solidFill>
          <a:ln/>
        </p:spPr>
      </p:sp>
      <p:sp>
        <p:nvSpPr>
          <p:cNvPr id="22" name="Text 20"/>
          <p:cNvSpPr/>
          <p:nvPr/>
        </p:nvSpPr>
        <p:spPr>
          <a:xfrm>
            <a:off x="795528" y="4251960"/>
            <a:ext cx="255117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Conversational Genie</a:t>
            </a:r>
            <a:endParaRPr lang="en-US" sz="1250" dirty="0"/>
          </a:p>
        </p:txBody>
      </p:sp>
      <p:sp>
        <p:nvSpPr>
          <p:cNvPr id="23" name="Text 21"/>
          <p:cNvSpPr/>
          <p:nvPr/>
        </p:nvSpPr>
        <p:spPr>
          <a:xfrm>
            <a:off x="795528" y="4581144"/>
            <a:ext cx="2551176" cy="384048"/>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Natural-language access for the business</a:t>
            </a:r>
            <a:endParaRPr lang="en-US" sz="1050" dirty="0"/>
          </a:p>
        </p:txBody>
      </p:sp>
      <p:sp>
        <p:nvSpPr>
          <p:cNvPr id="24" name="Shape 22"/>
          <p:cNvSpPr/>
          <p:nvPr/>
        </p:nvSpPr>
        <p:spPr>
          <a:xfrm>
            <a:off x="3712464" y="4105656"/>
            <a:ext cx="2916936" cy="9144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5" name="Shape 23"/>
          <p:cNvSpPr/>
          <p:nvPr/>
        </p:nvSpPr>
        <p:spPr>
          <a:xfrm>
            <a:off x="3712464" y="4105656"/>
            <a:ext cx="82296" cy="914400"/>
          </a:xfrm>
          <a:prstGeom prst="rect">
            <a:avLst/>
          </a:prstGeom>
          <a:solidFill>
            <a:srgbClr val="14B8A6"/>
          </a:solidFill>
          <a:ln/>
        </p:spPr>
      </p:sp>
      <p:sp>
        <p:nvSpPr>
          <p:cNvPr id="26" name="Text 24"/>
          <p:cNvSpPr/>
          <p:nvPr/>
        </p:nvSpPr>
        <p:spPr>
          <a:xfrm>
            <a:off x="3941064" y="4251960"/>
            <a:ext cx="255117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Benchmark analytics</a:t>
            </a:r>
            <a:endParaRPr lang="en-US" sz="1250" dirty="0"/>
          </a:p>
        </p:txBody>
      </p:sp>
      <p:sp>
        <p:nvSpPr>
          <p:cNvPr id="27" name="Text 25"/>
          <p:cNvSpPr/>
          <p:nvPr/>
        </p:nvSpPr>
        <p:spPr>
          <a:xfrm>
            <a:off x="3941064" y="4581144"/>
            <a:ext cx="2551176" cy="384048"/>
          </a:xfrm>
          <a:prstGeom prst="rect">
            <a:avLst/>
          </a:prstGeom>
          <a:noFill/>
          <a:ln/>
        </p:spPr>
        <p:txBody>
          <a:bodyPr wrap="square" lIns="0" tIns="0" rIns="0" bIns="0" rtlCol="0" anchor="ctr"/>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Cross-provider rate comparison</a:t>
            </a:r>
            <a:endParaRPr lang="en-US" sz="1050" dirty="0"/>
          </a:p>
        </p:txBody>
      </p:sp>
      <p:sp>
        <p:nvSpPr>
          <p:cNvPr id="28" name="Text 26"/>
          <p:cNvSpPr/>
          <p:nvPr/>
        </p:nvSpPr>
        <p:spPr>
          <a:xfrm>
            <a:off x="7315200" y="1828800"/>
            <a:ext cx="4572000" cy="274320"/>
          </a:xfrm>
          <a:prstGeom prst="rect">
            <a:avLst/>
          </a:prstGeom>
          <a:noFill/>
          <a:ln/>
        </p:spPr>
        <p:txBody>
          <a:bodyPr wrap="square" lIns="0" tIns="0" rIns="0" bIns="0" rtlCol="0" anchor="ctr"/>
          <a:lstStyle/>
          <a:p>
            <a:pPr indent="0" marL="0">
              <a:buNone/>
            </a:pPr>
            <a:r>
              <a:rPr lang="en-US" sz="1000" b="1" spc="150" kern="0" dirty="0">
                <a:solidFill>
                  <a:srgbClr val="14B8A6"/>
                </a:solidFill>
                <a:latin typeface="Calibri" pitchFamily="34" charset="0"/>
                <a:ea typeface="Calibri" pitchFamily="34" charset="-122"/>
                <a:cs typeface="Calibri" pitchFamily="34" charset="-120"/>
              </a:rPr>
              <a:t>PROGRAM MIX OF EXTRACTED RATES</a:t>
            </a:r>
            <a:endParaRPr lang="en-US" sz="1000" dirty="0"/>
          </a:p>
        </p:txBody>
      </p:sp>
      <p:graphicFrame>
        <p:nvGraphicFramePr>
          <p:cNvPr id="29" name="Chart 0" descr=""/>
          <p:cNvGraphicFramePr/>
          <p:nvPr/>
        </p:nvGraphicFramePr>
        <p:xfrm>
          <a:off x="7040880" y="2103120"/>
          <a:ext cx="2743200" cy="2926080"/>
        </p:xfrm>
        <a:graphic xmlns:a="http://schemas.openxmlformats.org/drawingml/2006/main">
          <a:graphicData uri="http://schemas.openxmlformats.org/drawingml/2006/chart">
            <c:chart xmlns:c="http://schemas.openxmlformats.org/drawingml/2006/chart" r:id="rId1"/>
          </a:graphicData>
        </a:graphic>
      </p:graphicFrame>
      <p:sp>
        <p:nvSpPr>
          <p:cNvPr id="30" name="Text 27"/>
          <p:cNvSpPr/>
          <p:nvPr/>
        </p:nvSpPr>
        <p:spPr>
          <a:xfrm>
            <a:off x="10058400" y="2240280"/>
            <a:ext cx="1828800" cy="640080"/>
          </a:xfrm>
          <a:prstGeom prst="rect">
            <a:avLst/>
          </a:prstGeom>
          <a:noFill/>
          <a:ln/>
        </p:spPr>
        <p:txBody>
          <a:bodyPr wrap="square" lIns="0" tIns="0" rIns="0" bIns="0" rtlCol="0" anchor="ctr"/>
          <a:lstStyle/>
          <a:p>
            <a:pPr algn="l" indent="0" marL="0">
              <a:buNone/>
            </a:pPr>
            <a:r>
              <a:rPr lang="en-US" sz="2700" b="1" dirty="0">
                <a:solidFill>
                  <a:srgbClr val="0F766E"/>
                </a:solidFill>
                <a:latin typeface="Georgia" pitchFamily="34" charset="0"/>
                <a:ea typeface="Georgia" pitchFamily="34" charset="-122"/>
                <a:cs typeface="Georgia" pitchFamily="34" charset="-120"/>
              </a:rPr>
              <a:t>81K+</a:t>
            </a:r>
            <a:endParaRPr lang="en-US" sz="2700" dirty="0"/>
          </a:p>
        </p:txBody>
      </p:sp>
      <p:sp>
        <p:nvSpPr>
          <p:cNvPr id="31" name="Text 28"/>
          <p:cNvSpPr/>
          <p:nvPr/>
        </p:nvSpPr>
        <p:spPr>
          <a:xfrm>
            <a:off x="10058400" y="2843784"/>
            <a:ext cx="1828800" cy="457200"/>
          </a:xfrm>
          <a:prstGeom prst="rect">
            <a:avLst/>
          </a:prstGeom>
          <a:noFill/>
          <a:ln/>
        </p:spPr>
        <p:txBody>
          <a:bodyPr wrap="square" lIns="0" tIns="0" rIns="0" bIns="0" rtlCol="0" anchor="ctr"/>
          <a:lstStyle/>
          <a:p>
            <a:pPr algn="l" indent="0" marL="0">
              <a:lnSpc>
                <a:spcPts val="1100"/>
              </a:lnSpc>
              <a:buNone/>
            </a:pPr>
            <a:r>
              <a:rPr lang="en-US" sz="950" b="1" spc="150" kern="0" dirty="0">
                <a:solidFill>
                  <a:srgbClr val="64748B"/>
                </a:solidFill>
                <a:latin typeface="Calibri" pitchFamily="34" charset="0"/>
                <a:ea typeface="Calibri" pitchFamily="34" charset="-122"/>
                <a:cs typeface="Calibri" pitchFamily="34" charset="-120"/>
              </a:rPr>
              <a:t>RATE LINES</a:t>
            </a:r>
            <a:endParaRPr lang="en-US" sz="950" dirty="0"/>
          </a:p>
        </p:txBody>
      </p:sp>
      <p:sp>
        <p:nvSpPr>
          <p:cNvPr id="32" name="Text 29"/>
          <p:cNvSpPr/>
          <p:nvPr/>
        </p:nvSpPr>
        <p:spPr>
          <a:xfrm>
            <a:off x="10058400" y="3337560"/>
            <a:ext cx="1828800" cy="640080"/>
          </a:xfrm>
          <a:prstGeom prst="rect">
            <a:avLst/>
          </a:prstGeom>
          <a:noFill/>
          <a:ln/>
        </p:spPr>
        <p:txBody>
          <a:bodyPr wrap="square" lIns="0" tIns="0" rIns="0" bIns="0" rtlCol="0" anchor="ctr"/>
          <a:lstStyle/>
          <a:p>
            <a:pPr algn="l" indent="0" marL="0">
              <a:buNone/>
            </a:pPr>
            <a:r>
              <a:rPr lang="en-US" sz="2700" b="1" dirty="0">
                <a:solidFill>
                  <a:srgbClr val="0F766E"/>
                </a:solidFill>
                <a:latin typeface="Georgia" pitchFamily="34" charset="0"/>
                <a:ea typeface="Georgia" pitchFamily="34" charset="-122"/>
                <a:cs typeface="Georgia" pitchFamily="34" charset="-120"/>
              </a:rPr>
              <a:t>83K+</a:t>
            </a:r>
            <a:endParaRPr lang="en-US" sz="2700" dirty="0"/>
          </a:p>
        </p:txBody>
      </p:sp>
      <p:sp>
        <p:nvSpPr>
          <p:cNvPr id="33" name="Text 30"/>
          <p:cNvSpPr/>
          <p:nvPr/>
        </p:nvSpPr>
        <p:spPr>
          <a:xfrm>
            <a:off x="10058400" y="3941064"/>
            <a:ext cx="1828800" cy="457200"/>
          </a:xfrm>
          <a:prstGeom prst="rect">
            <a:avLst/>
          </a:prstGeom>
          <a:noFill/>
          <a:ln/>
        </p:spPr>
        <p:txBody>
          <a:bodyPr wrap="square" lIns="0" tIns="0" rIns="0" bIns="0" rtlCol="0" anchor="ctr"/>
          <a:lstStyle/>
          <a:p>
            <a:pPr algn="l" indent="0" marL="0">
              <a:lnSpc>
                <a:spcPts val="1100"/>
              </a:lnSpc>
              <a:buNone/>
            </a:pPr>
            <a:r>
              <a:rPr lang="en-US" sz="950" b="1" spc="150" kern="0" dirty="0">
                <a:solidFill>
                  <a:srgbClr val="64748B"/>
                </a:solidFill>
                <a:latin typeface="Calibri" pitchFamily="34" charset="0"/>
                <a:ea typeface="Calibri" pitchFamily="34" charset="-122"/>
                <a:cs typeface="Calibri" pitchFamily="34" charset="-120"/>
              </a:rPr>
              <a:t>LEGAL UNITS</a:t>
            </a:r>
            <a:endParaRPr lang="en-US" sz="950" dirty="0"/>
          </a:p>
        </p:txBody>
      </p:sp>
      <p:sp>
        <p:nvSpPr>
          <p:cNvPr id="34" name="Text 31"/>
          <p:cNvSpPr/>
          <p:nvPr/>
        </p:nvSpPr>
        <p:spPr>
          <a:xfrm>
            <a:off x="10058400" y="4434840"/>
            <a:ext cx="1828800" cy="640080"/>
          </a:xfrm>
          <a:prstGeom prst="rect">
            <a:avLst/>
          </a:prstGeom>
          <a:noFill/>
          <a:ln/>
        </p:spPr>
        <p:txBody>
          <a:bodyPr wrap="square" lIns="0" tIns="0" rIns="0" bIns="0" rtlCol="0" anchor="ctr"/>
          <a:lstStyle/>
          <a:p>
            <a:pPr algn="l" indent="0" marL="0">
              <a:buNone/>
            </a:pPr>
            <a:r>
              <a:rPr lang="en-US" sz="2700" b="1" dirty="0">
                <a:solidFill>
                  <a:srgbClr val="F26A4B"/>
                </a:solidFill>
                <a:latin typeface="Georgia" pitchFamily="34" charset="0"/>
                <a:ea typeface="Georgia" pitchFamily="34" charset="-122"/>
                <a:cs typeface="Georgia" pitchFamily="34" charset="-120"/>
              </a:rPr>
              <a:t>284</a:t>
            </a:r>
            <a:endParaRPr lang="en-US" sz="2700" dirty="0"/>
          </a:p>
        </p:txBody>
      </p:sp>
      <p:sp>
        <p:nvSpPr>
          <p:cNvPr id="35" name="Text 32"/>
          <p:cNvSpPr/>
          <p:nvPr/>
        </p:nvSpPr>
        <p:spPr>
          <a:xfrm>
            <a:off x="10058400" y="5038344"/>
            <a:ext cx="1828800" cy="457200"/>
          </a:xfrm>
          <a:prstGeom prst="rect">
            <a:avLst/>
          </a:prstGeom>
          <a:noFill/>
          <a:ln/>
        </p:spPr>
        <p:txBody>
          <a:bodyPr wrap="square" lIns="0" tIns="0" rIns="0" bIns="0" rtlCol="0" anchor="ctr"/>
          <a:lstStyle/>
          <a:p>
            <a:pPr algn="l" indent="0" marL="0">
              <a:lnSpc>
                <a:spcPts val="1100"/>
              </a:lnSpc>
              <a:buNone/>
            </a:pPr>
            <a:r>
              <a:rPr lang="en-US" sz="950" b="1" spc="150" kern="0" dirty="0">
                <a:solidFill>
                  <a:srgbClr val="64748B"/>
                </a:solidFill>
                <a:latin typeface="Calibri" pitchFamily="34" charset="0"/>
                <a:ea typeface="Calibri" pitchFamily="34" charset="-122"/>
                <a:cs typeface="Calibri" pitchFamily="34" charset="-120"/>
              </a:rPr>
              <a:t>FACILITIES</a:t>
            </a:r>
            <a:endParaRPr lang="en-US" sz="950" dirty="0"/>
          </a:p>
        </p:txBody>
      </p:sp>
      <p:sp>
        <p:nvSpPr>
          <p:cNvPr id="36" name="Text 33"/>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37" name="Text 34"/>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06 · THE AI EXTRACTION PIPELINE</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Every document follows one disciplined path</a:t>
            </a:r>
            <a:endParaRPr lang="en-US" sz="2900" dirty="0"/>
          </a:p>
        </p:txBody>
      </p:sp>
      <p:sp>
        <p:nvSpPr>
          <p:cNvPr id="4" name="Text 2"/>
          <p:cNvSpPr/>
          <p:nvPr/>
        </p:nvSpPr>
        <p:spPr>
          <a:xfrm>
            <a:off x="566928" y="1417320"/>
            <a:ext cx="11057839" cy="365760"/>
          </a:xfrm>
          <a:prstGeom prst="rect">
            <a:avLst/>
          </a:prstGeom>
          <a:noFill/>
          <a:ln/>
        </p:spPr>
        <p:txBody>
          <a:bodyPr wrap="square" lIns="0" tIns="0" rIns="0" bIns="0" rtlCol="0" anchor="ctr"/>
          <a:lstStyle/>
          <a:p>
            <a:pPr indent="0" marL="0">
              <a:buNone/>
            </a:pPr>
            <a:r>
              <a:rPr lang="en-US" sz="1300" i="1" dirty="0">
                <a:solidFill>
                  <a:srgbClr val="0F766E"/>
                </a:solidFill>
                <a:latin typeface="Calibri" pitchFamily="34" charset="0"/>
                <a:ea typeface="Calibri" pitchFamily="34" charset="-122"/>
                <a:cs typeface="Calibri" pitchFamily="34" charset="-120"/>
              </a:rPr>
              <a:t>Unstructured PDF text enters on the left; governed, validated intelligence exits on the right.</a:t>
            </a:r>
            <a:endParaRPr lang="en-US" sz="1300" dirty="0"/>
          </a:p>
        </p:txBody>
      </p:sp>
      <p:sp>
        <p:nvSpPr>
          <p:cNvPr id="5" name="Shape 3"/>
          <p:cNvSpPr/>
          <p:nvPr/>
        </p:nvSpPr>
        <p:spPr>
          <a:xfrm>
            <a:off x="636880" y="2606040"/>
            <a:ext cx="1078992" cy="1097280"/>
          </a:xfrm>
          <a:prstGeom prst="roundRect">
            <a:avLst>
              <a:gd name="adj" fmla="val 6780"/>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6" name="Shape 4"/>
          <p:cNvSpPr/>
          <p:nvPr/>
        </p:nvSpPr>
        <p:spPr>
          <a:xfrm>
            <a:off x="1030072" y="2459736"/>
            <a:ext cx="292608" cy="292608"/>
          </a:xfrm>
          <a:prstGeom prst="ellipse">
            <a:avLst/>
          </a:prstGeom>
          <a:solidFill>
            <a:srgbClr val="64748B"/>
          </a:solidFill>
          <a:ln w="19050">
            <a:solidFill>
              <a:srgbClr val="FFFFFF"/>
            </a:solidFill>
            <a:prstDash val="solid"/>
          </a:ln>
        </p:spPr>
      </p:sp>
      <p:sp>
        <p:nvSpPr>
          <p:cNvPr id="7" name="Text 5"/>
          <p:cNvSpPr/>
          <p:nvPr/>
        </p:nvSpPr>
        <p:spPr>
          <a:xfrm>
            <a:off x="1030072"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682600"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0B1B2E"/>
                </a:solidFill>
                <a:latin typeface="Calibri" pitchFamily="34" charset="0"/>
                <a:ea typeface="Calibri" pitchFamily="34" charset="-122"/>
                <a:cs typeface="Calibri" pitchFamily="34" charset="-120"/>
              </a:rPr>
              <a:t>PDF</a:t>
            </a:r>
            <a:endParaRPr lang="en-US" sz="1100" dirty="0"/>
          </a:p>
        </p:txBody>
      </p:sp>
      <p:sp>
        <p:nvSpPr>
          <p:cNvPr id="9" name="Text 7"/>
          <p:cNvSpPr/>
          <p:nvPr/>
        </p:nvSpPr>
        <p:spPr>
          <a:xfrm>
            <a:off x="682600" y="336499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Source</a:t>
            </a:r>
            <a:endParaRPr lang="en-US" sz="850" dirty="0"/>
          </a:p>
        </p:txBody>
      </p:sp>
      <p:sp>
        <p:nvSpPr>
          <p:cNvPr id="10" name="Shape 8"/>
          <p:cNvSpPr/>
          <p:nvPr/>
        </p:nvSpPr>
        <p:spPr>
          <a:xfrm>
            <a:off x="1734160" y="3154680"/>
            <a:ext cx="114300" cy="0"/>
          </a:xfrm>
          <a:prstGeom prst="line">
            <a:avLst/>
          </a:prstGeom>
          <a:noFill/>
          <a:ln w="25400">
            <a:solidFill>
              <a:srgbClr val="0F766E"/>
            </a:solidFill>
            <a:prstDash val="solid"/>
            <a:tailEnd type="triangle"/>
          </a:ln>
        </p:spPr>
      </p:sp>
      <p:sp>
        <p:nvSpPr>
          <p:cNvPr id="11" name="Shape 9"/>
          <p:cNvSpPr/>
          <p:nvPr/>
        </p:nvSpPr>
        <p:spPr>
          <a:xfrm>
            <a:off x="1866748" y="2606040"/>
            <a:ext cx="1078992" cy="1097280"/>
          </a:xfrm>
          <a:prstGeom prst="roundRect">
            <a:avLst>
              <a:gd name="adj" fmla="val 6780"/>
            </a:avLst>
          </a:prstGeom>
          <a:solidFill>
            <a:srgbClr val="0B1B2E"/>
          </a:solidFill>
          <a:ln w="12700">
            <a:solidFill>
              <a:srgbClr val="0B1B2E"/>
            </a:solidFill>
            <a:prstDash val="solid"/>
          </a:ln>
          <a:effectLst>
            <a:outerShdw sx="100000" sy="100000" kx="0" ky="0" algn="bl" rotWithShape="0" blurRad="114300" dist="38100" dir="8100000">
              <a:srgbClr val="1E293B">
                <a:alpha val="12000"/>
              </a:srgbClr>
            </a:outerShdw>
          </a:effectLst>
        </p:spPr>
      </p:sp>
      <p:sp>
        <p:nvSpPr>
          <p:cNvPr id="12" name="Shape 10"/>
          <p:cNvSpPr/>
          <p:nvPr/>
        </p:nvSpPr>
        <p:spPr>
          <a:xfrm>
            <a:off x="2259940" y="2459736"/>
            <a:ext cx="292608" cy="292608"/>
          </a:xfrm>
          <a:prstGeom prst="ellipse">
            <a:avLst/>
          </a:prstGeom>
          <a:solidFill>
            <a:srgbClr val="14B8A6"/>
          </a:solidFill>
          <a:ln w="19050">
            <a:solidFill>
              <a:srgbClr val="FFFFFF"/>
            </a:solidFill>
            <a:prstDash val="solid"/>
          </a:ln>
        </p:spPr>
      </p:sp>
      <p:sp>
        <p:nvSpPr>
          <p:cNvPr id="13" name="Text 11"/>
          <p:cNvSpPr/>
          <p:nvPr/>
        </p:nvSpPr>
        <p:spPr>
          <a:xfrm>
            <a:off x="2259940"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912468"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FFFFFF"/>
                </a:solidFill>
                <a:latin typeface="Calibri" pitchFamily="34" charset="0"/>
                <a:ea typeface="Calibri" pitchFamily="34" charset="-122"/>
                <a:cs typeface="Calibri" pitchFamily="34" charset="-120"/>
              </a:rPr>
              <a:t>OCR</a:t>
            </a:r>
            <a:endParaRPr lang="en-US" sz="1100" dirty="0"/>
          </a:p>
        </p:txBody>
      </p:sp>
      <p:sp>
        <p:nvSpPr>
          <p:cNvPr id="15" name="Text 13"/>
          <p:cNvSpPr/>
          <p:nvPr/>
        </p:nvSpPr>
        <p:spPr>
          <a:xfrm>
            <a:off x="1912468" y="3364992"/>
            <a:ext cx="987552" cy="292608"/>
          </a:xfrm>
          <a:prstGeom prst="rect">
            <a:avLst/>
          </a:prstGeom>
          <a:noFill/>
          <a:ln/>
        </p:spPr>
        <p:txBody>
          <a:bodyPr wrap="square" lIns="0" tIns="0" rIns="0" bIns="0" rtlCol="0" anchor="ctr"/>
          <a:lstStyle/>
          <a:p>
            <a:pPr algn="ctr" indent="0" marL="0">
              <a:buNone/>
            </a:pPr>
            <a:r>
              <a:rPr lang="en-US" sz="850" dirty="0">
                <a:solidFill>
                  <a:srgbClr val="5EEAD4"/>
                </a:solidFill>
                <a:latin typeface="Calibri" pitchFamily="34" charset="0"/>
                <a:ea typeface="Calibri" pitchFamily="34" charset="-122"/>
                <a:cs typeface="Calibri" pitchFamily="34" charset="-120"/>
              </a:rPr>
              <a:t>2-tier text</a:t>
            </a:r>
            <a:endParaRPr lang="en-US" sz="850" dirty="0"/>
          </a:p>
        </p:txBody>
      </p:sp>
      <p:sp>
        <p:nvSpPr>
          <p:cNvPr id="16" name="Shape 14"/>
          <p:cNvSpPr/>
          <p:nvPr/>
        </p:nvSpPr>
        <p:spPr>
          <a:xfrm>
            <a:off x="2964028" y="3154680"/>
            <a:ext cx="114300" cy="0"/>
          </a:xfrm>
          <a:prstGeom prst="line">
            <a:avLst/>
          </a:prstGeom>
          <a:noFill/>
          <a:ln w="25400">
            <a:solidFill>
              <a:srgbClr val="0F766E"/>
            </a:solidFill>
            <a:prstDash val="solid"/>
            <a:tailEnd type="triangle"/>
          </a:ln>
        </p:spPr>
      </p:sp>
      <p:sp>
        <p:nvSpPr>
          <p:cNvPr id="17" name="Shape 15"/>
          <p:cNvSpPr/>
          <p:nvPr/>
        </p:nvSpPr>
        <p:spPr>
          <a:xfrm>
            <a:off x="3096616" y="2606040"/>
            <a:ext cx="1078992" cy="1097280"/>
          </a:xfrm>
          <a:prstGeom prst="roundRect">
            <a:avLst>
              <a:gd name="adj" fmla="val 6780"/>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8" name="Shape 16"/>
          <p:cNvSpPr/>
          <p:nvPr/>
        </p:nvSpPr>
        <p:spPr>
          <a:xfrm>
            <a:off x="3489808" y="2459736"/>
            <a:ext cx="292608" cy="292608"/>
          </a:xfrm>
          <a:prstGeom prst="ellipse">
            <a:avLst/>
          </a:prstGeom>
          <a:solidFill>
            <a:srgbClr val="64748B"/>
          </a:solidFill>
          <a:ln w="19050">
            <a:solidFill>
              <a:srgbClr val="FFFFFF"/>
            </a:solidFill>
            <a:prstDash val="solid"/>
          </a:ln>
        </p:spPr>
      </p:sp>
      <p:sp>
        <p:nvSpPr>
          <p:cNvPr id="19" name="Text 17"/>
          <p:cNvSpPr/>
          <p:nvPr/>
        </p:nvSpPr>
        <p:spPr>
          <a:xfrm>
            <a:off x="3489808"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3142336"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0B1B2E"/>
                </a:solidFill>
                <a:latin typeface="Calibri" pitchFamily="34" charset="0"/>
                <a:ea typeface="Calibri" pitchFamily="34" charset="-122"/>
                <a:cs typeface="Calibri" pitchFamily="34" charset="-120"/>
              </a:rPr>
              <a:t>Metadata</a:t>
            </a:r>
            <a:endParaRPr lang="en-US" sz="1100" dirty="0"/>
          </a:p>
        </p:txBody>
      </p:sp>
      <p:sp>
        <p:nvSpPr>
          <p:cNvPr id="21" name="Text 19"/>
          <p:cNvSpPr/>
          <p:nvPr/>
        </p:nvSpPr>
        <p:spPr>
          <a:xfrm>
            <a:off x="3142336" y="336499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Doc type</a:t>
            </a:r>
            <a:endParaRPr lang="en-US" sz="850" dirty="0"/>
          </a:p>
        </p:txBody>
      </p:sp>
      <p:sp>
        <p:nvSpPr>
          <p:cNvPr id="22" name="Shape 20"/>
          <p:cNvSpPr/>
          <p:nvPr/>
        </p:nvSpPr>
        <p:spPr>
          <a:xfrm>
            <a:off x="4193896" y="3154680"/>
            <a:ext cx="114300" cy="0"/>
          </a:xfrm>
          <a:prstGeom prst="line">
            <a:avLst/>
          </a:prstGeom>
          <a:noFill/>
          <a:ln w="25400">
            <a:solidFill>
              <a:srgbClr val="0F766E"/>
            </a:solidFill>
            <a:prstDash val="solid"/>
            <a:tailEnd type="triangle"/>
          </a:ln>
        </p:spPr>
      </p:sp>
      <p:sp>
        <p:nvSpPr>
          <p:cNvPr id="23" name="Shape 21"/>
          <p:cNvSpPr/>
          <p:nvPr/>
        </p:nvSpPr>
        <p:spPr>
          <a:xfrm>
            <a:off x="4326484" y="2606040"/>
            <a:ext cx="1078992" cy="1097280"/>
          </a:xfrm>
          <a:prstGeom prst="roundRect">
            <a:avLst>
              <a:gd name="adj" fmla="val 6780"/>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24" name="Shape 22"/>
          <p:cNvSpPr/>
          <p:nvPr/>
        </p:nvSpPr>
        <p:spPr>
          <a:xfrm>
            <a:off x="4719676" y="2459736"/>
            <a:ext cx="292608" cy="292608"/>
          </a:xfrm>
          <a:prstGeom prst="ellipse">
            <a:avLst/>
          </a:prstGeom>
          <a:solidFill>
            <a:srgbClr val="64748B"/>
          </a:solidFill>
          <a:ln w="19050">
            <a:solidFill>
              <a:srgbClr val="FFFFFF"/>
            </a:solidFill>
            <a:prstDash val="solid"/>
          </a:ln>
        </p:spPr>
      </p:sp>
      <p:sp>
        <p:nvSpPr>
          <p:cNvPr id="25" name="Text 23"/>
          <p:cNvSpPr/>
          <p:nvPr/>
        </p:nvSpPr>
        <p:spPr>
          <a:xfrm>
            <a:off x="4719676"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4372204"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0B1B2E"/>
                </a:solidFill>
                <a:latin typeface="Calibri" pitchFamily="34" charset="0"/>
                <a:ea typeface="Calibri" pitchFamily="34" charset="-122"/>
                <a:cs typeface="Calibri" pitchFamily="34" charset="-120"/>
              </a:rPr>
              <a:t>Prompt</a:t>
            </a:r>
            <a:endParaRPr lang="en-US" sz="1100" dirty="0"/>
          </a:p>
          <a:p>
            <a:pPr algn="ctr" indent="0" marL="0">
              <a:lnSpc>
                <a:spcPts val="1250"/>
              </a:lnSpc>
              <a:buNone/>
            </a:pPr>
            <a:r>
              <a:rPr lang="en-US" sz="1100" b="1" dirty="0">
                <a:solidFill>
                  <a:srgbClr val="0B1B2E"/>
                </a:solidFill>
                <a:latin typeface="Calibri" pitchFamily="34" charset="0"/>
                <a:ea typeface="Calibri" pitchFamily="34" charset="-122"/>
                <a:cs typeface="Calibri" pitchFamily="34" charset="-120"/>
              </a:rPr>
              <a:t>Routing</a:t>
            </a:r>
            <a:endParaRPr lang="en-US" sz="1100" dirty="0"/>
          </a:p>
        </p:txBody>
      </p:sp>
      <p:sp>
        <p:nvSpPr>
          <p:cNvPr id="27" name="Text 25"/>
          <p:cNvSpPr/>
          <p:nvPr/>
        </p:nvSpPr>
        <p:spPr>
          <a:xfrm>
            <a:off x="4372204" y="336499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 templates</a:t>
            </a:r>
            <a:endParaRPr lang="en-US" sz="850" dirty="0"/>
          </a:p>
        </p:txBody>
      </p:sp>
      <p:sp>
        <p:nvSpPr>
          <p:cNvPr id="28" name="Shape 26"/>
          <p:cNvSpPr/>
          <p:nvPr/>
        </p:nvSpPr>
        <p:spPr>
          <a:xfrm>
            <a:off x="5423764" y="3154680"/>
            <a:ext cx="114300" cy="0"/>
          </a:xfrm>
          <a:prstGeom prst="line">
            <a:avLst/>
          </a:prstGeom>
          <a:noFill/>
          <a:ln w="25400">
            <a:solidFill>
              <a:srgbClr val="0F766E"/>
            </a:solidFill>
            <a:prstDash val="solid"/>
            <a:tailEnd type="triangle"/>
          </a:ln>
        </p:spPr>
      </p:sp>
      <p:sp>
        <p:nvSpPr>
          <p:cNvPr id="29" name="Shape 27"/>
          <p:cNvSpPr/>
          <p:nvPr/>
        </p:nvSpPr>
        <p:spPr>
          <a:xfrm>
            <a:off x="5556352" y="2606040"/>
            <a:ext cx="1078992" cy="1097280"/>
          </a:xfrm>
          <a:prstGeom prst="roundRect">
            <a:avLst>
              <a:gd name="adj" fmla="val 6780"/>
            </a:avLst>
          </a:prstGeom>
          <a:solidFill>
            <a:srgbClr val="0B1B2E"/>
          </a:solidFill>
          <a:ln w="12700">
            <a:solidFill>
              <a:srgbClr val="0B1B2E"/>
            </a:solidFill>
            <a:prstDash val="solid"/>
          </a:ln>
          <a:effectLst>
            <a:outerShdw sx="100000" sy="100000" kx="0" ky="0" algn="bl" rotWithShape="0" blurRad="114300" dist="38100" dir="8100000">
              <a:srgbClr val="1E293B">
                <a:alpha val="12000"/>
              </a:srgbClr>
            </a:outerShdw>
          </a:effectLst>
        </p:spPr>
      </p:sp>
      <p:sp>
        <p:nvSpPr>
          <p:cNvPr id="30" name="Shape 28"/>
          <p:cNvSpPr/>
          <p:nvPr/>
        </p:nvSpPr>
        <p:spPr>
          <a:xfrm>
            <a:off x="5949544" y="2459736"/>
            <a:ext cx="292608" cy="292608"/>
          </a:xfrm>
          <a:prstGeom prst="ellipse">
            <a:avLst/>
          </a:prstGeom>
          <a:solidFill>
            <a:srgbClr val="14B8A6"/>
          </a:solidFill>
          <a:ln w="19050">
            <a:solidFill>
              <a:srgbClr val="FFFFFF"/>
            </a:solidFill>
            <a:prstDash val="solid"/>
          </a:ln>
        </p:spPr>
      </p:sp>
      <p:sp>
        <p:nvSpPr>
          <p:cNvPr id="31" name="Text 29"/>
          <p:cNvSpPr/>
          <p:nvPr/>
        </p:nvSpPr>
        <p:spPr>
          <a:xfrm>
            <a:off x="5949544"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30"/>
          <p:cNvSpPr/>
          <p:nvPr/>
        </p:nvSpPr>
        <p:spPr>
          <a:xfrm>
            <a:off x="5602072"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FFFFFF"/>
                </a:solidFill>
                <a:latin typeface="Calibri" pitchFamily="34" charset="0"/>
                <a:ea typeface="Calibri" pitchFamily="34" charset="-122"/>
                <a:cs typeface="Calibri" pitchFamily="34" charset="-120"/>
              </a:rPr>
              <a:t>Claude</a:t>
            </a:r>
            <a:endParaRPr lang="en-US" sz="1100" dirty="0"/>
          </a:p>
          <a:p>
            <a:pPr algn="ctr" indent="0" marL="0">
              <a:lnSpc>
                <a:spcPts val="1250"/>
              </a:lnSpc>
              <a:buNone/>
            </a:pPr>
            <a:r>
              <a:rPr lang="en-US" sz="1100" b="1" dirty="0">
                <a:solidFill>
                  <a:srgbClr val="FFFFFF"/>
                </a:solidFill>
                <a:latin typeface="Calibri" pitchFamily="34" charset="0"/>
                <a:ea typeface="Calibri" pitchFamily="34" charset="-122"/>
                <a:cs typeface="Calibri" pitchFamily="34" charset="-120"/>
              </a:rPr>
              <a:t>Extraction</a:t>
            </a:r>
            <a:endParaRPr lang="en-US" sz="1100" dirty="0"/>
          </a:p>
        </p:txBody>
      </p:sp>
      <p:sp>
        <p:nvSpPr>
          <p:cNvPr id="33" name="Text 31"/>
          <p:cNvSpPr/>
          <p:nvPr/>
        </p:nvSpPr>
        <p:spPr>
          <a:xfrm>
            <a:off x="5602072" y="3364992"/>
            <a:ext cx="987552" cy="292608"/>
          </a:xfrm>
          <a:prstGeom prst="rect">
            <a:avLst/>
          </a:prstGeom>
          <a:noFill/>
          <a:ln/>
        </p:spPr>
        <p:txBody>
          <a:bodyPr wrap="square" lIns="0" tIns="0" rIns="0" bIns="0" rtlCol="0" anchor="ctr"/>
          <a:lstStyle/>
          <a:p>
            <a:pPr algn="ctr" indent="0" marL="0">
              <a:buNone/>
            </a:pPr>
            <a:r>
              <a:rPr lang="en-US" sz="850" dirty="0">
                <a:solidFill>
                  <a:srgbClr val="5EEAD4"/>
                </a:solidFill>
                <a:latin typeface="Calibri" pitchFamily="34" charset="0"/>
                <a:ea typeface="Calibri" pitchFamily="34" charset="-122"/>
                <a:cs typeface="Calibri" pitchFamily="34" charset="-120"/>
              </a:rPr>
              <a:t>V6 JSON</a:t>
            </a:r>
            <a:endParaRPr lang="en-US" sz="850" dirty="0"/>
          </a:p>
        </p:txBody>
      </p:sp>
      <p:sp>
        <p:nvSpPr>
          <p:cNvPr id="34" name="Shape 32"/>
          <p:cNvSpPr/>
          <p:nvPr/>
        </p:nvSpPr>
        <p:spPr>
          <a:xfrm>
            <a:off x="6653632" y="3154680"/>
            <a:ext cx="114300" cy="0"/>
          </a:xfrm>
          <a:prstGeom prst="line">
            <a:avLst/>
          </a:prstGeom>
          <a:noFill/>
          <a:ln w="25400">
            <a:solidFill>
              <a:srgbClr val="0F766E"/>
            </a:solidFill>
            <a:prstDash val="solid"/>
            <a:tailEnd type="triangle"/>
          </a:ln>
        </p:spPr>
      </p:sp>
      <p:sp>
        <p:nvSpPr>
          <p:cNvPr id="35" name="Shape 33"/>
          <p:cNvSpPr/>
          <p:nvPr/>
        </p:nvSpPr>
        <p:spPr>
          <a:xfrm>
            <a:off x="6786220" y="2606040"/>
            <a:ext cx="1078992" cy="1097280"/>
          </a:xfrm>
          <a:prstGeom prst="roundRect">
            <a:avLst>
              <a:gd name="adj" fmla="val 6780"/>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36" name="Shape 34"/>
          <p:cNvSpPr/>
          <p:nvPr/>
        </p:nvSpPr>
        <p:spPr>
          <a:xfrm>
            <a:off x="7179412" y="2459736"/>
            <a:ext cx="292608" cy="292608"/>
          </a:xfrm>
          <a:prstGeom prst="ellipse">
            <a:avLst/>
          </a:prstGeom>
          <a:solidFill>
            <a:srgbClr val="64748B"/>
          </a:solidFill>
          <a:ln w="19050">
            <a:solidFill>
              <a:srgbClr val="FFFFFF"/>
            </a:solidFill>
            <a:prstDash val="solid"/>
          </a:ln>
        </p:spPr>
      </p:sp>
      <p:sp>
        <p:nvSpPr>
          <p:cNvPr id="37" name="Text 35"/>
          <p:cNvSpPr/>
          <p:nvPr/>
        </p:nvSpPr>
        <p:spPr>
          <a:xfrm>
            <a:off x="7179412"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p:nvPr/>
        </p:nvSpPr>
        <p:spPr>
          <a:xfrm>
            <a:off x="6831940"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0B1B2E"/>
                </a:solidFill>
                <a:latin typeface="Calibri" pitchFamily="34" charset="0"/>
                <a:ea typeface="Calibri" pitchFamily="34" charset="-122"/>
                <a:cs typeface="Calibri" pitchFamily="34" charset="-120"/>
              </a:rPr>
              <a:t>Validation</a:t>
            </a:r>
            <a:endParaRPr lang="en-US" sz="1100" dirty="0"/>
          </a:p>
        </p:txBody>
      </p:sp>
      <p:sp>
        <p:nvSpPr>
          <p:cNvPr id="39" name="Text 37"/>
          <p:cNvSpPr/>
          <p:nvPr/>
        </p:nvSpPr>
        <p:spPr>
          <a:xfrm>
            <a:off x="6831940" y="336499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 checks</a:t>
            </a:r>
            <a:endParaRPr lang="en-US" sz="850" dirty="0"/>
          </a:p>
        </p:txBody>
      </p:sp>
      <p:sp>
        <p:nvSpPr>
          <p:cNvPr id="40" name="Shape 38"/>
          <p:cNvSpPr/>
          <p:nvPr/>
        </p:nvSpPr>
        <p:spPr>
          <a:xfrm>
            <a:off x="7883500" y="3154680"/>
            <a:ext cx="114300" cy="0"/>
          </a:xfrm>
          <a:prstGeom prst="line">
            <a:avLst/>
          </a:prstGeom>
          <a:noFill/>
          <a:ln w="25400">
            <a:solidFill>
              <a:srgbClr val="0F766E"/>
            </a:solidFill>
            <a:prstDash val="solid"/>
            <a:tailEnd type="triangle"/>
          </a:ln>
        </p:spPr>
      </p:sp>
      <p:sp>
        <p:nvSpPr>
          <p:cNvPr id="41" name="Shape 39"/>
          <p:cNvSpPr/>
          <p:nvPr/>
        </p:nvSpPr>
        <p:spPr>
          <a:xfrm>
            <a:off x="8016088" y="2606040"/>
            <a:ext cx="1078992" cy="1097280"/>
          </a:xfrm>
          <a:prstGeom prst="roundRect">
            <a:avLst>
              <a:gd name="adj" fmla="val 6780"/>
            </a:avLst>
          </a:prstGeom>
          <a:solidFill>
            <a:srgbClr val="0B1B2E"/>
          </a:solidFill>
          <a:ln w="12700">
            <a:solidFill>
              <a:srgbClr val="0B1B2E"/>
            </a:solidFill>
            <a:prstDash val="solid"/>
          </a:ln>
          <a:effectLst>
            <a:outerShdw sx="100000" sy="100000" kx="0" ky="0" algn="bl" rotWithShape="0" blurRad="114300" dist="38100" dir="8100000">
              <a:srgbClr val="1E293B">
                <a:alpha val="12000"/>
              </a:srgbClr>
            </a:outerShdw>
          </a:effectLst>
        </p:spPr>
      </p:sp>
      <p:sp>
        <p:nvSpPr>
          <p:cNvPr id="42" name="Shape 40"/>
          <p:cNvSpPr/>
          <p:nvPr/>
        </p:nvSpPr>
        <p:spPr>
          <a:xfrm>
            <a:off x="8409280" y="2459736"/>
            <a:ext cx="292608" cy="292608"/>
          </a:xfrm>
          <a:prstGeom prst="ellipse">
            <a:avLst/>
          </a:prstGeom>
          <a:solidFill>
            <a:srgbClr val="14B8A6"/>
          </a:solidFill>
          <a:ln w="19050">
            <a:solidFill>
              <a:srgbClr val="FFFFFF"/>
            </a:solidFill>
            <a:prstDash val="solid"/>
          </a:ln>
        </p:spPr>
      </p:sp>
      <p:sp>
        <p:nvSpPr>
          <p:cNvPr id="43" name="Text 41"/>
          <p:cNvSpPr/>
          <p:nvPr/>
        </p:nvSpPr>
        <p:spPr>
          <a:xfrm>
            <a:off x="8409280"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4" name="Text 42"/>
          <p:cNvSpPr/>
          <p:nvPr/>
        </p:nvSpPr>
        <p:spPr>
          <a:xfrm>
            <a:off x="8061808"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FFFFFF"/>
                </a:solidFill>
                <a:latin typeface="Calibri" pitchFamily="34" charset="0"/>
                <a:ea typeface="Calibri" pitchFamily="34" charset="-122"/>
                <a:cs typeface="Calibri" pitchFamily="34" charset="-120"/>
              </a:rPr>
              <a:t>AI Audit</a:t>
            </a:r>
            <a:endParaRPr lang="en-US" sz="1100" dirty="0"/>
          </a:p>
        </p:txBody>
      </p:sp>
      <p:sp>
        <p:nvSpPr>
          <p:cNvPr id="45" name="Text 43"/>
          <p:cNvSpPr/>
          <p:nvPr/>
        </p:nvSpPr>
        <p:spPr>
          <a:xfrm>
            <a:off x="8061808" y="3364992"/>
            <a:ext cx="987552" cy="292608"/>
          </a:xfrm>
          <a:prstGeom prst="rect">
            <a:avLst/>
          </a:prstGeom>
          <a:noFill/>
          <a:ln/>
        </p:spPr>
        <p:txBody>
          <a:bodyPr wrap="square" lIns="0" tIns="0" rIns="0" bIns="0" rtlCol="0" anchor="ctr"/>
          <a:lstStyle/>
          <a:p>
            <a:pPr algn="ctr" indent="0" marL="0">
              <a:buNone/>
            </a:pPr>
            <a:r>
              <a:rPr lang="en-US" sz="850" dirty="0">
                <a:solidFill>
                  <a:srgbClr val="5EEAD4"/>
                </a:solidFill>
                <a:latin typeface="Calibri" pitchFamily="34" charset="0"/>
                <a:ea typeface="Calibri" pitchFamily="34" charset="-122"/>
                <a:cs typeface="Calibri" pitchFamily="34" charset="-120"/>
              </a:rPr>
              <a:t>2nd pass</a:t>
            </a:r>
            <a:endParaRPr lang="en-US" sz="850" dirty="0"/>
          </a:p>
        </p:txBody>
      </p:sp>
      <p:sp>
        <p:nvSpPr>
          <p:cNvPr id="46" name="Shape 44"/>
          <p:cNvSpPr/>
          <p:nvPr/>
        </p:nvSpPr>
        <p:spPr>
          <a:xfrm>
            <a:off x="9113368" y="3154680"/>
            <a:ext cx="114300" cy="0"/>
          </a:xfrm>
          <a:prstGeom prst="line">
            <a:avLst/>
          </a:prstGeom>
          <a:noFill/>
          <a:ln w="25400">
            <a:solidFill>
              <a:srgbClr val="0F766E"/>
            </a:solidFill>
            <a:prstDash val="solid"/>
            <a:tailEnd type="triangle"/>
          </a:ln>
        </p:spPr>
      </p:sp>
      <p:sp>
        <p:nvSpPr>
          <p:cNvPr id="47" name="Shape 45"/>
          <p:cNvSpPr/>
          <p:nvPr/>
        </p:nvSpPr>
        <p:spPr>
          <a:xfrm>
            <a:off x="9245956" y="2606040"/>
            <a:ext cx="1078992" cy="1097280"/>
          </a:xfrm>
          <a:prstGeom prst="roundRect">
            <a:avLst>
              <a:gd name="adj" fmla="val 6780"/>
            </a:avLst>
          </a:prstGeom>
          <a:solidFill>
            <a:srgbClr val="0B1B2E"/>
          </a:solidFill>
          <a:ln w="12700">
            <a:solidFill>
              <a:srgbClr val="0B1B2E"/>
            </a:solidFill>
            <a:prstDash val="solid"/>
          </a:ln>
          <a:effectLst>
            <a:outerShdw sx="100000" sy="100000" kx="0" ky="0" algn="bl" rotWithShape="0" blurRad="114300" dist="38100" dir="8100000">
              <a:srgbClr val="1E293B">
                <a:alpha val="12000"/>
              </a:srgbClr>
            </a:outerShdw>
          </a:effectLst>
        </p:spPr>
      </p:sp>
      <p:sp>
        <p:nvSpPr>
          <p:cNvPr id="48" name="Shape 46"/>
          <p:cNvSpPr/>
          <p:nvPr/>
        </p:nvSpPr>
        <p:spPr>
          <a:xfrm>
            <a:off x="9639148" y="2459736"/>
            <a:ext cx="292608" cy="292608"/>
          </a:xfrm>
          <a:prstGeom prst="ellipse">
            <a:avLst/>
          </a:prstGeom>
          <a:solidFill>
            <a:srgbClr val="14B8A6"/>
          </a:solidFill>
          <a:ln w="19050">
            <a:solidFill>
              <a:srgbClr val="FFFFFF"/>
            </a:solidFill>
            <a:prstDash val="solid"/>
          </a:ln>
        </p:spPr>
      </p:sp>
      <p:sp>
        <p:nvSpPr>
          <p:cNvPr id="49" name="Text 47"/>
          <p:cNvSpPr/>
          <p:nvPr/>
        </p:nvSpPr>
        <p:spPr>
          <a:xfrm>
            <a:off x="9639148"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0" name="Text 48"/>
          <p:cNvSpPr/>
          <p:nvPr/>
        </p:nvSpPr>
        <p:spPr>
          <a:xfrm>
            <a:off x="9291676"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FFFFFF"/>
                </a:solidFill>
                <a:latin typeface="Calibri" pitchFamily="34" charset="0"/>
                <a:ea typeface="Calibri" pitchFamily="34" charset="-122"/>
                <a:cs typeface="Calibri" pitchFamily="34" charset="-120"/>
              </a:rPr>
              <a:t>Gap</a:t>
            </a:r>
            <a:endParaRPr lang="en-US" sz="1100" dirty="0"/>
          </a:p>
          <a:p>
            <a:pPr algn="ctr" indent="0" marL="0">
              <a:lnSpc>
                <a:spcPts val="1250"/>
              </a:lnSpc>
              <a:buNone/>
            </a:pPr>
            <a:r>
              <a:rPr lang="en-US" sz="1100" b="1" dirty="0">
                <a:solidFill>
                  <a:srgbClr val="FFFFFF"/>
                </a:solidFill>
                <a:latin typeface="Calibri" pitchFamily="34" charset="0"/>
                <a:ea typeface="Calibri" pitchFamily="34" charset="-122"/>
                <a:cs typeface="Calibri" pitchFamily="34" charset="-120"/>
              </a:rPr>
              <a:t>Fill</a:t>
            </a:r>
            <a:endParaRPr lang="en-US" sz="1100" dirty="0"/>
          </a:p>
        </p:txBody>
      </p:sp>
      <p:sp>
        <p:nvSpPr>
          <p:cNvPr id="51" name="Text 49"/>
          <p:cNvSpPr/>
          <p:nvPr/>
        </p:nvSpPr>
        <p:spPr>
          <a:xfrm>
            <a:off x="9291676" y="3364992"/>
            <a:ext cx="987552" cy="292608"/>
          </a:xfrm>
          <a:prstGeom prst="rect">
            <a:avLst/>
          </a:prstGeom>
          <a:noFill/>
          <a:ln/>
        </p:spPr>
        <p:txBody>
          <a:bodyPr wrap="square" lIns="0" tIns="0" rIns="0" bIns="0" rtlCol="0" anchor="ctr"/>
          <a:lstStyle/>
          <a:p>
            <a:pPr algn="ctr" indent="0" marL="0">
              <a:buNone/>
            </a:pPr>
            <a:r>
              <a:rPr lang="en-US" sz="850" dirty="0">
                <a:solidFill>
                  <a:srgbClr val="5EEAD4"/>
                </a:solidFill>
                <a:latin typeface="Calibri" pitchFamily="34" charset="0"/>
                <a:ea typeface="Calibri" pitchFamily="34" charset="-122"/>
                <a:cs typeface="Calibri" pitchFamily="34" charset="-120"/>
              </a:rPr>
              <a:t>Targeted</a:t>
            </a:r>
            <a:endParaRPr lang="en-US" sz="850" dirty="0"/>
          </a:p>
        </p:txBody>
      </p:sp>
      <p:sp>
        <p:nvSpPr>
          <p:cNvPr id="52" name="Shape 50"/>
          <p:cNvSpPr/>
          <p:nvPr/>
        </p:nvSpPr>
        <p:spPr>
          <a:xfrm>
            <a:off x="10343236" y="3154680"/>
            <a:ext cx="114300" cy="0"/>
          </a:xfrm>
          <a:prstGeom prst="line">
            <a:avLst/>
          </a:prstGeom>
          <a:noFill/>
          <a:ln w="25400">
            <a:solidFill>
              <a:srgbClr val="0F766E"/>
            </a:solidFill>
            <a:prstDash val="solid"/>
            <a:tailEnd type="triangle"/>
          </a:ln>
        </p:spPr>
      </p:sp>
      <p:sp>
        <p:nvSpPr>
          <p:cNvPr id="53" name="Shape 51"/>
          <p:cNvSpPr/>
          <p:nvPr/>
        </p:nvSpPr>
        <p:spPr>
          <a:xfrm>
            <a:off x="10475824" y="2606040"/>
            <a:ext cx="1078992" cy="1097280"/>
          </a:xfrm>
          <a:prstGeom prst="roundRect">
            <a:avLst>
              <a:gd name="adj" fmla="val 6780"/>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54" name="Shape 52"/>
          <p:cNvSpPr/>
          <p:nvPr/>
        </p:nvSpPr>
        <p:spPr>
          <a:xfrm>
            <a:off x="10869016" y="2459736"/>
            <a:ext cx="292608" cy="292608"/>
          </a:xfrm>
          <a:prstGeom prst="ellipse">
            <a:avLst/>
          </a:prstGeom>
          <a:solidFill>
            <a:srgbClr val="64748B"/>
          </a:solidFill>
          <a:ln w="19050">
            <a:solidFill>
              <a:srgbClr val="FFFFFF"/>
            </a:solidFill>
            <a:prstDash val="solid"/>
          </a:ln>
        </p:spPr>
      </p:sp>
      <p:sp>
        <p:nvSpPr>
          <p:cNvPr id="55" name="Text 53"/>
          <p:cNvSpPr/>
          <p:nvPr/>
        </p:nvSpPr>
        <p:spPr>
          <a:xfrm>
            <a:off x="10869016" y="24597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6" name="Text 54"/>
          <p:cNvSpPr/>
          <p:nvPr/>
        </p:nvSpPr>
        <p:spPr>
          <a:xfrm>
            <a:off x="10521544" y="2862072"/>
            <a:ext cx="987552" cy="502920"/>
          </a:xfrm>
          <a:prstGeom prst="rect">
            <a:avLst/>
          </a:prstGeom>
          <a:noFill/>
          <a:ln/>
        </p:spPr>
        <p:txBody>
          <a:bodyPr wrap="square" lIns="0" tIns="0" rIns="0" bIns="0" rtlCol="0" anchor="ctr"/>
          <a:lstStyle/>
          <a:p>
            <a:pPr algn="ctr" indent="0" marL="0">
              <a:lnSpc>
                <a:spcPts val="1250"/>
              </a:lnSpc>
              <a:buNone/>
            </a:pPr>
            <a:r>
              <a:rPr lang="en-US" sz="1100" b="1" dirty="0">
                <a:solidFill>
                  <a:srgbClr val="0B1B2E"/>
                </a:solidFill>
                <a:latin typeface="Calibri" pitchFamily="34" charset="0"/>
                <a:ea typeface="Calibri" pitchFamily="34" charset="-122"/>
                <a:cs typeface="Calibri" pitchFamily="34" charset="-120"/>
              </a:rPr>
              <a:t>Intelligence</a:t>
            </a:r>
            <a:endParaRPr lang="en-US" sz="1100" dirty="0"/>
          </a:p>
        </p:txBody>
      </p:sp>
      <p:sp>
        <p:nvSpPr>
          <p:cNvPr id="57" name="Text 55"/>
          <p:cNvSpPr/>
          <p:nvPr/>
        </p:nvSpPr>
        <p:spPr>
          <a:xfrm>
            <a:off x="10521544" y="336499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Delta tables</a:t>
            </a:r>
            <a:endParaRPr lang="en-US" sz="850" dirty="0"/>
          </a:p>
        </p:txBody>
      </p:sp>
      <p:sp>
        <p:nvSpPr>
          <p:cNvPr id="58" name="Shape 56"/>
          <p:cNvSpPr/>
          <p:nvPr/>
        </p:nvSpPr>
        <p:spPr>
          <a:xfrm>
            <a:off x="566928" y="4160520"/>
            <a:ext cx="164592" cy="164592"/>
          </a:xfrm>
          <a:prstGeom prst="ellipse">
            <a:avLst/>
          </a:prstGeom>
          <a:solidFill>
            <a:srgbClr val="14B8A6"/>
          </a:solidFill>
          <a:ln/>
        </p:spPr>
      </p:sp>
      <p:sp>
        <p:nvSpPr>
          <p:cNvPr id="59" name="Text 57"/>
          <p:cNvSpPr/>
          <p:nvPr/>
        </p:nvSpPr>
        <p:spPr>
          <a:xfrm>
            <a:off x="804672" y="4114800"/>
            <a:ext cx="2103120" cy="274320"/>
          </a:xfrm>
          <a:prstGeom prst="rect">
            <a:avLst/>
          </a:prstGeom>
          <a:noFill/>
          <a:ln/>
        </p:spPr>
        <p:txBody>
          <a:bodyPr wrap="square" lIns="0" tIns="0" rIns="0" bIns="0" rtlCol="0" anchor="ctr"/>
          <a:lstStyle/>
          <a:p>
            <a:pPr indent="0" marL="0">
              <a:buNone/>
            </a:pPr>
            <a:r>
              <a:rPr lang="en-US" sz="1100" b="1" dirty="0">
                <a:solidFill>
                  <a:srgbClr val="33415A"/>
                </a:solidFill>
                <a:latin typeface="Calibri" pitchFamily="34" charset="0"/>
                <a:ea typeface="Calibri" pitchFamily="34" charset="-122"/>
                <a:cs typeface="Calibri" pitchFamily="34" charset="-120"/>
              </a:rPr>
              <a:t>AI / model-driven</a:t>
            </a:r>
            <a:endParaRPr lang="en-US" sz="1100" dirty="0"/>
          </a:p>
        </p:txBody>
      </p:sp>
      <p:sp>
        <p:nvSpPr>
          <p:cNvPr id="60" name="Shape 58"/>
          <p:cNvSpPr/>
          <p:nvPr/>
        </p:nvSpPr>
        <p:spPr>
          <a:xfrm>
            <a:off x="3035808" y="4160520"/>
            <a:ext cx="164592" cy="164592"/>
          </a:xfrm>
          <a:prstGeom prst="ellipse">
            <a:avLst/>
          </a:prstGeom>
          <a:solidFill>
            <a:srgbClr val="64748B"/>
          </a:solidFill>
          <a:ln/>
        </p:spPr>
      </p:sp>
      <p:sp>
        <p:nvSpPr>
          <p:cNvPr id="61" name="Text 59"/>
          <p:cNvSpPr/>
          <p:nvPr/>
        </p:nvSpPr>
        <p:spPr>
          <a:xfrm>
            <a:off x="3273552" y="4114800"/>
            <a:ext cx="2743200" cy="274320"/>
          </a:xfrm>
          <a:prstGeom prst="rect">
            <a:avLst/>
          </a:prstGeom>
          <a:noFill/>
          <a:ln/>
        </p:spPr>
        <p:txBody>
          <a:bodyPr wrap="square" lIns="0" tIns="0" rIns="0" bIns="0" rtlCol="0" anchor="ctr"/>
          <a:lstStyle/>
          <a:p>
            <a:pPr indent="0" marL="0">
              <a:buNone/>
            </a:pPr>
            <a:r>
              <a:rPr lang="en-US" sz="1100" b="1" dirty="0">
                <a:solidFill>
                  <a:srgbClr val="33415A"/>
                </a:solidFill>
                <a:latin typeface="Calibri" pitchFamily="34" charset="0"/>
                <a:ea typeface="Calibri" pitchFamily="34" charset="-122"/>
                <a:cs typeface="Calibri" pitchFamily="34" charset="-120"/>
              </a:rPr>
              <a:t>Deterministic / rule-based</a:t>
            </a:r>
            <a:endParaRPr lang="en-US" sz="1100" dirty="0"/>
          </a:p>
        </p:txBody>
      </p:sp>
      <p:sp>
        <p:nvSpPr>
          <p:cNvPr id="62" name="Shape 60"/>
          <p:cNvSpPr/>
          <p:nvPr/>
        </p:nvSpPr>
        <p:spPr>
          <a:xfrm>
            <a:off x="566928" y="4709160"/>
            <a:ext cx="3503066" cy="123444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63" name="Shape 61"/>
          <p:cNvSpPr/>
          <p:nvPr/>
        </p:nvSpPr>
        <p:spPr>
          <a:xfrm>
            <a:off x="566928" y="4709160"/>
            <a:ext cx="82296" cy="1234440"/>
          </a:xfrm>
          <a:prstGeom prst="rect">
            <a:avLst/>
          </a:prstGeom>
          <a:solidFill>
            <a:srgbClr val="F26A4B"/>
          </a:solidFill>
          <a:ln/>
        </p:spPr>
      </p:sp>
      <p:sp>
        <p:nvSpPr>
          <p:cNvPr id="64" name="Text 62"/>
          <p:cNvSpPr/>
          <p:nvPr/>
        </p:nvSpPr>
        <p:spPr>
          <a:xfrm>
            <a:off x="795528" y="4864608"/>
            <a:ext cx="313730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Per-file isolation</a:t>
            </a:r>
            <a:endParaRPr lang="en-US" sz="1250" dirty="0"/>
          </a:p>
        </p:txBody>
      </p:sp>
      <p:sp>
        <p:nvSpPr>
          <p:cNvPr id="65" name="Text 63"/>
          <p:cNvSpPr/>
          <p:nvPr/>
        </p:nvSpPr>
        <p:spPr>
          <a:xfrm>
            <a:off x="795528" y="5193792"/>
            <a:ext cx="3091586" cy="658368"/>
          </a:xfrm>
          <a:prstGeom prst="rect">
            <a:avLst/>
          </a:prstGeom>
          <a:noFill/>
          <a:ln/>
        </p:spPr>
        <p:txBody>
          <a:bodyPr wrap="square" lIns="0" tIns="0" rIns="0" bIns="0" rtlCol="0" anchor="t"/>
          <a:lstStyle/>
          <a:p>
            <a:pPr indent="0" marL="0">
              <a:lnSpc>
                <a:spcPts val="1450"/>
              </a:lnSpc>
              <a:buNone/>
            </a:pPr>
            <a:r>
              <a:rPr lang="en-US" sz="1050" dirty="0">
                <a:solidFill>
                  <a:srgbClr val="33415A"/>
                </a:solidFill>
                <a:latin typeface="Calibri" pitchFamily="34" charset="0"/>
                <a:ea typeface="Calibri" pitchFamily="34" charset="-122"/>
                <a:cs typeface="Calibri" pitchFamily="34" charset="-120"/>
              </a:rPr>
              <a:t>Direct REST API — not batch SQL. One stuck document never stalls the run.</a:t>
            </a:r>
            <a:endParaRPr lang="en-US" sz="1050" dirty="0"/>
          </a:p>
        </p:txBody>
      </p:sp>
      <p:sp>
        <p:nvSpPr>
          <p:cNvPr id="66" name="Shape 64"/>
          <p:cNvSpPr/>
          <p:nvPr/>
        </p:nvSpPr>
        <p:spPr>
          <a:xfrm>
            <a:off x="4344314" y="4709160"/>
            <a:ext cx="3503066" cy="123444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67" name="Shape 65"/>
          <p:cNvSpPr/>
          <p:nvPr/>
        </p:nvSpPr>
        <p:spPr>
          <a:xfrm>
            <a:off x="4344314" y="4709160"/>
            <a:ext cx="82296" cy="1234440"/>
          </a:xfrm>
          <a:prstGeom prst="rect">
            <a:avLst/>
          </a:prstGeom>
          <a:solidFill>
            <a:srgbClr val="F26A4B"/>
          </a:solidFill>
          <a:ln/>
        </p:spPr>
      </p:sp>
      <p:sp>
        <p:nvSpPr>
          <p:cNvPr id="68" name="Text 66"/>
          <p:cNvSpPr/>
          <p:nvPr/>
        </p:nvSpPr>
        <p:spPr>
          <a:xfrm>
            <a:off x="4572914" y="4864608"/>
            <a:ext cx="313730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Checkpoint-resume</a:t>
            </a:r>
            <a:endParaRPr lang="en-US" sz="1250" dirty="0"/>
          </a:p>
        </p:txBody>
      </p:sp>
      <p:sp>
        <p:nvSpPr>
          <p:cNvPr id="69" name="Text 67"/>
          <p:cNvSpPr/>
          <p:nvPr/>
        </p:nvSpPr>
        <p:spPr>
          <a:xfrm>
            <a:off x="4572914" y="5193792"/>
            <a:ext cx="3091586" cy="658368"/>
          </a:xfrm>
          <a:prstGeom prst="rect">
            <a:avLst/>
          </a:prstGeom>
          <a:noFill/>
          <a:ln/>
        </p:spPr>
        <p:txBody>
          <a:bodyPr wrap="square" lIns="0" tIns="0" rIns="0" bIns="0" rtlCol="0" anchor="t"/>
          <a:lstStyle/>
          <a:p>
            <a:pPr indent="0" marL="0">
              <a:lnSpc>
                <a:spcPts val="1450"/>
              </a:lnSpc>
              <a:buNone/>
            </a:pPr>
            <a:r>
              <a:rPr lang="en-US" sz="1050" dirty="0">
                <a:solidFill>
                  <a:srgbClr val="33415A"/>
                </a:solidFill>
                <a:latin typeface="Calibri" pitchFamily="34" charset="0"/>
                <a:ea typeface="Calibri" pitchFamily="34" charset="-122"/>
                <a:cs typeface="Calibri" pitchFamily="34" charset="-120"/>
              </a:rPr>
              <a:t>Re-runs skip completed files automatically. No rework, no data loss.</a:t>
            </a:r>
            <a:endParaRPr lang="en-US" sz="1050" dirty="0"/>
          </a:p>
        </p:txBody>
      </p:sp>
      <p:sp>
        <p:nvSpPr>
          <p:cNvPr id="70" name="Shape 68"/>
          <p:cNvSpPr/>
          <p:nvPr/>
        </p:nvSpPr>
        <p:spPr>
          <a:xfrm>
            <a:off x="8121701" y="4709160"/>
            <a:ext cx="3503066" cy="123444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71" name="Shape 69"/>
          <p:cNvSpPr/>
          <p:nvPr/>
        </p:nvSpPr>
        <p:spPr>
          <a:xfrm>
            <a:off x="8121701" y="4709160"/>
            <a:ext cx="82296" cy="1234440"/>
          </a:xfrm>
          <a:prstGeom prst="rect">
            <a:avLst/>
          </a:prstGeom>
          <a:solidFill>
            <a:srgbClr val="F26A4B"/>
          </a:solidFill>
          <a:ln/>
        </p:spPr>
      </p:sp>
      <p:sp>
        <p:nvSpPr>
          <p:cNvPr id="72" name="Text 70"/>
          <p:cNvSpPr/>
          <p:nvPr/>
        </p:nvSpPr>
        <p:spPr>
          <a:xfrm>
            <a:off x="8350301" y="4864608"/>
            <a:ext cx="3137306" cy="320040"/>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Adaptive concurrency</a:t>
            </a:r>
            <a:endParaRPr lang="en-US" sz="1250" dirty="0"/>
          </a:p>
        </p:txBody>
      </p:sp>
      <p:sp>
        <p:nvSpPr>
          <p:cNvPr id="73" name="Text 71"/>
          <p:cNvSpPr/>
          <p:nvPr/>
        </p:nvSpPr>
        <p:spPr>
          <a:xfrm>
            <a:off x="8350301" y="5193792"/>
            <a:ext cx="3091586" cy="658368"/>
          </a:xfrm>
          <a:prstGeom prst="rect">
            <a:avLst/>
          </a:prstGeom>
          <a:noFill/>
          <a:ln/>
        </p:spPr>
        <p:txBody>
          <a:bodyPr wrap="square" lIns="0" tIns="0" rIns="0" bIns="0" rtlCol="0" anchor="t"/>
          <a:lstStyle/>
          <a:p>
            <a:pPr indent="0" marL="0">
              <a:lnSpc>
                <a:spcPts val="1450"/>
              </a:lnSpc>
              <a:buNone/>
            </a:pPr>
            <a:r>
              <a:rPr lang="en-US" sz="1050" dirty="0">
                <a:solidFill>
                  <a:srgbClr val="33415A"/>
                </a:solidFill>
                <a:latin typeface="Calibri" pitchFamily="34" charset="0"/>
                <a:ea typeface="Calibri" pitchFamily="34" charset="-122"/>
                <a:cs typeface="Calibri" pitchFamily="34" charset="-120"/>
              </a:rPr>
              <a:t>Throughput auto-throttles to provider rate limits and re-ramps.</a:t>
            </a:r>
            <a:endParaRPr lang="en-US" sz="1050" dirty="0"/>
          </a:p>
        </p:txBody>
      </p:sp>
      <p:sp>
        <p:nvSpPr>
          <p:cNvPr id="74" name="Text 72"/>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75" name="Text 73"/>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06 · INSIDE EXTRACTION</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Reading like a specialist, not a generalist</a:t>
            </a:r>
            <a:endParaRPr lang="en-US" sz="2900" dirty="0"/>
          </a:p>
        </p:txBody>
      </p:sp>
      <p:sp>
        <p:nvSpPr>
          <p:cNvPr id="4" name="Text 2"/>
          <p:cNvSpPr/>
          <p:nvPr/>
        </p:nvSpPr>
        <p:spPr>
          <a:xfrm>
            <a:off x="566928" y="1783080"/>
            <a:ext cx="5029200" cy="274320"/>
          </a:xfrm>
          <a:prstGeom prst="rect">
            <a:avLst/>
          </a:prstGeom>
          <a:noFill/>
          <a:ln/>
        </p:spPr>
        <p:txBody>
          <a:bodyPr wrap="square" lIns="0" tIns="0" rIns="0" bIns="0" rtlCol="0" anchor="ctr"/>
          <a:lstStyle/>
          <a:p>
            <a:pPr indent="0" marL="0">
              <a:buNone/>
            </a:pPr>
            <a:r>
              <a:rPr lang="en-US" sz="1050" b="1" spc="150" kern="0" dirty="0">
                <a:solidFill>
                  <a:srgbClr val="14B8A6"/>
                </a:solidFill>
                <a:latin typeface="Calibri" pitchFamily="34" charset="0"/>
                <a:ea typeface="Calibri" pitchFamily="34" charset="-122"/>
                <a:cs typeface="Calibri" pitchFamily="34" charset="-120"/>
              </a:rPr>
              <a:t>STEP 1 · TEXT CAPTURE (2-TIER OCR)</a:t>
            </a:r>
            <a:endParaRPr lang="en-US" sz="1050" dirty="0"/>
          </a:p>
        </p:txBody>
      </p:sp>
      <p:sp>
        <p:nvSpPr>
          <p:cNvPr id="5" name="Shape 3"/>
          <p:cNvSpPr/>
          <p:nvPr/>
        </p:nvSpPr>
        <p:spPr>
          <a:xfrm>
            <a:off x="566928" y="2148840"/>
            <a:ext cx="5212080" cy="8686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6" name="Shape 4"/>
          <p:cNvSpPr/>
          <p:nvPr/>
        </p:nvSpPr>
        <p:spPr>
          <a:xfrm>
            <a:off x="566928" y="2148840"/>
            <a:ext cx="82296" cy="868680"/>
          </a:xfrm>
          <a:prstGeom prst="rect">
            <a:avLst/>
          </a:prstGeom>
          <a:solidFill>
            <a:srgbClr val="14B8A6"/>
          </a:solidFill>
          <a:ln/>
        </p:spPr>
      </p:sp>
      <p:sp>
        <p:nvSpPr>
          <p:cNvPr id="7" name="Text 5"/>
          <p:cNvSpPr/>
          <p:nvPr/>
        </p:nvSpPr>
        <p:spPr>
          <a:xfrm>
            <a:off x="822960" y="2295144"/>
            <a:ext cx="4754880" cy="32004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Tier 1 · Native text</a:t>
            </a:r>
            <a:endParaRPr lang="en-US" sz="1300" dirty="0"/>
          </a:p>
        </p:txBody>
      </p:sp>
      <p:sp>
        <p:nvSpPr>
          <p:cNvPr id="8" name="Text 6"/>
          <p:cNvSpPr/>
          <p:nvPr/>
        </p:nvSpPr>
        <p:spPr>
          <a:xfrm>
            <a:off x="822960" y="2624328"/>
            <a:ext cx="475488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Most documents — instant, no AI cost</a:t>
            </a:r>
            <a:endParaRPr lang="en-US" sz="1100" dirty="0"/>
          </a:p>
        </p:txBody>
      </p:sp>
      <p:sp>
        <p:nvSpPr>
          <p:cNvPr id="9" name="Shape 7"/>
          <p:cNvSpPr/>
          <p:nvPr/>
        </p:nvSpPr>
        <p:spPr>
          <a:xfrm>
            <a:off x="566928" y="3172968"/>
            <a:ext cx="5212080" cy="8686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10" name="Shape 8"/>
          <p:cNvSpPr/>
          <p:nvPr/>
        </p:nvSpPr>
        <p:spPr>
          <a:xfrm>
            <a:off x="566928" y="3172968"/>
            <a:ext cx="82296" cy="868680"/>
          </a:xfrm>
          <a:prstGeom prst="rect">
            <a:avLst/>
          </a:prstGeom>
          <a:solidFill>
            <a:srgbClr val="14B8A6"/>
          </a:solidFill>
          <a:ln/>
        </p:spPr>
      </p:sp>
      <p:sp>
        <p:nvSpPr>
          <p:cNvPr id="11" name="Text 9"/>
          <p:cNvSpPr/>
          <p:nvPr/>
        </p:nvSpPr>
        <p:spPr>
          <a:xfrm>
            <a:off x="822960" y="3319272"/>
            <a:ext cx="4754880" cy="32004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Tier 2 · OCR fallback</a:t>
            </a:r>
            <a:endParaRPr lang="en-US" sz="1300" dirty="0"/>
          </a:p>
        </p:txBody>
      </p:sp>
      <p:sp>
        <p:nvSpPr>
          <p:cNvPr id="12" name="Text 10"/>
          <p:cNvSpPr/>
          <p:nvPr/>
        </p:nvSpPr>
        <p:spPr>
          <a:xfrm>
            <a:off x="822960" y="3648456"/>
            <a:ext cx="475488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Scanned / complex pages — image to text</a:t>
            </a:r>
            <a:endParaRPr lang="en-US" sz="1100" dirty="0"/>
          </a:p>
        </p:txBody>
      </p:sp>
      <p:sp>
        <p:nvSpPr>
          <p:cNvPr id="13" name="Text 11"/>
          <p:cNvSpPr/>
          <p:nvPr/>
        </p:nvSpPr>
        <p:spPr>
          <a:xfrm>
            <a:off x="566928" y="4242816"/>
            <a:ext cx="5212080" cy="457200"/>
          </a:xfrm>
          <a:prstGeom prst="rect">
            <a:avLst/>
          </a:prstGeom>
          <a:noFill/>
          <a:ln/>
        </p:spPr>
        <p:txBody>
          <a:bodyPr wrap="square" lIns="0" tIns="0" rIns="0" bIns="0" rtlCol="0" anchor="ctr"/>
          <a:lstStyle/>
          <a:p>
            <a:pPr indent="0" marL="0">
              <a:lnSpc>
                <a:spcPts val="1500"/>
              </a:lnSpc>
              <a:buNone/>
            </a:pPr>
            <a:r>
              <a:rPr lang="en-US" sz="1100" i="1" dirty="0">
                <a:solidFill>
                  <a:srgbClr val="0F766E"/>
                </a:solidFill>
                <a:latin typeface="Calibri" pitchFamily="34" charset="0"/>
                <a:ea typeface="Calibri" pitchFamily="34" charset="-122"/>
                <a:cs typeface="Calibri" pitchFamily="34" charset="-120"/>
              </a:rPr>
              <a:t>Quality gate routes weak captures to the next tier — no silent text loss.</a:t>
            </a:r>
            <a:endParaRPr lang="en-US" sz="1100" dirty="0"/>
          </a:p>
        </p:txBody>
      </p:sp>
      <p:sp>
        <p:nvSpPr>
          <p:cNvPr id="14" name="Text 12"/>
          <p:cNvSpPr/>
          <p:nvPr/>
        </p:nvSpPr>
        <p:spPr>
          <a:xfrm>
            <a:off x="6492240" y="1783080"/>
            <a:ext cx="5486400" cy="274320"/>
          </a:xfrm>
          <a:prstGeom prst="rect">
            <a:avLst/>
          </a:prstGeom>
          <a:noFill/>
          <a:ln/>
        </p:spPr>
        <p:txBody>
          <a:bodyPr wrap="square" lIns="0" tIns="0" rIns="0" bIns="0" rtlCol="0" anchor="ctr"/>
          <a:lstStyle/>
          <a:p>
            <a:pPr indent="0" marL="0">
              <a:buNone/>
            </a:pPr>
            <a:r>
              <a:rPr lang="en-US" sz="1050" b="1" spc="150" kern="0" dirty="0">
                <a:solidFill>
                  <a:srgbClr val="14B8A6"/>
                </a:solidFill>
                <a:latin typeface="Calibri" pitchFamily="34" charset="0"/>
                <a:ea typeface="Calibri" pitchFamily="34" charset="-122"/>
                <a:cs typeface="Calibri" pitchFamily="34" charset="-120"/>
              </a:rPr>
              <a:t>STEP 2 · DOCUMENT-TYPE PROMPT ROUTING</a:t>
            </a:r>
            <a:endParaRPr lang="en-US" sz="1050" dirty="0"/>
          </a:p>
        </p:txBody>
      </p:sp>
      <p:sp>
        <p:nvSpPr>
          <p:cNvPr id="15" name="Shape 13"/>
          <p:cNvSpPr/>
          <p:nvPr/>
        </p:nvSpPr>
        <p:spPr>
          <a:xfrm>
            <a:off x="6492240" y="2148840"/>
            <a:ext cx="2606040" cy="548640"/>
          </a:xfrm>
          <a:prstGeom prst="roundRect">
            <a:avLst>
              <a:gd name="adj" fmla="val 11667"/>
            </a:avLst>
          </a:prstGeom>
          <a:solidFill>
            <a:srgbClr val="E7F6F4"/>
          </a:solidFill>
          <a:ln/>
          <a:effectLst>
            <a:outerShdw sx="100000" sy="100000" kx="0" ky="0" algn="bl" rotWithShape="0" blurRad="114300" dist="38100" dir="8100000">
              <a:srgbClr val="1E293B">
                <a:alpha val="12000"/>
              </a:srgbClr>
            </a:outerShdw>
          </a:effectLst>
        </p:spPr>
      </p:sp>
      <p:sp>
        <p:nvSpPr>
          <p:cNvPr id="16" name="Text 14"/>
          <p:cNvSpPr/>
          <p:nvPr/>
        </p:nvSpPr>
        <p:spPr>
          <a:xfrm>
            <a:off x="6547104" y="2148840"/>
            <a:ext cx="2496312" cy="548640"/>
          </a:xfrm>
          <a:prstGeom prst="rect">
            <a:avLst/>
          </a:prstGeom>
          <a:noFill/>
          <a:ln/>
        </p:spPr>
        <p:txBody>
          <a:bodyPr wrap="square" lIns="0" tIns="0" rIns="0" bIns="0" rtlCol="0" anchor="ctr"/>
          <a:lstStyle/>
          <a:p>
            <a:pPr algn="ctr" indent="0" marL="0">
              <a:lnSpc>
                <a:spcPts val="1173"/>
              </a:lnSpc>
              <a:buNone/>
            </a:pPr>
            <a:r>
              <a:rPr lang="en-US" sz="1150" b="1" dirty="0">
                <a:solidFill>
                  <a:srgbClr val="0F766E"/>
                </a:solidFill>
                <a:latin typeface="Calibri" pitchFamily="34" charset="0"/>
                <a:ea typeface="Calibri" pitchFamily="34" charset="-122"/>
                <a:cs typeface="Calibri" pitchFamily="34" charset="-120"/>
              </a:rPr>
              <a:t>Base agreement</a:t>
            </a:r>
            <a:endParaRPr lang="en-US" sz="1150" dirty="0"/>
          </a:p>
        </p:txBody>
      </p:sp>
      <p:sp>
        <p:nvSpPr>
          <p:cNvPr id="17" name="Shape 15"/>
          <p:cNvSpPr/>
          <p:nvPr/>
        </p:nvSpPr>
        <p:spPr>
          <a:xfrm>
            <a:off x="9262872" y="2148840"/>
            <a:ext cx="2606040" cy="548640"/>
          </a:xfrm>
          <a:prstGeom prst="roundRect">
            <a:avLst>
              <a:gd name="adj" fmla="val 11667"/>
            </a:avLst>
          </a:prstGeom>
          <a:solidFill>
            <a:srgbClr val="E7F6F4"/>
          </a:solidFill>
          <a:ln/>
          <a:effectLst>
            <a:outerShdw sx="100000" sy="100000" kx="0" ky="0" algn="bl" rotWithShape="0" blurRad="114300" dist="38100" dir="8100000">
              <a:srgbClr val="1E293B">
                <a:alpha val="12000"/>
              </a:srgbClr>
            </a:outerShdw>
          </a:effectLst>
        </p:spPr>
      </p:sp>
      <p:sp>
        <p:nvSpPr>
          <p:cNvPr id="18" name="Text 16"/>
          <p:cNvSpPr/>
          <p:nvPr/>
        </p:nvSpPr>
        <p:spPr>
          <a:xfrm>
            <a:off x="9317736" y="2148840"/>
            <a:ext cx="2496312" cy="548640"/>
          </a:xfrm>
          <a:prstGeom prst="rect">
            <a:avLst/>
          </a:prstGeom>
          <a:noFill/>
          <a:ln/>
        </p:spPr>
        <p:txBody>
          <a:bodyPr wrap="square" lIns="0" tIns="0" rIns="0" bIns="0" rtlCol="0" anchor="ctr"/>
          <a:lstStyle/>
          <a:p>
            <a:pPr algn="ctr" indent="0" marL="0">
              <a:lnSpc>
                <a:spcPts val="1173"/>
              </a:lnSpc>
              <a:buNone/>
            </a:pPr>
            <a:r>
              <a:rPr lang="en-US" sz="1150" b="1" dirty="0">
                <a:solidFill>
                  <a:srgbClr val="0F766E"/>
                </a:solidFill>
                <a:latin typeface="Calibri" pitchFamily="34" charset="0"/>
                <a:ea typeface="Calibri" pitchFamily="34" charset="-122"/>
                <a:cs typeface="Calibri" pitchFamily="34" charset="-120"/>
              </a:rPr>
              <a:t>Amendment</a:t>
            </a:r>
            <a:endParaRPr lang="en-US" sz="1150" dirty="0"/>
          </a:p>
        </p:txBody>
      </p:sp>
      <p:sp>
        <p:nvSpPr>
          <p:cNvPr id="19" name="Shape 17"/>
          <p:cNvSpPr/>
          <p:nvPr/>
        </p:nvSpPr>
        <p:spPr>
          <a:xfrm>
            <a:off x="6492240" y="2807208"/>
            <a:ext cx="2606040" cy="548640"/>
          </a:xfrm>
          <a:prstGeom prst="roundRect">
            <a:avLst>
              <a:gd name="adj" fmla="val 11667"/>
            </a:avLst>
          </a:prstGeom>
          <a:solidFill>
            <a:srgbClr val="E7F6F4"/>
          </a:solidFill>
          <a:ln/>
          <a:effectLst>
            <a:outerShdw sx="100000" sy="100000" kx="0" ky="0" algn="bl" rotWithShape="0" blurRad="114300" dist="38100" dir="8100000">
              <a:srgbClr val="1E293B">
                <a:alpha val="12000"/>
              </a:srgbClr>
            </a:outerShdw>
          </a:effectLst>
        </p:spPr>
      </p:sp>
      <p:sp>
        <p:nvSpPr>
          <p:cNvPr id="20" name="Text 18"/>
          <p:cNvSpPr/>
          <p:nvPr/>
        </p:nvSpPr>
        <p:spPr>
          <a:xfrm>
            <a:off x="6547104" y="2807208"/>
            <a:ext cx="2496312" cy="548640"/>
          </a:xfrm>
          <a:prstGeom prst="rect">
            <a:avLst/>
          </a:prstGeom>
          <a:noFill/>
          <a:ln/>
        </p:spPr>
        <p:txBody>
          <a:bodyPr wrap="square" lIns="0" tIns="0" rIns="0" bIns="0" rtlCol="0" anchor="ctr"/>
          <a:lstStyle/>
          <a:p>
            <a:pPr algn="ctr" indent="0" marL="0">
              <a:lnSpc>
                <a:spcPts val="1173"/>
              </a:lnSpc>
              <a:buNone/>
            </a:pPr>
            <a:r>
              <a:rPr lang="en-US" sz="1150" b="1" dirty="0">
                <a:solidFill>
                  <a:srgbClr val="0F766E"/>
                </a:solidFill>
                <a:latin typeface="Calibri" pitchFamily="34" charset="0"/>
                <a:ea typeface="Calibri" pitchFamily="34" charset="-122"/>
                <a:cs typeface="Calibri" pitchFamily="34" charset="-120"/>
              </a:rPr>
              <a:t>Cover memo</a:t>
            </a:r>
            <a:endParaRPr lang="en-US" sz="1150" dirty="0"/>
          </a:p>
        </p:txBody>
      </p:sp>
      <p:sp>
        <p:nvSpPr>
          <p:cNvPr id="21" name="Shape 19"/>
          <p:cNvSpPr/>
          <p:nvPr/>
        </p:nvSpPr>
        <p:spPr>
          <a:xfrm>
            <a:off x="9262872" y="2807208"/>
            <a:ext cx="2606040" cy="548640"/>
          </a:xfrm>
          <a:prstGeom prst="roundRect">
            <a:avLst>
              <a:gd name="adj" fmla="val 11667"/>
            </a:avLst>
          </a:prstGeom>
          <a:solidFill>
            <a:srgbClr val="E7F6F4"/>
          </a:solidFill>
          <a:ln/>
          <a:effectLst>
            <a:outerShdw sx="100000" sy="100000" kx="0" ky="0" algn="bl" rotWithShape="0" blurRad="114300" dist="38100" dir="8100000">
              <a:srgbClr val="1E293B">
                <a:alpha val="12000"/>
              </a:srgbClr>
            </a:outerShdw>
          </a:effectLst>
        </p:spPr>
      </p:sp>
      <p:sp>
        <p:nvSpPr>
          <p:cNvPr id="22" name="Text 20"/>
          <p:cNvSpPr/>
          <p:nvPr/>
        </p:nvSpPr>
        <p:spPr>
          <a:xfrm>
            <a:off x="9317736" y="2807208"/>
            <a:ext cx="2496312" cy="548640"/>
          </a:xfrm>
          <a:prstGeom prst="rect">
            <a:avLst/>
          </a:prstGeom>
          <a:noFill/>
          <a:ln/>
        </p:spPr>
        <p:txBody>
          <a:bodyPr wrap="square" lIns="0" tIns="0" rIns="0" bIns="0" rtlCol="0" anchor="ctr"/>
          <a:lstStyle/>
          <a:p>
            <a:pPr algn="ctr" indent="0" marL="0">
              <a:lnSpc>
                <a:spcPts val="1173"/>
              </a:lnSpc>
              <a:buNone/>
            </a:pPr>
            <a:r>
              <a:rPr lang="en-US" sz="1150" b="1" dirty="0">
                <a:solidFill>
                  <a:srgbClr val="0F766E"/>
                </a:solidFill>
                <a:latin typeface="Calibri" pitchFamily="34" charset="0"/>
                <a:ea typeface="Calibri" pitchFamily="34" charset="-122"/>
                <a:cs typeface="Calibri" pitchFamily="34" charset="-120"/>
              </a:rPr>
              <a:t>Settlement</a:t>
            </a:r>
            <a:endParaRPr lang="en-US" sz="1150" dirty="0"/>
          </a:p>
        </p:txBody>
      </p:sp>
      <p:sp>
        <p:nvSpPr>
          <p:cNvPr id="23" name="Shape 21"/>
          <p:cNvSpPr/>
          <p:nvPr/>
        </p:nvSpPr>
        <p:spPr>
          <a:xfrm>
            <a:off x="9180576" y="3520440"/>
            <a:ext cx="0" cy="274320"/>
          </a:xfrm>
          <a:prstGeom prst="line">
            <a:avLst/>
          </a:prstGeom>
          <a:noFill/>
          <a:ln w="25400">
            <a:solidFill>
              <a:srgbClr val="0F766E"/>
            </a:solidFill>
            <a:prstDash val="solid"/>
            <a:tailEnd type="triangle"/>
          </a:ln>
        </p:spPr>
      </p:sp>
      <p:sp>
        <p:nvSpPr>
          <p:cNvPr id="24" name="Shape 22"/>
          <p:cNvSpPr/>
          <p:nvPr/>
        </p:nvSpPr>
        <p:spPr>
          <a:xfrm>
            <a:off x="6492240" y="3840480"/>
            <a:ext cx="5132527" cy="82296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25" name="Shape 23"/>
          <p:cNvSpPr/>
          <p:nvPr/>
        </p:nvSpPr>
        <p:spPr>
          <a:xfrm>
            <a:off x="6492240" y="3840480"/>
            <a:ext cx="82296" cy="822960"/>
          </a:xfrm>
          <a:prstGeom prst="rect">
            <a:avLst/>
          </a:prstGeom>
          <a:solidFill>
            <a:srgbClr val="F26A4B"/>
          </a:solidFill>
          <a:ln/>
        </p:spPr>
      </p:sp>
      <p:sp>
        <p:nvSpPr>
          <p:cNvPr id="26" name="Text 24"/>
          <p:cNvSpPr/>
          <p:nvPr/>
        </p:nvSpPr>
        <p:spPr>
          <a:xfrm>
            <a:off x="6766560" y="3840480"/>
            <a:ext cx="4766767"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Claude Sonnet 4.5  </a:t>
            </a:r>
            <a:pPr indent="0" marL="0">
              <a:buNone/>
            </a:pPr>
            <a:r>
              <a:rPr lang="en-US" sz="1100" dirty="0">
                <a:solidFill>
                  <a:srgbClr val="93A4BD"/>
                </a:solidFill>
                <a:latin typeface="Calibri" pitchFamily="34" charset="0"/>
                <a:ea typeface="Calibri" pitchFamily="34" charset="-122"/>
                <a:cs typeface="Calibri" pitchFamily="34" charset="-120"/>
              </a:rPr>
              <a:t>· 200K context · temperature 0 · structured output</a:t>
            </a:r>
            <a:endParaRPr lang="en-US" sz="1500" dirty="0"/>
          </a:p>
        </p:txBody>
      </p:sp>
      <p:sp>
        <p:nvSpPr>
          <p:cNvPr id="27" name="Shape 25"/>
          <p:cNvSpPr/>
          <p:nvPr/>
        </p:nvSpPr>
        <p:spPr>
          <a:xfrm>
            <a:off x="9180576" y="4709160"/>
            <a:ext cx="0" cy="256032"/>
          </a:xfrm>
          <a:prstGeom prst="line">
            <a:avLst/>
          </a:prstGeom>
          <a:noFill/>
          <a:ln w="25400">
            <a:solidFill>
              <a:srgbClr val="0F766E"/>
            </a:solidFill>
            <a:prstDash val="solid"/>
            <a:tailEnd type="triangle"/>
          </a:ln>
        </p:spPr>
      </p:sp>
      <p:sp>
        <p:nvSpPr>
          <p:cNvPr id="28" name="Shape 26"/>
          <p:cNvSpPr/>
          <p:nvPr/>
        </p:nvSpPr>
        <p:spPr>
          <a:xfrm>
            <a:off x="6492240" y="4983480"/>
            <a:ext cx="5132527" cy="713232"/>
          </a:xfrm>
          <a:prstGeom prst="roundRect">
            <a:avLst>
              <a:gd name="adj" fmla="val 8974"/>
            </a:avLst>
          </a:prstGeom>
          <a:solidFill>
            <a:srgbClr val="F8FAFC"/>
          </a:solidFill>
          <a:ln/>
          <a:effectLst>
            <a:outerShdw sx="100000" sy="100000" kx="0" ky="0" algn="bl" rotWithShape="0" blurRad="114300" dist="38100" dir="8100000">
              <a:srgbClr val="1E293B">
                <a:alpha val="12000"/>
              </a:srgbClr>
            </a:outerShdw>
          </a:effectLst>
        </p:spPr>
      </p:sp>
      <p:sp>
        <p:nvSpPr>
          <p:cNvPr id="29" name="Text 27"/>
          <p:cNvSpPr/>
          <p:nvPr/>
        </p:nvSpPr>
        <p:spPr>
          <a:xfrm>
            <a:off x="6547104" y="4983480"/>
            <a:ext cx="5022799" cy="713232"/>
          </a:xfrm>
          <a:prstGeom prst="rect">
            <a:avLst/>
          </a:prstGeom>
          <a:noFill/>
          <a:ln/>
        </p:spPr>
        <p:txBody>
          <a:bodyPr wrap="square" lIns="0" tIns="0" rIns="0" bIns="0" rtlCol="0" anchor="ctr"/>
          <a:lstStyle/>
          <a:p>
            <a:pPr algn="ctr" indent="0" marL="0">
              <a:lnSpc>
                <a:spcPts val="1275"/>
              </a:lnSpc>
              <a:buNone/>
            </a:pPr>
            <a:r>
              <a:rPr lang="en-US" sz="1250" b="1" dirty="0">
                <a:solidFill>
                  <a:srgbClr val="0B1B2E"/>
                </a:solidFill>
                <a:latin typeface="Calibri" pitchFamily="34" charset="0"/>
                <a:ea typeface="Calibri" pitchFamily="34" charset="-122"/>
                <a:cs typeface="Calibri" pitchFamily="34" charset="-120"/>
              </a:rPr>
              <a:t>Structured V6 JSON  ·  20 contract sections  ·  Delta-ready</a:t>
            </a:r>
            <a:endParaRPr lang="en-US" sz="1250" dirty="0"/>
          </a:p>
        </p:txBody>
      </p:sp>
      <p:sp>
        <p:nvSpPr>
          <p:cNvPr id="30" name="Text 28"/>
          <p:cNvSpPr/>
          <p:nvPr/>
        </p:nvSpPr>
        <p:spPr>
          <a:xfrm>
            <a:off x="6492240" y="5852160"/>
            <a:ext cx="5132527" cy="457200"/>
          </a:xfrm>
          <a:prstGeom prst="rect">
            <a:avLst/>
          </a:prstGeom>
          <a:noFill/>
          <a:ln/>
        </p:spPr>
        <p:txBody>
          <a:bodyPr wrap="square" lIns="0" tIns="0" rIns="0" bIns="0" rtlCol="0" anchor="ctr"/>
          <a:lstStyle/>
          <a:p>
            <a:pPr indent="0" marL="0">
              <a:lnSpc>
                <a:spcPts val="1400"/>
              </a:lnSpc>
              <a:buNone/>
            </a:pPr>
            <a:r>
              <a:rPr lang="en-US" sz="1050" i="1" dirty="0">
                <a:solidFill>
                  <a:srgbClr val="0F766E"/>
                </a:solidFill>
                <a:latin typeface="Calibri" pitchFamily="34" charset="0"/>
                <a:ea typeface="Calibri" pitchFamily="34" charset="-122"/>
                <a:cs typeface="Calibri" pitchFamily="34" charset="-120"/>
              </a:rPr>
              <a:t>Four specialized prompts means base agreements, amendments, cover memos and settlements are each read on their own terms — sharply improving extraction quality.</a:t>
            </a:r>
            <a:endParaRPr lang="en-US" sz="1050" dirty="0"/>
          </a:p>
        </p:txBody>
      </p:sp>
      <p:sp>
        <p:nvSpPr>
          <p:cNvPr id="31" name="Text 29"/>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32" name="Text 30"/>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B2E"/>
        </a:solidFill>
      </p:bgPr>
    </p:bg>
    <p:spTree>
      <p:nvGrpSpPr>
        <p:cNvPr id="1" name=""/>
        <p:cNvGrpSpPr/>
        <p:nvPr/>
      </p:nvGrpSpPr>
      <p:grpSpPr>
        <a:xfrm>
          <a:off x="0" y="0"/>
          <a:ext cx="0" cy="0"/>
          <a:chOff x="0" y="0"/>
          <a:chExt cx="0" cy="0"/>
        </a:xfrm>
      </p:grpSpPr>
      <p:sp>
        <p:nvSpPr>
          <p:cNvPr id="2" name="Text 0"/>
          <p:cNvSpPr/>
          <p:nvPr/>
        </p:nvSpPr>
        <p:spPr>
          <a:xfrm>
            <a:off x="566928" y="54864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07 · TRUST, VALIDATION &amp; GOVERNANCE</a:t>
            </a:r>
            <a:endParaRPr lang="en-US" sz="1150" dirty="0"/>
          </a:p>
        </p:txBody>
      </p:sp>
      <p:sp>
        <p:nvSpPr>
          <p:cNvPr id="3" name="Text 1"/>
          <p:cNvSpPr/>
          <p:nvPr/>
        </p:nvSpPr>
        <p:spPr>
          <a:xfrm>
            <a:off x="566928" y="914400"/>
            <a:ext cx="7955280" cy="914400"/>
          </a:xfrm>
          <a:prstGeom prst="rect">
            <a:avLst/>
          </a:prstGeom>
          <a:noFill/>
          <a:ln/>
        </p:spPr>
        <p:txBody>
          <a:bodyPr wrap="square" lIns="0" tIns="0" rIns="0" bIns="0" rtlCol="0" anchor="t"/>
          <a:lstStyle/>
          <a:p>
            <a:pPr algn="l" indent="0" marL="0">
              <a:lnSpc>
                <a:spcPts val="3016"/>
              </a:lnSpc>
              <a:buNone/>
            </a:pPr>
            <a:r>
              <a:rPr lang="en-US" sz="2900" b="1" dirty="0">
                <a:solidFill>
                  <a:srgbClr val="FFFFFF"/>
                </a:solidFill>
                <a:latin typeface="Georgia" pitchFamily="34" charset="0"/>
                <a:ea typeface="Georgia" pitchFamily="34" charset="-122"/>
                <a:cs typeface="Georgia" pitchFamily="34" charset="-120"/>
              </a:rPr>
              <a:t>Hallucination risk is actively controlled — by design</a:t>
            </a:r>
            <a:endParaRPr lang="en-US" sz="2900" dirty="0"/>
          </a:p>
        </p:txBody>
      </p:sp>
      <p:sp>
        <p:nvSpPr>
          <p:cNvPr id="4" name="Shape 2"/>
          <p:cNvSpPr/>
          <p:nvPr/>
        </p:nvSpPr>
        <p:spPr>
          <a:xfrm>
            <a:off x="566928" y="2148840"/>
            <a:ext cx="6949440" cy="749808"/>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5" name="Shape 3"/>
          <p:cNvSpPr/>
          <p:nvPr/>
        </p:nvSpPr>
        <p:spPr>
          <a:xfrm>
            <a:off x="566928" y="2148840"/>
            <a:ext cx="82296" cy="749808"/>
          </a:xfrm>
          <a:prstGeom prst="rect">
            <a:avLst/>
          </a:prstGeom>
          <a:solidFill>
            <a:srgbClr val="14B8A6"/>
          </a:solidFill>
          <a:ln/>
        </p:spPr>
      </p:sp>
      <p:sp>
        <p:nvSpPr>
          <p:cNvPr id="6" name="Text 4"/>
          <p:cNvSpPr/>
          <p:nvPr/>
        </p:nvSpPr>
        <p:spPr>
          <a:xfrm>
            <a:off x="841248" y="2148840"/>
            <a:ext cx="1645920" cy="749808"/>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1 · Prevent</a:t>
            </a:r>
            <a:endParaRPr lang="en-US" sz="1300" dirty="0"/>
          </a:p>
        </p:txBody>
      </p:sp>
      <p:sp>
        <p:nvSpPr>
          <p:cNvPr id="7" name="Text 5"/>
          <p:cNvSpPr/>
          <p:nvPr/>
        </p:nvSpPr>
        <p:spPr>
          <a:xfrm>
            <a:off x="2441448" y="2148840"/>
            <a:ext cx="4892040" cy="749808"/>
          </a:xfrm>
          <a:prstGeom prst="rect">
            <a:avLst/>
          </a:prstGeom>
          <a:noFill/>
          <a:ln/>
        </p:spPr>
        <p:txBody>
          <a:bodyPr wrap="square" lIns="0" tIns="0" rIns="0" bIns="0" rtlCol="0" anchor="ctr"/>
          <a:lstStyle/>
          <a:p>
            <a:pPr indent="0" marL="0">
              <a:lnSpc>
                <a:spcPts val="1450"/>
              </a:lnSpc>
              <a:buNone/>
            </a:pPr>
            <a:r>
              <a:rPr lang="en-US" sz="1150" dirty="0">
                <a:solidFill>
                  <a:srgbClr val="FFFFFF"/>
                </a:solidFill>
                <a:latin typeface="Calibri" pitchFamily="34" charset="0"/>
                <a:ea typeface="Calibri" pitchFamily="34" charset="-122"/>
                <a:cs typeface="Calibri" pitchFamily="34" charset="-120"/>
              </a:rPr>
              <a:t>Prompt-level rules: extract only what is explicitly stated; return null when absent.</a:t>
            </a:r>
            <a:endParaRPr lang="en-US" sz="1150" dirty="0"/>
          </a:p>
        </p:txBody>
      </p:sp>
      <p:sp>
        <p:nvSpPr>
          <p:cNvPr id="8" name="Shape 6"/>
          <p:cNvSpPr/>
          <p:nvPr/>
        </p:nvSpPr>
        <p:spPr>
          <a:xfrm>
            <a:off x="566928" y="3026664"/>
            <a:ext cx="6949440" cy="749808"/>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9" name="Shape 7"/>
          <p:cNvSpPr/>
          <p:nvPr/>
        </p:nvSpPr>
        <p:spPr>
          <a:xfrm>
            <a:off x="566928" y="3026664"/>
            <a:ext cx="82296" cy="749808"/>
          </a:xfrm>
          <a:prstGeom prst="rect">
            <a:avLst/>
          </a:prstGeom>
          <a:solidFill>
            <a:srgbClr val="14B8A6"/>
          </a:solidFill>
          <a:ln/>
        </p:spPr>
      </p:sp>
      <p:sp>
        <p:nvSpPr>
          <p:cNvPr id="10" name="Text 8"/>
          <p:cNvSpPr/>
          <p:nvPr/>
        </p:nvSpPr>
        <p:spPr>
          <a:xfrm>
            <a:off x="841248" y="3026664"/>
            <a:ext cx="1645920" cy="749808"/>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2 · Constrain</a:t>
            </a:r>
            <a:endParaRPr lang="en-US" sz="1300" dirty="0"/>
          </a:p>
        </p:txBody>
      </p:sp>
      <p:sp>
        <p:nvSpPr>
          <p:cNvPr id="11" name="Text 9"/>
          <p:cNvSpPr/>
          <p:nvPr/>
        </p:nvSpPr>
        <p:spPr>
          <a:xfrm>
            <a:off x="2441448" y="3026664"/>
            <a:ext cx="4892040" cy="749808"/>
          </a:xfrm>
          <a:prstGeom prst="rect">
            <a:avLst/>
          </a:prstGeom>
          <a:noFill/>
          <a:ln/>
        </p:spPr>
        <p:txBody>
          <a:bodyPr wrap="square" lIns="0" tIns="0" rIns="0" bIns="0" rtlCol="0" anchor="ctr"/>
          <a:lstStyle/>
          <a:p>
            <a:pPr indent="0" marL="0">
              <a:lnSpc>
                <a:spcPts val="1450"/>
              </a:lnSpc>
              <a:buNone/>
            </a:pPr>
            <a:r>
              <a:rPr lang="en-US" sz="1150" dirty="0">
                <a:solidFill>
                  <a:srgbClr val="FFFFFF"/>
                </a:solidFill>
                <a:latin typeface="Calibri" pitchFamily="34" charset="0"/>
                <a:ea typeface="Calibri" pitchFamily="34" charset="-122"/>
                <a:cs typeface="Calibri" pitchFamily="34" charset="-120"/>
              </a:rPr>
              <a:t>Schema-locked output — the model fills a fixed structure, it cannot invent fields.</a:t>
            </a:r>
            <a:endParaRPr lang="en-US" sz="1150" dirty="0"/>
          </a:p>
        </p:txBody>
      </p:sp>
      <p:sp>
        <p:nvSpPr>
          <p:cNvPr id="12" name="Shape 10"/>
          <p:cNvSpPr/>
          <p:nvPr/>
        </p:nvSpPr>
        <p:spPr>
          <a:xfrm>
            <a:off x="566928" y="3904488"/>
            <a:ext cx="6949440" cy="749808"/>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3" name="Shape 11"/>
          <p:cNvSpPr/>
          <p:nvPr/>
        </p:nvSpPr>
        <p:spPr>
          <a:xfrm>
            <a:off x="566928" y="3904488"/>
            <a:ext cx="82296" cy="749808"/>
          </a:xfrm>
          <a:prstGeom prst="rect">
            <a:avLst/>
          </a:prstGeom>
          <a:solidFill>
            <a:srgbClr val="14B8A6"/>
          </a:solidFill>
          <a:ln/>
        </p:spPr>
      </p:sp>
      <p:sp>
        <p:nvSpPr>
          <p:cNvPr id="14" name="Text 12"/>
          <p:cNvSpPr/>
          <p:nvPr/>
        </p:nvSpPr>
        <p:spPr>
          <a:xfrm>
            <a:off x="841248" y="3904488"/>
            <a:ext cx="1645920" cy="749808"/>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3 · Verify</a:t>
            </a:r>
            <a:endParaRPr lang="en-US" sz="1300" dirty="0"/>
          </a:p>
        </p:txBody>
      </p:sp>
      <p:sp>
        <p:nvSpPr>
          <p:cNvPr id="15" name="Text 13"/>
          <p:cNvSpPr/>
          <p:nvPr/>
        </p:nvSpPr>
        <p:spPr>
          <a:xfrm>
            <a:off x="2441448" y="3904488"/>
            <a:ext cx="4892040" cy="749808"/>
          </a:xfrm>
          <a:prstGeom prst="rect">
            <a:avLst/>
          </a:prstGeom>
          <a:noFill/>
          <a:ln/>
        </p:spPr>
        <p:txBody>
          <a:bodyPr wrap="square" lIns="0" tIns="0" rIns="0" bIns="0" rtlCol="0" anchor="ctr"/>
          <a:lstStyle/>
          <a:p>
            <a:pPr indent="0" marL="0">
              <a:lnSpc>
                <a:spcPts val="1450"/>
              </a:lnSpc>
              <a:buNone/>
            </a:pPr>
            <a:r>
              <a:rPr lang="en-US" sz="1150" dirty="0">
                <a:solidFill>
                  <a:srgbClr val="FFFFFF"/>
                </a:solidFill>
                <a:latin typeface="Calibri" pitchFamily="34" charset="0"/>
                <a:ea typeface="Calibri" pitchFamily="34" charset="-122"/>
                <a:cs typeface="Calibri" pitchFamily="34" charset="-120"/>
              </a:rPr>
              <a:t>Deterministic post-checks: dates and rates cross-referenced against source text.</a:t>
            </a:r>
            <a:endParaRPr lang="en-US" sz="1150" dirty="0"/>
          </a:p>
        </p:txBody>
      </p:sp>
      <p:sp>
        <p:nvSpPr>
          <p:cNvPr id="16" name="Shape 14"/>
          <p:cNvSpPr/>
          <p:nvPr/>
        </p:nvSpPr>
        <p:spPr>
          <a:xfrm>
            <a:off x="566928" y="4782312"/>
            <a:ext cx="6949440" cy="749808"/>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7" name="Shape 15"/>
          <p:cNvSpPr/>
          <p:nvPr/>
        </p:nvSpPr>
        <p:spPr>
          <a:xfrm>
            <a:off x="566928" y="4782312"/>
            <a:ext cx="82296" cy="749808"/>
          </a:xfrm>
          <a:prstGeom prst="rect">
            <a:avLst/>
          </a:prstGeom>
          <a:solidFill>
            <a:srgbClr val="14B8A6"/>
          </a:solidFill>
          <a:ln/>
        </p:spPr>
      </p:sp>
      <p:sp>
        <p:nvSpPr>
          <p:cNvPr id="18" name="Text 16"/>
          <p:cNvSpPr/>
          <p:nvPr/>
        </p:nvSpPr>
        <p:spPr>
          <a:xfrm>
            <a:off x="841248" y="4782312"/>
            <a:ext cx="1645920" cy="749808"/>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4 · Audit</a:t>
            </a:r>
            <a:endParaRPr lang="en-US" sz="1300" dirty="0"/>
          </a:p>
        </p:txBody>
      </p:sp>
      <p:sp>
        <p:nvSpPr>
          <p:cNvPr id="19" name="Text 17"/>
          <p:cNvSpPr/>
          <p:nvPr/>
        </p:nvSpPr>
        <p:spPr>
          <a:xfrm>
            <a:off x="2441448" y="4782312"/>
            <a:ext cx="4892040" cy="749808"/>
          </a:xfrm>
          <a:prstGeom prst="rect">
            <a:avLst/>
          </a:prstGeom>
          <a:noFill/>
          <a:ln/>
        </p:spPr>
        <p:txBody>
          <a:bodyPr wrap="square" lIns="0" tIns="0" rIns="0" bIns="0" rtlCol="0" anchor="ctr"/>
          <a:lstStyle/>
          <a:p>
            <a:pPr indent="0" marL="0">
              <a:lnSpc>
                <a:spcPts val="1450"/>
              </a:lnSpc>
              <a:buNone/>
            </a:pPr>
            <a:r>
              <a:rPr lang="en-US" sz="1150" dirty="0">
                <a:solidFill>
                  <a:srgbClr val="FFFFFF"/>
                </a:solidFill>
                <a:latin typeface="Calibri" pitchFamily="34" charset="0"/>
                <a:ea typeface="Calibri" pitchFamily="34" charset="-122"/>
                <a:cs typeface="Calibri" pitchFamily="34" charset="-120"/>
              </a:rPr>
              <a:t>Independent second-pass AI review flags gaps and potential hallucinations.</a:t>
            </a:r>
            <a:endParaRPr lang="en-US" sz="1150" dirty="0"/>
          </a:p>
        </p:txBody>
      </p:sp>
      <p:sp>
        <p:nvSpPr>
          <p:cNvPr id="20" name="Shape 18"/>
          <p:cNvSpPr/>
          <p:nvPr/>
        </p:nvSpPr>
        <p:spPr>
          <a:xfrm>
            <a:off x="566928" y="5660136"/>
            <a:ext cx="6949440" cy="749808"/>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21" name="Shape 19"/>
          <p:cNvSpPr/>
          <p:nvPr/>
        </p:nvSpPr>
        <p:spPr>
          <a:xfrm>
            <a:off x="566928" y="5660136"/>
            <a:ext cx="82296" cy="749808"/>
          </a:xfrm>
          <a:prstGeom prst="rect">
            <a:avLst/>
          </a:prstGeom>
          <a:solidFill>
            <a:srgbClr val="F26A4B"/>
          </a:solidFill>
          <a:ln/>
        </p:spPr>
      </p:sp>
      <p:sp>
        <p:nvSpPr>
          <p:cNvPr id="22" name="Text 20"/>
          <p:cNvSpPr/>
          <p:nvPr/>
        </p:nvSpPr>
        <p:spPr>
          <a:xfrm>
            <a:off x="841248" y="5660136"/>
            <a:ext cx="1645920" cy="749808"/>
          </a:xfrm>
          <a:prstGeom prst="rect">
            <a:avLst/>
          </a:prstGeom>
          <a:noFill/>
          <a:ln/>
        </p:spPr>
        <p:txBody>
          <a:bodyPr wrap="square" lIns="0" tIns="0" rIns="0" bIns="0" rtlCol="0" anchor="ctr"/>
          <a:lstStyle/>
          <a:p>
            <a:pPr indent="0" marL="0">
              <a:buNone/>
            </a:pPr>
            <a:r>
              <a:rPr lang="en-US" sz="1300" b="1" dirty="0">
                <a:solidFill>
                  <a:srgbClr val="F26A4B"/>
                </a:solidFill>
                <a:latin typeface="Calibri" pitchFamily="34" charset="0"/>
                <a:ea typeface="Calibri" pitchFamily="34" charset="-122"/>
                <a:cs typeface="Calibri" pitchFamily="34" charset="-120"/>
              </a:rPr>
              <a:t>5 · Ground</a:t>
            </a:r>
            <a:endParaRPr lang="en-US" sz="1300" dirty="0"/>
          </a:p>
        </p:txBody>
      </p:sp>
      <p:sp>
        <p:nvSpPr>
          <p:cNvPr id="23" name="Text 21"/>
          <p:cNvSpPr/>
          <p:nvPr/>
        </p:nvSpPr>
        <p:spPr>
          <a:xfrm>
            <a:off x="2441448" y="5660136"/>
            <a:ext cx="4892040" cy="749808"/>
          </a:xfrm>
          <a:prstGeom prst="rect">
            <a:avLst/>
          </a:prstGeom>
          <a:noFill/>
          <a:ln/>
        </p:spPr>
        <p:txBody>
          <a:bodyPr wrap="square" lIns="0" tIns="0" rIns="0" bIns="0" rtlCol="0" anchor="ctr"/>
          <a:lstStyle/>
          <a:p>
            <a:pPr indent="0" marL="0">
              <a:lnSpc>
                <a:spcPts val="1450"/>
              </a:lnSpc>
              <a:buNone/>
            </a:pPr>
            <a:r>
              <a:rPr lang="en-US" sz="1150" dirty="0">
                <a:solidFill>
                  <a:srgbClr val="FFFFFF"/>
                </a:solidFill>
                <a:latin typeface="Calibri" pitchFamily="34" charset="0"/>
                <a:ea typeface="Calibri" pitchFamily="34" charset="-122"/>
                <a:cs typeface="Calibri" pitchFamily="34" charset="-120"/>
              </a:rPr>
              <a:t>At query time, answers are tied to cited passages — and refuse when evidence is thin.</a:t>
            </a:r>
            <a:endParaRPr lang="en-US" sz="1150" dirty="0"/>
          </a:p>
        </p:txBody>
      </p:sp>
      <p:sp>
        <p:nvSpPr>
          <p:cNvPr id="24" name="Shape 22"/>
          <p:cNvSpPr/>
          <p:nvPr/>
        </p:nvSpPr>
        <p:spPr>
          <a:xfrm>
            <a:off x="7818120" y="2148840"/>
            <a:ext cx="3806647" cy="4261104"/>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25" name="Shape 23"/>
          <p:cNvSpPr/>
          <p:nvPr/>
        </p:nvSpPr>
        <p:spPr>
          <a:xfrm>
            <a:off x="7818120" y="2148840"/>
            <a:ext cx="3806647" cy="82296"/>
          </a:xfrm>
          <a:prstGeom prst="rect">
            <a:avLst/>
          </a:prstGeom>
          <a:solidFill>
            <a:srgbClr val="F26A4B"/>
          </a:solidFill>
          <a:ln/>
        </p:spPr>
      </p:sp>
      <p:sp>
        <p:nvSpPr>
          <p:cNvPr id="26" name="Text 24"/>
          <p:cNvSpPr/>
          <p:nvPr/>
        </p:nvSpPr>
        <p:spPr>
          <a:xfrm>
            <a:off x="8092440" y="2377440"/>
            <a:ext cx="3258007" cy="274320"/>
          </a:xfrm>
          <a:prstGeom prst="rect">
            <a:avLst/>
          </a:prstGeom>
          <a:noFill/>
          <a:ln/>
        </p:spPr>
        <p:txBody>
          <a:bodyPr wrap="square" lIns="0" tIns="0" rIns="0" bIns="0" rtlCol="0" anchor="ctr"/>
          <a:lstStyle/>
          <a:p>
            <a:pPr indent="0" marL="0">
              <a:buNone/>
            </a:pPr>
            <a:r>
              <a:rPr lang="en-US" sz="1050" b="1" spc="200" kern="0" dirty="0">
                <a:solidFill>
                  <a:srgbClr val="F26A4B"/>
                </a:solidFill>
                <a:latin typeface="Calibri" pitchFamily="34" charset="0"/>
                <a:ea typeface="Calibri" pitchFamily="34" charset="-122"/>
                <a:cs typeface="Calibri" pitchFamily="34" charset="-120"/>
              </a:rPr>
              <a:t>DEFENSE IN DEPTH</a:t>
            </a:r>
            <a:endParaRPr lang="en-US" sz="1050" dirty="0"/>
          </a:p>
        </p:txBody>
      </p:sp>
      <p:sp>
        <p:nvSpPr>
          <p:cNvPr id="27" name="Text 25"/>
          <p:cNvSpPr/>
          <p:nvPr/>
        </p:nvSpPr>
        <p:spPr>
          <a:xfrm>
            <a:off x="8092440" y="2697480"/>
            <a:ext cx="3258007" cy="1280160"/>
          </a:xfrm>
          <a:prstGeom prst="rect">
            <a:avLst/>
          </a:prstGeom>
          <a:noFill/>
          <a:ln/>
        </p:spPr>
        <p:txBody>
          <a:bodyPr wrap="square" lIns="0" tIns="0" rIns="0" bIns="0" rtlCol="0" anchor="t"/>
          <a:lstStyle/>
          <a:p>
            <a:pPr indent="0" marL="0">
              <a:lnSpc>
                <a:spcPts val="1900"/>
              </a:lnSpc>
              <a:buNone/>
            </a:pPr>
            <a:r>
              <a:rPr lang="en-US" sz="1350" b="1" dirty="0">
                <a:solidFill>
                  <a:srgbClr val="FFFFFF"/>
                </a:solidFill>
                <a:latin typeface="Calibri" pitchFamily="34" charset="0"/>
                <a:ea typeface="Calibri" pitchFamily="34" charset="-122"/>
                <a:cs typeface="Calibri" pitchFamily="34" charset="-120"/>
              </a:rPr>
              <a:t>We never claim hallucinations are eliminated.</a:t>
            </a:r>
            <a:endParaRPr lang="en-US" sz="1350" dirty="0"/>
          </a:p>
          <a:p>
            <a:pPr indent="0" marL="0">
              <a:lnSpc>
                <a:spcPts val="1900"/>
              </a:lnSpc>
              <a:buNone/>
            </a:pPr>
            <a:r>
              <a:rPr lang="en-US" sz="1350" dirty="0">
                <a:solidFill>
                  <a:srgbClr val="93A4BD"/>
                </a:solidFill>
                <a:latin typeface="Calibri" pitchFamily="34" charset="0"/>
                <a:ea typeface="Calibri" pitchFamily="34" charset="-122"/>
                <a:cs typeface="Calibri" pitchFamily="34" charset="-120"/>
              </a:rPr>
              <a:t>We claim something stronger and honest: </a:t>
            </a:r>
            <a:pPr indent="0" marL="0">
              <a:lnSpc>
                <a:spcPts val="1900"/>
              </a:lnSpc>
              <a:buNone/>
            </a:pPr>
            <a:r>
              <a:rPr lang="en-US" sz="1350" b="1" dirty="0">
                <a:solidFill>
                  <a:srgbClr val="5EEAD4"/>
                </a:solidFill>
                <a:latin typeface="Calibri" pitchFamily="34" charset="0"/>
                <a:ea typeface="Calibri" pitchFamily="34" charset="-122"/>
                <a:cs typeface="Calibri" pitchFamily="34" charset="-120"/>
              </a:rPr>
              <a:t>risk is layered, measured, and controlled.</a:t>
            </a:r>
            <a:endParaRPr lang="en-US" sz="1350" dirty="0"/>
          </a:p>
        </p:txBody>
      </p:sp>
      <p:sp>
        <p:nvSpPr>
          <p:cNvPr id="28" name="Text 26"/>
          <p:cNvSpPr/>
          <p:nvPr/>
        </p:nvSpPr>
        <p:spPr>
          <a:xfrm>
            <a:off x="8092440" y="4069080"/>
            <a:ext cx="3258007" cy="365760"/>
          </a:xfrm>
          <a:prstGeom prst="rect">
            <a:avLst/>
          </a:prstGeom>
          <a:noFill/>
          <a:ln/>
        </p:spPr>
        <p:txBody>
          <a:bodyPr wrap="square" lIns="0" tIns="0" rIns="0" bIns="0" rtlCol="0" anchor="ctr"/>
          <a:lstStyle/>
          <a:p>
            <a:pPr indent="0" marL="0">
              <a:buNone/>
            </a:pPr>
            <a:r>
              <a:rPr lang="en-US" sz="1800" b="1" dirty="0">
                <a:solidFill>
                  <a:srgbClr val="5EEAD4"/>
                </a:solidFill>
                <a:latin typeface="Georgia" pitchFamily="34" charset="0"/>
                <a:ea typeface="Georgia" pitchFamily="34" charset="-122"/>
                <a:cs typeface="Georgia" pitchFamily="34" charset="-120"/>
              </a:rPr>
              <a:t>99.7%</a:t>
            </a:r>
            <a:endParaRPr lang="en-US" sz="1800" dirty="0"/>
          </a:p>
        </p:txBody>
      </p:sp>
      <p:sp>
        <p:nvSpPr>
          <p:cNvPr id="29" name="Text 27"/>
          <p:cNvSpPr/>
          <p:nvPr/>
        </p:nvSpPr>
        <p:spPr>
          <a:xfrm>
            <a:off x="8092440" y="4434840"/>
            <a:ext cx="3258007" cy="274320"/>
          </a:xfrm>
          <a:prstGeom prst="rect">
            <a:avLst/>
          </a:prstGeom>
          <a:noFill/>
          <a:ln/>
        </p:spPr>
        <p:txBody>
          <a:bodyPr wrap="square" lIns="0" tIns="0" rIns="0" bIns="0" rtlCol="0" anchor="ctr"/>
          <a:lstStyle/>
          <a:p>
            <a:pPr indent="0" marL="0">
              <a:buNone/>
            </a:pPr>
            <a:r>
              <a:rPr lang="en-US" sz="1050" dirty="0">
                <a:solidFill>
                  <a:srgbClr val="93A4BD"/>
                </a:solidFill>
                <a:latin typeface="Calibri" pitchFamily="34" charset="0"/>
                <a:ea typeface="Calibri" pitchFamily="34" charset="-122"/>
                <a:cs typeface="Calibri" pitchFamily="34" charset="-120"/>
              </a:rPr>
              <a:t>Extracted dates verified to source</a:t>
            </a:r>
            <a:endParaRPr lang="en-US" sz="1050" dirty="0"/>
          </a:p>
        </p:txBody>
      </p:sp>
      <p:sp>
        <p:nvSpPr>
          <p:cNvPr id="30" name="Text 28"/>
          <p:cNvSpPr/>
          <p:nvPr/>
        </p:nvSpPr>
        <p:spPr>
          <a:xfrm>
            <a:off x="8092440" y="4828032"/>
            <a:ext cx="3258007" cy="365760"/>
          </a:xfrm>
          <a:prstGeom prst="rect">
            <a:avLst/>
          </a:prstGeom>
          <a:noFill/>
          <a:ln/>
        </p:spPr>
        <p:txBody>
          <a:bodyPr wrap="square" lIns="0" tIns="0" rIns="0" bIns="0" rtlCol="0" anchor="ctr"/>
          <a:lstStyle/>
          <a:p>
            <a:pPr indent="0" marL="0">
              <a:buNone/>
            </a:pPr>
            <a:r>
              <a:rPr lang="en-US" sz="1800" b="1" dirty="0">
                <a:solidFill>
                  <a:srgbClr val="5EEAD4"/>
                </a:solidFill>
                <a:latin typeface="Georgia" pitchFamily="34" charset="0"/>
                <a:ea typeface="Georgia" pitchFamily="34" charset="-122"/>
                <a:cs typeface="Georgia" pitchFamily="34" charset="-120"/>
              </a:rPr>
              <a:t>OCR-aware</a:t>
            </a:r>
            <a:endParaRPr lang="en-US" sz="1800" dirty="0"/>
          </a:p>
        </p:txBody>
      </p:sp>
      <p:sp>
        <p:nvSpPr>
          <p:cNvPr id="31" name="Text 29"/>
          <p:cNvSpPr/>
          <p:nvPr/>
        </p:nvSpPr>
        <p:spPr>
          <a:xfrm>
            <a:off x="8092440" y="5193792"/>
            <a:ext cx="3258007" cy="274320"/>
          </a:xfrm>
          <a:prstGeom prst="rect">
            <a:avLst/>
          </a:prstGeom>
          <a:noFill/>
          <a:ln/>
        </p:spPr>
        <p:txBody>
          <a:bodyPr wrap="square" lIns="0" tIns="0" rIns="0" bIns="0" rtlCol="0" anchor="ctr"/>
          <a:lstStyle/>
          <a:p>
            <a:pPr indent="0" marL="0">
              <a:buNone/>
            </a:pPr>
            <a:r>
              <a:rPr lang="en-US" sz="1050" dirty="0">
                <a:solidFill>
                  <a:srgbClr val="93A4BD"/>
                </a:solidFill>
                <a:latin typeface="Calibri" pitchFamily="34" charset="0"/>
                <a:ea typeface="Calibri" pitchFamily="34" charset="-122"/>
                <a:cs typeface="Calibri" pitchFamily="34" charset="-120"/>
              </a:rPr>
              <a:t>Every rate matched against the PDF</a:t>
            </a:r>
            <a:endParaRPr lang="en-US" sz="1050" dirty="0"/>
          </a:p>
        </p:txBody>
      </p:sp>
      <p:sp>
        <p:nvSpPr>
          <p:cNvPr id="32" name="Text 30"/>
          <p:cNvSpPr/>
          <p:nvPr/>
        </p:nvSpPr>
        <p:spPr>
          <a:xfrm>
            <a:off x="8092440" y="5586984"/>
            <a:ext cx="3258007" cy="365760"/>
          </a:xfrm>
          <a:prstGeom prst="rect">
            <a:avLst/>
          </a:prstGeom>
          <a:noFill/>
          <a:ln/>
        </p:spPr>
        <p:txBody>
          <a:bodyPr wrap="square" lIns="0" tIns="0" rIns="0" bIns="0" rtlCol="0" anchor="ctr"/>
          <a:lstStyle/>
          <a:p>
            <a:pPr indent="0" marL="0">
              <a:buNone/>
            </a:pPr>
            <a:r>
              <a:rPr lang="en-US" sz="1800" b="1" dirty="0">
                <a:solidFill>
                  <a:srgbClr val="5EEAD4"/>
                </a:solidFill>
                <a:latin typeface="Georgia" pitchFamily="34" charset="0"/>
                <a:ea typeface="Georgia" pitchFamily="34" charset="-122"/>
                <a:cs typeface="Georgia" pitchFamily="34" charset="-120"/>
              </a:rPr>
              <a:t>Refuse</a:t>
            </a:r>
            <a:endParaRPr lang="en-US" sz="1800" dirty="0"/>
          </a:p>
        </p:txBody>
      </p:sp>
      <p:sp>
        <p:nvSpPr>
          <p:cNvPr id="33" name="Text 31"/>
          <p:cNvSpPr/>
          <p:nvPr/>
        </p:nvSpPr>
        <p:spPr>
          <a:xfrm>
            <a:off x="8092440" y="5952744"/>
            <a:ext cx="3258007" cy="274320"/>
          </a:xfrm>
          <a:prstGeom prst="rect">
            <a:avLst/>
          </a:prstGeom>
          <a:noFill/>
          <a:ln/>
        </p:spPr>
        <p:txBody>
          <a:bodyPr wrap="square" lIns="0" tIns="0" rIns="0" bIns="0" rtlCol="0" anchor="ctr"/>
          <a:lstStyle/>
          <a:p>
            <a:pPr indent="0" marL="0">
              <a:buNone/>
            </a:pPr>
            <a:r>
              <a:rPr lang="en-US" sz="1050" dirty="0">
                <a:solidFill>
                  <a:srgbClr val="93A4BD"/>
                </a:solidFill>
                <a:latin typeface="Calibri" pitchFamily="34" charset="0"/>
                <a:ea typeface="Calibri" pitchFamily="34" charset="-122"/>
                <a:cs typeface="Calibri" pitchFamily="34" charset="-120"/>
              </a:rPr>
              <a:t>Low-evidence questions decline, not guess</a:t>
            </a:r>
            <a:endParaRPr lang="en-US" sz="1050" dirty="0"/>
          </a:p>
        </p:txBody>
      </p:sp>
      <p:sp>
        <p:nvSpPr>
          <p:cNvPr id="34" name="Text 32"/>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93A4BD"/>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93A4BD"/>
                </a:solidFill>
                <a:latin typeface="Calibri" pitchFamily="34" charset="0"/>
                <a:ea typeface="Calibri" pitchFamily="34" charset="-122"/>
                <a:cs typeface="Calibri" pitchFamily="34" charset="-120"/>
              </a:rPr>
              <a:t>   ·   Confidential — Internal</a:t>
            </a:r>
            <a:endParaRPr lang="en-US" sz="800" dirty="0"/>
          </a:p>
        </p:txBody>
      </p:sp>
      <p:sp>
        <p:nvSpPr>
          <p:cNvPr id="35" name="Text 33"/>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93A4B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07 · THE VALIDATION FABRIC</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Trust is engineered into every record</a:t>
            </a:r>
            <a:endParaRPr lang="en-US" sz="2900" dirty="0"/>
          </a:p>
        </p:txBody>
      </p:sp>
      <p:sp>
        <p:nvSpPr>
          <p:cNvPr id="4" name="Shape 2"/>
          <p:cNvSpPr/>
          <p:nvPr/>
        </p:nvSpPr>
        <p:spPr>
          <a:xfrm>
            <a:off x="566928" y="1828800"/>
            <a:ext cx="3503066" cy="120700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5" name="Shape 3"/>
          <p:cNvSpPr/>
          <p:nvPr/>
        </p:nvSpPr>
        <p:spPr>
          <a:xfrm>
            <a:off x="566928" y="1828800"/>
            <a:ext cx="82296" cy="1207008"/>
          </a:xfrm>
          <a:prstGeom prst="rect">
            <a:avLst/>
          </a:prstGeom>
          <a:solidFill>
            <a:srgbClr val="14B8A6"/>
          </a:solidFill>
          <a:ln/>
        </p:spPr>
      </p:sp>
      <p:sp>
        <p:nvSpPr>
          <p:cNvPr id="6" name="Shape 4"/>
          <p:cNvSpPr/>
          <p:nvPr/>
        </p:nvSpPr>
        <p:spPr>
          <a:xfrm>
            <a:off x="795528" y="2029968"/>
            <a:ext cx="365760" cy="365760"/>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7" name="Text 5"/>
          <p:cNvSpPr/>
          <p:nvPr/>
        </p:nvSpPr>
        <p:spPr>
          <a:xfrm>
            <a:off x="795528"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80160" y="2011680"/>
            <a:ext cx="2588666" cy="411480"/>
          </a:xfrm>
          <a:prstGeom prst="rect">
            <a:avLst/>
          </a:prstGeom>
          <a:noFill/>
          <a:ln/>
        </p:spPr>
        <p:txBody>
          <a:bodyPr wrap="square" lIns="0" tIns="0" rIns="0" bIns="0" rtlCol="0" anchor="ctr"/>
          <a:lstStyle/>
          <a:p>
            <a:pPr indent="0" marL="0">
              <a:lnSpc>
                <a:spcPts val="1400"/>
              </a:lnSpc>
              <a:buNone/>
            </a:pPr>
            <a:r>
              <a:rPr lang="en-US" sz="1300" b="1" dirty="0">
                <a:solidFill>
                  <a:srgbClr val="0B1B2E"/>
                </a:solidFill>
                <a:latin typeface="Calibri" pitchFamily="34" charset="0"/>
                <a:ea typeface="Calibri" pitchFamily="34" charset="-122"/>
                <a:cs typeface="Calibri" pitchFamily="34" charset="-120"/>
              </a:rPr>
              <a:t>Deterministic checks</a:t>
            </a:r>
            <a:endParaRPr lang="en-US" sz="1300" dirty="0"/>
          </a:p>
        </p:txBody>
      </p:sp>
      <p:sp>
        <p:nvSpPr>
          <p:cNvPr id="9" name="Text 7"/>
          <p:cNvSpPr/>
          <p:nvPr/>
        </p:nvSpPr>
        <p:spPr>
          <a:xfrm>
            <a:off x="822960" y="2487168"/>
            <a:ext cx="3045866" cy="475488"/>
          </a:xfrm>
          <a:prstGeom prst="rect">
            <a:avLst/>
          </a:prstGeom>
          <a:noFill/>
          <a:ln/>
        </p:spPr>
        <p:txBody>
          <a:bodyPr wrap="square" lIns="0" tIns="0" rIns="0" bIns="0" rtlCol="0" anchor="t"/>
          <a:lstStyle/>
          <a:p>
            <a:pPr indent="0" marL="0">
              <a:lnSpc>
                <a:spcPts val="1400"/>
              </a:lnSpc>
              <a:buNone/>
            </a:pPr>
            <a:r>
              <a:rPr lang="en-US" sz="1050" dirty="0">
                <a:solidFill>
                  <a:srgbClr val="33415A"/>
                </a:solidFill>
                <a:latin typeface="Calibri" pitchFamily="34" charset="0"/>
                <a:ea typeface="Calibri" pitchFamily="34" charset="-122"/>
                <a:cs typeface="Calibri" pitchFamily="34" charset="-120"/>
              </a:rPr>
              <a:t>Dates, rates and codes validated by rule, not opinion.</a:t>
            </a:r>
            <a:endParaRPr lang="en-US" sz="1050" dirty="0"/>
          </a:p>
        </p:txBody>
      </p:sp>
      <p:sp>
        <p:nvSpPr>
          <p:cNvPr id="10" name="Shape 8"/>
          <p:cNvSpPr/>
          <p:nvPr/>
        </p:nvSpPr>
        <p:spPr>
          <a:xfrm>
            <a:off x="4344314" y="1828800"/>
            <a:ext cx="3503066" cy="120700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11" name="Shape 9"/>
          <p:cNvSpPr/>
          <p:nvPr/>
        </p:nvSpPr>
        <p:spPr>
          <a:xfrm>
            <a:off x="4344314" y="1828800"/>
            <a:ext cx="82296" cy="1207008"/>
          </a:xfrm>
          <a:prstGeom prst="rect">
            <a:avLst/>
          </a:prstGeom>
          <a:solidFill>
            <a:srgbClr val="14B8A6"/>
          </a:solidFill>
          <a:ln/>
        </p:spPr>
      </p:sp>
      <p:sp>
        <p:nvSpPr>
          <p:cNvPr id="12" name="Shape 10"/>
          <p:cNvSpPr/>
          <p:nvPr/>
        </p:nvSpPr>
        <p:spPr>
          <a:xfrm>
            <a:off x="4572914" y="2029968"/>
            <a:ext cx="365760" cy="365760"/>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13" name="Text 11"/>
          <p:cNvSpPr/>
          <p:nvPr/>
        </p:nvSpPr>
        <p:spPr>
          <a:xfrm>
            <a:off x="4572914"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57546" y="2011680"/>
            <a:ext cx="2588666" cy="411480"/>
          </a:xfrm>
          <a:prstGeom prst="rect">
            <a:avLst/>
          </a:prstGeom>
          <a:noFill/>
          <a:ln/>
        </p:spPr>
        <p:txBody>
          <a:bodyPr wrap="square" lIns="0" tIns="0" rIns="0" bIns="0" rtlCol="0" anchor="ctr"/>
          <a:lstStyle/>
          <a:p>
            <a:pPr indent="0" marL="0">
              <a:lnSpc>
                <a:spcPts val="1400"/>
              </a:lnSpc>
              <a:buNone/>
            </a:pPr>
            <a:r>
              <a:rPr lang="en-US" sz="1300" b="1" dirty="0">
                <a:solidFill>
                  <a:srgbClr val="0B1B2E"/>
                </a:solidFill>
                <a:latin typeface="Calibri" pitchFamily="34" charset="0"/>
                <a:ea typeface="Calibri" pitchFamily="34" charset="-122"/>
                <a:cs typeface="Calibri" pitchFamily="34" charset="-120"/>
              </a:rPr>
              <a:t>Hallucination detection</a:t>
            </a:r>
            <a:endParaRPr lang="en-US" sz="1300" dirty="0"/>
          </a:p>
        </p:txBody>
      </p:sp>
      <p:sp>
        <p:nvSpPr>
          <p:cNvPr id="15" name="Text 13"/>
          <p:cNvSpPr/>
          <p:nvPr/>
        </p:nvSpPr>
        <p:spPr>
          <a:xfrm>
            <a:off x="4600346" y="2487168"/>
            <a:ext cx="3045866" cy="475488"/>
          </a:xfrm>
          <a:prstGeom prst="rect">
            <a:avLst/>
          </a:prstGeom>
          <a:noFill/>
          <a:ln/>
        </p:spPr>
        <p:txBody>
          <a:bodyPr wrap="square" lIns="0" tIns="0" rIns="0" bIns="0" rtlCol="0" anchor="t"/>
          <a:lstStyle/>
          <a:p>
            <a:pPr indent="0" marL="0">
              <a:lnSpc>
                <a:spcPts val="1400"/>
              </a:lnSpc>
              <a:buNone/>
            </a:pPr>
            <a:r>
              <a:rPr lang="en-US" sz="1050" dirty="0">
                <a:solidFill>
                  <a:srgbClr val="33415A"/>
                </a:solidFill>
                <a:latin typeface="Calibri" pitchFamily="34" charset="0"/>
                <a:ea typeface="Calibri" pitchFamily="34" charset="-122"/>
                <a:cs typeface="Calibri" pitchFamily="34" charset="-120"/>
              </a:rPr>
              <a:t>Values absent from source text are flagged, never served silently.</a:t>
            </a:r>
            <a:endParaRPr lang="en-US" sz="1050" dirty="0"/>
          </a:p>
        </p:txBody>
      </p:sp>
      <p:sp>
        <p:nvSpPr>
          <p:cNvPr id="16" name="Shape 14"/>
          <p:cNvSpPr/>
          <p:nvPr/>
        </p:nvSpPr>
        <p:spPr>
          <a:xfrm>
            <a:off x="8121701" y="1828800"/>
            <a:ext cx="3503066" cy="120700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17" name="Shape 15"/>
          <p:cNvSpPr/>
          <p:nvPr/>
        </p:nvSpPr>
        <p:spPr>
          <a:xfrm>
            <a:off x="8121701" y="1828800"/>
            <a:ext cx="82296" cy="1207008"/>
          </a:xfrm>
          <a:prstGeom prst="rect">
            <a:avLst/>
          </a:prstGeom>
          <a:solidFill>
            <a:srgbClr val="14B8A6"/>
          </a:solidFill>
          <a:ln/>
        </p:spPr>
      </p:sp>
      <p:sp>
        <p:nvSpPr>
          <p:cNvPr id="18" name="Shape 16"/>
          <p:cNvSpPr/>
          <p:nvPr/>
        </p:nvSpPr>
        <p:spPr>
          <a:xfrm>
            <a:off x="8350301" y="2029968"/>
            <a:ext cx="365760" cy="365760"/>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19" name="Text 17"/>
          <p:cNvSpPr/>
          <p:nvPr/>
        </p:nvSpPr>
        <p:spPr>
          <a:xfrm>
            <a:off x="8350301"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8834933" y="2011680"/>
            <a:ext cx="2588666" cy="411480"/>
          </a:xfrm>
          <a:prstGeom prst="rect">
            <a:avLst/>
          </a:prstGeom>
          <a:noFill/>
          <a:ln/>
        </p:spPr>
        <p:txBody>
          <a:bodyPr wrap="square" lIns="0" tIns="0" rIns="0" bIns="0" rtlCol="0" anchor="ctr"/>
          <a:lstStyle/>
          <a:p>
            <a:pPr indent="0" marL="0">
              <a:lnSpc>
                <a:spcPts val="1400"/>
              </a:lnSpc>
              <a:buNone/>
            </a:pPr>
            <a:r>
              <a:rPr lang="en-US" sz="1300" b="1" dirty="0">
                <a:solidFill>
                  <a:srgbClr val="0B1B2E"/>
                </a:solidFill>
                <a:latin typeface="Calibri" pitchFamily="34" charset="0"/>
                <a:ea typeface="Calibri" pitchFamily="34" charset="-122"/>
                <a:cs typeface="Calibri" pitchFamily="34" charset="-120"/>
              </a:rPr>
              <a:t>Schema validation</a:t>
            </a:r>
            <a:endParaRPr lang="en-US" sz="1300" dirty="0"/>
          </a:p>
        </p:txBody>
      </p:sp>
      <p:sp>
        <p:nvSpPr>
          <p:cNvPr id="21" name="Text 19"/>
          <p:cNvSpPr/>
          <p:nvPr/>
        </p:nvSpPr>
        <p:spPr>
          <a:xfrm>
            <a:off x="8377733" y="2487168"/>
            <a:ext cx="3045866" cy="475488"/>
          </a:xfrm>
          <a:prstGeom prst="rect">
            <a:avLst/>
          </a:prstGeom>
          <a:noFill/>
          <a:ln/>
        </p:spPr>
        <p:txBody>
          <a:bodyPr wrap="square" lIns="0" tIns="0" rIns="0" bIns="0" rtlCol="0" anchor="t"/>
          <a:lstStyle/>
          <a:p>
            <a:pPr indent="0" marL="0">
              <a:lnSpc>
                <a:spcPts val="1400"/>
              </a:lnSpc>
              <a:buNone/>
            </a:pPr>
            <a:r>
              <a:rPr lang="en-US" sz="1050" dirty="0">
                <a:solidFill>
                  <a:srgbClr val="33415A"/>
                </a:solidFill>
                <a:latin typeface="Calibri" pitchFamily="34" charset="0"/>
                <a:ea typeface="Calibri" pitchFamily="34" charset="-122"/>
                <a:cs typeface="Calibri" pitchFamily="34" charset="-120"/>
              </a:rPr>
              <a:t>Conformance to the structured contract schema is enforced.</a:t>
            </a:r>
            <a:endParaRPr lang="en-US" sz="1050" dirty="0"/>
          </a:p>
        </p:txBody>
      </p:sp>
      <p:sp>
        <p:nvSpPr>
          <p:cNvPr id="22" name="Shape 20"/>
          <p:cNvSpPr/>
          <p:nvPr/>
        </p:nvSpPr>
        <p:spPr>
          <a:xfrm>
            <a:off x="566928" y="3264408"/>
            <a:ext cx="3503066" cy="120700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3" name="Shape 21"/>
          <p:cNvSpPr/>
          <p:nvPr/>
        </p:nvSpPr>
        <p:spPr>
          <a:xfrm>
            <a:off x="566928" y="3264408"/>
            <a:ext cx="82296" cy="1207008"/>
          </a:xfrm>
          <a:prstGeom prst="rect">
            <a:avLst/>
          </a:prstGeom>
          <a:solidFill>
            <a:srgbClr val="14B8A6"/>
          </a:solidFill>
          <a:ln/>
        </p:spPr>
      </p:sp>
      <p:sp>
        <p:nvSpPr>
          <p:cNvPr id="24" name="Shape 22"/>
          <p:cNvSpPr/>
          <p:nvPr/>
        </p:nvSpPr>
        <p:spPr>
          <a:xfrm>
            <a:off x="795528" y="3465576"/>
            <a:ext cx="365760" cy="365760"/>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25" name="Text 23"/>
          <p:cNvSpPr/>
          <p:nvPr/>
        </p:nvSpPr>
        <p:spPr>
          <a:xfrm>
            <a:off x="795528" y="3465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1280160" y="3447288"/>
            <a:ext cx="2588666" cy="411480"/>
          </a:xfrm>
          <a:prstGeom prst="rect">
            <a:avLst/>
          </a:prstGeom>
          <a:noFill/>
          <a:ln/>
        </p:spPr>
        <p:txBody>
          <a:bodyPr wrap="square" lIns="0" tIns="0" rIns="0" bIns="0" rtlCol="0" anchor="ctr"/>
          <a:lstStyle/>
          <a:p>
            <a:pPr indent="0" marL="0">
              <a:lnSpc>
                <a:spcPts val="1400"/>
              </a:lnSpc>
              <a:buNone/>
            </a:pPr>
            <a:r>
              <a:rPr lang="en-US" sz="1300" b="1" dirty="0">
                <a:solidFill>
                  <a:srgbClr val="0B1B2E"/>
                </a:solidFill>
                <a:latin typeface="Calibri" pitchFamily="34" charset="0"/>
                <a:ea typeface="Calibri" pitchFamily="34" charset="-122"/>
                <a:cs typeface="Calibri" pitchFamily="34" charset="-120"/>
              </a:rPr>
              <a:t>Confidence scoring</a:t>
            </a:r>
            <a:endParaRPr lang="en-US" sz="1300" dirty="0"/>
          </a:p>
        </p:txBody>
      </p:sp>
      <p:sp>
        <p:nvSpPr>
          <p:cNvPr id="27" name="Text 25"/>
          <p:cNvSpPr/>
          <p:nvPr/>
        </p:nvSpPr>
        <p:spPr>
          <a:xfrm>
            <a:off x="822960" y="3922776"/>
            <a:ext cx="3045866" cy="475488"/>
          </a:xfrm>
          <a:prstGeom prst="rect">
            <a:avLst/>
          </a:prstGeom>
          <a:noFill/>
          <a:ln/>
        </p:spPr>
        <p:txBody>
          <a:bodyPr wrap="square" lIns="0" tIns="0" rIns="0" bIns="0" rtlCol="0" anchor="t"/>
          <a:lstStyle/>
          <a:p>
            <a:pPr indent="0" marL="0">
              <a:lnSpc>
                <a:spcPts val="1400"/>
              </a:lnSpc>
              <a:buNone/>
            </a:pPr>
            <a:r>
              <a:rPr lang="en-US" sz="1050" dirty="0">
                <a:solidFill>
                  <a:srgbClr val="33415A"/>
                </a:solidFill>
                <a:latin typeface="Calibri" pitchFamily="34" charset="0"/>
                <a:ea typeface="Calibri" pitchFamily="34" charset="-122"/>
                <a:cs typeface="Calibri" pitchFamily="34" charset="-120"/>
              </a:rPr>
              <a:t>Each extraction carries a completeness / quality signal.</a:t>
            </a:r>
            <a:endParaRPr lang="en-US" sz="1050" dirty="0"/>
          </a:p>
        </p:txBody>
      </p:sp>
      <p:sp>
        <p:nvSpPr>
          <p:cNvPr id="28" name="Shape 26"/>
          <p:cNvSpPr/>
          <p:nvPr/>
        </p:nvSpPr>
        <p:spPr>
          <a:xfrm>
            <a:off x="4344314" y="3264408"/>
            <a:ext cx="3503066" cy="120700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9" name="Shape 27"/>
          <p:cNvSpPr/>
          <p:nvPr/>
        </p:nvSpPr>
        <p:spPr>
          <a:xfrm>
            <a:off x="4344314" y="3264408"/>
            <a:ext cx="82296" cy="1207008"/>
          </a:xfrm>
          <a:prstGeom prst="rect">
            <a:avLst/>
          </a:prstGeom>
          <a:solidFill>
            <a:srgbClr val="14B8A6"/>
          </a:solidFill>
          <a:ln/>
        </p:spPr>
      </p:sp>
      <p:sp>
        <p:nvSpPr>
          <p:cNvPr id="30" name="Shape 28"/>
          <p:cNvSpPr/>
          <p:nvPr/>
        </p:nvSpPr>
        <p:spPr>
          <a:xfrm>
            <a:off x="4572914" y="3465576"/>
            <a:ext cx="365760" cy="365760"/>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31" name="Text 29"/>
          <p:cNvSpPr/>
          <p:nvPr/>
        </p:nvSpPr>
        <p:spPr>
          <a:xfrm>
            <a:off x="4572914" y="3465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p:nvPr/>
        </p:nvSpPr>
        <p:spPr>
          <a:xfrm>
            <a:off x="5057546" y="3447288"/>
            <a:ext cx="2588666" cy="411480"/>
          </a:xfrm>
          <a:prstGeom prst="rect">
            <a:avLst/>
          </a:prstGeom>
          <a:noFill/>
          <a:ln/>
        </p:spPr>
        <p:txBody>
          <a:bodyPr wrap="square" lIns="0" tIns="0" rIns="0" bIns="0" rtlCol="0" anchor="ctr"/>
          <a:lstStyle/>
          <a:p>
            <a:pPr indent="0" marL="0">
              <a:lnSpc>
                <a:spcPts val="1400"/>
              </a:lnSpc>
              <a:buNone/>
            </a:pPr>
            <a:r>
              <a:rPr lang="en-US" sz="1300" b="1" dirty="0">
                <a:solidFill>
                  <a:srgbClr val="0B1B2E"/>
                </a:solidFill>
                <a:latin typeface="Calibri" pitchFamily="34" charset="0"/>
                <a:ea typeface="Calibri" pitchFamily="34" charset="-122"/>
                <a:cs typeface="Calibri" pitchFamily="34" charset="-120"/>
              </a:rPr>
              <a:t>Quarantine handling</a:t>
            </a:r>
            <a:endParaRPr lang="en-US" sz="1300" dirty="0"/>
          </a:p>
        </p:txBody>
      </p:sp>
      <p:sp>
        <p:nvSpPr>
          <p:cNvPr id="33" name="Text 31"/>
          <p:cNvSpPr/>
          <p:nvPr/>
        </p:nvSpPr>
        <p:spPr>
          <a:xfrm>
            <a:off x="4600346" y="3922776"/>
            <a:ext cx="3045866" cy="475488"/>
          </a:xfrm>
          <a:prstGeom prst="rect">
            <a:avLst/>
          </a:prstGeom>
          <a:noFill/>
          <a:ln/>
        </p:spPr>
        <p:txBody>
          <a:bodyPr wrap="square" lIns="0" tIns="0" rIns="0" bIns="0" rtlCol="0" anchor="t"/>
          <a:lstStyle/>
          <a:p>
            <a:pPr indent="0" marL="0">
              <a:lnSpc>
                <a:spcPts val="1400"/>
              </a:lnSpc>
              <a:buNone/>
            </a:pPr>
            <a:r>
              <a:rPr lang="en-US" sz="1050" dirty="0">
                <a:solidFill>
                  <a:srgbClr val="33415A"/>
                </a:solidFill>
                <a:latin typeface="Calibri" pitchFamily="34" charset="0"/>
                <a:ea typeface="Calibri" pitchFamily="34" charset="-122"/>
                <a:cs typeface="Calibri" pitchFamily="34" charset="-120"/>
              </a:rPr>
              <a:t>Critical failures are isolated and excluded from serving.</a:t>
            </a:r>
            <a:endParaRPr lang="en-US" sz="1050" dirty="0"/>
          </a:p>
        </p:txBody>
      </p:sp>
      <p:sp>
        <p:nvSpPr>
          <p:cNvPr id="34" name="Shape 32"/>
          <p:cNvSpPr/>
          <p:nvPr/>
        </p:nvSpPr>
        <p:spPr>
          <a:xfrm>
            <a:off x="8121701" y="3264408"/>
            <a:ext cx="3503066" cy="120700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35" name="Shape 33"/>
          <p:cNvSpPr/>
          <p:nvPr/>
        </p:nvSpPr>
        <p:spPr>
          <a:xfrm>
            <a:off x="8121701" y="3264408"/>
            <a:ext cx="82296" cy="1207008"/>
          </a:xfrm>
          <a:prstGeom prst="rect">
            <a:avLst/>
          </a:prstGeom>
          <a:solidFill>
            <a:srgbClr val="14B8A6"/>
          </a:solidFill>
          <a:ln/>
        </p:spPr>
      </p:sp>
      <p:sp>
        <p:nvSpPr>
          <p:cNvPr id="36" name="Shape 34"/>
          <p:cNvSpPr/>
          <p:nvPr/>
        </p:nvSpPr>
        <p:spPr>
          <a:xfrm>
            <a:off x="8350301" y="3465576"/>
            <a:ext cx="365760" cy="365760"/>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37" name="Text 35"/>
          <p:cNvSpPr/>
          <p:nvPr/>
        </p:nvSpPr>
        <p:spPr>
          <a:xfrm>
            <a:off x="8350301" y="3465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8" name="Text 36"/>
          <p:cNvSpPr/>
          <p:nvPr/>
        </p:nvSpPr>
        <p:spPr>
          <a:xfrm>
            <a:off x="8834933" y="3447288"/>
            <a:ext cx="2588666" cy="411480"/>
          </a:xfrm>
          <a:prstGeom prst="rect">
            <a:avLst/>
          </a:prstGeom>
          <a:noFill/>
          <a:ln/>
        </p:spPr>
        <p:txBody>
          <a:bodyPr wrap="square" lIns="0" tIns="0" rIns="0" bIns="0" rtlCol="0" anchor="ctr"/>
          <a:lstStyle/>
          <a:p>
            <a:pPr indent="0" marL="0">
              <a:lnSpc>
                <a:spcPts val="1400"/>
              </a:lnSpc>
              <a:buNone/>
            </a:pPr>
            <a:r>
              <a:rPr lang="en-US" sz="1300" b="1" dirty="0">
                <a:solidFill>
                  <a:srgbClr val="0B1B2E"/>
                </a:solidFill>
                <a:latin typeface="Calibri" pitchFamily="34" charset="0"/>
                <a:ea typeface="Calibri" pitchFamily="34" charset="-122"/>
                <a:cs typeface="Calibri" pitchFamily="34" charset="-120"/>
              </a:rPr>
              <a:t>Lineage tracking</a:t>
            </a:r>
            <a:endParaRPr lang="en-US" sz="1300" dirty="0"/>
          </a:p>
        </p:txBody>
      </p:sp>
      <p:sp>
        <p:nvSpPr>
          <p:cNvPr id="39" name="Text 37"/>
          <p:cNvSpPr/>
          <p:nvPr/>
        </p:nvSpPr>
        <p:spPr>
          <a:xfrm>
            <a:off x="8377733" y="3922776"/>
            <a:ext cx="3045866" cy="475488"/>
          </a:xfrm>
          <a:prstGeom prst="rect">
            <a:avLst/>
          </a:prstGeom>
          <a:noFill/>
          <a:ln/>
        </p:spPr>
        <p:txBody>
          <a:bodyPr wrap="square" lIns="0" tIns="0" rIns="0" bIns="0" rtlCol="0" anchor="t"/>
          <a:lstStyle/>
          <a:p>
            <a:pPr indent="0" marL="0">
              <a:lnSpc>
                <a:spcPts val="1400"/>
              </a:lnSpc>
              <a:buNone/>
            </a:pPr>
            <a:r>
              <a:rPr lang="en-US" sz="1050" dirty="0">
                <a:solidFill>
                  <a:srgbClr val="33415A"/>
                </a:solidFill>
                <a:latin typeface="Calibri" pitchFamily="34" charset="0"/>
                <a:ea typeface="Calibri" pitchFamily="34" charset="-122"/>
                <a:cs typeface="Calibri" pitchFamily="34" charset="-120"/>
              </a:rPr>
              <a:t>Every field traces back to its source document.</a:t>
            </a:r>
            <a:endParaRPr lang="en-US" sz="1050" dirty="0"/>
          </a:p>
        </p:txBody>
      </p:sp>
      <p:sp>
        <p:nvSpPr>
          <p:cNvPr id="40" name="Shape 38"/>
          <p:cNvSpPr/>
          <p:nvPr/>
        </p:nvSpPr>
        <p:spPr>
          <a:xfrm>
            <a:off x="566928" y="5029200"/>
            <a:ext cx="11057839" cy="96012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41" name="Text 39"/>
          <p:cNvSpPr/>
          <p:nvPr/>
        </p:nvSpPr>
        <p:spPr>
          <a:xfrm>
            <a:off x="841248" y="5166360"/>
            <a:ext cx="2743200" cy="274320"/>
          </a:xfrm>
          <a:prstGeom prst="rect">
            <a:avLst/>
          </a:prstGeom>
          <a:noFill/>
          <a:ln/>
        </p:spPr>
        <p:txBody>
          <a:bodyPr wrap="square" lIns="0" tIns="0" rIns="0" bIns="0" rtlCol="0" anchor="ctr"/>
          <a:lstStyle/>
          <a:p>
            <a:pPr indent="0" marL="0">
              <a:buNone/>
            </a:pPr>
            <a:r>
              <a:rPr lang="en-US" sz="1000" b="1" spc="200" kern="0" dirty="0">
                <a:solidFill>
                  <a:srgbClr val="F26A4B"/>
                </a:solidFill>
                <a:latin typeface="Calibri" pitchFamily="34" charset="0"/>
                <a:ea typeface="Calibri" pitchFamily="34" charset="-122"/>
                <a:cs typeface="Calibri" pitchFamily="34" charset="-120"/>
              </a:rPr>
              <a:t>THE QUALITY LOOP</a:t>
            </a:r>
            <a:endParaRPr lang="en-US" sz="1000" dirty="0"/>
          </a:p>
        </p:txBody>
      </p:sp>
      <p:sp>
        <p:nvSpPr>
          <p:cNvPr id="42" name="Shape 40"/>
          <p:cNvSpPr/>
          <p:nvPr/>
        </p:nvSpPr>
        <p:spPr>
          <a:xfrm>
            <a:off x="841248" y="5532120"/>
            <a:ext cx="1965960" cy="384048"/>
          </a:xfrm>
          <a:prstGeom prst="roundRect">
            <a:avLst>
              <a:gd name="adj" fmla="val 16667"/>
            </a:avLst>
          </a:prstGeom>
          <a:solidFill>
            <a:srgbClr val="13283F"/>
          </a:solidFill>
          <a:ln/>
          <a:effectLst>
            <a:outerShdw sx="100000" sy="100000" kx="0" ky="0" algn="bl" rotWithShape="0" blurRad="114300" dist="38100" dir="8100000">
              <a:srgbClr val="1E293B">
                <a:alpha val="12000"/>
              </a:srgbClr>
            </a:outerShdw>
          </a:effectLst>
        </p:spPr>
      </p:sp>
      <p:sp>
        <p:nvSpPr>
          <p:cNvPr id="43" name="Text 41"/>
          <p:cNvSpPr/>
          <p:nvPr/>
        </p:nvSpPr>
        <p:spPr>
          <a:xfrm>
            <a:off x="896112" y="5532120"/>
            <a:ext cx="1856232" cy="384048"/>
          </a:xfrm>
          <a:prstGeom prst="rect">
            <a:avLst/>
          </a:prstGeom>
          <a:noFill/>
          <a:ln/>
        </p:spPr>
        <p:txBody>
          <a:bodyPr wrap="square" lIns="0" tIns="0" rIns="0" bIns="0" rtlCol="0" anchor="ctr"/>
          <a:lstStyle/>
          <a:p>
            <a:pPr algn="ctr" indent="0" marL="0">
              <a:lnSpc>
                <a:spcPts val="1122"/>
              </a:lnSpc>
              <a:buNone/>
            </a:pPr>
            <a:r>
              <a:rPr lang="en-US" sz="1100" b="1" dirty="0">
                <a:solidFill>
                  <a:srgbClr val="5EEAD4"/>
                </a:solidFill>
                <a:latin typeface="Calibri" pitchFamily="34" charset="0"/>
                <a:ea typeface="Calibri" pitchFamily="34" charset="-122"/>
                <a:cs typeface="Calibri" pitchFamily="34" charset="-120"/>
              </a:rPr>
              <a:t>Extract</a:t>
            </a:r>
            <a:endParaRPr lang="en-US" sz="1100" dirty="0"/>
          </a:p>
        </p:txBody>
      </p:sp>
      <p:sp>
        <p:nvSpPr>
          <p:cNvPr id="44" name="Shape 42"/>
          <p:cNvSpPr/>
          <p:nvPr/>
        </p:nvSpPr>
        <p:spPr>
          <a:xfrm>
            <a:off x="2834640" y="5724144"/>
            <a:ext cx="201168" cy="0"/>
          </a:xfrm>
          <a:prstGeom prst="line">
            <a:avLst/>
          </a:prstGeom>
          <a:noFill/>
          <a:ln w="25400">
            <a:solidFill>
              <a:srgbClr val="5EEAD4"/>
            </a:solidFill>
            <a:prstDash val="solid"/>
            <a:tailEnd type="triangle"/>
          </a:ln>
        </p:spPr>
      </p:sp>
      <p:sp>
        <p:nvSpPr>
          <p:cNvPr id="45" name="Shape 43"/>
          <p:cNvSpPr/>
          <p:nvPr/>
        </p:nvSpPr>
        <p:spPr>
          <a:xfrm>
            <a:off x="3035808" y="5532120"/>
            <a:ext cx="1965960" cy="384048"/>
          </a:xfrm>
          <a:prstGeom prst="roundRect">
            <a:avLst>
              <a:gd name="adj" fmla="val 16667"/>
            </a:avLst>
          </a:prstGeom>
          <a:solidFill>
            <a:srgbClr val="13283F"/>
          </a:solidFill>
          <a:ln/>
          <a:effectLst>
            <a:outerShdw sx="100000" sy="100000" kx="0" ky="0" algn="bl" rotWithShape="0" blurRad="114300" dist="38100" dir="8100000">
              <a:srgbClr val="1E293B">
                <a:alpha val="12000"/>
              </a:srgbClr>
            </a:outerShdw>
          </a:effectLst>
        </p:spPr>
      </p:sp>
      <p:sp>
        <p:nvSpPr>
          <p:cNvPr id="46" name="Text 44"/>
          <p:cNvSpPr/>
          <p:nvPr/>
        </p:nvSpPr>
        <p:spPr>
          <a:xfrm>
            <a:off x="3090672" y="5532120"/>
            <a:ext cx="1856232" cy="384048"/>
          </a:xfrm>
          <a:prstGeom prst="rect">
            <a:avLst/>
          </a:prstGeom>
          <a:noFill/>
          <a:ln/>
        </p:spPr>
        <p:txBody>
          <a:bodyPr wrap="square" lIns="0" tIns="0" rIns="0" bIns="0" rtlCol="0" anchor="ctr"/>
          <a:lstStyle/>
          <a:p>
            <a:pPr algn="ctr" indent="0" marL="0">
              <a:lnSpc>
                <a:spcPts val="1122"/>
              </a:lnSpc>
              <a:buNone/>
            </a:pPr>
            <a:r>
              <a:rPr lang="en-US" sz="1100" b="1" dirty="0">
                <a:solidFill>
                  <a:srgbClr val="5EEAD4"/>
                </a:solidFill>
                <a:latin typeface="Calibri" pitchFamily="34" charset="0"/>
                <a:ea typeface="Calibri" pitchFamily="34" charset="-122"/>
                <a:cs typeface="Calibri" pitchFamily="34" charset="-120"/>
              </a:rPr>
              <a:t>AI Audit</a:t>
            </a:r>
            <a:endParaRPr lang="en-US" sz="1100" dirty="0"/>
          </a:p>
        </p:txBody>
      </p:sp>
      <p:sp>
        <p:nvSpPr>
          <p:cNvPr id="47" name="Shape 45"/>
          <p:cNvSpPr/>
          <p:nvPr/>
        </p:nvSpPr>
        <p:spPr>
          <a:xfrm>
            <a:off x="5029200" y="5724144"/>
            <a:ext cx="201168" cy="0"/>
          </a:xfrm>
          <a:prstGeom prst="line">
            <a:avLst/>
          </a:prstGeom>
          <a:noFill/>
          <a:ln w="25400">
            <a:solidFill>
              <a:srgbClr val="5EEAD4"/>
            </a:solidFill>
            <a:prstDash val="solid"/>
            <a:tailEnd type="triangle"/>
          </a:ln>
        </p:spPr>
      </p:sp>
      <p:sp>
        <p:nvSpPr>
          <p:cNvPr id="48" name="Shape 46"/>
          <p:cNvSpPr/>
          <p:nvPr/>
        </p:nvSpPr>
        <p:spPr>
          <a:xfrm>
            <a:off x="5230368" y="5532120"/>
            <a:ext cx="1965960" cy="384048"/>
          </a:xfrm>
          <a:prstGeom prst="roundRect">
            <a:avLst>
              <a:gd name="adj" fmla="val 16667"/>
            </a:avLst>
          </a:prstGeom>
          <a:solidFill>
            <a:srgbClr val="13283F"/>
          </a:solidFill>
          <a:ln/>
          <a:effectLst>
            <a:outerShdw sx="100000" sy="100000" kx="0" ky="0" algn="bl" rotWithShape="0" blurRad="114300" dist="38100" dir="8100000">
              <a:srgbClr val="1E293B">
                <a:alpha val="12000"/>
              </a:srgbClr>
            </a:outerShdw>
          </a:effectLst>
        </p:spPr>
      </p:sp>
      <p:sp>
        <p:nvSpPr>
          <p:cNvPr id="49" name="Text 47"/>
          <p:cNvSpPr/>
          <p:nvPr/>
        </p:nvSpPr>
        <p:spPr>
          <a:xfrm>
            <a:off x="5285232" y="5532120"/>
            <a:ext cx="1856232" cy="384048"/>
          </a:xfrm>
          <a:prstGeom prst="rect">
            <a:avLst/>
          </a:prstGeom>
          <a:noFill/>
          <a:ln/>
        </p:spPr>
        <p:txBody>
          <a:bodyPr wrap="square" lIns="0" tIns="0" rIns="0" bIns="0" rtlCol="0" anchor="ctr"/>
          <a:lstStyle/>
          <a:p>
            <a:pPr algn="ctr" indent="0" marL="0">
              <a:lnSpc>
                <a:spcPts val="1122"/>
              </a:lnSpc>
              <a:buNone/>
            </a:pPr>
            <a:r>
              <a:rPr lang="en-US" sz="1100" b="1" dirty="0">
                <a:solidFill>
                  <a:srgbClr val="5EEAD4"/>
                </a:solidFill>
                <a:latin typeface="Calibri" pitchFamily="34" charset="0"/>
                <a:ea typeface="Calibri" pitchFamily="34" charset="-122"/>
                <a:cs typeface="Calibri" pitchFamily="34" charset="-120"/>
              </a:rPr>
              <a:t>Score gaps</a:t>
            </a:r>
            <a:endParaRPr lang="en-US" sz="1100" dirty="0"/>
          </a:p>
        </p:txBody>
      </p:sp>
      <p:sp>
        <p:nvSpPr>
          <p:cNvPr id="50" name="Shape 48"/>
          <p:cNvSpPr/>
          <p:nvPr/>
        </p:nvSpPr>
        <p:spPr>
          <a:xfrm>
            <a:off x="7223760" y="5724144"/>
            <a:ext cx="201168" cy="0"/>
          </a:xfrm>
          <a:prstGeom prst="line">
            <a:avLst/>
          </a:prstGeom>
          <a:noFill/>
          <a:ln w="25400">
            <a:solidFill>
              <a:srgbClr val="5EEAD4"/>
            </a:solidFill>
            <a:prstDash val="solid"/>
            <a:tailEnd type="triangle"/>
          </a:ln>
        </p:spPr>
      </p:sp>
      <p:sp>
        <p:nvSpPr>
          <p:cNvPr id="51" name="Shape 49"/>
          <p:cNvSpPr/>
          <p:nvPr/>
        </p:nvSpPr>
        <p:spPr>
          <a:xfrm>
            <a:off x="7424928" y="5532120"/>
            <a:ext cx="1965960" cy="384048"/>
          </a:xfrm>
          <a:prstGeom prst="roundRect">
            <a:avLst>
              <a:gd name="adj" fmla="val 16667"/>
            </a:avLst>
          </a:prstGeom>
          <a:solidFill>
            <a:srgbClr val="13283F"/>
          </a:solidFill>
          <a:ln/>
          <a:effectLst>
            <a:outerShdw sx="100000" sy="100000" kx="0" ky="0" algn="bl" rotWithShape="0" blurRad="114300" dist="38100" dir="8100000">
              <a:srgbClr val="1E293B">
                <a:alpha val="12000"/>
              </a:srgbClr>
            </a:outerShdw>
          </a:effectLst>
        </p:spPr>
      </p:sp>
      <p:sp>
        <p:nvSpPr>
          <p:cNvPr id="52" name="Text 50"/>
          <p:cNvSpPr/>
          <p:nvPr/>
        </p:nvSpPr>
        <p:spPr>
          <a:xfrm>
            <a:off x="7479792" y="5532120"/>
            <a:ext cx="1856232" cy="384048"/>
          </a:xfrm>
          <a:prstGeom prst="rect">
            <a:avLst/>
          </a:prstGeom>
          <a:noFill/>
          <a:ln/>
        </p:spPr>
        <p:txBody>
          <a:bodyPr wrap="square" lIns="0" tIns="0" rIns="0" bIns="0" rtlCol="0" anchor="ctr"/>
          <a:lstStyle/>
          <a:p>
            <a:pPr algn="ctr" indent="0" marL="0">
              <a:lnSpc>
                <a:spcPts val="1122"/>
              </a:lnSpc>
              <a:buNone/>
            </a:pPr>
            <a:r>
              <a:rPr lang="en-US" sz="1100" b="1" dirty="0">
                <a:solidFill>
                  <a:srgbClr val="5EEAD4"/>
                </a:solidFill>
                <a:latin typeface="Calibri" pitchFamily="34" charset="0"/>
                <a:ea typeface="Calibri" pitchFamily="34" charset="-122"/>
                <a:cs typeface="Calibri" pitchFamily="34" charset="-120"/>
              </a:rPr>
              <a:t>Targeted gap-fill</a:t>
            </a:r>
            <a:endParaRPr lang="en-US" sz="1100" dirty="0"/>
          </a:p>
        </p:txBody>
      </p:sp>
      <p:sp>
        <p:nvSpPr>
          <p:cNvPr id="53" name="Shape 51"/>
          <p:cNvSpPr/>
          <p:nvPr/>
        </p:nvSpPr>
        <p:spPr>
          <a:xfrm>
            <a:off x="9418320" y="5724144"/>
            <a:ext cx="201168" cy="0"/>
          </a:xfrm>
          <a:prstGeom prst="line">
            <a:avLst/>
          </a:prstGeom>
          <a:noFill/>
          <a:ln w="25400">
            <a:solidFill>
              <a:srgbClr val="5EEAD4"/>
            </a:solidFill>
            <a:prstDash val="solid"/>
            <a:tailEnd type="triangle"/>
          </a:ln>
        </p:spPr>
      </p:sp>
      <p:sp>
        <p:nvSpPr>
          <p:cNvPr id="54" name="Shape 52"/>
          <p:cNvSpPr/>
          <p:nvPr/>
        </p:nvSpPr>
        <p:spPr>
          <a:xfrm>
            <a:off x="9619488" y="5532120"/>
            <a:ext cx="1965960" cy="384048"/>
          </a:xfrm>
          <a:prstGeom prst="roundRect">
            <a:avLst>
              <a:gd name="adj" fmla="val 16667"/>
            </a:avLst>
          </a:prstGeom>
          <a:solidFill>
            <a:srgbClr val="13283F"/>
          </a:solidFill>
          <a:ln/>
          <a:effectLst>
            <a:outerShdw sx="100000" sy="100000" kx="0" ky="0" algn="bl" rotWithShape="0" blurRad="114300" dist="38100" dir="8100000">
              <a:srgbClr val="1E293B">
                <a:alpha val="12000"/>
              </a:srgbClr>
            </a:outerShdw>
          </a:effectLst>
        </p:spPr>
      </p:sp>
      <p:sp>
        <p:nvSpPr>
          <p:cNvPr id="55" name="Text 53"/>
          <p:cNvSpPr/>
          <p:nvPr/>
        </p:nvSpPr>
        <p:spPr>
          <a:xfrm>
            <a:off x="9674352" y="5532120"/>
            <a:ext cx="1856232" cy="384048"/>
          </a:xfrm>
          <a:prstGeom prst="rect">
            <a:avLst/>
          </a:prstGeom>
          <a:noFill/>
          <a:ln/>
        </p:spPr>
        <p:txBody>
          <a:bodyPr wrap="square" lIns="0" tIns="0" rIns="0" bIns="0" rtlCol="0" anchor="ctr"/>
          <a:lstStyle/>
          <a:p>
            <a:pPr algn="ctr" indent="0" marL="0">
              <a:lnSpc>
                <a:spcPts val="1122"/>
              </a:lnSpc>
              <a:buNone/>
            </a:pPr>
            <a:r>
              <a:rPr lang="en-US" sz="1100" b="1" dirty="0">
                <a:solidFill>
                  <a:srgbClr val="5EEAD4"/>
                </a:solidFill>
                <a:latin typeface="Calibri" pitchFamily="34" charset="0"/>
                <a:ea typeface="Calibri" pitchFamily="34" charset="-122"/>
                <a:cs typeface="Calibri" pitchFamily="34" charset="-120"/>
              </a:rPr>
              <a:t>Re-validate</a:t>
            </a:r>
            <a:endParaRPr lang="en-US" sz="1100" dirty="0"/>
          </a:p>
        </p:txBody>
      </p:sp>
      <p:sp>
        <p:nvSpPr>
          <p:cNvPr id="56" name="Text 54"/>
          <p:cNvSpPr/>
          <p:nvPr/>
        </p:nvSpPr>
        <p:spPr>
          <a:xfrm>
            <a:off x="841248" y="5166360"/>
            <a:ext cx="10509199" cy="274320"/>
          </a:xfrm>
          <a:prstGeom prst="rect">
            <a:avLst/>
          </a:prstGeom>
          <a:noFill/>
          <a:ln/>
        </p:spPr>
        <p:txBody>
          <a:bodyPr wrap="square" lIns="0" tIns="0" rIns="0" bIns="0" rtlCol="0" anchor="ctr"/>
          <a:lstStyle/>
          <a:p>
            <a:pPr algn="r" indent="0" marL="0">
              <a:buNone/>
            </a:pPr>
            <a:r>
              <a:rPr lang="en-US" sz="1050" i="1" dirty="0">
                <a:solidFill>
                  <a:srgbClr val="93A4BD"/>
                </a:solidFill>
                <a:latin typeface="Calibri" pitchFamily="34" charset="0"/>
                <a:ea typeface="Calibri" pitchFamily="34" charset="-122"/>
                <a:cs typeface="Calibri" pitchFamily="34" charset="-120"/>
              </a:rPr>
              <a:t>Self-correcting: the system audits its own output and re-extracts what it missed.</a:t>
            </a:r>
            <a:endParaRPr lang="en-US" sz="1050" dirty="0"/>
          </a:p>
        </p:txBody>
      </p:sp>
      <p:sp>
        <p:nvSpPr>
          <p:cNvPr id="57" name="Text 55"/>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58" name="Text 56"/>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07 · ENTERPRISE GOVERNANCE</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Governed on the platform we already trust</a:t>
            </a:r>
            <a:endParaRPr lang="en-US" sz="2900" dirty="0"/>
          </a:p>
        </p:txBody>
      </p:sp>
      <p:sp>
        <p:nvSpPr>
          <p:cNvPr id="4" name="Shape 2"/>
          <p:cNvSpPr/>
          <p:nvPr/>
        </p:nvSpPr>
        <p:spPr>
          <a:xfrm>
            <a:off x="566928" y="1874520"/>
            <a:ext cx="1652473" cy="246888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5" name="Shape 3"/>
          <p:cNvSpPr/>
          <p:nvPr/>
        </p:nvSpPr>
        <p:spPr>
          <a:xfrm>
            <a:off x="566928" y="1874520"/>
            <a:ext cx="1652473" cy="82296"/>
          </a:xfrm>
          <a:prstGeom prst="rect">
            <a:avLst/>
          </a:prstGeom>
          <a:solidFill>
            <a:srgbClr val="14B8A6"/>
          </a:solidFill>
          <a:ln/>
        </p:spPr>
      </p:sp>
      <p:sp>
        <p:nvSpPr>
          <p:cNvPr id="6" name="Text 4"/>
          <p:cNvSpPr/>
          <p:nvPr/>
        </p:nvSpPr>
        <p:spPr>
          <a:xfrm>
            <a:off x="731520" y="2057400"/>
            <a:ext cx="1323289" cy="411480"/>
          </a:xfrm>
          <a:prstGeom prst="rect">
            <a:avLst/>
          </a:prstGeom>
          <a:noFill/>
          <a:ln/>
        </p:spPr>
        <p:txBody>
          <a:bodyPr wrap="square" lIns="0" tIns="0" rIns="0" bIns="0" rtlCol="0" anchor="ctr"/>
          <a:lstStyle/>
          <a:p>
            <a:pPr indent="0" marL="0">
              <a:buNone/>
            </a:pPr>
            <a:r>
              <a:rPr lang="en-US" sz="2000" b="1" dirty="0">
                <a:solidFill>
                  <a:srgbClr val="0F766E"/>
                </a:solidFill>
                <a:latin typeface="Georgia" pitchFamily="34" charset="0"/>
                <a:ea typeface="Georgia" pitchFamily="34" charset="-122"/>
                <a:cs typeface="Georgia" pitchFamily="34" charset="-120"/>
              </a:rPr>
              <a:t>01</a:t>
            </a:r>
            <a:endParaRPr lang="en-US" sz="2000" dirty="0"/>
          </a:p>
        </p:txBody>
      </p:sp>
      <p:sp>
        <p:nvSpPr>
          <p:cNvPr id="7" name="Text 5"/>
          <p:cNvSpPr/>
          <p:nvPr/>
        </p:nvSpPr>
        <p:spPr>
          <a:xfrm>
            <a:off x="731520" y="2542032"/>
            <a:ext cx="1378153" cy="54864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Access control</a:t>
            </a:r>
            <a:endParaRPr lang="en-US" sz="1200" dirty="0"/>
          </a:p>
        </p:txBody>
      </p:sp>
      <p:sp>
        <p:nvSpPr>
          <p:cNvPr id="8" name="Text 6"/>
          <p:cNvSpPr/>
          <p:nvPr/>
        </p:nvSpPr>
        <p:spPr>
          <a:xfrm>
            <a:off x="731520" y="3127248"/>
            <a:ext cx="1359865" cy="1097280"/>
          </a:xfrm>
          <a:prstGeom prst="rect">
            <a:avLst/>
          </a:prstGeom>
          <a:noFill/>
          <a:ln/>
        </p:spPr>
        <p:txBody>
          <a:bodyPr wrap="square" lIns="0" tIns="0" rIns="0" bIns="0" rtlCol="0" anchor="t"/>
          <a:lstStyle/>
          <a:p>
            <a:pPr indent="0" marL="0">
              <a:lnSpc>
                <a:spcPts val="1350"/>
              </a:lnSpc>
              <a:buNone/>
            </a:pPr>
            <a:r>
              <a:rPr lang="en-US" sz="1000" dirty="0">
                <a:solidFill>
                  <a:srgbClr val="33415A"/>
                </a:solidFill>
                <a:latin typeface="Calibri" pitchFamily="34" charset="0"/>
                <a:ea typeface="Calibri" pitchFamily="34" charset="-122"/>
                <a:cs typeface="Calibri" pitchFamily="34" charset="-120"/>
              </a:rPr>
              <a:t>Role-based ACLs &amp; row-level security by provider</a:t>
            </a:r>
            <a:endParaRPr lang="en-US" sz="1000" dirty="0"/>
          </a:p>
        </p:txBody>
      </p:sp>
      <p:sp>
        <p:nvSpPr>
          <p:cNvPr id="9" name="Shape 7"/>
          <p:cNvSpPr/>
          <p:nvPr/>
        </p:nvSpPr>
        <p:spPr>
          <a:xfrm>
            <a:off x="2448001" y="1874520"/>
            <a:ext cx="1652473" cy="246888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0" name="Shape 8"/>
          <p:cNvSpPr/>
          <p:nvPr/>
        </p:nvSpPr>
        <p:spPr>
          <a:xfrm>
            <a:off x="2448001" y="1874520"/>
            <a:ext cx="1652473" cy="82296"/>
          </a:xfrm>
          <a:prstGeom prst="rect">
            <a:avLst/>
          </a:prstGeom>
          <a:solidFill>
            <a:srgbClr val="14B8A6"/>
          </a:solidFill>
          <a:ln/>
        </p:spPr>
      </p:sp>
      <p:sp>
        <p:nvSpPr>
          <p:cNvPr id="11" name="Text 9"/>
          <p:cNvSpPr/>
          <p:nvPr/>
        </p:nvSpPr>
        <p:spPr>
          <a:xfrm>
            <a:off x="2612593" y="2057400"/>
            <a:ext cx="1323289" cy="411480"/>
          </a:xfrm>
          <a:prstGeom prst="rect">
            <a:avLst/>
          </a:prstGeom>
          <a:noFill/>
          <a:ln/>
        </p:spPr>
        <p:txBody>
          <a:bodyPr wrap="square" lIns="0" tIns="0" rIns="0" bIns="0" rtlCol="0" anchor="ctr"/>
          <a:lstStyle/>
          <a:p>
            <a:pPr indent="0" marL="0">
              <a:buNone/>
            </a:pPr>
            <a:r>
              <a:rPr lang="en-US" sz="2000" b="1" dirty="0">
                <a:solidFill>
                  <a:srgbClr val="0F766E"/>
                </a:solidFill>
                <a:latin typeface="Georgia" pitchFamily="34" charset="0"/>
                <a:ea typeface="Georgia" pitchFamily="34" charset="-122"/>
                <a:cs typeface="Georgia" pitchFamily="34" charset="-120"/>
              </a:rPr>
              <a:t>02</a:t>
            </a:r>
            <a:endParaRPr lang="en-US" sz="2000" dirty="0"/>
          </a:p>
        </p:txBody>
      </p:sp>
      <p:sp>
        <p:nvSpPr>
          <p:cNvPr id="12" name="Text 10"/>
          <p:cNvSpPr/>
          <p:nvPr/>
        </p:nvSpPr>
        <p:spPr>
          <a:xfrm>
            <a:off x="2612593" y="2542032"/>
            <a:ext cx="1378153" cy="54864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Data protection</a:t>
            </a:r>
            <a:endParaRPr lang="en-US" sz="1200" dirty="0"/>
          </a:p>
        </p:txBody>
      </p:sp>
      <p:sp>
        <p:nvSpPr>
          <p:cNvPr id="13" name="Text 11"/>
          <p:cNvSpPr/>
          <p:nvPr/>
        </p:nvSpPr>
        <p:spPr>
          <a:xfrm>
            <a:off x="2612593" y="3127248"/>
            <a:ext cx="1359865" cy="1097280"/>
          </a:xfrm>
          <a:prstGeom prst="rect">
            <a:avLst/>
          </a:prstGeom>
          <a:noFill/>
          <a:ln/>
        </p:spPr>
        <p:txBody>
          <a:bodyPr wrap="square" lIns="0" tIns="0" rIns="0" bIns="0" rtlCol="0" anchor="t"/>
          <a:lstStyle/>
          <a:p>
            <a:pPr indent="0" marL="0">
              <a:lnSpc>
                <a:spcPts val="1350"/>
              </a:lnSpc>
              <a:buNone/>
            </a:pPr>
            <a:r>
              <a:rPr lang="en-US" sz="1000" dirty="0">
                <a:solidFill>
                  <a:srgbClr val="33415A"/>
                </a:solidFill>
                <a:latin typeface="Calibri" pitchFamily="34" charset="0"/>
                <a:ea typeface="Calibri" pitchFamily="34" charset="-122"/>
                <a:cs typeface="Calibri" pitchFamily="34" charset="-120"/>
              </a:rPr>
              <a:t>Column masking for sensitive rate &amp; identifier fields</a:t>
            </a:r>
            <a:endParaRPr lang="en-US" sz="1000" dirty="0"/>
          </a:p>
        </p:txBody>
      </p:sp>
      <p:sp>
        <p:nvSpPr>
          <p:cNvPr id="14" name="Shape 12"/>
          <p:cNvSpPr/>
          <p:nvPr/>
        </p:nvSpPr>
        <p:spPr>
          <a:xfrm>
            <a:off x="4329074" y="1874520"/>
            <a:ext cx="1652473" cy="246888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5" name="Shape 13"/>
          <p:cNvSpPr/>
          <p:nvPr/>
        </p:nvSpPr>
        <p:spPr>
          <a:xfrm>
            <a:off x="4329074" y="1874520"/>
            <a:ext cx="1652473" cy="82296"/>
          </a:xfrm>
          <a:prstGeom prst="rect">
            <a:avLst/>
          </a:prstGeom>
          <a:solidFill>
            <a:srgbClr val="14B8A6"/>
          </a:solidFill>
          <a:ln/>
        </p:spPr>
      </p:sp>
      <p:sp>
        <p:nvSpPr>
          <p:cNvPr id="16" name="Text 14"/>
          <p:cNvSpPr/>
          <p:nvPr/>
        </p:nvSpPr>
        <p:spPr>
          <a:xfrm>
            <a:off x="4493666" y="2057400"/>
            <a:ext cx="1323289" cy="411480"/>
          </a:xfrm>
          <a:prstGeom prst="rect">
            <a:avLst/>
          </a:prstGeom>
          <a:noFill/>
          <a:ln/>
        </p:spPr>
        <p:txBody>
          <a:bodyPr wrap="square" lIns="0" tIns="0" rIns="0" bIns="0" rtlCol="0" anchor="ctr"/>
          <a:lstStyle/>
          <a:p>
            <a:pPr indent="0" marL="0">
              <a:buNone/>
            </a:pPr>
            <a:r>
              <a:rPr lang="en-US" sz="2000" b="1" dirty="0">
                <a:solidFill>
                  <a:srgbClr val="0F766E"/>
                </a:solidFill>
                <a:latin typeface="Georgia" pitchFamily="34" charset="0"/>
                <a:ea typeface="Georgia" pitchFamily="34" charset="-122"/>
                <a:cs typeface="Georgia" pitchFamily="34" charset="-120"/>
              </a:rPr>
              <a:t>03</a:t>
            </a:r>
            <a:endParaRPr lang="en-US" sz="2000" dirty="0"/>
          </a:p>
        </p:txBody>
      </p:sp>
      <p:sp>
        <p:nvSpPr>
          <p:cNvPr id="17" name="Text 15"/>
          <p:cNvSpPr/>
          <p:nvPr/>
        </p:nvSpPr>
        <p:spPr>
          <a:xfrm>
            <a:off x="4493666" y="2542032"/>
            <a:ext cx="1378153" cy="54864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Lineage</a:t>
            </a:r>
            <a:endParaRPr lang="en-US" sz="1200" dirty="0"/>
          </a:p>
        </p:txBody>
      </p:sp>
      <p:sp>
        <p:nvSpPr>
          <p:cNvPr id="18" name="Text 16"/>
          <p:cNvSpPr/>
          <p:nvPr/>
        </p:nvSpPr>
        <p:spPr>
          <a:xfrm>
            <a:off x="4493666" y="3127248"/>
            <a:ext cx="1359865" cy="1097280"/>
          </a:xfrm>
          <a:prstGeom prst="rect">
            <a:avLst/>
          </a:prstGeom>
          <a:noFill/>
          <a:ln/>
        </p:spPr>
        <p:txBody>
          <a:bodyPr wrap="square" lIns="0" tIns="0" rIns="0" bIns="0" rtlCol="0" anchor="t"/>
          <a:lstStyle/>
          <a:p>
            <a:pPr indent="0" marL="0">
              <a:lnSpc>
                <a:spcPts val="1350"/>
              </a:lnSpc>
              <a:buNone/>
            </a:pPr>
            <a:r>
              <a:rPr lang="en-US" sz="1000" dirty="0">
                <a:solidFill>
                  <a:srgbClr val="33415A"/>
                </a:solidFill>
                <a:latin typeface="Calibri" pitchFamily="34" charset="0"/>
                <a:ea typeface="Calibri" pitchFamily="34" charset="-122"/>
                <a:cs typeface="Calibri" pitchFamily="34" charset="-120"/>
              </a:rPr>
              <a:t>Every table &amp; field traced to source, end to end</a:t>
            </a:r>
            <a:endParaRPr lang="en-US" sz="1000" dirty="0"/>
          </a:p>
        </p:txBody>
      </p:sp>
      <p:sp>
        <p:nvSpPr>
          <p:cNvPr id="19" name="Shape 17"/>
          <p:cNvSpPr/>
          <p:nvPr/>
        </p:nvSpPr>
        <p:spPr>
          <a:xfrm>
            <a:off x="6210148" y="1874520"/>
            <a:ext cx="1652473" cy="246888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20" name="Shape 18"/>
          <p:cNvSpPr/>
          <p:nvPr/>
        </p:nvSpPr>
        <p:spPr>
          <a:xfrm>
            <a:off x="6210148" y="1874520"/>
            <a:ext cx="1652473" cy="82296"/>
          </a:xfrm>
          <a:prstGeom prst="rect">
            <a:avLst/>
          </a:prstGeom>
          <a:solidFill>
            <a:srgbClr val="14B8A6"/>
          </a:solidFill>
          <a:ln/>
        </p:spPr>
      </p:sp>
      <p:sp>
        <p:nvSpPr>
          <p:cNvPr id="21" name="Text 19"/>
          <p:cNvSpPr/>
          <p:nvPr/>
        </p:nvSpPr>
        <p:spPr>
          <a:xfrm>
            <a:off x="6374740" y="2057400"/>
            <a:ext cx="1323289" cy="411480"/>
          </a:xfrm>
          <a:prstGeom prst="rect">
            <a:avLst/>
          </a:prstGeom>
          <a:noFill/>
          <a:ln/>
        </p:spPr>
        <p:txBody>
          <a:bodyPr wrap="square" lIns="0" tIns="0" rIns="0" bIns="0" rtlCol="0" anchor="ctr"/>
          <a:lstStyle/>
          <a:p>
            <a:pPr indent="0" marL="0">
              <a:buNone/>
            </a:pPr>
            <a:r>
              <a:rPr lang="en-US" sz="2000" b="1" dirty="0">
                <a:solidFill>
                  <a:srgbClr val="0F766E"/>
                </a:solidFill>
                <a:latin typeface="Georgia" pitchFamily="34" charset="0"/>
                <a:ea typeface="Georgia" pitchFamily="34" charset="-122"/>
                <a:cs typeface="Georgia" pitchFamily="34" charset="-120"/>
              </a:rPr>
              <a:t>04</a:t>
            </a:r>
            <a:endParaRPr lang="en-US" sz="2000" dirty="0"/>
          </a:p>
        </p:txBody>
      </p:sp>
      <p:sp>
        <p:nvSpPr>
          <p:cNvPr id="22" name="Text 20"/>
          <p:cNvSpPr/>
          <p:nvPr/>
        </p:nvSpPr>
        <p:spPr>
          <a:xfrm>
            <a:off x="6374740" y="2542032"/>
            <a:ext cx="1378153" cy="54864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Audit &amp; telemetry</a:t>
            </a:r>
            <a:endParaRPr lang="en-US" sz="1200" dirty="0"/>
          </a:p>
        </p:txBody>
      </p:sp>
      <p:sp>
        <p:nvSpPr>
          <p:cNvPr id="23" name="Text 21"/>
          <p:cNvSpPr/>
          <p:nvPr/>
        </p:nvSpPr>
        <p:spPr>
          <a:xfrm>
            <a:off x="6374740" y="3127248"/>
            <a:ext cx="1359865" cy="1097280"/>
          </a:xfrm>
          <a:prstGeom prst="rect">
            <a:avLst/>
          </a:prstGeom>
          <a:noFill/>
          <a:ln/>
        </p:spPr>
        <p:txBody>
          <a:bodyPr wrap="square" lIns="0" tIns="0" rIns="0" bIns="0" rtlCol="0" anchor="t"/>
          <a:lstStyle/>
          <a:p>
            <a:pPr indent="0" marL="0">
              <a:lnSpc>
                <a:spcPts val="1350"/>
              </a:lnSpc>
              <a:buNone/>
            </a:pPr>
            <a:r>
              <a:rPr lang="en-US" sz="1000" dirty="0">
                <a:solidFill>
                  <a:srgbClr val="33415A"/>
                </a:solidFill>
                <a:latin typeface="Calibri" pitchFamily="34" charset="0"/>
                <a:ea typeface="Calibri" pitchFamily="34" charset="-122"/>
                <a:cs typeface="Calibri" pitchFamily="34" charset="-120"/>
              </a:rPr>
              <a:t>Every query logged; pipeline events captured</a:t>
            </a:r>
            <a:endParaRPr lang="en-US" sz="1000" dirty="0"/>
          </a:p>
        </p:txBody>
      </p:sp>
      <p:sp>
        <p:nvSpPr>
          <p:cNvPr id="24" name="Shape 22"/>
          <p:cNvSpPr/>
          <p:nvPr/>
        </p:nvSpPr>
        <p:spPr>
          <a:xfrm>
            <a:off x="8091221" y="1874520"/>
            <a:ext cx="1652473" cy="246888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25" name="Shape 23"/>
          <p:cNvSpPr/>
          <p:nvPr/>
        </p:nvSpPr>
        <p:spPr>
          <a:xfrm>
            <a:off x="8091221" y="1874520"/>
            <a:ext cx="1652473" cy="82296"/>
          </a:xfrm>
          <a:prstGeom prst="rect">
            <a:avLst/>
          </a:prstGeom>
          <a:solidFill>
            <a:srgbClr val="14B8A6"/>
          </a:solidFill>
          <a:ln/>
        </p:spPr>
      </p:sp>
      <p:sp>
        <p:nvSpPr>
          <p:cNvPr id="26" name="Text 24"/>
          <p:cNvSpPr/>
          <p:nvPr/>
        </p:nvSpPr>
        <p:spPr>
          <a:xfrm>
            <a:off x="8255813" y="2057400"/>
            <a:ext cx="1323289" cy="411480"/>
          </a:xfrm>
          <a:prstGeom prst="rect">
            <a:avLst/>
          </a:prstGeom>
          <a:noFill/>
          <a:ln/>
        </p:spPr>
        <p:txBody>
          <a:bodyPr wrap="square" lIns="0" tIns="0" rIns="0" bIns="0" rtlCol="0" anchor="ctr"/>
          <a:lstStyle/>
          <a:p>
            <a:pPr indent="0" marL="0">
              <a:buNone/>
            </a:pPr>
            <a:r>
              <a:rPr lang="en-US" sz="2000" b="1" dirty="0">
                <a:solidFill>
                  <a:srgbClr val="0F766E"/>
                </a:solidFill>
                <a:latin typeface="Georgia" pitchFamily="34" charset="0"/>
                <a:ea typeface="Georgia" pitchFamily="34" charset="-122"/>
                <a:cs typeface="Georgia" pitchFamily="34" charset="-120"/>
              </a:rPr>
              <a:t>05</a:t>
            </a:r>
            <a:endParaRPr lang="en-US" sz="2000" dirty="0"/>
          </a:p>
        </p:txBody>
      </p:sp>
      <p:sp>
        <p:nvSpPr>
          <p:cNvPr id="27" name="Text 25"/>
          <p:cNvSpPr/>
          <p:nvPr/>
        </p:nvSpPr>
        <p:spPr>
          <a:xfrm>
            <a:off x="8255813" y="2542032"/>
            <a:ext cx="1378153" cy="54864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Classification</a:t>
            </a:r>
            <a:endParaRPr lang="en-US" sz="1200" dirty="0"/>
          </a:p>
        </p:txBody>
      </p:sp>
      <p:sp>
        <p:nvSpPr>
          <p:cNvPr id="28" name="Text 26"/>
          <p:cNvSpPr/>
          <p:nvPr/>
        </p:nvSpPr>
        <p:spPr>
          <a:xfrm>
            <a:off x="8255813" y="3127248"/>
            <a:ext cx="1359865" cy="1097280"/>
          </a:xfrm>
          <a:prstGeom prst="rect">
            <a:avLst/>
          </a:prstGeom>
          <a:noFill/>
          <a:ln/>
        </p:spPr>
        <p:txBody>
          <a:bodyPr wrap="square" lIns="0" tIns="0" rIns="0" bIns="0" rtlCol="0" anchor="t"/>
          <a:lstStyle/>
          <a:p>
            <a:pPr indent="0" marL="0">
              <a:lnSpc>
                <a:spcPts val="1350"/>
              </a:lnSpc>
              <a:buNone/>
            </a:pPr>
            <a:r>
              <a:rPr lang="en-US" sz="1000" dirty="0">
                <a:solidFill>
                  <a:srgbClr val="33415A"/>
                </a:solidFill>
                <a:latin typeface="Calibri" pitchFamily="34" charset="0"/>
                <a:ea typeface="Calibri" pitchFamily="34" charset="-122"/>
                <a:cs typeface="Calibri" pitchFamily="34" charset="-120"/>
              </a:rPr>
              <a:t>Sensitivity tags drive policy automatically</a:t>
            </a:r>
            <a:endParaRPr lang="en-US" sz="1000" dirty="0"/>
          </a:p>
        </p:txBody>
      </p:sp>
      <p:sp>
        <p:nvSpPr>
          <p:cNvPr id="29" name="Shape 27"/>
          <p:cNvSpPr/>
          <p:nvPr/>
        </p:nvSpPr>
        <p:spPr>
          <a:xfrm>
            <a:off x="9972294" y="1874520"/>
            <a:ext cx="1652473" cy="246888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30" name="Shape 28"/>
          <p:cNvSpPr/>
          <p:nvPr/>
        </p:nvSpPr>
        <p:spPr>
          <a:xfrm>
            <a:off x="9972294" y="1874520"/>
            <a:ext cx="1652473" cy="82296"/>
          </a:xfrm>
          <a:prstGeom prst="rect">
            <a:avLst/>
          </a:prstGeom>
          <a:solidFill>
            <a:srgbClr val="14B8A6"/>
          </a:solidFill>
          <a:ln/>
        </p:spPr>
      </p:sp>
      <p:sp>
        <p:nvSpPr>
          <p:cNvPr id="31" name="Text 29"/>
          <p:cNvSpPr/>
          <p:nvPr/>
        </p:nvSpPr>
        <p:spPr>
          <a:xfrm>
            <a:off x="10136886" y="2057400"/>
            <a:ext cx="1323289" cy="411480"/>
          </a:xfrm>
          <a:prstGeom prst="rect">
            <a:avLst/>
          </a:prstGeom>
          <a:noFill/>
          <a:ln/>
        </p:spPr>
        <p:txBody>
          <a:bodyPr wrap="square" lIns="0" tIns="0" rIns="0" bIns="0" rtlCol="0" anchor="ctr"/>
          <a:lstStyle/>
          <a:p>
            <a:pPr indent="0" marL="0">
              <a:buNone/>
            </a:pPr>
            <a:r>
              <a:rPr lang="en-US" sz="2000" b="1" dirty="0">
                <a:solidFill>
                  <a:srgbClr val="0F766E"/>
                </a:solidFill>
                <a:latin typeface="Georgia" pitchFamily="34" charset="0"/>
                <a:ea typeface="Georgia" pitchFamily="34" charset="-122"/>
                <a:cs typeface="Georgia" pitchFamily="34" charset="-120"/>
              </a:rPr>
              <a:t>06</a:t>
            </a:r>
            <a:endParaRPr lang="en-US" sz="2000" dirty="0"/>
          </a:p>
        </p:txBody>
      </p:sp>
      <p:sp>
        <p:nvSpPr>
          <p:cNvPr id="32" name="Text 30"/>
          <p:cNvSpPr/>
          <p:nvPr/>
        </p:nvSpPr>
        <p:spPr>
          <a:xfrm>
            <a:off x="10136886" y="2542032"/>
            <a:ext cx="1378153" cy="54864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Versioning</a:t>
            </a:r>
            <a:endParaRPr lang="en-US" sz="1200" dirty="0"/>
          </a:p>
        </p:txBody>
      </p:sp>
      <p:sp>
        <p:nvSpPr>
          <p:cNvPr id="33" name="Text 31"/>
          <p:cNvSpPr/>
          <p:nvPr/>
        </p:nvSpPr>
        <p:spPr>
          <a:xfrm>
            <a:off x="10136886" y="3127248"/>
            <a:ext cx="1359865" cy="1097280"/>
          </a:xfrm>
          <a:prstGeom prst="rect">
            <a:avLst/>
          </a:prstGeom>
          <a:noFill/>
          <a:ln/>
        </p:spPr>
        <p:txBody>
          <a:bodyPr wrap="square" lIns="0" tIns="0" rIns="0" bIns="0" rtlCol="0" anchor="t"/>
          <a:lstStyle/>
          <a:p>
            <a:pPr indent="0" marL="0">
              <a:lnSpc>
                <a:spcPts val="1350"/>
              </a:lnSpc>
              <a:buNone/>
            </a:pPr>
            <a:r>
              <a:rPr lang="en-US" sz="1000" dirty="0">
                <a:solidFill>
                  <a:srgbClr val="33415A"/>
                </a:solidFill>
                <a:latin typeface="Calibri" pitchFamily="34" charset="0"/>
                <a:ea typeface="Calibri" pitchFamily="34" charset="-122"/>
                <a:cs typeface="Calibri" pitchFamily="34" charset="-120"/>
              </a:rPr>
              <a:t>Delta time-travel — full history &amp; instant rollback</a:t>
            </a:r>
            <a:endParaRPr lang="en-US" sz="1000" dirty="0"/>
          </a:p>
        </p:txBody>
      </p:sp>
      <p:sp>
        <p:nvSpPr>
          <p:cNvPr id="34" name="Shape 32"/>
          <p:cNvSpPr/>
          <p:nvPr/>
        </p:nvSpPr>
        <p:spPr>
          <a:xfrm>
            <a:off x="566928" y="4572000"/>
            <a:ext cx="11057839" cy="100584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35" name="Shape 33"/>
          <p:cNvSpPr/>
          <p:nvPr/>
        </p:nvSpPr>
        <p:spPr>
          <a:xfrm>
            <a:off x="566928" y="4572000"/>
            <a:ext cx="91440" cy="1005840"/>
          </a:xfrm>
          <a:prstGeom prst="rect">
            <a:avLst/>
          </a:prstGeom>
          <a:solidFill>
            <a:srgbClr val="F59E0B"/>
          </a:solidFill>
          <a:ln/>
        </p:spPr>
      </p:sp>
      <p:sp>
        <p:nvSpPr>
          <p:cNvPr id="36" name="Text 34"/>
          <p:cNvSpPr/>
          <p:nvPr/>
        </p:nvSpPr>
        <p:spPr>
          <a:xfrm>
            <a:off x="886968" y="4736592"/>
            <a:ext cx="10417759" cy="365760"/>
          </a:xfrm>
          <a:prstGeom prst="rect">
            <a:avLst/>
          </a:prstGeom>
          <a:noFill/>
          <a:ln/>
        </p:spPr>
        <p:txBody>
          <a:bodyPr wrap="square" lIns="0" tIns="0" rIns="0" bIns="0" rtlCol="0" anchor="ctr"/>
          <a:lstStyle/>
          <a:p>
            <a:pPr indent="0" marL="0">
              <a:buNone/>
            </a:pPr>
            <a:r>
              <a:rPr lang="en-US" sz="1500" b="1" spc="100" kern="0" dirty="0">
                <a:solidFill>
                  <a:srgbClr val="FFFFFF"/>
                </a:solidFill>
                <a:latin typeface="Calibri" pitchFamily="34" charset="0"/>
                <a:ea typeface="Calibri" pitchFamily="34" charset="-122"/>
                <a:cs typeface="Calibri" pitchFamily="34" charset="-120"/>
              </a:rPr>
              <a:t>UNITY CATALOG  ·  UNIFIED GOVERNANCE FOUNDATION</a:t>
            </a:r>
            <a:endParaRPr lang="en-US" sz="1500" dirty="0"/>
          </a:p>
        </p:txBody>
      </p:sp>
      <p:sp>
        <p:nvSpPr>
          <p:cNvPr id="37" name="Text 35"/>
          <p:cNvSpPr/>
          <p:nvPr/>
        </p:nvSpPr>
        <p:spPr>
          <a:xfrm>
            <a:off x="886968" y="5138928"/>
            <a:ext cx="10417759" cy="365760"/>
          </a:xfrm>
          <a:prstGeom prst="rect">
            <a:avLst/>
          </a:prstGeom>
          <a:noFill/>
          <a:ln/>
        </p:spPr>
        <p:txBody>
          <a:bodyPr wrap="square" lIns="0" tIns="0" rIns="0" bIns="0" rtlCol="0" anchor="ctr"/>
          <a:lstStyle/>
          <a:p>
            <a:pPr indent="0" marL="0">
              <a:buNone/>
            </a:pPr>
            <a:r>
              <a:rPr lang="en-US" sz="1150" dirty="0">
                <a:solidFill>
                  <a:srgbClr val="93A4BD"/>
                </a:solidFill>
                <a:latin typeface="Calibri" pitchFamily="34" charset="0"/>
                <a:ea typeface="Calibri" pitchFamily="34" charset="-122"/>
                <a:cs typeface="Calibri" pitchFamily="34" charset="-120"/>
              </a:rPr>
              <a:t>Delta Lake reliability · Azure-resident data · no new vendor, no new security review</a:t>
            </a:r>
            <a:endParaRPr lang="en-US" sz="1150" dirty="0"/>
          </a:p>
        </p:txBody>
      </p:sp>
      <p:sp>
        <p:nvSpPr>
          <p:cNvPr id="38" name="Text 36"/>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39" name="Text 37"/>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08 · AMENDMENT INTELLIGENCE</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Always the current rate — never a superseded one</a:t>
            </a:r>
            <a:endParaRPr lang="en-US" sz="2900" dirty="0"/>
          </a:p>
        </p:txBody>
      </p:sp>
      <p:sp>
        <p:nvSpPr>
          <p:cNvPr id="4" name="Text 2"/>
          <p:cNvSpPr/>
          <p:nvPr/>
        </p:nvSpPr>
        <p:spPr>
          <a:xfrm>
            <a:off x="566928" y="1417320"/>
            <a:ext cx="11057839" cy="365760"/>
          </a:xfrm>
          <a:prstGeom prst="rect">
            <a:avLst/>
          </a:prstGeom>
          <a:noFill/>
          <a:ln/>
        </p:spPr>
        <p:txBody>
          <a:bodyPr wrap="square" lIns="0" tIns="0" rIns="0" bIns="0" rtlCol="0" anchor="ctr"/>
          <a:lstStyle/>
          <a:p>
            <a:pPr indent="0" marL="0">
              <a:buNone/>
            </a:pPr>
            <a:r>
              <a:rPr lang="en-US" sz="1300" i="1" dirty="0">
                <a:solidFill>
                  <a:srgbClr val="0F766E"/>
                </a:solidFill>
                <a:latin typeface="Calibri" pitchFamily="34" charset="0"/>
                <a:ea typeface="Calibri" pitchFamily="34" charset="-122"/>
                <a:cs typeface="Calibri" pitchFamily="34" charset="-120"/>
              </a:rPr>
              <a:t>Contracts evolve through amendments. The platform resolves the chain so an answer reflects what is in force today.</a:t>
            </a:r>
            <a:endParaRPr lang="en-US" sz="1300" dirty="0"/>
          </a:p>
        </p:txBody>
      </p:sp>
      <p:sp>
        <p:nvSpPr>
          <p:cNvPr id="5" name="Shape 3"/>
          <p:cNvSpPr/>
          <p:nvPr/>
        </p:nvSpPr>
        <p:spPr>
          <a:xfrm>
            <a:off x="566928" y="2240280"/>
            <a:ext cx="1975104" cy="1554480"/>
          </a:xfrm>
          <a:prstGeom prst="rect">
            <a:avLst/>
          </a:prstGeom>
          <a:solidFill>
            <a:srgbClr val="F2F6F9"/>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6" name="Shape 4"/>
          <p:cNvSpPr/>
          <p:nvPr/>
        </p:nvSpPr>
        <p:spPr>
          <a:xfrm>
            <a:off x="566928" y="2240280"/>
            <a:ext cx="1975104" cy="82296"/>
          </a:xfrm>
          <a:prstGeom prst="rect">
            <a:avLst/>
          </a:prstGeom>
          <a:solidFill>
            <a:srgbClr val="64748B"/>
          </a:solidFill>
          <a:ln/>
        </p:spPr>
      </p:sp>
      <p:sp>
        <p:nvSpPr>
          <p:cNvPr id="7" name="Text 5"/>
          <p:cNvSpPr/>
          <p:nvPr/>
        </p:nvSpPr>
        <p:spPr>
          <a:xfrm>
            <a:off x="749808" y="2423160"/>
            <a:ext cx="1609344" cy="320040"/>
          </a:xfrm>
          <a:prstGeom prst="rect">
            <a:avLst/>
          </a:prstGeom>
          <a:noFill/>
          <a:ln/>
        </p:spPr>
        <p:txBody>
          <a:bodyPr wrap="square" lIns="0" tIns="0" rIns="0" bIns="0" rtlCol="0" anchor="ctr"/>
          <a:lstStyle/>
          <a:p>
            <a:pPr indent="0" marL="0">
              <a:buNone/>
            </a:pPr>
            <a:r>
              <a:rPr lang="en-US" sz="1250" b="1" spc="150" kern="0" dirty="0">
                <a:solidFill>
                  <a:srgbClr val="33415A"/>
                </a:solidFill>
                <a:latin typeface="Calibri" pitchFamily="34" charset="0"/>
                <a:ea typeface="Calibri" pitchFamily="34" charset="-122"/>
                <a:cs typeface="Calibri" pitchFamily="34" charset="-120"/>
              </a:rPr>
              <a:t>BASE</a:t>
            </a:r>
            <a:endParaRPr lang="en-US" sz="1250" dirty="0"/>
          </a:p>
        </p:txBody>
      </p:sp>
      <p:sp>
        <p:nvSpPr>
          <p:cNvPr id="8" name="Text 6"/>
          <p:cNvSpPr/>
          <p:nvPr/>
        </p:nvSpPr>
        <p:spPr>
          <a:xfrm>
            <a:off x="749808" y="2743200"/>
            <a:ext cx="1609344" cy="365760"/>
          </a:xfrm>
          <a:prstGeom prst="rect">
            <a:avLst/>
          </a:prstGeom>
          <a:noFill/>
          <a:ln/>
        </p:spPr>
        <p:txBody>
          <a:bodyPr wrap="square" lIns="0" tIns="0" rIns="0" bIns="0" rtlCol="0" anchor="ctr"/>
          <a:lstStyle/>
          <a:p>
            <a:pPr indent="0" marL="0">
              <a:buNone/>
            </a:pPr>
            <a:r>
              <a:rPr lang="en-US" sz="1800" b="1" dirty="0">
                <a:solidFill>
                  <a:srgbClr val="0B1B2E"/>
                </a:solidFill>
                <a:latin typeface="Georgia" pitchFamily="34" charset="0"/>
                <a:ea typeface="Georgia" pitchFamily="34" charset="-122"/>
                <a:cs typeface="Georgia" pitchFamily="34" charset="-120"/>
              </a:rPr>
              <a:t>2017</a:t>
            </a:r>
            <a:endParaRPr lang="en-US" sz="1800" dirty="0"/>
          </a:p>
        </p:txBody>
      </p:sp>
      <p:sp>
        <p:nvSpPr>
          <p:cNvPr id="9" name="Text 7"/>
          <p:cNvSpPr/>
          <p:nvPr/>
        </p:nvSpPr>
        <p:spPr>
          <a:xfrm>
            <a:off x="749808" y="3172968"/>
            <a:ext cx="1655064" cy="548640"/>
          </a:xfrm>
          <a:prstGeom prst="rect">
            <a:avLst/>
          </a:prstGeom>
          <a:noFill/>
          <a:ln/>
        </p:spPr>
        <p:txBody>
          <a:bodyPr wrap="square" lIns="0" tIns="0" rIns="0" bIns="0" rtlCol="0" anchor="t"/>
          <a:lstStyle/>
          <a:p>
            <a:pPr indent="0" marL="0">
              <a:lnSpc>
                <a:spcPts val="1350"/>
              </a:lnSpc>
              <a:buNone/>
            </a:pPr>
            <a:r>
              <a:rPr lang="en-US" sz="1050" dirty="0">
                <a:solidFill>
                  <a:srgbClr val="64748B"/>
                </a:solidFill>
                <a:latin typeface="Calibri" pitchFamily="34" charset="0"/>
                <a:ea typeface="Calibri" pitchFamily="34" charset="-122"/>
                <a:cs typeface="Calibri" pitchFamily="34" charset="-120"/>
              </a:rPr>
              <a:t>Original rate schedule</a:t>
            </a:r>
            <a:endParaRPr lang="en-US" sz="1050" dirty="0"/>
          </a:p>
        </p:txBody>
      </p:sp>
      <p:sp>
        <p:nvSpPr>
          <p:cNvPr id="10" name="Shape 8"/>
          <p:cNvSpPr/>
          <p:nvPr/>
        </p:nvSpPr>
        <p:spPr>
          <a:xfrm>
            <a:off x="2578608" y="3017520"/>
            <a:ext cx="219456" cy="0"/>
          </a:xfrm>
          <a:prstGeom prst="line">
            <a:avLst/>
          </a:prstGeom>
          <a:noFill/>
          <a:ln w="25400">
            <a:solidFill>
              <a:srgbClr val="0F766E"/>
            </a:solidFill>
            <a:prstDash val="solid"/>
            <a:tailEnd type="triangle"/>
          </a:ln>
        </p:spPr>
      </p:sp>
      <p:sp>
        <p:nvSpPr>
          <p:cNvPr id="11" name="Shape 9"/>
          <p:cNvSpPr/>
          <p:nvPr/>
        </p:nvSpPr>
        <p:spPr>
          <a:xfrm>
            <a:off x="2834640" y="2240280"/>
            <a:ext cx="1975104" cy="1554480"/>
          </a:xfrm>
          <a:prstGeom prst="rect">
            <a:avLst/>
          </a:prstGeom>
          <a:solidFill>
            <a:srgbClr val="F2F6F9"/>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2" name="Shape 10"/>
          <p:cNvSpPr/>
          <p:nvPr/>
        </p:nvSpPr>
        <p:spPr>
          <a:xfrm>
            <a:off x="2834640" y="2240280"/>
            <a:ext cx="1975104" cy="82296"/>
          </a:xfrm>
          <a:prstGeom prst="rect">
            <a:avLst/>
          </a:prstGeom>
          <a:solidFill>
            <a:srgbClr val="64748B"/>
          </a:solidFill>
          <a:ln/>
        </p:spPr>
      </p:sp>
      <p:sp>
        <p:nvSpPr>
          <p:cNvPr id="13" name="Text 11"/>
          <p:cNvSpPr/>
          <p:nvPr/>
        </p:nvSpPr>
        <p:spPr>
          <a:xfrm>
            <a:off x="3017520" y="2423160"/>
            <a:ext cx="1609344" cy="320040"/>
          </a:xfrm>
          <a:prstGeom prst="rect">
            <a:avLst/>
          </a:prstGeom>
          <a:noFill/>
          <a:ln/>
        </p:spPr>
        <p:txBody>
          <a:bodyPr wrap="square" lIns="0" tIns="0" rIns="0" bIns="0" rtlCol="0" anchor="ctr"/>
          <a:lstStyle/>
          <a:p>
            <a:pPr indent="0" marL="0">
              <a:buNone/>
            </a:pPr>
            <a:r>
              <a:rPr lang="en-US" sz="1250" b="1" spc="150" kern="0" dirty="0">
                <a:solidFill>
                  <a:srgbClr val="33415A"/>
                </a:solidFill>
                <a:latin typeface="Calibri" pitchFamily="34" charset="0"/>
                <a:ea typeface="Calibri" pitchFamily="34" charset="-122"/>
                <a:cs typeface="Calibri" pitchFamily="34" charset="-120"/>
              </a:rPr>
              <a:t>AMD 1</a:t>
            </a:r>
            <a:endParaRPr lang="en-US" sz="1250" dirty="0"/>
          </a:p>
        </p:txBody>
      </p:sp>
      <p:sp>
        <p:nvSpPr>
          <p:cNvPr id="14" name="Text 12"/>
          <p:cNvSpPr/>
          <p:nvPr/>
        </p:nvSpPr>
        <p:spPr>
          <a:xfrm>
            <a:off x="3017520" y="2743200"/>
            <a:ext cx="1609344" cy="365760"/>
          </a:xfrm>
          <a:prstGeom prst="rect">
            <a:avLst/>
          </a:prstGeom>
          <a:noFill/>
          <a:ln/>
        </p:spPr>
        <p:txBody>
          <a:bodyPr wrap="square" lIns="0" tIns="0" rIns="0" bIns="0" rtlCol="0" anchor="ctr"/>
          <a:lstStyle/>
          <a:p>
            <a:pPr indent="0" marL="0">
              <a:buNone/>
            </a:pPr>
            <a:r>
              <a:rPr lang="en-US" sz="1800" b="1" dirty="0">
                <a:solidFill>
                  <a:srgbClr val="0B1B2E"/>
                </a:solidFill>
                <a:latin typeface="Georgia" pitchFamily="34" charset="0"/>
                <a:ea typeface="Georgia" pitchFamily="34" charset="-122"/>
                <a:cs typeface="Georgia" pitchFamily="34" charset="-120"/>
              </a:rPr>
              <a:t>2019</a:t>
            </a:r>
            <a:endParaRPr lang="en-US" sz="1800" dirty="0"/>
          </a:p>
        </p:txBody>
      </p:sp>
      <p:sp>
        <p:nvSpPr>
          <p:cNvPr id="15" name="Text 13"/>
          <p:cNvSpPr/>
          <p:nvPr/>
        </p:nvSpPr>
        <p:spPr>
          <a:xfrm>
            <a:off x="3017520" y="3172968"/>
            <a:ext cx="1655064" cy="548640"/>
          </a:xfrm>
          <a:prstGeom prst="rect">
            <a:avLst/>
          </a:prstGeom>
          <a:noFill/>
          <a:ln/>
        </p:spPr>
        <p:txBody>
          <a:bodyPr wrap="square" lIns="0" tIns="0" rIns="0" bIns="0" rtlCol="0" anchor="t"/>
          <a:lstStyle/>
          <a:p>
            <a:pPr indent="0" marL="0">
              <a:lnSpc>
                <a:spcPts val="1350"/>
              </a:lnSpc>
              <a:buNone/>
            </a:pPr>
            <a:r>
              <a:rPr lang="en-US" sz="1050" dirty="0">
                <a:solidFill>
                  <a:srgbClr val="64748B"/>
                </a:solidFill>
                <a:latin typeface="Calibri" pitchFamily="34" charset="0"/>
                <a:ea typeface="Calibri" pitchFamily="34" charset="-122"/>
                <a:cs typeface="Calibri" pitchFamily="34" charset="-120"/>
              </a:rPr>
              <a:t>Replaces rate exhibit</a:t>
            </a:r>
            <a:endParaRPr lang="en-US" sz="1050" dirty="0"/>
          </a:p>
        </p:txBody>
      </p:sp>
      <p:sp>
        <p:nvSpPr>
          <p:cNvPr id="16" name="Shape 14"/>
          <p:cNvSpPr/>
          <p:nvPr/>
        </p:nvSpPr>
        <p:spPr>
          <a:xfrm>
            <a:off x="4846320" y="3017520"/>
            <a:ext cx="219456" cy="0"/>
          </a:xfrm>
          <a:prstGeom prst="line">
            <a:avLst/>
          </a:prstGeom>
          <a:noFill/>
          <a:ln w="25400">
            <a:solidFill>
              <a:srgbClr val="0F766E"/>
            </a:solidFill>
            <a:prstDash val="solid"/>
            <a:tailEnd type="triangle"/>
          </a:ln>
        </p:spPr>
      </p:sp>
      <p:sp>
        <p:nvSpPr>
          <p:cNvPr id="17" name="Shape 15"/>
          <p:cNvSpPr/>
          <p:nvPr/>
        </p:nvSpPr>
        <p:spPr>
          <a:xfrm>
            <a:off x="5102352" y="2240280"/>
            <a:ext cx="1975104" cy="1554480"/>
          </a:xfrm>
          <a:prstGeom prst="rect">
            <a:avLst/>
          </a:prstGeom>
          <a:solidFill>
            <a:srgbClr val="F2F6F9"/>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8" name="Shape 16"/>
          <p:cNvSpPr/>
          <p:nvPr/>
        </p:nvSpPr>
        <p:spPr>
          <a:xfrm>
            <a:off x="5102352" y="2240280"/>
            <a:ext cx="1975104" cy="82296"/>
          </a:xfrm>
          <a:prstGeom prst="rect">
            <a:avLst/>
          </a:prstGeom>
          <a:solidFill>
            <a:srgbClr val="64748B"/>
          </a:solidFill>
          <a:ln/>
        </p:spPr>
      </p:sp>
      <p:sp>
        <p:nvSpPr>
          <p:cNvPr id="19" name="Text 17"/>
          <p:cNvSpPr/>
          <p:nvPr/>
        </p:nvSpPr>
        <p:spPr>
          <a:xfrm>
            <a:off x="5285232" y="2423160"/>
            <a:ext cx="1609344" cy="320040"/>
          </a:xfrm>
          <a:prstGeom prst="rect">
            <a:avLst/>
          </a:prstGeom>
          <a:noFill/>
          <a:ln/>
        </p:spPr>
        <p:txBody>
          <a:bodyPr wrap="square" lIns="0" tIns="0" rIns="0" bIns="0" rtlCol="0" anchor="ctr"/>
          <a:lstStyle/>
          <a:p>
            <a:pPr indent="0" marL="0">
              <a:buNone/>
            </a:pPr>
            <a:r>
              <a:rPr lang="en-US" sz="1250" b="1" spc="150" kern="0" dirty="0">
                <a:solidFill>
                  <a:srgbClr val="33415A"/>
                </a:solidFill>
                <a:latin typeface="Calibri" pitchFamily="34" charset="0"/>
                <a:ea typeface="Calibri" pitchFamily="34" charset="-122"/>
                <a:cs typeface="Calibri" pitchFamily="34" charset="-120"/>
              </a:rPr>
              <a:t>AMD 2</a:t>
            </a:r>
            <a:endParaRPr lang="en-US" sz="1250" dirty="0"/>
          </a:p>
        </p:txBody>
      </p:sp>
      <p:sp>
        <p:nvSpPr>
          <p:cNvPr id="20" name="Text 18"/>
          <p:cNvSpPr/>
          <p:nvPr/>
        </p:nvSpPr>
        <p:spPr>
          <a:xfrm>
            <a:off x="5285232" y="2743200"/>
            <a:ext cx="1609344" cy="365760"/>
          </a:xfrm>
          <a:prstGeom prst="rect">
            <a:avLst/>
          </a:prstGeom>
          <a:noFill/>
          <a:ln/>
        </p:spPr>
        <p:txBody>
          <a:bodyPr wrap="square" lIns="0" tIns="0" rIns="0" bIns="0" rtlCol="0" anchor="ctr"/>
          <a:lstStyle/>
          <a:p>
            <a:pPr indent="0" marL="0">
              <a:buNone/>
            </a:pPr>
            <a:r>
              <a:rPr lang="en-US" sz="1800" b="1" dirty="0">
                <a:solidFill>
                  <a:srgbClr val="0B1B2E"/>
                </a:solidFill>
                <a:latin typeface="Georgia" pitchFamily="34" charset="0"/>
                <a:ea typeface="Georgia" pitchFamily="34" charset="-122"/>
                <a:cs typeface="Georgia" pitchFamily="34" charset="-120"/>
              </a:rPr>
              <a:t>2020</a:t>
            </a:r>
            <a:endParaRPr lang="en-US" sz="1800" dirty="0"/>
          </a:p>
        </p:txBody>
      </p:sp>
      <p:sp>
        <p:nvSpPr>
          <p:cNvPr id="21" name="Text 19"/>
          <p:cNvSpPr/>
          <p:nvPr/>
        </p:nvSpPr>
        <p:spPr>
          <a:xfrm>
            <a:off x="5285232" y="3172968"/>
            <a:ext cx="1655064" cy="548640"/>
          </a:xfrm>
          <a:prstGeom prst="rect">
            <a:avLst/>
          </a:prstGeom>
          <a:noFill/>
          <a:ln/>
        </p:spPr>
        <p:txBody>
          <a:bodyPr wrap="square" lIns="0" tIns="0" rIns="0" bIns="0" rtlCol="0" anchor="t"/>
          <a:lstStyle/>
          <a:p>
            <a:pPr indent="0" marL="0">
              <a:lnSpc>
                <a:spcPts val="1350"/>
              </a:lnSpc>
              <a:buNone/>
            </a:pPr>
            <a:r>
              <a:rPr lang="en-US" sz="1050" dirty="0">
                <a:solidFill>
                  <a:srgbClr val="64748B"/>
                </a:solidFill>
                <a:latin typeface="Calibri" pitchFamily="34" charset="0"/>
                <a:ea typeface="Calibri" pitchFamily="34" charset="-122"/>
                <a:cs typeface="Calibri" pitchFamily="34" charset="-120"/>
              </a:rPr>
              <a:t>Modifies stop-loss</a:t>
            </a:r>
            <a:endParaRPr lang="en-US" sz="1050" dirty="0"/>
          </a:p>
        </p:txBody>
      </p:sp>
      <p:sp>
        <p:nvSpPr>
          <p:cNvPr id="22" name="Shape 20"/>
          <p:cNvSpPr/>
          <p:nvPr/>
        </p:nvSpPr>
        <p:spPr>
          <a:xfrm>
            <a:off x="7114032" y="3017520"/>
            <a:ext cx="219456" cy="0"/>
          </a:xfrm>
          <a:prstGeom prst="line">
            <a:avLst/>
          </a:prstGeom>
          <a:noFill/>
          <a:ln w="25400">
            <a:solidFill>
              <a:srgbClr val="0F766E"/>
            </a:solidFill>
            <a:prstDash val="solid"/>
            <a:tailEnd type="triangle"/>
          </a:ln>
        </p:spPr>
      </p:sp>
      <p:sp>
        <p:nvSpPr>
          <p:cNvPr id="23" name="Shape 21"/>
          <p:cNvSpPr/>
          <p:nvPr/>
        </p:nvSpPr>
        <p:spPr>
          <a:xfrm>
            <a:off x="7370064" y="2240280"/>
            <a:ext cx="1975104" cy="1554480"/>
          </a:xfrm>
          <a:prstGeom prst="rect">
            <a:avLst/>
          </a:prstGeom>
          <a:solidFill>
            <a:srgbClr val="F2F6F9"/>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24" name="Shape 22"/>
          <p:cNvSpPr/>
          <p:nvPr/>
        </p:nvSpPr>
        <p:spPr>
          <a:xfrm>
            <a:off x="7370064" y="2240280"/>
            <a:ext cx="1975104" cy="82296"/>
          </a:xfrm>
          <a:prstGeom prst="rect">
            <a:avLst/>
          </a:prstGeom>
          <a:solidFill>
            <a:srgbClr val="64748B"/>
          </a:solidFill>
          <a:ln/>
        </p:spPr>
      </p:sp>
      <p:sp>
        <p:nvSpPr>
          <p:cNvPr id="25" name="Text 23"/>
          <p:cNvSpPr/>
          <p:nvPr/>
        </p:nvSpPr>
        <p:spPr>
          <a:xfrm>
            <a:off x="7552944" y="2423160"/>
            <a:ext cx="1609344" cy="320040"/>
          </a:xfrm>
          <a:prstGeom prst="rect">
            <a:avLst/>
          </a:prstGeom>
          <a:noFill/>
          <a:ln/>
        </p:spPr>
        <p:txBody>
          <a:bodyPr wrap="square" lIns="0" tIns="0" rIns="0" bIns="0" rtlCol="0" anchor="ctr"/>
          <a:lstStyle/>
          <a:p>
            <a:pPr indent="0" marL="0">
              <a:buNone/>
            </a:pPr>
            <a:r>
              <a:rPr lang="en-US" sz="1250" b="1" spc="150" kern="0" dirty="0">
                <a:solidFill>
                  <a:srgbClr val="33415A"/>
                </a:solidFill>
                <a:latin typeface="Calibri" pitchFamily="34" charset="0"/>
                <a:ea typeface="Calibri" pitchFamily="34" charset="-122"/>
                <a:cs typeface="Calibri" pitchFamily="34" charset="-120"/>
              </a:rPr>
              <a:t>AMD 3</a:t>
            </a:r>
            <a:endParaRPr lang="en-US" sz="1250" dirty="0"/>
          </a:p>
        </p:txBody>
      </p:sp>
      <p:sp>
        <p:nvSpPr>
          <p:cNvPr id="26" name="Text 24"/>
          <p:cNvSpPr/>
          <p:nvPr/>
        </p:nvSpPr>
        <p:spPr>
          <a:xfrm>
            <a:off x="7552944" y="2743200"/>
            <a:ext cx="1609344" cy="365760"/>
          </a:xfrm>
          <a:prstGeom prst="rect">
            <a:avLst/>
          </a:prstGeom>
          <a:noFill/>
          <a:ln/>
        </p:spPr>
        <p:txBody>
          <a:bodyPr wrap="square" lIns="0" tIns="0" rIns="0" bIns="0" rtlCol="0" anchor="ctr"/>
          <a:lstStyle/>
          <a:p>
            <a:pPr indent="0" marL="0">
              <a:buNone/>
            </a:pPr>
            <a:r>
              <a:rPr lang="en-US" sz="1800" b="1" dirty="0">
                <a:solidFill>
                  <a:srgbClr val="0B1B2E"/>
                </a:solidFill>
                <a:latin typeface="Georgia" pitchFamily="34" charset="0"/>
                <a:ea typeface="Georgia" pitchFamily="34" charset="-122"/>
                <a:cs typeface="Georgia" pitchFamily="34" charset="-120"/>
              </a:rPr>
              <a:t>2022</a:t>
            </a:r>
            <a:endParaRPr lang="en-US" sz="1800" dirty="0"/>
          </a:p>
        </p:txBody>
      </p:sp>
      <p:sp>
        <p:nvSpPr>
          <p:cNvPr id="27" name="Text 25"/>
          <p:cNvSpPr/>
          <p:nvPr/>
        </p:nvSpPr>
        <p:spPr>
          <a:xfrm>
            <a:off x="7552944" y="3172968"/>
            <a:ext cx="1655064" cy="548640"/>
          </a:xfrm>
          <a:prstGeom prst="rect">
            <a:avLst/>
          </a:prstGeom>
          <a:noFill/>
          <a:ln/>
        </p:spPr>
        <p:txBody>
          <a:bodyPr wrap="square" lIns="0" tIns="0" rIns="0" bIns="0" rtlCol="0" anchor="t"/>
          <a:lstStyle/>
          <a:p>
            <a:pPr indent="0" marL="0">
              <a:lnSpc>
                <a:spcPts val="1350"/>
              </a:lnSpc>
              <a:buNone/>
            </a:pPr>
            <a:r>
              <a:rPr lang="en-US" sz="1050" dirty="0">
                <a:solidFill>
                  <a:srgbClr val="64748B"/>
                </a:solidFill>
                <a:latin typeface="Calibri" pitchFamily="34" charset="0"/>
                <a:ea typeface="Calibri" pitchFamily="34" charset="-122"/>
                <a:cs typeface="Calibri" pitchFamily="34" charset="-120"/>
              </a:rPr>
              <a:t>Replaces rate exhibit</a:t>
            </a:r>
            <a:endParaRPr lang="en-US" sz="1050" dirty="0"/>
          </a:p>
        </p:txBody>
      </p:sp>
      <p:sp>
        <p:nvSpPr>
          <p:cNvPr id="28" name="Shape 26"/>
          <p:cNvSpPr/>
          <p:nvPr/>
        </p:nvSpPr>
        <p:spPr>
          <a:xfrm>
            <a:off x="9381744" y="3017520"/>
            <a:ext cx="219456" cy="0"/>
          </a:xfrm>
          <a:prstGeom prst="line">
            <a:avLst/>
          </a:prstGeom>
          <a:noFill/>
          <a:ln w="25400">
            <a:solidFill>
              <a:srgbClr val="0F766E"/>
            </a:solidFill>
            <a:prstDash val="solid"/>
            <a:tailEnd type="triangle"/>
          </a:ln>
        </p:spPr>
      </p:sp>
      <p:sp>
        <p:nvSpPr>
          <p:cNvPr id="29" name="Shape 27"/>
          <p:cNvSpPr/>
          <p:nvPr/>
        </p:nvSpPr>
        <p:spPr>
          <a:xfrm>
            <a:off x="9637776" y="2240280"/>
            <a:ext cx="1975104" cy="1554480"/>
          </a:xfrm>
          <a:prstGeom prst="rect">
            <a:avLst/>
          </a:prstGeom>
          <a:solidFill>
            <a:srgbClr val="0B1B2E"/>
          </a:solidFill>
          <a:ln w="12700">
            <a:solidFill>
              <a:srgbClr val="0B1B2E"/>
            </a:solidFill>
            <a:prstDash val="solid"/>
          </a:ln>
          <a:effectLst>
            <a:outerShdw sx="100000" sy="100000" kx="0" ky="0" algn="bl" rotWithShape="0" blurRad="177800" dist="50800" dir="8100000">
              <a:srgbClr val="0B1B2E">
                <a:alpha val="22000"/>
              </a:srgbClr>
            </a:outerShdw>
          </a:effectLst>
        </p:spPr>
      </p:sp>
      <p:sp>
        <p:nvSpPr>
          <p:cNvPr id="30" name="Shape 28"/>
          <p:cNvSpPr/>
          <p:nvPr/>
        </p:nvSpPr>
        <p:spPr>
          <a:xfrm>
            <a:off x="9637776" y="2240280"/>
            <a:ext cx="1975104" cy="82296"/>
          </a:xfrm>
          <a:prstGeom prst="rect">
            <a:avLst/>
          </a:prstGeom>
          <a:solidFill>
            <a:srgbClr val="14B8A6"/>
          </a:solidFill>
          <a:ln/>
        </p:spPr>
      </p:sp>
      <p:sp>
        <p:nvSpPr>
          <p:cNvPr id="31" name="Text 29"/>
          <p:cNvSpPr/>
          <p:nvPr/>
        </p:nvSpPr>
        <p:spPr>
          <a:xfrm>
            <a:off x="9820656" y="2423160"/>
            <a:ext cx="1609344" cy="320040"/>
          </a:xfrm>
          <a:prstGeom prst="rect">
            <a:avLst/>
          </a:prstGeom>
          <a:noFill/>
          <a:ln/>
        </p:spPr>
        <p:txBody>
          <a:bodyPr wrap="square" lIns="0" tIns="0" rIns="0" bIns="0" rtlCol="0" anchor="ctr"/>
          <a:lstStyle/>
          <a:p>
            <a:pPr indent="0" marL="0">
              <a:buNone/>
            </a:pPr>
            <a:r>
              <a:rPr lang="en-US" sz="1250" b="1" spc="150" kern="0" dirty="0">
                <a:solidFill>
                  <a:srgbClr val="5EEAD4"/>
                </a:solidFill>
                <a:latin typeface="Calibri" pitchFamily="34" charset="0"/>
                <a:ea typeface="Calibri" pitchFamily="34" charset="-122"/>
                <a:cs typeface="Calibri" pitchFamily="34" charset="-120"/>
              </a:rPr>
              <a:t>AMD 4</a:t>
            </a:r>
            <a:endParaRPr lang="en-US" sz="1250" dirty="0"/>
          </a:p>
        </p:txBody>
      </p:sp>
      <p:sp>
        <p:nvSpPr>
          <p:cNvPr id="32" name="Text 30"/>
          <p:cNvSpPr/>
          <p:nvPr/>
        </p:nvSpPr>
        <p:spPr>
          <a:xfrm>
            <a:off x="9820656" y="2743200"/>
            <a:ext cx="1609344" cy="36576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2025</a:t>
            </a:r>
            <a:endParaRPr lang="en-US" sz="1800" dirty="0"/>
          </a:p>
        </p:txBody>
      </p:sp>
      <p:sp>
        <p:nvSpPr>
          <p:cNvPr id="33" name="Text 31"/>
          <p:cNvSpPr/>
          <p:nvPr/>
        </p:nvSpPr>
        <p:spPr>
          <a:xfrm>
            <a:off x="9820656" y="3172968"/>
            <a:ext cx="1655064" cy="548640"/>
          </a:xfrm>
          <a:prstGeom prst="rect">
            <a:avLst/>
          </a:prstGeom>
          <a:noFill/>
          <a:ln/>
        </p:spPr>
        <p:txBody>
          <a:bodyPr wrap="square" lIns="0" tIns="0" rIns="0" bIns="0" rtlCol="0" anchor="t"/>
          <a:lstStyle/>
          <a:p>
            <a:pPr indent="0" marL="0">
              <a:lnSpc>
                <a:spcPts val="1350"/>
              </a:lnSpc>
              <a:buNone/>
            </a:pPr>
            <a:r>
              <a:rPr lang="en-US" sz="1050" dirty="0">
                <a:solidFill>
                  <a:srgbClr val="93A4BD"/>
                </a:solidFill>
                <a:latin typeface="Calibri" pitchFamily="34" charset="0"/>
                <a:ea typeface="Calibri" pitchFamily="34" charset="-122"/>
                <a:cs typeface="Calibri" pitchFamily="34" charset="-120"/>
              </a:rPr>
              <a:t>Adds program rates</a:t>
            </a:r>
            <a:endParaRPr lang="en-US" sz="1050" dirty="0"/>
          </a:p>
        </p:txBody>
      </p:sp>
      <p:sp>
        <p:nvSpPr>
          <p:cNvPr id="34" name="Text 32"/>
          <p:cNvSpPr/>
          <p:nvPr/>
        </p:nvSpPr>
        <p:spPr>
          <a:xfrm>
            <a:off x="9820656" y="3794760"/>
            <a:ext cx="1609344" cy="0"/>
          </a:xfrm>
          <a:prstGeom prst="rect">
            <a:avLst/>
          </a:prstGeom>
          <a:noFill/>
          <a:ln/>
        </p:spPr>
        <p:txBody>
          <a:bodyPr wrap="square" lIns="0" tIns="0" rIns="0" bIns="0" rtlCol="0" anchor="ctr"/>
          <a:lstStyle/>
          <a:p>
            <a:pPr indent="0" marL="0">
              <a:buNone/>
            </a:pPr>
            <a:r>
              <a:rPr lang="en-US" sz="900" b="1" dirty="0">
                <a:solidFill>
                  <a:srgbClr val="5EEAD4"/>
                </a:solidFill>
                <a:latin typeface="Calibri" pitchFamily="34" charset="0"/>
                <a:ea typeface="Calibri" pitchFamily="34" charset="-122"/>
                <a:cs typeface="Calibri" pitchFamily="34" charset="-120"/>
              </a:rPr>
              <a:t>CURRENT</a:t>
            </a:r>
            <a:endParaRPr lang="en-US" sz="900" dirty="0"/>
          </a:p>
        </p:txBody>
      </p:sp>
      <p:sp>
        <p:nvSpPr>
          <p:cNvPr id="35" name="Text 33"/>
          <p:cNvSpPr/>
          <p:nvPr/>
        </p:nvSpPr>
        <p:spPr>
          <a:xfrm>
            <a:off x="566928" y="3977640"/>
            <a:ext cx="11057839" cy="274320"/>
          </a:xfrm>
          <a:prstGeom prst="rect">
            <a:avLst/>
          </a:prstGeom>
          <a:noFill/>
          <a:ln/>
        </p:spPr>
        <p:txBody>
          <a:bodyPr wrap="square" lIns="0" tIns="0" rIns="0" bIns="0" rtlCol="0" anchor="ctr"/>
          <a:lstStyle/>
          <a:p>
            <a:pPr algn="ctr" indent="0" marL="0">
              <a:buNone/>
            </a:pPr>
            <a:r>
              <a:rPr lang="en-US" sz="950" b="1" spc="200" kern="0" dirty="0">
                <a:solidFill>
                  <a:srgbClr val="F26A4B"/>
                </a:solidFill>
                <a:latin typeface="Calibri" pitchFamily="34" charset="0"/>
                <a:ea typeface="Calibri" pitchFamily="34" charset="-122"/>
                <a:cs typeface="Calibri" pitchFamily="34" charset="-120"/>
              </a:rPr>
              <a:t>RESOLVES TO  →  CURRENT STATE</a:t>
            </a:r>
            <a:endParaRPr lang="en-US" sz="950" dirty="0"/>
          </a:p>
        </p:txBody>
      </p:sp>
      <p:sp>
        <p:nvSpPr>
          <p:cNvPr id="36" name="Text 34"/>
          <p:cNvSpPr/>
          <p:nvPr/>
        </p:nvSpPr>
        <p:spPr>
          <a:xfrm>
            <a:off x="566928" y="4389120"/>
            <a:ext cx="5486400" cy="274320"/>
          </a:xfrm>
          <a:prstGeom prst="rect">
            <a:avLst/>
          </a:prstGeom>
          <a:noFill/>
          <a:ln/>
        </p:spPr>
        <p:txBody>
          <a:bodyPr wrap="square" lIns="0" tIns="0" rIns="0" bIns="0" rtlCol="0" anchor="ctr"/>
          <a:lstStyle/>
          <a:p>
            <a:pPr indent="0" marL="0">
              <a:buNone/>
            </a:pPr>
            <a:r>
              <a:rPr lang="en-US" sz="1000" b="1" spc="150" kern="0" dirty="0">
                <a:solidFill>
                  <a:srgbClr val="14B8A6"/>
                </a:solidFill>
                <a:latin typeface="Calibri" pitchFamily="34" charset="0"/>
                <a:ea typeface="Calibri" pitchFamily="34" charset="-122"/>
                <a:cs typeface="Calibri" pitchFamily="34" charset="-120"/>
              </a:rPr>
              <a:t>AMENDMENT SCOPE TYPES</a:t>
            </a:r>
            <a:endParaRPr lang="en-US" sz="1000" dirty="0"/>
          </a:p>
        </p:txBody>
      </p:sp>
      <p:sp>
        <p:nvSpPr>
          <p:cNvPr id="37" name="Shape 35"/>
          <p:cNvSpPr/>
          <p:nvPr/>
        </p:nvSpPr>
        <p:spPr>
          <a:xfrm>
            <a:off x="566928" y="4709160"/>
            <a:ext cx="1962912" cy="11430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38" name="Shape 36"/>
          <p:cNvSpPr/>
          <p:nvPr/>
        </p:nvSpPr>
        <p:spPr>
          <a:xfrm>
            <a:off x="566928" y="4709160"/>
            <a:ext cx="82296" cy="1143000"/>
          </a:xfrm>
          <a:prstGeom prst="rect">
            <a:avLst/>
          </a:prstGeom>
          <a:solidFill>
            <a:srgbClr val="14B8A6"/>
          </a:solidFill>
          <a:ln/>
        </p:spPr>
      </p:sp>
      <p:sp>
        <p:nvSpPr>
          <p:cNvPr id="39" name="Text 37"/>
          <p:cNvSpPr/>
          <p:nvPr/>
        </p:nvSpPr>
        <p:spPr>
          <a:xfrm>
            <a:off x="768096" y="4864608"/>
            <a:ext cx="1642872" cy="45720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Full replacement</a:t>
            </a:r>
            <a:endParaRPr lang="en-US" sz="1200" dirty="0"/>
          </a:p>
        </p:txBody>
      </p:sp>
      <p:sp>
        <p:nvSpPr>
          <p:cNvPr id="40" name="Text 38"/>
          <p:cNvSpPr/>
          <p:nvPr/>
        </p:nvSpPr>
        <p:spPr>
          <a:xfrm>
            <a:off x="768096" y="5321808"/>
            <a:ext cx="1615440" cy="457200"/>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Supersedes all prior rates</a:t>
            </a:r>
            <a:endParaRPr lang="en-US" sz="1000" dirty="0"/>
          </a:p>
        </p:txBody>
      </p:sp>
      <p:sp>
        <p:nvSpPr>
          <p:cNvPr id="41" name="Shape 39"/>
          <p:cNvSpPr/>
          <p:nvPr/>
        </p:nvSpPr>
        <p:spPr>
          <a:xfrm>
            <a:off x="2694432" y="4709160"/>
            <a:ext cx="1962912" cy="11430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42" name="Shape 40"/>
          <p:cNvSpPr/>
          <p:nvPr/>
        </p:nvSpPr>
        <p:spPr>
          <a:xfrm>
            <a:off x="2694432" y="4709160"/>
            <a:ext cx="82296" cy="1143000"/>
          </a:xfrm>
          <a:prstGeom prst="rect">
            <a:avLst/>
          </a:prstGeom>
          <a:solidFill>
            <a:srgbClr val="14B8A6"/>
          </a:solidFill>
          <a:ln/>
        </p:spPr>
      </p:sp>
      <p:sp>
        <p:nvSpPr>
          <p:cNvPr id="43" name="Text 41"/>
          <p:cNvSpPr/>
          <p:nvPr/>
        </p:nvSpPr>
        <p:spPr>
          <a:xfrm>
            <a:off x="2895600" y="4864608"/>
            <a:ext cx="1642872" cy="45720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Targeted</a:t>
            </a:r>
            <a:endParaRPr lang="en-US" sz="1200" dirty="0"/>
          </a:p>
        </p:txBody>
      </p:sp>
      <p:sp>
        <p:nvSpPr>
          <p:cNvPr id="44" name="Text 42"/>
          <p:cNvSpPr/>
          <p:nvPr/>
        </p:nvSpPr>
        <p:spPr>
          <a:xfrm>
            <a:off x="2895600" y="5321808"/>
            <a:ext cx="1615440" cy="457200"/>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Supersedes only specific lines</a:t>
            </a:r>
            <a:endParaRPr lang="en-US" sz="1000" dirty="0"/>
          </a:p>
        </p:txBody>
      </p:sp>
      <p:sp>
        <p:nvSpPr>
          <p:cNvPr id="45" name="Shape 43"/>
          <p:cNvSpPr/>
          <p:nvPr/>
        </p:nvSpPr>
        <p:spPr>
          <a:xfrm>
            <a:off x="4821936" y="4709160"/>
            <a:ext cx="1962912" cy="114300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46" name="Shape 44"/>
          <p:cNvSpPr/>
          <p:nvPr/>
        </p:nvSpPr>
        <p:spPr>
          <a:xfrm>
            <a:off x="4821936" y="4709160"/>
            <a:ext cx="82296" cy="1143000"/>
          </a:xfrm>
          <a:prstGeom prst="rect">
            <a:avLst/>
          </a:prstGeom>
          <a:solidFill>
            <a:srgbClr val="14B8A6"/>
          </a:solidFill>
          <a:ln/>
        </p:spPr>
      </p:sp>
      <p:sp>
        <p:nvSpPr>
          <p:cNvPr id="47" name="Text 45"/>
          <p:cNvSpPr/>
          <p:nvPr/>
        </p:nvSpPr>
        <p:spPr>
          <a:xfrm>
            <a:off x="5023104" y="4864608"/>
            <a:ext cx="1642872" cy="45720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Term extension</a:t>
            </a:r>
            <a:endParaRPr lang="en-US" sz="1200" dirty="0"/>
          </a:p>
        </p:txBody>
      </p:sp>
      <p:sp>
        <p:nvSpPr>
          <p:cNvPr id="48" name="Text 46"/>
          <p:cNvSpPr/>
          <p:nvPr/>
        </p:nvSpPr>
        <p:spPr>
          <a:xfrm>
            <a:off x="5023104" y="5321808"/>
            <a:ext cx="1615440" cy="457200"/>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Keeps existing rates in force</a:t>
            </a:r>
            <a:endParaRPr lang="en-US" sz="1000" dirty="0"/>
          </a:p>
        </p:txBody>
      </p:sp>
      <p:sp>
        <p:nvSpPr>
          <p:cNvPr id="49" name="Shape 47"/>
          <p:cNvSpPr/>
          <p:nvPr/>
        </p:nvSpPr>
        <p:spPr>
          <a:xfrm>
            <a:off x="7498080" y="4389120"/>
            <a:ext cx="4126687" cy="146304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50" name="Shape 48"/>
          <p:cNvSpPr/>
          <p:nvPr/>
        </p:nvSpPr>
        <p:spPr>
          <a:xfrm>
            <a:off x="7498080" y="4389120"/>
            <a:ext cx="82296" cy="1463040"/>
          </a:xfrm>
          <a:prstGeom prst="rect">
            <a:avLst/>
          </a:prstGeom>
          <a:solidFill>
            <a:srgbClr val="F26A4B"/>
          </a:solidFill>
          <a:ln/>
        </p:spPr>
      </p:sp>
      <p:sp>
        <p:nvSpPr>
          <p:cNvPr id="51" name="Text 49"/>
          <p:cNvSpPr/>
          <p:nvPr/>
        </p:nvSpPr>
        <p:spPr>
          <a:xfrm>
            <a:off x="7772400" y="4572000"/>
            <a:ext cx="3669487" cy="1188720"/>
          </a:xfrm>
          <a:prstGeom prst="rect">
            <a:avLst/>
          </a:prstGeom>
          <a:noFill/>
          <a:ln/>
        </p:spPr>
        <p:txBody>
          <a:bodyPr wrap="square" lIns="0" tIns="0" rIns="0" bIns="0" rtlCol="0" anchor="t"/>
          <a:lstStyle/>
          <a:p>
            <a:pPr indent="0" marL="0">
              <a:lnSpc>
                <a:spcPts val="1700"/>
              </a:lnSpc>
              <a:buNone/>
            </a:pPr>
            <a:r>
              <a:rPr lang="en-US" sz="1200" b="1" spc="100" kern="0" dirty="0">
                <a:solidFill>
                  <a:srgbClr val="F26A4B"/>
                </a:solidFill>
                <a:latin typeface="Calibri" pitchFamily="34" charset="0"/>
                <a:ea typeface="Calibri" pitchFamily="34" charset="-122"/>
                <a:cs typeface="Calibri" pitchFamily="34" charset="-120"/>
              </a:rPr>
              <a:t>Why it matters
</a:t>
            </a:r>
            <a:endParaRPr lang="en-US" sz="1200" dirty="0"/>
          </a:p>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Citing a stale rate in a negotiation is a real financial and relationship risk. Scope-aware supersession makes 'what is true today' automatic and auditable.</a:t>
            </a:r>
            <a:endParaRPr lang="en-US" sz="1200" dirty="0"/>
          </a:p>
        </p:txBody>
      </p:sp>
      <p:sp>
        <p:nvSpPr>
          <p:cNvPr id="52" name="Text 50"/>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53" name="Text 51"/>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08 · CONTRACT LIFECYCLE</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The full lifecycle, tracked as state</a:t>
            </a:r>
            <a:endParaRPr lang="en-US" sz="2900" dirty="0"/>
          </a:p>
        </p:txBody>
      </p:sp>
      <p:sp>
        <p:nvSpPr>
          <p:cNvPr id="4" name="Shape 2"/>
          <p:cNvSpPr/>
          <p:nvPr/>
        </p:nvSpPr>
        <p:spPr>
          <a:xfrm>
            <a:off x="566928" y="2148840"/>
            <a:ext cx="2743200" cy="960120"/>
          </a:xfrm>
          <a:prstGeom prst="roundRect">
            <a:avLst>
              <a:gd name="adj" fmla="val 6667"/>
            </a:avLst>
          </a:prstGeom>
          <a:solidFill>
            <a:srgbClr val="F8FAFC"/>
          </a:solidFill>
          <a:ln/>
          <a:effectLst>
            <a:outerShdw sx="100000" sy="100000" kx="0" ky="0" algn="bl" rotWithShape="0" blurRad="114300" dist="38100" dir="8100000">
              <a:srgbClr val="1E293B">
                <a:alpha val="12000"/>
              </a:srgbClr>
            </a:outerShdw>
          </a:effectLst>
        </p:spPr>
      </p:sp>
      <p:sp>
        <p:nvSpPr>
          <p:cNvPr id="5" name="Text 3"/>
          <p:cNvSpPr/>
          <p:nvPr/>
        </p:nvSpPr>
        <p:spPr>
          <a:xfrm>
            <a:off x="621792" y="2148840"/>
            <a:ext cx="2633472" cy="960120"/>
          </a:xfrm>
          <a:prstGeom prst="rect">
            <a:avLst/>
          </a:prstGeom>
          <a:noFill/>
          <a:ln/>
        </p:spPr>
        <p:txBody>
          <a:bodyPr wrap="square" lIns="0" tIns="0" rIns="0" bIns="0" rtlCol="0" anchor="ctr"/>
          <a:lstStyle/>
          <a:p>
            <a:pPr algn="ctr" indent="0" marL="0">
              <a:lnSpc>
                <a:spcPts val="1275"/>
              </a:lnSpc>
              <a:buNone/>
            </a:pPr>
            <a:r>
              <a:rPr lang="en-US" sz="1250" b="1" dirty="0">
                <a:solidFill>
                  <a:srgbClr val="0B1B2E"/>
                </a:solidFill>
                <a:latin typeface="Calibri" pitchFamily="34" charset="0"/>
                <a:ea typeface="Calibri" pitchFamily="34" charset="-122"/>
                <a:cs typeface="Calibri" pitchFamily="34" charset="-120"/>
              </a:rPr>
              <a:t>Base agreement</a:t>
            </a:r>
            <a:endParaRPr lang="en-US" sz="1250" dirty="0"/>
          </a:p>
          <a:p>
            <a:pPr algn="ctr" indent="0" marL="0">
              <a:lnSpc>
                <a:spcPts val="1275"/>
              </a:lnSpc>
              <a:buNone/>
            </a:pPr>
            <a:r>
              <a:rPr lang="en-US" sz="1250" b="1" dirty="0">
                <a:solidFill>
                  <a:srgbClr val="0B1B2E"/>
                </a:solidFill>
                <a:latin typeface="Calibri" pitchFamily="34" charset="0"/>
                <a:ea typeface="Calibri" pitchFamily="34" charset="-122"/>
                <a:cs typeface="Calibri" pitchFamily="34" charset="-120"/>
              </a:rPr>
              <a:t>Contract created</a:t>
            </a:r>
            <a:endParaRPr lang="en-US" sz="1250" dirty="0"/>
          </a:p>
        </p:txBody>
      </p:sp>
      <p:sp>
        <p:nvSpPr>
          <p:cNvPr id="6" name="Shape 4"/>
          <p:cNvSpPr/>
          <p:nvPr/>
        </p:nvSpPr>
        <p:spPr>
          <a:xfrm>
            <a:off x="3355848" y="2628900"/>
            <a:ext cx="457200" cy="0"/>
          </a:xfrm>
          <a:prstGeom prst="line">
            <a:avLst/>
          </a:prstGeom>
          <a:noFill/>
          <a:ln w="25400">
            <a:solidFill>
              <a:srgbClr val="0F766E"/>
            </a:solidFill>
            <a:prstDash val="solid"/>
            <a:tailEnd type="triangle"/>
          </a:ln>
        </p:spPr>
      </p:sp>
      <p:sp>
        <p:nvSpPr>
          <p:cNvPr id="7" name="Shape 5"/>
          <p:cNvSpPr/>
          <p:nvPr/>
        </p:nvSpPr>
        <p:spPr>
          <a:xfrm>
            <a:off x="3858768" y="2148840"/>
            <a:ext cx="2743200" cy="96012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8" name="Shape 6"/>
          <p:cNvSpPr/>
          <p:nvPr/>
        </p:nvSpPr>
        <p:spPr>
          <a:xfrm>
            <a:off x="3858768" y="2148840"/>
            <a:ext cx="2743200" cy="73152"/>
          </a:xfrm>
          <a:prstGeom prst="rect">
            <a:avLst/>
          </a:prstGeom>
          <a:solidFill>
            <a:srgbClr val="14B8A6"/>
          </a:solidFill>
          <a:ln/>
        </p:spPr>
      </p:sp>
      <p:sp>
        <p:nvSpPr>
          <p:cNvPr id="9" name="Text 7"/>
          <p:cNvSpPr/>
          <p:nvPr/>
        </p:nvSpPr>
        <p:spPr>
          <a:xfrm>
            <a:off x="3858768" y="2148840"/>
            <a:ext cx="2743200" cy="960120"/>
          </a:xfrm>
          <a:prstGeom prst="rect">
            <a:avLst/>
          </a:prstGeom>
          <a:noFill/>
          <a:ln/>
        </p:spPr>
        <p:txBody>
          <a:bodyPr wrap="square" lIns="0" tIns="0" rIns="0" bIns="0" rtlCol="0" anchor="ctr"/>
          <a:lstStyle/>
          <a:p>
            <a:pPr algn="ctr" indent="0" marL="0">
              <a:lnSpc>
                <a:spcPts val="1700"/>
              </a:lnSpc>
              <a:buNone/>
            </a:pPr>
            <a:r>
              <a:rPr lang="en-US" sz="1500" b="1" spc="100" kern="0" dirty="0">
                <a:solidFill>
                  <a:srgbClr val="5EEAD4"/>
                </a:solidFill>
                <a:latin typeface="Calibri" pitchFamily="34" charset="0"/>
                <a:ea typeface="Calibri" pitchFamily="34" charset="-122"/>
                <a:cs typeface="Calibri" pitchFamily="34" charset="-120"/>
              </a:rPr>
              <a:t>ACTIVE
</a:t>
            </a:r>
            <a:endParaRPr lang="en-US" sz="1500" dirty="0"/>
          </a:p>
          <a:p>
            <a:pPr algn="ctr" indent="0" marL="0">
              <a:lnSpc>
                <a:spcPts val="1700"/>
              </a:lnSpc>
              <a:buNone/>
            </a:pPr>
            <a:r>
              <a:rPr lang="en-US" sz="1100" dirty="0">
                <a:solidFill>
                  <a:srgbClr val="93A4BD"/>
                </a:solidFill>
                <a:latin typeface="Calibri" pitchFamily="34" charset="0"/>
                <a:ea typeface="Calibri" pitchFamily="34" charset="-122"/>
                <a:cs typeface="Calibri" pitchFamily="34" charset="-120"/>
              </a:rPr>
              <a:t>In force today</a:t>
            </a:r>
            <a:endParaRPr lang="en-US" sz="1500" dirty="0"/>
          </a:p>
        </p:txBody>
      </p:sp>
      <p:sp>
        <p:nvSpPr>
          <p:cNvPr id="10" name="Shape 8"/>
          <p:cNvSpPr/>
          <p:nvPr/>
        </p:nvSpPr>
        <p:spPr>
          <a:xfrm>
            <a:off x="6647688" y="2628900"/>
            <a:ext cx="548640" cy="0"/>
          </a:xfrm>
          <a:prstGeom prst="line">
            <a:avLst/>
          </a:prstGeom>
          <a:noFill/>
          <a:ln w="25400">
            <a:solidFill>
              <a:srgbClr val="64748B"/>
            </a:solidFill>
            <a:prstDash val="solid"/>
            <a:tailEnd type="triangle"/>
          </a:ln>
        </p:spPr>
      </p:sp>
      <p:sp>
        <p:nvSpPr>
          <p:cNvPr id="11" name="Shape 9"/>
          <p:cNvSpPr/>
          <p:nvPr/>
        </p:nvSpPr>
        <p:spPr>
          <a:xfrm>
            <a:off x="7242048" y="1783080"/>
            <a:ext cx="2286000" cy="685800"/>
          </a:xfrm>
          <a:prstGeom prst="roundRect">
            <a:avLst>
              <a:gd name="adj" fmla="val 9333"/>
            </a:avLst>
          </a:prstGeom>
          <a:solidFill>
            <a:srgbClr val="F2F6F9"/>
          </a:solidFill>
          <a:ln/>
          <a:effectLst>
            <a:outerShdw sx="100000" sy="100000" kx="0" ky="0" algn="bl" rotWithShape="0" blurRad="114300" dist="38100" dir="8100000">
              <a:srgbClr val="1E293B">
                <a:alpha val="12000"/>
              </a:srgbClr>
            </a:outerShdw>
          </a:effectLst>
        </p:spPr>
      </p:sp>
      <p:sp>
        <p:nvSpPr>
          <p:cNvPr id="12" name="Text 10"/>
          <p:cNvSpPr/>
          <p:nvPr/>
        </p:nvSpPr>
        <p:spPr>
          <a:xfrm>
            <a:off x="7296912" y="1783080"/>
            <a:ext cx="2176272" cy="685800"/>
          </a:xfrm>
          <a:prstGeom prst="rect">
            <a:avLst/>
          </a:prstGeom>
          <a:noFill/>
          <a:ln/>
        </p:spPr>
        <p:txBody>
          <a:bodyPr wrap="square" lIns="0" tIns="0" rIns="0" bIns="0" rtlCol="0" anchor="ctr"/>
          <a:lstStyle/>
          <a:p>
            <a:pPr algn="ctr" indent="0" marL="0">
              <a:lnSpc>
                <a:spcPts val="1122"/>
              </a:lnSpc>
              <a:buNone/>
            </a:pPr>
            <a:r>
              <a:rPr lang="en-US" sz="1100" b="1" dirty="0">
                <a:solidFill>
                  <a:srgbClr val="33415A"/>
                </a:solidFill>
                <a:latin typeface="Calibri" pitchFamily="34" charset="0"/>
                <a:ea typeface="Calibri" pitchFamily="34" charset="-122"/>
                <a:cs typeface="Calibri" pitchFamily="34" charset="-120"/>
              </a:rPr>
              <a:t>EXPIRED</a:t>
            </a:r>
            <a:endParaRPr lang="en-US" sz="1100" dirty="0"/>
          </a:p>
          <a:p>
            <a:pPr algn="ctr" indent="0" marL="0">
              <a:lnSpc>
                <a:spcPts val="1122"/>
              </a:lnSpc>
              <a:buNone/>
            </a:pPr>
            <a:r>
              <a:rPr lang="en-US" sz="1100" b="1" dirty="0">
                <a:solidFill>
                  <a:srgbClr val="33415A"/>
                </a:solidFill>
                <a:latin typeface="Calibri" pitchFamily="34" charset="0"/>
                <a:ea typeface="Calibri" pitchFamily="34" charset="-122"/>
                <a:cs typeface="Calibri" pitchFamily="34" charset="-120"/>
              </a:rPr>
              <a:t>Reached end of term</a:t>
            </a:r>
            <a:endParaRPr lang="en-US" sz="1100" dirty="0"/>
          </a:p>
        </p:txBody>
      </p:sp>
      <p:sp>
        <p:nvSpPr>
          <p:cNvPr id="13" name="Shape 11"/>
          <p:cNvSpPr/>
          <p:nvPr/>
        </p:nvSpPr>
        <p:spPr>
          <a:xfrm>
            <a:off x="6647688" y="2628900"/>
            <a:ext cx="548640" cy="0"/>
          </a:xfrm>
          <a:prstGeom prst="line">
            <a:avLst/>
          </a:prstGeom>
          <a:noFill/>
          <a:ln w="25400">
            <a:solidFill>
              <a:srgbClr val="64748B"/>
            </a:solidFill>
            <a:prstDash val="solid"/>
            <a:tailEnd type="triangle"/>
          </a:ln>
        </p:spPr>
      </p:sp>
      <p:sp>
        <p:nvSpPr>
          <p:cNvPr id="14" name="Shape 12"/>
          <p:cNvSpPr/>
          <p:nvPr/>
        </p:nvSpPr>
        <p:spPr>
          <a:xfrm>
            <a:off x="7242048" y="2651760"/>
            <a:ext cx="2286000" cy="685800"/>
          </a:xfrm>
          <a:prstGeom prst="roundRect">
            <a:avLst>
              <a:gd name="adj" fmla="val 9333"/>
            </a:avLst>
          </a:prstGeom>
          <a:solidFill>
            <a:srgbClr val="F2F6F9"/>
          </a:solidFill>
          <a:ln/>
          <a:effectLst>
            <a:outerShdw sx="100000" sy="100000" kx="0" ky="0" algn="bl" rotWithShape="0" blurRad="114300" dist="38100" dir="8100000">
              <a:srgbClr val="1E293B">
                <a:alpha val="12000"/>
              </a:srgbClr>
            </a:outerShdw>
          </a:effectLst>
        </p:spPr>
      </p:sp>
      <p:sp>
        <p:nvSpPr>
          <p:cNvPr id="15" name="Text 13"/>
          <p:cNvSpPr/>
          <p:nvPr/>
        </p:nvSpPr>
        <p:spPr>
          <a:xfrm>
            <a:off x="7296912" y="2651760"/>
            <a:ext cx="2176272" cy="685800"/>
          </a:xfrm>
          <a:prstGeom prst="rect">
            <a:avLst/>
          </a:prstGeom>
          <a:noFill/>
          <a:ln/>
        </p:spPr>
        <p:txBody>
          <a:bodyPr wrap="square" lIns="0" tIns="0" rIns="0" bIns="0" rtlCol="0" anchor="ctr"/>
          <a:lstStyle/>
          <a:p>
            <a:pPr algn="ctr" indent="0" marL="0">
              <a:lnSpc>
                <a:spcPts val="1122"/>
              </a:lnSpc>
              <a:buNone/>
            </a:pPr>
            <a:r>
              <a:rPr lang="en-US" sz="1100" b="1" dirty="0">
                <a:solidFill>
                  <a:srgbClr val="33415A"/>
                </a:solidFill>
                <a:latin typeface="Calibri" pitchFamily="34" charset="0"/>
                <a:ea typeface="Calibri" pitchFamily="34" charset="-122"/>
                <a:cs typeface="Calibri" pitchFamily="34" charset="-120"/>
              </a:rPr>
              <a:t>TERMINATED</a:t>
            </a:r>
            <a:endParaRPr lang="en-US" sz="1100" dirty="0"/>
          </a:p>
          <a:p>
            <a:pPr algn="ctr" indent="0" marL="0">
              <a:lnSpc>
                <a:spcPts val="1122"/>
              </a:lnSpc>
              <a:buNone/>
            </a:pPr>
            <a:r>
              <a:rPr lang="en-US" sz="1100" b="1" dirty="0">
                <a:solidFill>
                  <a:srgbClr val="33415A"/>
                </a:solidFill>
                <a:latin typeface="Calibri" pitchFamily="34" charset="0"/>
                <a:ea typeface="Calibri" pitchFamily="34" charset="-122"/>
                <a:cs typeface="Calibri" pitchFamily="34" charset="-120"/>
              </a:rPr>
              <a:t>Ended by a party</a:t>
            </a:r>
            <a:endParaRPr lang="en-US" sz="1100" dirty="0"/>
          </a:p>
        </p:txBody>
      </p:sp>
      <p:sp>
        <p:nvSpPr>
          <p:cNvPr id="16" name="Shape 14"/>
          <p:cNvSpPr/>
          <p:nvPr/>
        </p:nvSpPr>
        <p:spPr>
          <a:xfrm>
            <a:off x="6647688" y="2628900"/>
            <a:ext cx="548640" cy="0"/>
          </a:xfrm>
          <a:prstGeom prst="line">
            <a:avLst/>
          </a:prstGeom>
          <a:noFill/>
          <a:ln w="25400">
            <a:solidFill>
              <a:srgbClr val="64748B"/>
            </a:solidFill>
            <a:prstDash val="solid"/>
            <a:tailEnd type="triangle"/>
          </a:ln>
        </p:spPr>
      </p:sp>
      <p:sp>
        <p:nvSpPr>
          <p:cNvPr id="17" name="Shape 15"/>
          <p:cNvSpPr/>
          <p:nvPr/>
        </p:nvSpPr>
        <p:spPr>
          <a:xfrm>
            <a:off x="7242048" y="3520440"/>
            <a:ext cx="2286000" cy="685800"/>
          </a:xfrm>
          <a:prstGeom prst="roundRect">
            <a:avLst>
              <a:gd name="adj" fmla="val 9333"/>
            </a:avLst>
          </a:prstGeom>
          <a:solidFill>
            <a:srgbClr val="F2F6F9"/>
          </a:solidFill>
          <a:ln/>
          <a:effectLst>
            <a:outerShdw sx="100000" sy="100000" kx="0" ky="0" algn="bl" rotWithShape="0" blurRad="114300" dist="38100" dir="8100000">
              <a:srgbClr val="1E293B">
                <a:alpha val="12000"/>
              </a:srgbClr>
            </a:outerShdw>
          </a:effectLst>
        </p:spPr>
      </p:sp>
      <p:sp>
        <p:nvSpPr>
          <p:cNvPr id="18" name="Text 16"/>
          <p:cNvSpPr/>
          <p:nvPr/>
        </p:nvSpPr>
        <p:spPr>
          <a:xfrm>
            <a:off x="7296912" y="3520440"/>
            <a:ext cx="2176272" cy="685800"/>
          </a:xfrm>
          <a:prstGeom prst="rect">
            <a:avLst/>
          </a:prstGeom>
          <a:noFill/>
          <a:ln/>
        </p:spPr>
        <p:txBody>
          <a:bodyPr wrap="square" lIns="0" tIns="0" rIns="0" bIns="0" rtlCol="0" anchor="ctr"/>
          <a:lstStyle/>
          <a:p>
            <a:pPr algn="ctr" indent="0" marL="0">
              <a:lnSpc>
                <a:spcPts val="1122"/>
              </a:lnSpc>
              <a:buNone/>
            </a:pPr>
            <a:r>
              <a:rPr lang="en-US" sz="1100" b="1" dirty="0">
                <a:solidFill>
                  <a:srgbClr val="33415A"/>
                </a:solidFill>
                <a:latin typeface="Calibri" pitchFamily="34" charset="0"/>
                <a:ea typeface="Calibri" pitchFamily="34" charset="-122"/>
                <a:cs typeface="Calibri" pitchFamily="34" charset="-120"/>
              </a:rPr>
              <a:t>SUPERSEDED</a:t>
            </a:r>
            <a:endParaRPr lang="en-US" sz="1100" dirty="0"/>
          </a:p>
          <a:p>
            <a:pPr algn="ctr" indent="0" marL="0">
              <a:lnSpc>
                <a:spcPts val="1122"/>
              </a:lnSpc>
              <a:buNone/>
            </a:pPr>
            <a:r>
              <a:rPr lang="en-US" sz="1100" b="1" dirty="0">
                <a:solidFill>
                  <a:srgbClr val="33415A"/>
                </a:solidFill>
                <a:latin typeface="Calibri" pitchFamily="34" charset="0"/>
                <a:ea typeface="Calibri" pitchFamily="34" charset="-122"/>
                <a:cs typeface="Calibri" pitchFamily="34" charset="-120"/>
              </a:rPr>
              <a:t>Replaced by a newer contract</a:t>
            </a:r>
            <a:endParaRPr lang="en-US" sz="1100" dirty="0"/>
          </a:p>
        </p:txBody>
      </p:sp>
      <p:sp>
        <p:nvSpPr>
          <p:cNvPr id="19" name="Text 17"/>
          <p:cNvSpPr/>
          <p:nvPr/>
        </p:nvSpPr>
        <p:spPr>
          <a:xfrm>
            <a:off x="566928" y="3703320"/>
            <a:ext cx="6400800" cy="731520"/>
          </a:xfrm>
          <a:prstGeom prst="rect">
            <a:avLst/>
          </a:prstGeom>
          <a:noFill/>
          <a:ln/>
        </p:spPr>
        <p:txBody>
          <a:bodyPr wrap="square" lIns="0" tIns="0" rIns="0" bIns="0" rtlCol="0" anchor="t"/>
          <a:lstStyle/>
          <a:p>
            <a:pPr indent="0" marL="0">
              <a:lnSpc>
                <a:spcPts val="1700"/>
              </a:lnSpc>
              <a:buNone/>
            </a:pPr>
            <a:r>
              <a:rPr lang="en-US" sz="1250" i="1" dirty="0">
                <a:solidFill>
                  <a:srgbClr val="0F766E"/>
                </a:solidFill>
                <a:latin typeface="Calibri" pitchFamily="34" charset="0"/>
                <a:ea typeface="Calibri" pitchFamily="34" charset="-122"/>
                <a:cs typeface="Calibri" pitchFamily="34" charset="-120"/>
              </a:rPr>
              <a:t>Each contract carries explicit state — so the portfolio knows, at any moment, what is active, expiring, or already replaced.</a:t>
            </a:r>
            <a:endParaRPr lang="en-US" sz="1250" dirty="0"/>
          </a:p>
        </p:txBody>
      </p:sp>
      <p:sp>
        <p:nvSpPr>
          <p:cNvPr id="20" name="Shape 18"/>
          <p:cNvSpPr/>
          <p:nvPr/>
        </p:nvSpPr>
        <p:spPr>
          <a:xfrm>
            <a:off x="566928" y="4572000"/>
            <a:ext cx="3503066" cy="13258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1" name="Shape 19"/>
          <p:cNvSpPr/>
          <p:nvPr/>
        </p:nvSpPr>
        <p:spPr>
          <a:xfrm>
            <a:off x="566928" y="4572000"/>
            <a:ext cx="82296" cy="1325880"/>
          </a:xfrm>
          <a:prstGeom prst="rect">
            <a:avLst/>
          </a:prstGeom>
          <a:solidFill>
            <a:srgbClr val="F26A4B"/>
          </a:solidFill>
          <a:ln/>
        </p:spPr>
      </p:sp>
      <p:sp>
        <p:nvSpPr>
          <p:cNvPr id="22" name="Text 20"/>
          <p:cNvSpPr/>
          <p:nvPr/>
        </p:nvSpPr>
        <p:spPr>
          <a:xfrm>
            <a:off x="795528" y="4754880"/>
            <a:ext cx="3137306"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Point-in-time truth</a:t>
            </a:r>
            <a:endParaRPr lang="en-US" sz="1300" dirty="0"/>
          </a:p>
        </p:txBody>
      </p:sp>
      <p:sp>
        <p:nvSpPr>
          <p:cNvPr id="23" name="Text 21"/>
          <p:cNvSpPr/>
          <p:nvPr/>
        </p:nvSpPr>
        <p:spPr>
          <a:xfrm>
            <a:off x="795528" y="5138928"/>
            <a:ext cx="3091586" cy="685800"/>
          </a:xfrm>
          <a:prstGeom prst="rect">
            <a:avLst/>
          </a:prstGeom>
          <a:noFill/>
          <a:ln/>
        </p:spPr>
        <p:txBody>
          <a:bodyPr wrap="square" lIns="0" tIns="0" rIns="0" bIns="0" rtlCol="0" anchor="t"/>
          <a:lstStyle/>
          <a:p>
            <a:pPr indent="0" marL="0">
              <a:lnSpc>
                <a:spcPts val="1450"/>
              </a:lnSpc>
              <a:buNone/>
            </a:pPr>
            <a:r>
              <a:rPr lang="en-US" sz="1100" dirty="0">
                <a:solidFill>
                  <a:srgbClr val="33415A"/>
                </a:solidFill>
                <a:latin typeface="Calibri" pitchFamily="34" charset="0"/>
                <a:ea typeface="Calibri" pitchFamily="34" charset="-122"/>
                <a:cs typeface="Calibri" pitchFamily="34" charset="-120"/>
              </a:rPr>
              <a:t>Reconstruct what any rate or clause was on a given date.</a:t>
            </a:r>
            <a:endParaRPr lang="en-US" sz="1100" dirty="0"/>
          </a:p>
        </p:txBody>
      </p:sp>
      <p:sp>
        <p:nvSpPr>
          <p:cNvPr id="24" name="Shape 22"/>
          <p:cNvSpPr/>
          <p:nvPr/>
        </p:nvSpPr>
        <p:spPr>
          <a:xfrm>
            <a:off x="4344314" y="4572000"/>
            <a:ext cx="3503066" cy="13258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5" name="Shape 23"/>
          <p:cNvSpPr/>
          <p:nvPr/>
        </p:nvSpPr>
        <p:spPr>
          <a:xfrm>
            <a:off x="4344314" y="4572000"/>
            <a:ext cx="82296" cy="1325880"/>
          </a:xfrm>
          <a:prstGeom prst="rect">
            <a:avLst/>
          </a:prstGeom>
          <a:solidFill>
            <a:srgbClr val="F26A4B"/>
          </a:solidFill>
          <a:ln/>
        </p:spPr>
      </p:sp>
      <p:sp>
        <p:nvSpPr>
          <p:cNvPr id="26" name="Text 24"/>
          <p:cNvSpPr/>
          <p:nvPr/>
        </p:nvSpPr>
        <p:spPr>
          <a:xfrm>
            <a:off x="4572914" y="4754880"/>
            <a:ext cx="3137306"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Proactive renewals</a:t>
            </a:r>
            <a:endParaRPr lang="en-US" sz="1300" dirty="0"/>
          </a:p>
        </p:txBody>
      </p:sp>
      <p:sp>
        <p:nvSpPr>
          <p:cNvPr id="27" name="Text 25"/>
          <p:cNvSpPr/>
          <p:nvPr/>
        </p:nvSpPr>
        <p:spPr>
          <a:xfrm>
            <a:off x="4572914" y="5138928"/>
            <a:ext cx="3091586" cy="685800"/>
          </a:xfrm>
          <a:prstGeom prst="rect">
            <a:avLst/>
          </a:prstGeom>
          <a:noFill/>
          <a:ln/>
        </p:spPr>
        <p:txBody>
          <a:bodyPr wrap="square" lIns="0" tIns="0" rIns="0" bIns="0" rtlCol="0" anchor="t"/>
          <a:lstStyle/>
          <a:p>
            <a:pPr indent="0" marL="0">
              <a:lnSpc>
                <a:spcPts val="1450"/>
              </a:lnSpc>
              <a:buNone/>
            </a:pPr>
            <a:r>
              <a:rPr lang="en-US" sz="1100" dirty="0">
                <a:solidFill>
                  <a:srgbClr val="33415A"/>
                </a:solidFill>
                <a:latin typeface="Calibri" pitchFamily="34" charset="0"/>
                <a:ea typeface="Calibri" pitchFamily="34" charset="-122"/>
                <a:cs typeface="Calibri" pitchFamily="34" charset="-120"/>
              </a:rPr>
              <a:t>Surface contracts expiring soon — no lapses, no surprises.</a:t>
            </a:r>
            <a:endParaRPr lang="en-US" sz="1100" dirty="0"/>
          </a:p>
        </p:txBody>
      </p:sp>
      <p:sp>
        <p:nvSpPr>
          <p:cNvPr id="28" name="Shape 26"/>
          <p:cNvSpPr/>
          <p:nvPr/>
        </p:nvSpPr>
        <p:spPr>
          <a:xfrm>
            <a:off x="8121701" y="4572000"/>
            <a:ext cx="3503066" cy="13258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9" name="Shape 27"/>
          <p:cNvSpPr/>
          <p:nvPr/>
        </p:nvSpPr>
        <p:spPr>
          <a:xfrm>
            <a:off x="8121701" y="4572000"/>
            <a:ext cx="82296" cy="1325880"/>
          </a:xfrm>
          <a:prstGeom prst="rect">
            <a:avLst/>
          </a:prstGeom>
          <a:solidFill>
            <a:srgbClr val="F26A4B"/>
          </a:solidFill>
          <a:ln/>
        </p:spPr>
      </p:sp>
      <p:sp>
        <p:nvSpPr>
          <p:cNvPr id="30" name="Text 28"/>
          <p:cNvSpPr/>
          <p:nvPr/>
        </p:nvSpPr>
        <p:spPr>
          <a:xfrm>
            <a:off x="8350301" y="4754880"/>
            <a:ext cx="3137306"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Audit-ready</a:t>
            </a:r>
            <a:endParaRPr lang="en-US" sz="1300" dirty="0"/>
          </a:p>
        </p:txBody>
      </p:sp>
      <p:sp>
        <p:nvSpPr>
          <p:cNvPr id="31" name="Text 29"/>
          <p:cNvSpPr/>
          <p:nvPr/>
        </p:nvSpPr>
        <p:spPr>
          <a:xfrm>
            <a:off x="8350301" y="5138928"/>
            <a:ext cx="3091586" cy="685800"/>
          </a:xfrm>
          <a:prstGeom prst="rect">
            <a:avLst/>
          </a:prstGeom>
          <a:noFill/>
          <a:ln/>
        </p:spPr>
        <p:txBody>
          <a:bodyPr wrap="square" lIns="0" tIns="0" rIns="0" bIns="0" rtlCol="0" anchor="t"/>
          <a:lstStyle/>
          <a:p>
            <a:pPr indent="0" marL="0">
              <a:lnSpc>
                <a:spcPts val="1450"/>
              </a:lnSpc>
              <a:buNone/>
            </a:pPr>
            <a:r>
              <a:rPr lang="en-US" sz="1100" dirty="0">
                <a:solidFill>
                  <a:srgbClr val="33415A"/>
                </a:solidFill>
                <a:latin typeface="Calibri" pitchFamily="34" charset="0"/>
                <a:ea typeface="Calibri" pitchFamily="34" charset="-122"/>
                <a:cs typeface="Calibri" pitchFamily="34" charset="-120"/>
              </a:rPr>
              <a:t>Every state change is explainable and traceable.</a:t>
            </a:r>
            <a:endParaRPr lang="en-US" sz="1100" dirty="0"/>
          </a:p>
        </p:txBody>
      </p:sp>
      <p:sp>
        <p:nvSpPr>
          <p:cNvPr id="32" name="Text 30"/>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33" name="Text 31"/>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B2E"/>
        </a:solidFill>
      </p:bgPr>
    </p:bg>
    <p:spTree>
      <p:nvGrpSpPr>
        <p:cNvPr id="1" name=""/>
        <p:cNvGrpSpPr/>
        <p:nvPr/>
      </p:nvGrpSpPr>
      <p:grpSpPr>
        <a:xfrm>
          <a:off x="0" y="0"/>
          <a:ext cx="0" cy="0"/>
          <a:chOff x="0" y="0"/>
          <a:chExt cx="0" cy="0"/>
        </a:xfrm>
      </p:grpSpPr>
      <p:sp>
        <p:nvSpPr>
          <p:cNvPr id="2" name="Text 0"/>
          <p:cNvSpPr/>
          <p:nvPr/>
        </p:nvSpPr>
        <p:spPr>
          <a:xfrm>
            <a:off x="566928" y="54864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09 · RAG &amp; RETRIEVAL ARCHITECTURE</a:t>
            </a:r>
            <a:endParaRPr lang="en-US" sz="1150" dirty="0"/>
          </a:p>
        </p:txBody>
      </p:sp>
      <p:sp>
        <p:nvSpPr>
          <p:cNvPr id="3" name="Text 1"/>
          <p:cNvSpPr/>
          <p:nvPr/>
        </p:nvSpPr>
        <p:spPr>
          <a:xfrm>
            <a:off x="566928" y="91440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FFFFFF"/>
                </a:solidFill>
                <a:latin typeface="Georgia" pitchFamily="34" charset="0"/>
                <a:ea typeface="Georgia" pitchFamily="34" charset="-122"/>
                <a:cs typeface="Georgia" pitchFamily="34" charset="-120"/>
              </a:rPr>
              <a:t>Evidence-backed answers, not confident guesses</a:t>
            </a:r>
            <a:endParaRPr lang="en-US" sz="2900" dirty="0"/>
          </a:p>
        </p:txBody>
      </p:sp>
      <p:sp>
        <p:nvSpPr>
          <p:cNvPr id="4" name="Shape 2"/>
          <p:cNvSpPr/>
          <p:nvPr/>
        </p:nvSpPr>
        <p:spPr>
          <a:xfrm>
            <a:off x="566928" y="2286000"/>
            <a:ext cx="1737360" cy="914400"/>
          </a:xfrm>
          <a:prstGeom prst="roundRect">
            <a:avLst>
              <a:gd name="adj" fmla="val 7000"/>
            </a:avLst>
          </a:prstGeom>
          <a:solidFill>
            <a:srgbClr val="13283F"/>
          </a:solidFill>
          <a:ln/>
          <a:effectLst>
            <a:outerShdw sx="100000" sy="100000" kx="0" ky="0" algn="bl" rotWithShape="0" blurRad="114300" dist="38100" dir="8100000">
              <a:srgbClr val="1E293B">
                <a:alpha val="12000"/>
              </a:srgbClr>
            </a:outerShdw>
          </a:effectLst>
        </p:spPr>
      </p:sp>
      <p:sp>
        <p:nvSpPr>
          <p:cNvPr id="5" name="Text 3"/>
          <p:cNvSpPr/>
          <p:nvPr/>
        </p:nvSpPr>
        <p:spPr>
          <a:xfrm>
            <a:off x="621792" y="2286000"/>
            <a:ext cx="1627632" cy="914400"/>
          </a:xfrm>
          <a:prstGeom prst="rect">
            <a:avLst/>
          </a:prstGeom>
          <a:noFill/>
          <a:ln/>
        </p:spPr>
        <p:txBody>
          <a:bodyPr wrap="square" lIns="0" tIns="0" rIns="0" bIns="0" rtlCol="0" anchor="ctr"/>
          <a:lstStyle/>
          <a:p>
            <a:pPr algn="ctr" indent="0" marL="0">
              <a:lnSpc>
                <a:spcPts val="1122"/>
              </a:lnSpc>
              <a:buNone/>
            </a:pPr>
            <a:r>
              <a:rPr lang="en-US" sz="1100" b="1" dirty="0">
                <a:solidFill>
                  <a:srgbClr val="FFFFFF"/>
                </a:solidFill>
                <a:latin typeface="Calibri" pitchFamily="34" charset="0"/>
                <a:ea typeface="Calibri" pitchFamily="34" charset="-122"/>
                <a:cs typeface="Calibri" pitchFamily="34" charset="-120"/>
              </a:rPr>
              <a:t>User question</a:t>
            </a:r>
            <a:endParaRPr lang="en-US" sz="1100" dirty="0"/>
          </a:p>
          <a:p>
            <a:pPr algn="ctr" indent="0" marL="0">
              <a:lnSpc>
                <a:spcPts val="1122"/>
              </a:lnSpc>
              <a:buNone/>
            </a:pPr>
            <a:r>
              <a:rPr lang="en-US" sz="1100" b="1" dirty="0">
                <a:solidFill>
                  <a:srgbClr val="FFFFFF"/>
                </a:solidFill>
                <a:latin typeface="Calibri" pitchFamily="34" charset="0"/>
                <a:ea typeface="Calibri" pitchFamily="34" charset="-122"/>
                <a:cs typeface="Calibri" pitchFamily="34" charset="-120"/>
              </a:rPr>
              <a:t>(natural language)</a:t>
            </a:r>
            <a:endParaRPr lang="en-US" sz="1100" dirty="0"/>
          </a:p>
        </p:txBody>
      </p:sp>
      <p:sp>
        <p:nvSpPr>
          <p:cNvPr id="6" name="Shape 4"/>
          <p:cNvSpPr/>
          <p:nvPr/>
        </p:nvSpPr>
        <p:spPr>
          <a:xfrm>
            <a:off x="2350008" y="2743200"/>
            <a:ext cx="320040" cy="0"/>
          </a:xfrm>
          <a:prstGeom prst="line">
            <a:avLst/>
          </a:prstGeom>
          <a:noFill/>
          <a:ln w="25400">
            <a:solidFill>
              <a:srgbClr val="5EEAD4"/>
            </a:solidFill>
            <a:prstDash val="solid"/>
            <a:tailEnd type="triangle"/>
          </a:ln>
        </p:spPr>
      </p:sp>
      <p:sp>
        <p:nvSpPr>
          <p:cNvPr id="7" name="Shape 5"/>
          <p:cNvSpPr/>
          <p:nvPr/>
        </p:nvSpPr>
        <p:spPr>
          <a:xfrm>
            <a:off x="2715768" y="2286000"/>
            <a:ext cx="1691640" cy="914400"/>
          </a:xfrm>
          <a:prstGeom prst="roundRect">
            <a:avLst>
              <a:gd name="adj" fmla="val 7000"/>
            </a:avLst>
          </a:prstGeom>
          <a:solidFill>
            <a:srgbClr val="13283F"/>
          </a:solidFill>
          <a:ln/>
          <a:effectLst>
            <a:outerShdw sx="100000" sy="100000" kx="0" ky="0" algn="bl" rotWithShape="0" blurRad="114300" dist="38100" dir="8100000">
              <a:srgbClr val="1E293B">
                <a:alpha val="12000"/>
              </a:srgbClr>
            </a:outerShdw>
          </a:effectLst>
        </p:spPr>
      </p:sp>
      <p:sp>
        <p:nvSpPr>
          <p:cNvPr id="8" name="Text 6"/>
          <p:cNvSpPr/>
          <p:nvPr/>
        </p:nvSpPr>
        <p:spPr>
          <a:xfrm>
            <a:off x="2770632" y="2286000"/>
            <a:ext cx="1581912" cy="914400"/>
          </a:xfrm>
          <a:prstGeom prst="rect">
            <a:avLst/>
          </a:prstGeom>
          <a:noFill/>
          <a:ln/>
        </p:spPr>
        <p:txBody>
          <a:bodyPr wrap="square" lIns="0" tIns="0" rIns="0" bIns="0" rtlCol="0" anchor="ctr"/>
          <a:lstStyle/>
          <a:p>
            <a:pPr algn="ctr" indent="0" marL="0">
              <a:lnSpc>
                <a:spcPts val="1122"/>
              </a:lnSpc>
              <a:buNone/>
            </a:pPr>
            <a:r>
              <a:rPr lang="en-US" sz="1100" b="1" dirty="0">
                <a:solidFill>
                  <a:srgbClr val="5EEAD4"/>
                </a:solidFill>
                <a:latin typeface="Calibri" pitchFamily="34" charset="0"/>
                <a:ea typeface="Calibri" pitchFamily="34" charset="-122"/>
                <a:cs typeface="Calibri" pitchFamily="34" charset="-120"/>
              </a:rPr>
              <a:t>Query</a:t>
            </a:r>
            <a:endParaRPr lang="en-US" sz="1100" dirty="0"/>
          </a:p>
          <a:p>
            <a:pPr algn="ctr" indent="0" marL="0">
              <a:lnSpc>
                <a:spcPts val="1122"/>
              </a:lnSpc>
              <a:buNone/>
            </a:pPr>
            <a:r>
              <a:rPr lang="en-US" sz="1100" b="1" dirty="0">
                <a:solidFill>
                  <a:srgbClr val="5EEAD4"/>
                </a:solidFill>
                <a:latin typeface="Calibri" pitchFamily="34" charset="0"/>
                <a:ea typeface="Calibri" pitchFamily="34" charset="-122"/>
                <a:cs typeface="Calibri" pitchFamily="34" charset="-120"/>
              </a:rPr>
              <a:t>understanding</a:t>
            </a:r>
            <a:endParaRPr lang="en-US" sz="1100" dirty="0"/>
          </a:p>
        </p:txBody>
      </p:sp>
      <p:sp>
        <p:nvSpPr>
          <p:cNvPr id="9" name="Shape 7"/>
          <p:cNvSpPr/>
          <p:nvPr/>
        </p:nvSpPr>
        <p:spPr>
          <a:xfrm>
            <a:off x="4617720" y="1874520"/>
            <a:ext cx="6473952" cy="1737360"/>
          </a:xfrm>
          <a:prstGeom prst="rect">
            <a:avLst/>
          </a:prstGeom>
          <a:solidFill>
            <a:srgbClr val="0F2236"/>
          </a:solidFill>
          <a:ln w="12700">
            <a:solidFill>
              <a:srgbClr val="27405E"/>
            </a:solidFill>
            <a:prstDash val="solid"/>
          </a:ln>
        </p:spPr>
      </p:sp>
      <p:sp>
        <p:nvSpPr>
          <p:cNvPr id="10" name="Text 8"/>
          <p:cNvSpPr/>
          <p:nvPr/>
        </p:nvSpPr>
        <p:spPr>
          <a:xfrm>
            <a:off x="4617720" y="1920240"/>
            <a:ext cx="6473952" cy="274320"/>
          </a:xfrm>
          <a:prstGeom prst="rect">
            <a:avLst/>
          </a:prstGeom>
          <a:noFill/>
          <a:ln/>
        </p:spPr>
        <p:txBody>
          <a:bodyPr wrap="square" lIns="0" tIns="0" rIns="0" bIns="0" rtlCol="0" anchor="ctr"/>
          <a:lstStyle/>
          <a:p>
            <a:pPr algn="ctr" indent="0" marL="0">
              <a:buNone/>
            </a:pPr>
            <a:r>
              <a:rPr lang="en-US" sz="900" b="1" spc="150" kern="0" dirty="0">
                <a:solidFill>
                  <a:srgbClr val="93A4BD"/>
                </a:solidFill>
                <a:latin typeface="Calibri" pitchFamily="34" charset="0"/>
                <a:ea typeface="Calibri" pitchFamily="34" charset="-122"/>
                <a:cs typeface="Calibri" pitchFamily="34" charset="-120"/>
              </a:rPr>
              <a:t>4-CHANNEL RETRIEVAL</a:t>
            </a:r>
            <a:endParaRPr lang="en-US" sz="900" dirty="0"/>
          </a:p>
        </p:txBody>
      </p:sp>
      <p:sp>
        <p:nvSpPr>
          <p:cNvPr id="11" name="Shape 9"/>
          <p:cNvSpPr/>
          <p:nvPr/>
        </p:nvSpPr>
        <p:spPr>
          <a:xfrm>
            <a:off x="4727448" y="2331720"/>
            <a:ext cx="1481328" cy="822960"/>
          </a:xfrm>
          <a:prstGeom prst="roundRect">
            <a:avLst>
              <a:gd name="adj" fmla="val 7778"/>
            </a:avLst>
          </a:prstGeom>
          <a:solidFill>
            <a:srgbClr val="13283F"/>
          </a:solidFill>
          <a:ln/>
          <a:effectLst>
            <a:outerShdw sx="100000" sy="100000" kx="0" ky="0" algn="bl" rotWithShape="0" blurRad="114300" dist="38100" dir="8100000">
              <a:srgbClr val="1E293B">
                <a:alpha val="12000"/>
              </a:srgbClr>
            </a:outerShdw>
          </a:effectLst>
        </p:spPr>
      </p:sp>
      <p:sp>
        <p:nvSpPr>
          <p:cNvPr id="12" name="Text 10"/>
          <p:cNvSpPr/>
          <p:nvPr/>
        </p:nvSpPr>
        <p:spPr>
          <a:xfrm>
            <a:off x="4782312" y="2331720"/>
            <a:ext cx="1371600" cy="822960"/>
          </a:xfrm>
          <a:prstGeom prst="rect">
            <a:avLst/>
          </a:prstGeom>
          <a:noFill/>
          <a:ln/>
        </p:spPr>
        <p:txBody>
          <a:bodyPr wrap="square" lIns="0" tIns="0" rIns="0" bIns="0" rtlCol="0" anchor="ctr"/>
          <a:lstStyle/>
          <a:p>
            <a:pPr algn="ctr" indent="0" marL="0">
              <a:lnSpc>
                <a:spcPts val="1020"/>
              </a:lnSpc>
              <a:buNone/>
            </a:pPr>
            <a:r>
              <a:rPr lang="en-US" sz="1000" b="1" dirty="0">
                <a:solidFill>
                  <a:srgbClr val="5EEAD4"/>
                </a:solidFill>
                <a:latin typeface="Calibri" pitchFamily="34" charset="0"/>
                <a:ea typeface="Calibri" pitchFamily="34" charset="-122"/>
                <a:cs typeface="Calibri" pitchFamily="34" charset="-120"/>
              </a:rPr>
              <a:t>Semantic</a:t>
            </a:r>
            <a:endParaRPr lang="en-US" sz="1000" dirty="0"/>
          </a:p>
          <a:p>
            <a:pPr algn="ctr" indent="0" marL="0">
              <a:lnSpc>
                <a:spcPts val="1020"/>
              </a:lnSpc>
              <a:buNone/>
            </a:pPr>
            <a:r>
              <a:rPr lang="en-US" sz="1000" b="1" dirty="0">
                <a:solidFill>
                  <a:srgbClr val="5EEAD4"/>
                </a:solidFill>
                <a:latin typeface="Calibri" pitchFamily="34" charset="0"/>
                <a:ea typeface="Calibri" pitchFamily="34" charset="-122"/>
                <a:cs typeface="Calibri" pitchFamily="34" charset="-120"/>
              </a:rPr>
              <a:t>(vector)</a:t>
            </a:r>
            <a:endParaRPr lang="en-US" sz="1000" dirty="0"/>
          </a:p>
        </p:txBody>
      </p:sp>
      <p:sp>
        <p:nvSpPr>
          <p:cNvPr id="13" name="Shape 11"/>
          <p:cNvSpPr/>
          <p:nvPr/>
        </p:nvSpPr>
        <p:spPr>
          <a:xfrm>
            <a:off x="6318504" y="2331720"/>
            <a:ext cx="1481328" cy="822960"/>
          </a:xfrm>
          <a:prstGeom prst="roundRect">
            <a:avLst>
              <a:gd name="adj" fmla="val 7778"/>
            </a:avLst>
          </a:prstGeom>
          <a:solidFill>
            <a:srgbClr val="13283F"/>
          </a:solidFill>
          <a:ln/>
          <a:effectLst>
            <a:outerShdw sx="100000" sy="100000" kx="0" ky="0" algn="bl" rotWithShape="0" blurRad="114300" dist="38100" dir="8100000">
              <a:srgbClr val="1E293B">
                <a:alpha val="12000"/>
              </a:srgbClr>
            </a:outerShdw>
          </a:effectLst>
        </p:spPr>
      </p:sp>
      <p:sp>
        <p:nvSpPr>
          <p:cNvPr id="14" name="Text 12"/>
          <p:cNvSpPr/>
          <p:nvPr/>
        </p:nvSpPr>
        <p:spPr>
          <a:xfrm>
            <a:off x="6373368" y="2331720"/>
            <a:ext cx="1371600" cy="822960"/>
          </a:xfrm>
          <a:prstGeom prst="rect">
            <a:avLst/>
          </a:prstGeom>
          <a:noFill/>
          <a:ln/>
        </p:spPr>
        <p:txBody>
          <a:bodyPr wrap="square" lIns="0" tIns="0" rIns="0" bIns="0" rtlCol="0" anchor="ctr"/>
          <a:lstStyle/>
          <a:p>
            <a:pPr algn="ctr" indent="0" marL="0">
              <a:lnSpc>
                <a:spcPts val="1020"/>
              </a:lnSpc>
              <a:buNone/>
            </a:pPr>
            <a:r>
              <a:rPr lang="en-US" sz="1000" b="1" dirty="0">
                <a:solidFill>
                  <a:srgbClr val="5EEAD4"/>
                </a:solidFill>
                <a:latin typeface="Calibri" pitchFamily="34" charset="0"/>
                <a:ea typeface="Calibri" pitchFamily="34" charset="-122"/>
                <a:cs typeface="Calibri" pitchFamily="34" charset="-120"/>
              </a:rPr>
              <a:t>Lexical</a:t>
            </a:r>
            <a:endParaRPr lang="en-US" sz="1000" dirty="0"/>
          </a:p>
          <a:p>
            <a:pPr algn="ctr" indent="0" marL="0">
              <a:lnSpc>
                <a:spcPts val="1020"/>
              </a:lnSpc>
              <a:buNone/>
            </a:pPr>
            <a:r>
              <a:rPr lang="en-US" sz="1000" b="1" dirty="0">
                <a:solidFill>
                  <a:srgbClr val="5EEAD4"/>
                </a:solidFill>
                <a:latin typeface="Calibri" pitchFamily="34" charset="0"/>
                <a:ea typeface="Calibri" pitchFamily="34" charset="-122"/>
                <a:cs typeface="Calibri" pitchFamily="34" charset="-120"/>
              </a:rPr>
              <a:t>(keyword)</a:t>
            </a:r>
            <a:endParaRPr lang="en-US" sz="1000" dirty="0"/>
          </a:p>
        </p:txBody>
      </p:sp>
      <p:sp>
        <p:nvSpPr>
          <p:cNvPr id="15" name="Shape 13"/>
          <p:cNvSpPr/>
          <p:nvPr/>
        </p:nvSpPr>
        <p:spPr>
          <a:xfrm>
            <a:off x="7909560" y="2331720"/>
            <a:ext cx="1481328" cy="822960"/>
          </a:xfrm>
          <a:prstGeom prst="roundRect">
            <a:avLst>
              <a:gd name="adj" fmla="val 7778"/>
            </a:avLst>
          </a:prstGeom>
          <a:solidFill>
            <a:srgbClr val="13283F"/>
          </a:solidFill>
          <a:ln/>
          <a:effectLst>
            <a:outerShdw sx="100000" sy="100000" kx="0" ky="0" algn="bl" rotWithShape="0" blurRad="114300" dist="38100" dir="8100000">
              <a:srgbClr val="1E293B">
                <a:alpha val="12000"/>
              </a:srgbClr>
            </a:outerShdw>
          </a:effectLst>
        </p:spPr>
      </p:sp>
      <p:sp>
        <p:nvSpPr>
          <p:cNvPr id="16" name="Text 14"/>
          <p:cNvSpPr/>
          <p:nvPr/>
        </p:nvSpPr>
        <p:spPr>
          <a:xfrm>
            <a:off x="7964424" y="2331720"/>
            <a:ext cx="1371600" cy="822960"/>
          </a:xfrm>
          <a:prstGeom prst="rect">
            <a:avLst/>
          </a:prstGeom>
          <a:noFill/>
          <a:ln/>
        </p:spPr>
        <p:txBody>
          <a:bodyPr wrap="square" lIns="0" tIns="0" rIns="0" bIns="0" rtlCol="0" anchor="ctr"/>
          <a:lstStyle/>
          <a:p>
            <a:pPr algn="ctr" indent="0" marL="0">
              <a:lnSpc>
                <a:spcPts val="1020"/>
              </a:lnSpc>
              <a:buNone/>
            </a:pPr>
            <a:r>
              <a:rPr lang="en-US" sz="1000" b="1" dirty="0">
                <a:solidFill>
                  <a:srgbClr val="5EEAD4"/>
                </a:solidFill>
                <a:latin typeface="Calibri" pitchFamily="34" charset="0"/>
                <a:ea typeface="Calibri" pitchFamily="34" charset="-122"/>
                <a:cs typeface="Calibri" pitchFamily="34" charset="-120"/>
              </a:rPr>
              <a:t>Metadata</a:t>
            </a:r>
            <a:endParaRPr lang="en-US" sz="1000" dirty="0"/>
          </a:p>
          <a:p>
            <a:pPr algn="ctr" indent="0" marL="0">
              <a:lnSpc>
                <a:spcPts val="1020"/>
              </a:lnSpc>
              <a:buNone/>
            </a:pPr>
            <a:r>
              <a:rPr lang="en-US" sz="1000" b="1" dirty="0">
                <a:solidFill>
                  <a:srgbClr val="5EEAD4"/>
                </a:solidFill>
                <a:latin typeface="Calibri" pitchFamily="34" charset="0"/>
                <a:ea typeface="Calibri" pitchFamily="34" charset="-122"/>
                <a:cs typeface="Calibri" pitchFamily="34" charset="-120"/>
              </a:rPr>
              <a:t>(structured)</a:t>
            </a:r>
            <a:endParaRPr lang="en-US" sz="1000" dirty="0"/>
          </a:p>
        </p:txBody>
      </p:sp>
      <p:sp>
        <p:nvSpPr>
          <p:cNvPr id="17" name="Shape 15"/>
          <p:cNvSpPr/>
          <p:nvPr/>
        </p:nvSpPr>
        <p:spPr>
          <a:xfrm>
            <a:off x="9500616" y="2331720"/>
            <a:ext cx="1481328" cy="822960"/>
          </a:xfrm>
          <a:prstGeom prst="roundRect">
            <a:avLst>
              <a:gd name="adj" fmla="val 7778"/>
            </a:avLst>
          </a:prstGeom>
          <a:solidFill>
            <a:srgbClr val="13283F"/>
          </a:solidFill>
          <a:ln/>
          <a:effectLst>
            <a:outerShdw sx="100000" sy="100000" kx="0" ky="0" algn="bl" rotWithShape="0" blurRad="114300" dist="38100" dir="8100000">
              <a:srgbClr val="1E293B">
                <a:alpha val="12000"/>
              </a:srgbClr>
            </a:outerShdw>
          </a:effectLst>
        </p:spPr>
      </p:sp>
      <p:sp>
        <p:nvSpPr>
          <p:cNvPr id="18" name="Text 16"/>
          <p:cNvSpPr/>
          <p:nvPr/>
        </p:nvSpPr>
        <p:spPr>
          <a:xfrm>
            <a:off x="9555480" y="2331720"/>
            <a:ext cx="1371600" cy="822960"/>
          </a:xfrm>
          <a:prstGeom prst="rect">
            <a:avLst/>
          </a:prstGeom>
          <a:noFill/>
          <a:ln/>
        </p:spPr>
        <p:txBody>
          <a:bodyPr wrap="square" lIns="0" tIns="0" rIns="0" bIns="0" rtlCol="0" anchor="ctr"/>
          <a:lstStyle/>
          <a:p>
            <a:pPr algn="ctr" indent="0" marL="0">
              <a:lnSpc>
                <a:spcPts val="1020"/>
              </a:lnSpc>
              <a:buNone/>
            </a:pPr>
            <a:r>
              <a:rPr lang="en-US" sz="1000" b="1" dirty="0">
                <a:solidFill>
                  <a:srgbClr val="5EEAD4"/>
                </a:solidFill>
                <a:latin typeface="Calibri" pitchFamily="34" charset="0"/>
                <a:ea typeface="Calibri" pitchFamily="34" charset="-122"/>
                <a:cs typeface="Calibri" pitchFamily="34" charset="-120"/>
              </a:rPr>
              <a:t>Structural</a:t>
            </a:r>
            <a:endParaRPr lang="en-US" sz="1000" dirty="0"/>
          </a:p>
          <a:p>
            <a:pPr algn="ctr" indent="0" marL="0">
              <a:lnSpc>
                <a:spcPts val="1020"/>
              </a:lnSpc>
              <a:buNone/>
            </a:pPr>
            <a:r>
              <a:rPr lang="en-US" sz="1000" b="1" dirty="0">
                <a:solidFill>
                  <a:srgbClr val="5EEAD4"/>
                </a:solidFill>
                <a:latin typeface="Calibri" pitchFamily="34" charset="0"/>
                <a:ea typeface="Calibri" pitchFamily="34" charset="-122"/>
                <a:cs typeface="Calibri" pitchFamily="34" charset="-120"/>
              </a:rPr>
              <a:t>(section)</a:t>
            </a:r>
            <a:endParaRPr lang="en-US" sz="1000" dirty="0"/>
          </a:p>
        </p:txBody>
      </p:sp>
      <p:sp>
        <p:nvSpPr>
          <p:cNvPr id="19" name="Shape 17"/>
          <p:cNvSpPr/>
          <p:nvPr/>
        </p:nvSpPr>
        <p:spPr>
          <a:xfrm>
            <a:off x="4407408" y="2743200"/>
            <a:ext cx="301752" cy="0"/>
          </a:xfrm>
          <a:prstGeom prst="line">
            <a:avLst/>
          </a:prstGeom>
          <a:noFill/>
          <a:ln w="25400">
            <a:solidFill>
              <a:srgbClr val="5EEAD4"/>
            </a:solidFill>
            <a:prstDash val="solid"/>
            <a:tailEnd type="triangle"/>
          </a:ln>
        </p:spPr>
      </p:sp>
      <p:sp>
        <p:nvSpPr>
          <p:cNvPr id="20" name="Shape 18"/>
          <p:cNvSpPr/>
          <p:nvPr/>
        </p:nvSpPr>
        <p:spPr>
          <a:xfrm>
            <a:off x="7744968" y="3657600"/>
            <a:ext cx="0" cy="320040"/>
          </a:xfrm>
          <a:prstGeom prst="line">
            <a:avLst/>
          </a:prstGeom>
          <a:noFill/>
          <a:ln w="25400">
            <a:solidFill>
              <a:srgbClr val="5EEAD4"/>
            </a:solidFill>
            <a:prstDash val="solid"/>
            <a:tailEnd type="triangle"/>
          </a:ln>
        </p:spPr>
      </p:sp>
      <p:sp>
        <p:nvSpPr>
          <p:cNvPr id="21" name="Shape 19"/>
          <p:cNvSpPr/>
          <p:nvPr/>
        </p:nvSpPr>
        <p:spPr>
          <a:xfrm>
            <a:off x="566928" y="4343400"/>
            <a:ext cx="2505456" cy="91440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22" name="Text 20"/>
          <p:cNvSpPr/>
          <p:nvPr/>
        </p:nvSpPr>
        <p:spPr>
          <a:xfrm>
            <a:off x="749808" y="4489704"/>
            <a:ext cx="2139696"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RRF fusion</a:t>
            </a:r>
            <a:endParaRPr lang="en-US" sz="1300" dirty="0"/>
          </a:p>
        </p:txBody>
      </p:sp>
      <p:sp>
        <p:nvSpPr>
          <p:cNvPr id="23" name="Text 21"/>
          <p:cNvSpPr/>
          <p:nvPr/>
        </p:nvSpPr>
        <p:spPr>
          <a:xfrm>
            <a:off x="749808" y="4855464"/>
            <a:ext cx="2139696" cy="320040"/>
          </a:xfrm>
          <a:prstGeom prst="rect">
            <a:avLst/>
          </a:prstGeom>
          <a:noFill/>
          <a:ln/>
        </p:spPr>
        <p:txBody>
          <a:bodyPr wrap="square" lIns="0" tIns="0" rIns="0" bIns="0" rtlCol="0" anchor="ctr"/>
          <a:lstStyle/>
          <a:p>
            <a:pPr indent="0" marL="0">
              <a:buNone/>
            </a:pPr>
            <a:r>
              <a:rPr lang="en-US" sz="1050" dirty="0">
                <a:solidFill>
                  <a:srgbClr val="93A4BD"/>
                </a:solidFill>
                <a:latin typeface="Calibri" pitchFamily="34" charset="0"/>
                <a:ea typeface="Calibri" pitchFamily="34" charset="-122"/>
                <a:cs typeface="Calibri" pitchFamily="34" charset="-120"/>
              </a:rPr>
              <a:t>Merge all channels</a:t>
            </a:r>
            <a:endParaRPr lang="en-US" sz="1050" dirty="0"/>
          </a:p>
        </p:txBody>
      </p:sp>
      <p:sp>
        <p:nvSpPr>
          <p:cNvPr id="24" name="Shape 22"/>
          <p:cNvSpPr/>
          <p:nvPr/>
        </p:nvSpPr>
        <p:spPr>
          <a:xfrm>
            <a:off x="3090672" y="4800600"/>
            <a:ext cx="192024" cy="0"/>
          </a:xfrm>
          <a:prstGeom prst="line">
            <a:avLst/>
          </a:prstGeom>
          <a:noFill/>
          <a:ln w="25400">
            <a:solidFill>
              <a:srgbClr val="5EEAD4"/>
            </a:solidFill>
            <a:prstDash val="solid"/>
            <a:tailEnd type="triangle"/>
          </a:ln>
        </p:spPr>
      </p:sp>
      <p:sp>
        <p:nvSpPr>
          <p:cNvPr id="25" name="Shape 23"/>
          <p:cNvSpPr/>
          <p:nvPr/>
        </p:nvSpPr>
        <p:spPr>
          <a:xfrm>
            <a:off x="3319272" y="4343400"/>
            <a:ext cx="2505456" cy="91440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26" name="Text 24"/>
          <p:cNvSpPr/>
          <p:nvPr/>
        </p:nvSpPr>
        <p:spPr>
          <a:xfrm>
            <a:off x="3502152" y="4489704"/>
            <a:ext cx="2139696"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Rerank</a:t>
            </a:r>
            <a:endParaRPr lang="en-US" sz="1300" dirty="0"/>
          </a:p>
        </p:txBody>
      </p:sp>
      <p:sp>
        <p:nvSpPr>
          <p:cNvPr id="27" name="Text 25"/>
          <p:cNvSpPr/>
          <p:nvPr/>
        </p:nvSpPr>
        <p:spPr>
          <a:xfrm>
            <a:off x="3502152" y="4855464"/>
            <a:ext cx="2139696" cy="320040"/>
          </a:xfrm>
          <a:prstGeom prst="rect">
            <a:avLst/>
          </a:prstGeom>
          <a:noFill/>
          <a:ln/>
        </p:spPr>
        <p:txBody>
          <a:bodyPr wrap="square" lIns="0" tIns="0" rIns="0" bIns="0" rtlCol="0" anchor="ctr"/>
          <a:lstStyle/>
          <a:p>
            <a:pPr indent="0" marL="0">
              <a:buNone/>
            </a:pPr>
            <a:r>
              <a:rPr lang="en-US" sz="1050" dirty="0">
                <a:solidFill>
                  <a:srgbClr val="93A4BD"/>
                </a:solidFill>
                <a:latin typeface="Calibri" pitchFamily="34" charset="0"/>
                <a:ea typeface="Calibri" pitchFamily="34" charset="-122"/>
                <a:cs typeface="Calibri" pitchFamily="34" charset="-120"/>
              </a:rPr>
              <a:t>Order by legal relevance</a:t>
            </a:r>
            <a:endParaRPr lang="en-US" sz="1050" dirty="0"/>
          </a:p>
        </p:txBody>
      </p:sp>
      <p:sp>
        <p:nvSpPr>
          <p:cNvPr id="28" name="Shape 26"/>
          <p:cNvSpPr/>
          <p:nvPr/>
        </p:nvSpPr>
        <p:spPr>
          <a:xfrm>
            <a:off x="5843016" y="4800600"/>
            <a:ext cx="192024" cy="0"/>
          </a:xfrm>
          <a:prstGeom prst="line">
            <a:avLst/>
          </a:prstGeom>
          <a:noFill/>
          <a:ln w="25400">
            <a:solidFill>
              <a:srgbClr val="5EEAD4"/>
            </a:solidFill>
            <a:prstDash val="solid"/>
            <a:tailEnd type="triangle"/>
          </a:ln>
        </p:spPr>
      </p:sp>
      <p:sp>
        <p:nvSpPr>
          <p:cNvPr id="29" name="Shape 27"/>
          <p:cNvSpPr/>
          <p:nvPr/>
        </p:nvSpPr>
        <p:spPr>
          <a:xfrm>
            <a:off x="6071616" y="4343400"/>
            <a:ext cx="2505456" cy="91440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30" name="Text 28"/>
          <p:cNvSpPr/>
          <p:nvPr/>
        </p:nvSpPr>
        <p:spPr>
          <a:xfrm>
            <a:off x="6254496" y="4489704"/>
            <a:ext cx="2139696"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Citation check</a:t>
            </a:r>
            <a:endParaRPr lang="en-US" sz="1300" dirty="0"/>
          </a:p>
        </p:txBody>
      </p:sp>
      <p:sp>
        <p:nvSpPr>
          <p:cNvPr id="31" name="Text 29"/>
          <p:cNvSpPr/>
          <p:nvPr/>
        </p:nvSpPr>
        <p:spPr>
          <a:xfrm>
            <a:off x="6254496" y="4855464"/>
            <a:ext cx="2139696" cy="320040"/>
          </a:xfrm>
          <a:prstGeom prst="rect">
            <a:avLst/>
          </a:prstGeom>
          <a:noFill/>
          <a:ln/>
        </p:spPr>
        <p:txBody>
          <a:bodyPr wrap="square" lIns="0" tIns="0" rIns="0" bIns="0" rtlCol="0" anchor="ctr"/>
          <a:lstStyle/>
          <a:p>
            <a:pPr indent="0" marL="0">
              <a:buNone/>
            </a:pPr>
            <a:r>
              <a:rPr lang="en-US" sz="1050" dirty="0">
                <a:solidFill>
                  <a:srgbClr val="93A4BD"/>
                </a:solidFill>
                <a:latin typeface="Calibri" pitchFamily="34" charset="0"/>
                <a:ea typeface="Calibri" pitchFamily="34" charset="-122"/>
                <a:cs typeface="Calibri" pitchFamily="34" charset="-120"/>
              </a:rPr>
              <a:t>Verify against source</a:t>
            </a:r>
            <a:endParaRPr lang="en-US" sz="1050" dirty="0"/>
          </a:p>
        </p:txBody>
      </p:sp>
      <p:sp>
        <p:nvSpPr>
          <p:cNvPr id="32" name="Shape 30"/>
          <p:cNvSpPr/>
          <p:nvPr/>
        </p:nvSpPr>
        <p:spPr>
          <a:xfrm>
            <a:off x="8595360" y="4800600"/>
            <a:ext cx="192024" cy="0"/>
          </a:xfrm>
          <a:prstGeom prst="line">
            <a:avLst/>
          </a:prstGeom>
          <a:noFill/>
          <a:ln w="25400">
            <a:solidFill>
              <a:srgbClr val="5EEAD4"/>
            </a:solidFill>
            <a:prstDash val="solid"/>
            <a:tailEnd type="triangle"/>
          </a:ln>
        </p:spPr>
      </p:sp>
      <p:sp>
        <p:nvSpPr>
          <p:cNvPr id="33" name="Shape 31"/>
          <p:cNvSpPr/>
          <p:nvPr/>
        </p:nvSpPr>
        <p:spPr>
          <a:xfrm>
            <a:off x="8823960" y="4343400"/>
            <a:ext cx="2505456" cy="914400"/>
          </a:xfrm>
          <a:prstGeom prst="rect">
            <a:avLst/>
          </a:prstGeom>
          <a:solidFill>
            <a:srgbClr val="F26A4B"/>
          </a:solidFill>
          <a:ln/>
          <a:effectLst>
            <a:outerShdw sx="100000" sy="100000" kx="0" ky="0" algn="bl" rotWithShape="0" blurRad="177800" dist="50800" dir="8100000">
              <a:srgbClr val="0B1B2E">
                <a:alpha val="22000"/>
              </a:srgbClr>
            </a:outerShdw>
          </a:effectLst>
        </p:spPr>
      </p:sp>
      <p:sp>
        <p:nvSpPr>
          <p:cNvPr id="34" name="Text 32"/>
          <p:cNvSpPr/>
          <p:nvPr/>
        </p:nvSpPr>
        <p:spPr>
          <a:xfrm>
            <a:off x="9006840" y="4489704"/>
            <a:ext cx="2139696"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Grounded answer</a:t>
            </a:r>
            <a:endParaRPr lang="en-US" sz="1300" dirty="0"/>
          </a:p>
        </p:txBody>
      </p:sp>
      <p:sp>
        <p:nvSpPr>
          <p:cNvPr id="35" name="Text 33"/>
          <p:cNvSpPr/>
          <p:nvPr/>
        </p:nvSpPr>
        <p:spPr>
          <a:xfrm>
            <a:off x="9006840" y="4855464"/>
            <a:ext cx="2139696" cy="320040"/>
          </a:xfrm>
          <a:prstGeom prst="rect">
            <a:avLst/>
          </a:prstGeom>
          <a:noFill/>
          <a:ln/>
        </p:spPr>
        <p:txBody>
          <a:bodyPr wrap="square" lIns="0" tIns="0" rIns="0" bIns="0" rtlCol="0" anchor="ctr"/>
          <a:lstStyle/>
          <a:p>
            <a:pPr indent="0" marL="0">
              <a:buNone/>
            </a:pPr>
            <a:r>
              <a:rPr lang="en-US" sz="1050" dirty="0">
                <a:solidFill>
                  <a:srgbClr val="FFE3D8"/>
                </a:solidFill>
                <a:latin typeface="Calibri" pitchFamily="34" charset="0"/>
                <a:ea typeface="Calibri" pitchFamily="34" charset="-122"/>
                <a:cs typeface="Calibri" pitchFamily="34" charset="-120"/>
              </a:rPr>
              <a:t>With sources + confidence</a:t>
            </a:r>
            <a:endParaRPr lang="en-US" sz="1050" dirty="0"/>
          </a:p>
        </p:txBody>
      </p:sp>
      <p:sp>
        <p:nvSpPr>
          <p:cNvPr id="36" name="Text 34"/>
          <p:cNvSpPr/>
          <p:nvPr/>
        </p:nvSpPr>
        <p:spPr>
          <a:xfrm>
            <a:off x="566928" y="5532120"/>
            <a:ext cx="11057839" cy="457200"/>
          </a:xfrm>
          <a:prstGeom prst="rect">
            <a:avLst/>
          </a:prstGeom>
          <a:noFill/>
          <a:ln/>
        </p:spPr>
        <p:txBody>
          <a:bodyPr wrap="square" lIns="0" tIns="0" rIns="0" bIns="0" rtlCol="0" anchor="ctr"/>
          <a:lstStyle/>
          <a:p>
            <a:pPr indent="0" marL="0">
              <a:lnSpc>
                <a:spcPts val="1600"/>
              </a:lnSpc>
              <a:buNone/>
            </a:pPr>
            <a:r>
              <a:rPr lang="en-US" sz="1200" i="1" dirty="0">
                <a:solidFill>
                  <a:srgbClr val="5EEAD4"/>
                </a:solidFill>
                <a:latin typeface="Calibri" pitchFamily="34" charset="0"/>
                <a:ea typeface="Calibri" pitchFamily="34" charset="-122"/>
                <a:cs typeface="Calibri" pitchFamily="34" charset="-120"/>
              </a:rPr>
              <a:t>Amendment-aware retrieval ensures cited evidence reflects the current contract — not a superseded clause.</a:t>
            </a:r>
            <a:endParaRPr lang="en-US" sz="1200" dirty="0"/>
          </a:p>
        </p:txBody>
      </p:sp>
      <p:sp>
        <p:nvSpPr>
          <p:cNvPr id="37" name="Text 35"/>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93A4BD"/>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93A4BD"/>
                </a:solidFill>
                <a:latin typeface="Calibri" pitchFamily="34" charset="0"/>
                <a:ea typeface="Calibri" pitchFamily="34" charset="-122"/>
                <a:cs typeface="Calibri" pitchFamily="34" charset="-120"/>
              </a:rPr>
              <a:t>   ·   Confidential — Internal</a:t>
            </a:r>
            <a:endParaRPr lang="en-US" sz="800" dirty="0"/>
          </a:p>
        </p:txBody>
      </p:sp>
      <p:sp>
        <p:nvSpPr>
          <p:cNvPr id="38" name="Text 36"/>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93A4BD"/>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09 · SEMANTIC RETRIEVAL</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From contract text to cited evidence</a:t>
            </a:r>
            <a:endParaRPr lang="en-US" sz="2900" dirty="0"/>
          </a:p>
        </p:txBody>
      </p:sp>
      <p:sp>
        <p:nvSpPr>
          <p:cNvPr id="4" name="Text 2"/>
          <p:cNvSpPr/>
          <p:nvPr/>
        </p:nvSpPr>
        <p:spPr>
          <a:xfrm>
            <a:off x="566928" y="1737360"/>
            <a:ext cx="5486400" cy="274320"/>
          </a:xfrm>
          <a:prstGeom prst="rect">
            <a:avLst/>
          </a:prstGeom>
          <a:noFill/>
          <a:ln/>
        </p:spPr>
        <p:txBody>
          <a:bodyPr wrap="square" lIns="0" tIns="0" rIns="0" bIns="0" rtlCol="0" anchor="ctr"/>
          <a:lstStyle/>
          <a:p>
            <a:pPr indent="0" marL="0">
              <a:buNone/>
            </a:pPr>
            <a:r>
              <a:rPr lang="en-US" sz="1050" b="1" spc="150" kern="0" dirty="0">
                <a:solidFill>
                  <a:srgbClr val="14B8A6"/>
                </a:solidFill>
                <a:latin typeface="Calibri" pitchFamily="34" charset="0"/>
                <a:ea typeface="Calibri" pitchFamily="34" charset="-122"/>
                <a:cs typeface="Calibri" pitchFamily="34" charset="-120"/>
              </a:rPr>
              <a:t>HOW SEMANTIC SEARCH IS BUILT</a:t>
            </a:r>
            <a:endParaRPr lang="en-US" sz="1050" dirty="0"/>
          </a:p>
        </p:txBody>
      </p:sp>
      <p:sp>
        <p:nvSpPr>
          <p:cNvPr id="5" name="Shape 3"/>
          <p:cNvSpPr/>
          <p:nvPr/>
        </p:nvSpPr>
        <p:spPr>
          <a:xfrm>
            <a:off x="566928" y="2103120"/>
            <a:ext cx="2468880" cy="105156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6" name="Shape 4"/>
          <p:cNvSpPr/>
          <p:nvPr/>
        </p:nvSpPr>
        <p:spPr>
          <a:xfrm>
            <a:off x="566928" y="2103120"/>
            <a:ext cx="82296" cy="1051560"/>
          </a:xfrm>
          <a:prstGeom prst="rect">
            <a:avLst/>
          </a:prstGeom>
          <a:solidFill>
            <a:srgbClr val="14B8A6"/>
          </a:solidFill>
          <a:ln/>
        </p:spPr>
      </p:sp>
      <p:sp>
        <p:nvSpPr>
          <p:cNvPr id="7" name="Shape 5"/>
          <p:cNvSpPr/>
          <p:nvPr/>
        </p:nvSpPr>
        <p:spPr>
          <a:xfrm>
            <a:off x="749808" y="2267712"/>
            <a:ext cx="329184" cy="329184"/>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8" name="Text 6"/>
          <p:cNvSpPr/>
          <p:nvPr/>
        </p:nvSpPr>
        <p:spPr>
          <a:xfrm>
            <a:off x="749808" y="22677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170432" y="2249424"/>
            <a:ext cx="1737360"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Chunk</a:t>
            </a:r>
            <a:endParaRPr lang="en-US" sz="1300" dirty="0"/>
          </a:p>
        </p:txBody>
      </p:sp>
      <p:sp>
        <p:nvSpPr>
          <p:cNvPr id="10" name="Text 8"/>
          <p:cNvSpPr/>
          <p:nvPr/>
        </p:nvSpPr>
        <p:spPr>
          <a:xfrm>
            <a:off x="786384" y="2670048"/>
            <a:ext cx="2057400" cy="457200"/>
          </a:xfrm>
          <a:prstGeom prst="rect">
            <a:avLst/>
          </a:prstGeom>
          <a:noFill/>
          <a:ln/>
        </p:spPr>
        <p:txBody>
          <a:bodyPr wrap="square" lIns="0" tIns="0" rIns="0" bIns="0" rtlCol="0" anchor="t"/>
          <a:lstStyle/>
          <a:p>
            <a:pPr indent="0" marL="0">
              <a:lnSpc>
                <a:spcPts val="1350"/>
              </a:lnSpc>
              <a:buNone/>
            </a:pPr>
            <a:r>
              <a:rPr lang="en-US" sz="1050" dirty="0">
                <a:solidFill>
                  <a:srgbClr val="33415A"/>
                </a:solidFill>
                <a:latin typeface="Calibri" pitchFamily="34" charset="0"/>
                <a:ea typeface="Calibri" pitchFamily="34" charset="-122"/>
                <a:cs typeface="Calibri" pitchFamily="34" charset="-120"/>
              </a:rPr>
              <a:t>Contracts split into 83K legal units</a:t>
            </a:r>
            <a:endParaRPr lang="en-US" sz="1050" dirty="0"/>
          </a:p>
        </p:txBody>
      </p:sp>
      <p:sp>
        <p:nvSpPr>
          <p:cNvPr id="11" name="Shape 9"/>
          <p:cNvSpPr/>
          <p:nvPr/>
        </p:nvSpPr>
        <p:spPr>
          <a:xfrm>
            <a:off x="3054096" y="2628900"/>
            <a:ext cx="182880" cy="0"/>
          </a:xfrm>
          <a:prstGeom prst="line">
            <a:avLst/>
          </a:prstGeom>
          <a:noFill/>
          <a:ln w="25400">
            <a:solidFill>
              <a:srgbClr val="0F766E"/>
            </a:solidFill>
            <a:prstDash val="solid"/>
            <a:tailEnd type="triangle"/>
          </a:ln>
        </p:spPr>
      </p:sp>
      <p:sp>
        <p:nvSpPr>
          <p:cNvPr id="12" name="Shape 10"/>
          <p:cNvSpPr/>
          <p:nvPr/>
        </p:nvSpPr>
        <p:spPr>
          <a:xfrm>
            <a:off x="3273552" y="2103120"/>
            <a:ext cx="2468880" cy="105156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13" name="Shape 11"/>
          <p:cNvSpPr/>
          <p:nvPr/>
        </p:nvSpPr>
        <p:spPr>
          <a:xfrm>
            <a:off x="3273552" y="2103120"/>
            <a:ext cx="82296" cy="1051560"/>
          </a:xfrm>
          <a:prstGeom prst="rect">
            <a:avLst/>
          </a:prstGeom>
          <a:solidFill>
            <a:srgbClr val="14B8A6"/>
          </a:solidFill>
          <a:ln/>
        </p:spPr>
      </p:sp>
      <p:sp>
        <p:nvSpPr>
          <p:cNvPr id="14" name="Shape 12"/>
          <p:cNvSpPr/>
          <p:nvPr/>
        </p:nvSpPr>
        <p:spPr>
          <a:xfrm>
            <a:off x="3456432" y="2267712"/>
            <a:ext cx="329184" cy="329184"/>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15" name="Text 13"/>
          <p:cNvSpPr/>
          <p:nvPr/>
        </p:nvSpPr>
        <p:spPr>
          <a:xfrm>
            <a:off x="3456432" y="22677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3877056" y="2249424"/>
            <a:ext cx="1737360"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Embed</a:t>
            </a:r>
            <a:endParaRPr lang="en-US" sz="1300" dirty="0"/>
          </a:p>
        </p:txBody>
      </p:sp>
      <p:sp>
        <p:nvSpPr>
          <p:cNvPr id="17" name="Text 15"/>
          <p:cNvSpPr/>
          <p:nvPr/>
        </p:nvSpPr>
        <p:spPr>
          <a:xfrm>
            <a:off x="3493008" y="2670048"/>
            <a:ext cx="2057400" cy="457200"/>
          </a:xfrm>
          <a:prstGeom prst="rect">
            <a:avLst/>
          </a:prstGeom>
          <a:noFill/>
          <a:ln/>
        </p:spPr>
        <p:txBody>
          <a:bodyPr wrap="square" lIns="0" tIns="0" rIns="0" bIns="0" rtlCol="0" anchor="t"/>
          <a:lstStyle/>
          <a:p>
            <a:pPr indent="0" marL="0">
              <a:lnSpc>
                <a:spcPts val="1350"/>
              </a:lnSpc>
              <a:buNone/>
            </a:pPr>
            <a:r>
              <a:rPr lang="en-US" sz="1050" dirty="0">
                <a:solidFill>
                  <a:srgbClr val="33415A"/>
                </a:solidFill>
                <a:latin typeface="Calibri" pitchFamily="34" charset="0"/>
                <a:ea typeface="Calibri" pitchFamily="34" charset="-122"/>
                <a:cs typeface="Calibri" pitchFamily="34" charset="-120"/>
              </a:rPr>
              <a:t>GTE-Large vector per unit</a:t>
            </a:r>
            <a:endParaRPr lang="en-US" sz="1050" dirty="0"/>
          </a:p>
        </p:txBody>
      </p:sp>
      <p:sp>
        <p:nvSpPr>
          <p:cNvPr id="18" name="Shape 16"/>
          <p:cNvSpPr/>
          <p:nvPr/>
        </p:nvSpPr>
        <p:spPr>
          <a:xfrm>
            <a:off x="5760720" y="2628900"/>
            <a:ext cx="182880" cy="0"/>
          </a:xfrm>
          <a:prstGeom prst="line">
            <a:avLst/>
          </a:prstGeom>
          <a:noFill/>
          <a:ln w="25400">
            <a:solidFill>
              <a:srgbClr val="0F766E"/>
            </a:solidFill>
            <a:prstDash val="solid"/>
            <a:tailEnd type="triangle"/>
          </a:ln>
        </p:spPr>
      </p:sp>
      <p:sp>
        <p:nvSpPr>
          <p:cNvPr id="19" name="Shape 17"/>
          <p:cNvSpPr/>
          <p:nvPr/>
        </p:nvSpPr>
        <p:spPr>
          <a:xfrm>
            <a:off x="5980176" y="2103120"/>
            <a:ext cx="2468880" cy="105156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0" name="Shape 18"/>
          <p:cNvSpPr/>
          <p:nvPr/>
        </p:nvSpPr>
        <p:spPr>
          <a:xfrm>
            <a:off x="5980176" y="2103120"/>
            <a:ext cx="82296" cy="1051560"/>
          </a:xfrm>
          <a:prstGeom prst="rect">
            <a:avLst/>
          </a:prstGeom>
          <a:solidFill>
            <a:srgbClr val="14B8A6"/>
          </a:solidFill>
          <a:ln/>
        </p:spPr>
      </p:sp>
      <p:sp>
        <p:nvSpPr>
          <p:cNvPr id="21" name="Shape 19"/>
          <p:cNvSpPr/>
          <p:nvPr/>
        </p:nvSpPr>
        <p:spPr>
          <a:xfrm>
            <a:off x="6163056" y="2267712"/>
            <a:ext cx="329184" cy="329184"/>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22" name="Text 20"/>
          <p:cNvSpPr/>
          <p:nvPr/>
        </p:nvSpPr>
        <p:spPr>
          <a:xfrm>
            <a:off x="6163056" y="22677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6583680" y="2249424"/>
            <a:ext cx="1737360"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Index</a:t>
            </a:r>
            <a:endParaRPr lang="en-US" sz="1300" dirty="0"/>
          </a:p>
        </p:txBody>
      </p:sp>
      <p:sp>
        <p:nvSpPr>
          <p:cNvPr id="24" name="Text 22"/>
          <p:cNvSpPr/>
          <p:nvPr/>
        </p:nvSpPr>
        <p:spPr>
          <a:xfrm>
            <a:off x="6199632" y="2670048"/>
            <a:ext cx="2057400" cy="457200"/>
          </a:xfrm>
          <a:prstGeom prst="rect">
            <a:avLst/>
          </a:prstGeom>
          <a:noFill/>
          <a:ln/>
        </p:spPr>
        <p:txBody>
          <a:bodyPr wrap="square" lIns="0" tIns="0" rIns="0" bIns="0" rtlCol="0" anchor="t"/>
          <a:lstStyle/>
          <a:p>
            <a:pPr indent="0" marL="0">
              <a:lnSpc>
                <a:spcPts val="1350"/>
              </a:lnSpc>
              <a:buNone/>
            </a:pPr>
            <a:r>
              <a:rPr lang="en-US" sz="1050" dirty="0">
                <a:solidFill>
                  <a:srgbClr val="33415A"/>
                </a:solidFill>
                <a:latin typeface="Calibri" pitchFamily="34" charset="0"/>
                <a:ea typeface="Calibri" pitchFamily="34" charset="-122"/>
                <a:cs typeface="Calibri" pitchFamily="34" charset="-120"/>
              </a:rPr>
              <a:t>Databricks Vector Search</a:t>
            </a:r>
            <a:endParaRPr lang="en-US" sz="1050" dirty="0"/>
          </a:p>
        </p:txBody>
      </p:sp>
      <p:sp>
        <p:nvSpPr>
          <p:cNvPr id="25" name="Shape 23"/>
          <p:cNvSpPr/>
          <p:nvPr/>
        </p:nvSpPr>
        <p:spPr>
          <a:xfrm>
            <a:off x="8467344" y="2628900"/>
            <a:ext cx="182880" cy="0"/>
          </a:xfrm>
          <a:prstGeom prst="line">
            <a:avLst/>
          </a:prstGeom>
          <a:noFill/>
          <a:ln w="25400">
            <a:solidFill>
              <a:srgbClr val="0F766E"/>
            </a:solidFill>
            <a:prstDash val="solid"/>
            <a:tailEnd type="triangle"/>
          </a:ln>
        </p:spPr>
      </p:sp>
      <p:sp>
        <p:nvSpPr>
          <p:cNvPr id="26" name="Shape 24"/>
          <p:cNvSpPr/>
          <p:nvPr/>
        </p:nvSpPr>
        <p:spPr>
          <a:xfrm>
            <a:off x="8686800" y="2103120"/>
            <a:ext cx="2468880" cy="105156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7" name="Shape 25"/>
          <p:cNvSpPr/>
          <p:nvPr/>
        </p:nvSpPr>
        <p:spPr>
          <a:xfrm>
            <a:off x="8686800" y="2103120"/>
            <a:ext cx="82296" cy="1051560"/>
          </a:xfrm>
          <a:prstGeom prst="rect">
            <a:avLst/>
          </a:prstGeom>
          <a:solidFill>
            <a:srgbClr val="14B8A6"/>
          </a:solidFill>
          <a:ln/>
        </p:spPr>
      </p:sp>
      <p:sp>
        <p:nvSpPr>
          <p:cNvPr id="28" name="Shape 26"/>
          <p:cNvSpPr/>
          <p:nvPr/>
        </p:nvSpPr>
        <p:spPr>
          <a:xfrm>
            <a:off x="8869680" y="2267712"/>
            <a:ext cx="329184" cy="329184"/>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29" name="Text 27"/>
          <p:cNvSpPr/>
          <p:nvPr/>
        </p:nvSpPr>
        <p:spPr>
          <a:xfrm>
            <a:off x="8869680" y="22677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9290304" y="2249424"/>
            <a:ext cx="1737360"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Search</a:t>
            </a:r>
            <a:endParaRPr lang="en-US" sz="1300" dirty="0"/>
          </a:p>
        </p:txBody>
      </p:sp>
      <p:sp>
        <p:nvSpPr>
          <p:cNvPr id="31" name="Text 29"/>
          <p:cNvSpPr/>
          <p:nvPr/>
        </p:nvSpPr>
        <p:spPr>
          <a:xfrm>
            <a:off x="8906256" y="2670048"/>
            <a:ext cx="2057400" cy="457200"/>
          </a:xfrm>
          <a:prstGeom prst="rect">
            <a:avLst/>
          </a:prstGeom>
          <a:noFill/>
          <a:ln/>
        </p:spPr>
        <p:txBody>
          <a:bodyPr wrap="square" lIns="0" tIns="0" rIns="0" bIns="0" rtlCol="0" anchor="t"/>
          <a:lstStyle/>
          <a:p>
            <a:pPr indent="0" marL="0">
              <a:lnSpc>
                <a:spcPts val="1350"/>
              </a:lnSpc>
              <a:buNone/>
            </a:pPr>
            <a:r>
              <a:rPr lang="en-US" sz="1050" dirty="0">
                <a:solidFill>
                  <a:srgbClr val="33415A"/>
                </a:solidFill>
                <a:latin typeface="Calibri" pitchFamily="34" charset="0"/>
                <a:ea typeface="Calibri" pitchFamily="34" charset="-122"/>
                <a:cs typeface="Calibri" pitchFamily="34" charset="-120"/>
              </a:rPr>
              <a:t>Similarity at query time</a:t>
            </a:r>
            <a:endParaRPr lang="en-US" sz="1050" dirty="0"/>
          </a:p>
        </p:txBody>
      </p:sp>
      <p:sp>
        <p:nvSpPr>
          <p:cNvPr id="32" name="Text 30"/>
          <p:cNvSpPr/>
          <p:nvPr/>
        </p:nvSpPr>
        <p:spPr>
          <a:xfrm>
            <a:off x="566928" y="3520440"/>
            <a:ext cx="7315200" cy="274320"/>
          </a:xfrm>
          <a:prstGeom prst="rect">
            <a:avLst/>
          </a:prstGeom>
          <a:noFill/>
          <a:ln/>
        </p:spPr>
        <p:txBody>
          <a:bodyPr wrap="square" lIns="0" tIns="0" rIns="0" bIns="0" rtlCol="0" anchor="ctr"/>
          <a:lstStyle/>
          <a:p>
            <a:pPr indent="0" marL="0">
              <a:buNone/>
            </a:pPr>
            <a:r>
              <a:rPr lang="en-US" sz="1050" b="1" spc="150" kern="0" dirty="0">
                <a:solidFill>
                  <a:srgbClr val="14B8A6"/>
                </a:solidFill>
                <a:latin typeface="Calibri" pitchFamily="34" charset="0"/>
                <a:ea typeface="Calibri" pitchFamily="34" charset="-122"/>
                <a:cs typeface="Calibri" pitchFamily="34" charset="-120"/>
              </a:rPr>
              <a:t>CITATION GROUNDING — WHAT WE CHECK BEFORE ANSWERING</a:t>
            </a:r>
            <a:endParaRPr lang="en-US" sz="1050" dirty="0"/>
          </a:p>
        </p:txBody>
      </p:sp>
      <p:sp>
        <p:nvSpPr>
          <p:cNvPr id="33" name="Shape 31"/>
          <p:cNvSpPr/>
          <p:nvPr/>
        </p:nvSpPr>
        <p:spPr>
          <a:xfrm>
            <a:off x="566928" y="3941064"/>
            <a:ext cx="146304" cy="146304"/>
          </a:xfrm>
          <a:prstGeom prst="ellipse">
            <a:avLst/>
          </a:prstGeom>
          <a:solidFill>
            <a:srgbClr val="14B8A6"/>
          </a:solidFill>
          <a:ln/>
        </p:spPr>
      </p:sp>
      <p:sp>
        <p:nvSpPr>
          <p:cNvPr id="34" name="Text 32"/>
          <p:cNvSpPr/>
          <p:nvPr/>
        </p:nvSpPr>
        <p:spPr>
          <a:xfrm>
            <a:off x="841248" y="3849624"/>
            <a:ext cx="2935224" cy="457200"/>
          </a:xfrm>
          <a:prstGeom prst="rect">
            <a:avLst/>
          </a:prstGeom>
          <a:noFill/>
          <a:ln/>
        </p:spPr>
        <p:txBody>
          <a:bodyPr wrap="square" lIns="0" tIns="0" rIns="0" bIns="0" rtlCol="0" anchor="ctr"/>
          <a:lstStyle/>
          <a:p>
            <a:pPr indent="0" marL="0">
              <a:buNone/>
            </a:pPr>
            <a:r>
              <a:rPr lang="en-US" sz="1200" b="1" dirty="0">
                <a:solidFill>
                  <a:srgbClr val="0B1B2E"/>
                </a:solidFill>
                <a:latin typeface="Calibri" pitchFamily="34" charset="0"/>
                <a:ea typeface="Calibri" pitchFamily="34" charset="-122"/>
                <a:cs typeface="Calibri" pitchFamily="34" charset="-120"/>
              </a:rPr>
              <a:t>Source confirmation</a:t>
            </a:r>
            <a:endParaRPr lang="en-US" sz="1200" dirty="0"/>
          </a:p>
        </p:txBody>
      </p:sp>
      <p:sp>
        <p:nvSpPr>
          <p:cNvPr id="35" name="Shape 33"/>
          <p:cNvSpPr/>
          <p:nvPr/>
        </p:nvSpPr>
        <p:spPr>
          <a:xfrm>
            <a:off x="3959352" y="3941064"/>
            <a:ext cx="146304" cy="146304"/>
          </a:xfrm>
          <a:prstGeom prst="ellipse">
            <a:avLst/>
          </a:prstGeom>
          <a:solidFill>
            <a:srgbClr val="14B8A6"/>
          </a:solidFill>
          <a:ln/>
        </p:spPr>
      </p:sp>
      <p:sp>
        <p:nvSpPr>
          <p:cNvPr id="36" name="Text 34"/>
          <p:cNvSpPr/>
          <p:nvPr/>
        </p:nvSpPr>
        <p:spPr>
          <a:xfrm>
            <a:off x="4233672" y="3849624"/>
            <a:ext cx="2935224" cy="457200"/>
          </a:xfrm>
          <a:prstGeom prst="rect">
            <a:avLst/>
          </a:prstGeom>
          <a:noFill/>
          <a:ln/>
        </p:spPr>
        <p:txBody>
          <a:bodyPr wrap="square" lIns="0" tIns="0" rIns="0" bIns="0" rtlCol="0" anchor="ctr"/>
          <a:lstStyle/>
          <a:p>
            <a:pPr indent="0" marL="0">
              <a:buNone/>
            </a:pPr>
            <a:r>
              <a:rPr lang="en-US" sz="1200" b="1" dirty="0">
                <a:solidFill>
                  <a:srgbClr val="0B1B2E"/>
                </a:solidFill>
                <a:latin typeface="Calibri" pitchFamily="34" charset="0"/>
                <a:ea typeface="Calibri" pitchFamily="34" charset="-122"/>
                <a:cs typeface="Calibri" pitchFamily="34" charset="-120"/>
              </a:rPr>
              <a:t>Date validity</a:t>
            </a:r>
            <a:endParaRPr lang="en-US" sz="1200" dirty="0"/>
          </a:p>
        </p:txBody>
      </p:sp>
      <p:sp>
        <p:nvSpPr>
          <p:cNvPr id="37" name="Shape 35"/>
          <p:cNvSpPr/>
          <p:nvPr/>
        </p:nvSpPr>
        <p:spPr>
          <a:xfrm>
            <a:off x="566928" y="4507992"/>
            <a:ext cx="146304" cy="146304"/>
          </a:xfrm>
          <a:prstGeom prst="ellipse">
            <a:avLst/>
          </a:prstGeom>
          <a:solidFill>
            <a:srgbClr val="14B8A6"/>
          </a:solidFill>
          <a:ln/>
        </p:spPr>
      </p:sp>
      <p:sp>
        <p:nvSpPr>
          <p:cNvPr id="38" name="Text 36"/>
          <p:cNvSpPr/>
          <p:nvPr/>
        </p:nvSpPr>
        <p:spPr>
          <a:xfrm>
            <a:off x="841248" y="4416552"/>
            <a:ext cx="2935224" cy="457200"/>
          </a:xfrm>
          <a:prstGeom prst="rect">
            <a:avLst/>
          </a:prstGeom>
          <a:noFill/>
          <a:ln/>
        </p:spPr>
        <p:txBody>
          <a:bodyPr wrap="square" lIns="0" tIns="0" rIns="0" bIns="0" rtlCol="0" anchor="ctr"/>
          <a:lstStyle/>
          <a:p>
            <a:pPr indent="0" marL="0">
              <a:buNone/>
            </a:pPr>
            <a:r>
              <a:rPr lang="en-US" sz="1200" b="1" dirty="0">
                <a:solidFill>
                  <a:srgbClr val="0B1B2E"/>
                </a:solidFill>
                <a:latin typeface="Calibri" pitchFamily="34" charset="0"/>
                <a:ea typeface="Calibri" pitchFamily="34" charset="-122"/>
                <a:cs typeface="Calibri" pitchFamily="34" charset="-120"/>
              </a:rPr>
              <a:t>Numeric accuracy</a:t>
            </a:r>
            <a:endParaRPr lang="en-US" sz="1200" dirty="0"/>
          </a:p>
        </p:txBody>
      </p:sp>
      <p:sp>
        <p:nvSpPr>
          <p:cNvPr id="39" name="Shape 37"/>
          <p:cNvSpPr/>
          <p:nvPr/>
        </p:nvSpPr>
        <p:spPr>
          <a:xfrm>
            <a:off x="3959352" y="4507992"/>
            <a:ext cx="146304" cy="146304"/>
          </a:xfrm>
          <a:prstGeom prst="ellipse">
            <a:avLst/>
          </a:prstGeom>
          <a:solidFill>
            <a:srgbClr val="14B8A6"/>
          </a:solidFill>
          <a:ln/>
        </p:spPr>
      </p:sp>
      <p:sp>
        <p:nvSpPr>
          <p:cNvPr id="40" name="Text 38"/>
          <p:cNvSpPr/>
          <p:nvPr/>
        </p:nvSpPr>
        <p:spPr>
          <a:xfrm>
            <a:off x="4233672" y="4416552"/>
            <a:ext cx="2935224" cy="457200"/>
          </a:xfrm>
          <a:prstGeom prst="rect">
            <a:avLst/>
          </a:prstGeom>
          <a:noFill/>
          <a:ln/>
        </p:spPr>
        <p:txBody>
          <a:bodyPr wrap="square" lIns="0" tIns="0" rIns="0" bIns="0" rtlCol="0" anchor="ctr"/>
          <a:lstStyle/>
          <a:p>
            <a:pPr indent="0" marL="0">
              <a:buNone/>
            </a:pPr>
            <a:r>
              <a:rPr lang="en-US" sz="1200" b="1" dirty="0">
                <a:solidFill>
                  <a:srgbClr val="0B1B2E"/>
                </a:solidFill>
                <a:latin typeface="Calibri" pitchFamily="34" charset="0"/>
                <a:ea typeface="Calibri" pitchFamily="34" charset="-122"/>
                <a:cs typeface="Calibri" pitchFamily="34" charset="-120"/>
              </a:rPr>
              <a:t>Scope match</a:t>
            </a:r>
            <a:endParaRPr lang="en-US" sz="1200" dirty="0"/>
          </a:p>
        </p:txBody>
      </p:sp>
      <p:sp>
        <p:nvSpPr>
          <p:cNvPr id="41" name="Shape 39"/>
          <p:cNvSpPr/>
          <p:nvPr/>
        </p:nvSpPr>
        <p:spPr>
          <a:xfrm>
            <a:off x="566928" y="5074920"/>
            <a:ext cx="146304" cy="146304"/>
          </a:xfrm>
          <a:prstGeom prst="ellipse">
            <a:avLst/>
          </a:prstGeom>
          <a:solidFill>
            <a:srgbClr val="14B8A6"/>
          </a:solidFill>
          <a:ln/>
        </p:spPr>
      </p:sp>
      <p:sp>
        <p:nvSpPr>
          <p:cNvPr id="42" name="Text 40"/>
          <p:cNvSpPr/>
          <p:nvPr/>
        </p:nvSpPr>
        <p:spPr>
          <a:xfrm>
            <a:off x="841248" y="4983480"/>
            <a:ext cx="2935224" cy="457200"/>
          </a:xfrm>
          <a:prstGeom prst="rect">
            <a:avLst/>
          </a:prstGeom>
          <a:noFill/>
          <a:ln/>
        </p:spPr>
        <p:txBody>
          <a:bodyPr wrap="square" lIns="0" tIns="0" rIns="0" bIns="0" rtlCol="0" anchor="ctr"/>
          <a:lstStyle/>
          <a:p>
            <a:pPr indent="0" marL="0">
              <a:buNone/>
            </a:pPr>
            <a:r>
              <a:rPr lang="en-US" sz="1200" b="1" dirty="0">
                <a:solidFill>
                  <a:srgbClr val="0B1B2E"/>
                </a:solidFill>
                <a:latin typeface="Calibri" pitchFamily="34" charset="0"/>
                <a:ea typeface="Calibri" pitchFamily="34" charset="-122"/>
                <a:cs typeface="Calibri" pitchFamily="34" charset="-120"/>
              </a:rPr>
              <a:t>Supersession risk</a:t>
            </a:r>
            <a:endParaRPr lang="en-US" sz="1200" dirty="0"/>
          </a:p>
        </p:txBody>
      </p:sp>
      <p:sp>
        <p:nvSpPr>
          <p:cNvPr id="43" name="Shape 41"/>
          <p:cNvSpPr/>
          <p:nvPr/>
        </p:nvSpPr>
        <p:spPr>
          <a:xfrm>
            <a:off x="3959352" y="5074920"/>
            <a:ext cx="146304" cy="146304"/>
          </a:xfrm>
          <a:prstGeom prst="ellipse">
            <a:avLst/>
          </a:prstGeom>
          <a:solidFill>
            <a:srgbClr val="14B8A6"/>
          </a:solidFill>
          <a:ln/>
        </p:spPr>
      </p:sp>
      <p:sp>
        <p:nvSpPr>
          <p:cNvPr id="44" name="Text 42"/>
          <p:cNvSpPr/>
          <p:nvPr/>
        </p:nvSpPr>
        <p:spPr>
          <a:xfrm>
            <a:off x="4233672" y="4983480"/>
            <a:ext cx="2935224" cy="457200"/>
          </a:xfrm>
          <a:prstGeom prst="rect">
            <a:avLst/>
          </a:prstGeom>
          <a:noFill/>
          <a:ln/>
        </p:spPr>
        <p:txBody>
          <a:bodyPr wrap="square" lIns="0" tIns="0" rIns="0" bIns="0" rtlCol="0" anchor="ctr"/>
          <a:lstStyle/>
          <a:p>
            <a:pPr indent="0" marL="0">
              <a:buNone/>
            </a:pPr>
            <a:r>
              <a:rPr lang="en-US" sz="1200" b="1" dirty="0">
                <a:solidFill>
                  <a:srgbClr val="0B1B2E"/>
                </a:solidFill>
                <a:latin typeface="Calibri" pitchFamily="34" charset="0"/>
                <a:ea typeface="Calibri" pitchFamily="34" charset="-122"/>
                <a:cs typeface="Calibri" pitchFamily="34" charset="-120"/>
              </a:rPr>
              <a:t>Confidence threshold</a:t>
            </a:r>
            <a:endParaRPr lang="en-US" sz="1200" dirty="0"/>
          </a:p>
        </p:txBody>
      </p:sp>
      <p:sp>
        <p:nvSpPr>
          <p:cNvPr id="45" name="Shape 43"/>
          <p:cNvSpPr/>
          <p:nvPr/>
        </p:nvSpPr>
        <p:spPr>
          <a:xfrm>
            <a:off x="7589520" y="3886200"/>
            <a:ext cx="4035247" cy="187452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46" name="Shape 44"/>
          <p:cNvSpPr/>
          <p:nvPr/>
        </p:nvSpPr>
        <p:spPr>
          <a:xfrm>
            <a:off x="7589520" y="3886200"/>
            <a:ext cx="82296" cy="1874520"/>
          </a:xfrm>
          <a:prstGeom prst="rect">
            <a:avLst/>
          </a:prstGeom>
          <a:solidFill>
            <a:srgbClr val="F26A4B"/>
          </a:solidFill>
          <a:ln/>
        </p:spPr>
      </p:sp>
      <p:sp>
        <p:nvSpPr>
          <p:cNvPr id="47" name="Text 45"/>
          <p:cNvSpPr/>
          <p:nvPr/>
        </p:nvSpPr>
        <p:spPr>
          <a:xfrm>
            <a:off x="7863840" y="4069080"/>
            <a:ext cx="3657600" cy="274320"/>
          </a:xfrm>
          <a:prstGeom prst="rect">
            <a:avLst/>
          </a:prstGeom>
          <a:noFill/>
          <a:ln/>
        </p:spPr>
        <p:txBody>
          <a:bodyPr wrap="square" lIns="0" tIns="0" rIns="0" bIns="0" rtlCol="0" anchor="ctr"/>
          <a:lstStyle/>
          <a:p>
            <a:pPr indent="0" marL="0">
              <a:buNone/>
            </a:pPr>
            <a:r>
              <a:rPr lang="en-US" sz="1000" b="1" spc="200" kern="0" dirty="0">
                <a:solidFill>
                  <a:srgbClr val="F26A4B"/>
                </a:solidFill>
                <a:latin typeface="Calibri" pitchFamily="34" charset="0"/>
                <a:ea typeface="Calibri" pitchFamily="34" charset="-122"/>
                <a:cs typeface="Calibri" pitchFamily="34" charset="-120"/>
              </a:rPr>
              <a:t>THE OUTCOME</a:t>
            </a:r>
            <a:endParaRPr lang="en-US" sz="1000" dirty="0"/>
          </a:p>
        </p:txBody>
      </p:sp>
      <p:sp>
        <p:nvSpPr>
          <p:cNvPr id="48" name="Text 46"/>
          <p:cNvSpPr/>
          <p:nvPr/>
        </p:nvSpPr>
        <p:spPr>
          <a:xfrm>
            <a:off x="7863840" y="4389120"/>
            <a:ext cx="3578047" cy="128016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Every answer shows its source.
</a:t>
            </a:r>
            <a:endParaRPr lang="en-US" sz="1400" dirty="0"/>
          </a:p>
          <a:p>
            <a:pPr indent="0" marL="0">
              <a:lnSpc>
                <a:spcPts val="1800"/>
              </a:lnSpc>
              <a:buNone/>
            </a:pPr>
            <a:r>
              <a:rPr lang="en-US" sz="1200" dirty="0">
                <a:solidFill>
                  <a:srgbClr val="93A4BD"/>
                </a:solidFill>
                <a:latin typeface="Calibri" pitchFamily="34" charset="0"/>
                <a:ea typeface="Calibri" pitchFamily="34" charset="-122"/>
                <a:cs typeface="Calibri" pitchFamily="34" charset="-120"/>
              </a:rPr>
              <a:t>If the evidence isn't strong enough, the system says so rather than guessing — turning AI output into </a:t>
            </a:r>
            <a:pPr indent="0" marL="0">
              <a:lnSpc>
                <a:spcPts val="1800"/>
              </a:lnSpc>
              <a:buNone/>
            </a:pPr>
            <a:r>
              <a:rPr lang="en-US" sz="1200" b="1" dirty="0">
                <a:solidFill>
                  <a:srgbClr val="5EEAD4"/>
                </a:solidFill>
                <a:latin typeface="Calibri" pitchFamily="34" charset="0"/>
                <a:ea typeface="Calibri" pitchFamily="34" charset="-122"/>
                <a:cs typeface="Calibri" pitchFamily="34" charset="-120"/>
              </a:rPr>
              <a:t>defensible, auditable intelligence.</a:t>
            </a:r>
            <a:endParaRPr lang="en-US" sz="1400" dirty="0"/>
          </a:p>
        </p:txBody>
      </p:sp>
      <p:sp>
        <p:nvSpPr>
          <p:cNvPr id="49" name="Text 47"/>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50" name="Text 48"/>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10 · THE GENIE SEMANTIC EXPERIENCE</a:t>
            </a:r>
            <a:endParaRPr lang="en-US" sz="1150" dirty="0"/>
          </a:p>
        </p:txBody>
      </p:sp>
      <p:sp>
        <p:nvSpPr>
          <p:cNvPr id="3" name="Text 1"/>
          <p:cNvSpPr/>
          <p:nvPr/>
        </p:nvSpPr>
        <p:spPr>
          <a:xfrm>
            <a:off x="566928" y="777240"/>
            <a:ext cx="7863840"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The business simply asks — in plain English</a:t>
            </a:r>
            <a:endParaRPr lang="en-US" sz="2900" dirty="0"/>
          </a:p>
        </p:txBody>
      </p:sp>
      <p:sp>
        <p:nvSpPr>
          <p:cNvPr id="4" name="Shape 2"/>
          <p:cNvSpPr/>
          <p:nvPr/>
        </p:nvSpPr>
        <p:spPr>
          <a:xfrm>
            <a:off x="566928" y="1828800"/>
            <a:ext cx="5852160" cy="640080"/>
          </a:xfrm>
          <a:prstGeom prst="roundRect">
            <a:avLst>
              <a:gd name="adj" fmla="val 10000"/>
            </a:avLst>
          </a:prstGeom>
          <a:solidFill>
            <a:srgbClr val="E7F6F4"/>
          </a:solidFill>
          <a:ln/>
          <a:effectLst>
            <a:outerShdw sx="100000" sy="100000" kx="0" ky="0" algn="bl" rotWithShape="0" blurRad="114300" dist="38100" dir="8100000">
              <a:srgbClr val="1E293B">
                <a:alpha val="12000"/>
              </a:srgbClr>
            </a:outerShdw>
          </a:effectLst>
        </p:spPr>
      </p:sp>
      <p:sp>
        <p:nvSpPr>
          <p:cNvPr id="5" name="Text 3"/>
          <p:cNvSpPr/>
          <p:nvPr/>
        </p:nvSpPr>
        <p:spPr>
          <a:xfrm>
            <a:off x="621792" y="1828800"/>
            <a:ext cx="5742432" cy="640080"/>
          </a:xfrm>
          <a:prstGeom prst="rect">
            <a:avLst/>
          </a:prstGeom>
          <a:noFill/>
          <a:ln/>
        </p:spPr>
        <p:txBody>
          <a:bodyPr wrap="square" lIns="0" tIns="0" rIns="0" bIns="0" rtlCol="0" anchor="ctr"/>
          <a:lstStyle/>
          <a:p>
            <a:pPr algn="ctr" indent="0" marL="0">
              <a:lnSpc>
                <a:spcPts val="1275"/>
              </a:lnSpc>
              <a:buNone/>
            </a:pPr>
            <a:r>
              <a:rPr lang="en-US" sz="1250" b="1" dirty="0">
                <a:solidFill>
                  <a:srgbClr val="0F766E"/>
                </a:solidFill>
                <a:latin typeface="Calibri" pitchFamily="34" charset="0"/>
                <a:ea typeface="Calibri" pitchFamily="34" charset="-122"/>
                <a:cs typeface="Calibri" pitchFamily="34" charset="-120"/>
              </a:rPr>
              <a:t>“What is Sharp Memorial's current inpatient per diem?”</a:t>
            </a:r>
            <a:endParaRPr lang="en-US" sz="1250" dirty="0"/>
          </a:p>
        </p:txBody>
      </p:sp>
      <p:sp>
        <p:nvSpPr>
          <p:cNvPr id="6" name="Shape 4"/>
          <p:cNvSpPr/>
          <p:nvPr/>
        </p:nvSpPr>
        <p:spPr>
          <a:xfrm>
            <a:off x="3493008" y="2487168"/>
            <a:ext cx="0" cy="237744"/>
          </a:xfrm>
          <a:prstGeom prst="line">
            <a:avLst/>
          </a:prstGeom>
          <a:noFill/>
          <a:ln w="25400">
            <a:solidFill>
              <a:srgbClr val="0F766E"/>
            </a:solidFill>
            <a:prstDash val="solid"/>
            <a:tailEnd type="triangle"/>
          </a:ln>
        </p:spPr>
      </p:sp>
      <p:sp>
        <p:nvSpPr>
          <p:cNvPr id="7" name="Shape 5"/>
          <p:cNvSpPr/>
          <p:nvPr/>
        </p:nvSpPr>
        <p:spPr>
          <a:xfrm>
            <a:off x="566928" y="2761488"/>
            <a:ext cx="5852160" cy="105156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8" name="Shape 6"/>
          <p:cNvSpPr/>
          <p:nvPr/>
        </p:nvSpPr>
        <p:spPr>
          <a:xfrm>
            <a:off x="566928" y="2761488"/>
            <a:ext cx="82296" cy="1051560"/>
          </a:xfrm>
          <a:prstGeom prst="rect">
            <a:avLst/>
          </a:prstGeom>
          <a:solidFill>
            <a:srgbClr val="14B8A6"/>
          </a:solidFill>
          <a:ln/>
        </p:spPr>
      </p:sp>
      <p:sp>
        <p:nvSpPr>
          <p:cNvPr id="9" name="Text 7"/>
          <p:cNvSpPr/>
          <p:nvPr/>
        </p:nvSpPr>
        <p:spPr>
          <a:xfrm>
            <a:off x="841248" y="2761488"/>
            <a:ext cx="5394960" cy="1051560"/>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Calibri" pitchFamily="34" charset="0"/>
                <a:ea typeface="Calibri" pitchFamily="34" charset="-122"/>
                <a:cs typeface="Calibri" pitchFamily="34" charset="-120"/>
              </a:rPr>
              <a:t>Genie semantic layer
</a:t>
            </a:r>
            <a:endParaRPr lang="en-US" sz="1400" dirty="0"/>
          </a:p>
          <a:p>
            <a:pPr indent="0" marL="0">
              <a:lnSpc>
                <a:spcPts val="1600"/>
              </a:lnSpc>
              <a:buNone/>
            </a:pPr>
            <a:r>
              <a:rPr lang="en-US" sz="1100" dirty="0">
                <a:solidFill>
                  <a:srgbClr val="93A4BD"/>
                </a:solidFill>
                <a:latin typeface="Calibri" pitchFamily="34" charset="0"/>
                <a:ea typeface="Calibri" pitchFamily="34" charset="-122"/>
                <a:cs typeface="Calibri" pitchFamily="34" charset="-120"/>
              </a:rPr>
              <a:t>Curated gold tables + business column descriptions translate the question to governed SQL.</a:t>
            </a:r>
            <a:endParaRPr lang="en-US" sz="1400" dirty="0"/>
          </a:p>
        </p:txBody>
      </p:sp>
      <p:sp>
        <p:nvSpPr>
          <p:cNvPr id="10" name="Shape 8"/>
          <p:cNvSpPr/>
          <p:nvPr/>
        </p:nvSpPr>
        <p:spPr>
          <a:xfrm>
            <a:off x="3493008" y="3831336"/>
            <a:ext cx="0" cy="219456"/>
          </a:xfrm>
          <a:prstGeom prst="line">
            <a:avLst/>
          </a:prstGeom>
          <a:noFill/>
          <a:ln w="25400">
            <a:solidFill>
              <a:srgbClr val="0F766E"/>
            </a:solidFill>
            <a:prstDash val="solid"/>
            <a:tailEnd type="triangle"/>
          </a:ln>
        </p:spPr>
      </p:sp>
      <p:sp>
        <p:nvSpPr>
          <p:cNvPr id="11" name="Shape 9"/>
          <p:cNvSpPr/>
          <p:nvPr/>
        </p:nvSpPr>
        <p:spPr>
          <a:xfrm>
            <a:off x="566928" y="4069080"/>
            <a:ext cx="5852160" cy="548640"/>
          </a:xfrm>
          <a:prstGeom prst="roundRect">
            <a:avLst>
              <a:gd name="adj" fmla="val 11667"/>
            </a:avLst>
          </a:prstGeom>
          <a:solidFill>
            <a:srgbClr val="F8FAFC"/>
          </a:solidFill>
          <a:ln/>
          <a:effectLst>
            <a:outerShdw sx="100000" sy="100000" kx="0" ky="0" algn="bl" rotWithShape="0" blurRad="114300" dist="38100" dir="8100000">
              <a:srgbClr val="1E293B">
                <a:alpha val="12000"/>
              </a:srgbClr>
            </a:outerShdw>
          </a:effectLst>
        </p:spPr>
      </p:sp>
      <p:sp>
        <p:nvSpPr>
          <p:cNvPr id="12" name="Text 10"/>
          <p:cNvSpPr/>
          <p:nvPr/>
        </p:nvSpPr>
        <p:spPr>
          <a:xfrm>
            <a:off x="621792" y="4069080"/>
            <a:ext cx="5742432" cy="548640"/>
          </a:xfrm>
          <a:prstGeom prst="rect">
            <a:avLst/>
          </a:prstGeom>
          <a:noFill/>
          <a:ln/>
        </p:spPr>
        <p:txBody>
          <a:bodyPr wrap="square" lIns="0" tIns="0" rIns="0" bIns="0" rtlCol="0" anchor="ctr"/>
          <a:lstStyle/>
          <a:p>
            <a:pPr algn="ctr" indent="0" marL="0">
              <a:lnSpc>
                <a:spcPts val="1224"/>
              </a:lnSpc>
              <a:buNone/>
            </a:pPr>
            <a:r>
              <a:rPr lang="en-US" sz="1200" b="1" dirty="0">
                <a:solidFill>
                  <a:srgbClr val="0B1B2E"/>
                </a:solidFill>
                <a:latin typeface="Calibri" pitchFamily="34" charset="0"/>
                <a:ea typeface="Calibri" pitchFamily="34" charset="-122"/>
                <a:cs typeface="Calibri" pitchFamily="34" charset="-120"/>
              </a:rPr>
              <a:t>Natural language  →  SQL  (auto-generated, governed)</a:t>
            </a:r>
            <a:endParaRPr lang="en-US" sz="1200" dirty="0"/>
          </a:p>
        </p:txBody>
      </p:sp>
      <p:sp>
        <p:nvSpPr>
          <p:cNvPr id="13" name="Shape 11"/>
          <p:cNvSpPr/>
          <p:nvPr/>
        </p:nvSpPr>
        <p:spPr>
          <a:xfrm>
            <a:off x="3493008" y="4636008"/>
            <a:ext cx="0" cy="219456"/>
          </a:xfrm>
          <a:prstGeom prst="line">
            <a:avLst/>
          </a:prstGeom>
          <a:noFill/>
          <a:ln w="25400">
            <a:solidFill>
              <a:srgbClr val="0F766E"/>
            </a:solidFill>
            <a:prstDash val="solid"/>
            <a:tailEnd type="triangle"/>
          </a:ln>
        </p:spPr>
      </p:sp>
      <p:sp>
        <p:nvSpPr>
          <p:cNvPr id="14" name="Shape 12"/>
          <p:cNvSpPr/>
          <p:nvPr/>
        </p:nvSpPr>
        <p:spPr>
          <a:xfrm>
            <a:off x="566928" y="4873752"/>
            <a:ext cx="5852160" cy="548640"/>
          </a:xfrm>
          <a:prstGeom prst="roundRect">
            <a:avLst>
              <a:gd name="adj" fmla="val 11667"/>
            </a:avLst>
          </a:prstGeom>
          <a:solidFill>
            <a:srgbClr val="F8FAFC"/>
          </a:solidFill>
          <a:ln/>
          <a:effectLst>
            <a:outerShdw sx="100000" sy="100000" kx="0" ky="0" algn="bl" rotWithShape="0" blurRad="114300" dist="38100" dir="8100000">
              <a:srgbClr val="1E293B">
                <a:alpha val="12000"/>
              </a:srgbClr>
            </a:outerShdw>
          </a:effectLst>
        </p:spPr>
      </p:sp>
      <p:sp>
        <p:nvSpPr>
          <p:cNvPr id="15" name="Text 13"/>
          <p:cNvSpPr/>
          <p:nvPr/>
        </p:nvSpPr>
        <p:spPr>
          <a:xfrm>
            <a:off x="621792" y="4873752"/>
            <a:ext cx="5742432" cy="548640"/>
          </a:xfrm>
          <a:prstGeom prst="rect">
            <a:avLst/>
          </a:prstGeom>
          <a:noFill/>
          <a:ln/>
        </p:spPr>
        <p:txBody>
          <a:bodyPr wrap="square" lIns="0" tIns="0" rIns="0" bIns="0" rtlCol="0" anchor="ctr"/>
          <a:lstStyle/>
          <a:p>
            <a:pPr algn="ctr" indent="0" marL="0">
              <a:lnSpc>
                <a:spcPts val="1224"/>
              </a:lnSpc>
              <a:buNone/>
            </a:pPr>
            <a:r>
              <a:rPr lang="en-US" sz="1200" b="1" dirty="0">
                <a:solidFill>
                  <a:srgbClr val="0B1B2E"/>
                </a:solidFill>
                <a:latin typeface="Calibri" pitchFamily="34" charset="0"/>
                <a:ea typeface="Calibri" pitchFamily="34" charset="-122"/>
                <a:cs typeface="Calibri" pitchFamily="34" charset="-120"/>
              </a:rPr>
              <a:t>Curated, governed gold tables</a:t>
            </a:r>
            <a:endParaRPr lang="en-US" sz="1200" dirty="0"/>
          </a:p>
        </p:txBody>
      </p:sp>
      <p:sp>
        <p:nvSpPr>
          <p:cNvPr id="16" name="Shape 14"/>
          <p:cNvSpPr/>
          <p:nvPr/>
        </p:nvSpPr>
        <p:spPr>
          <a:xfrm>
            <a:off x="3493008" y="5440680"/>
            <a:ext cx="0" cy="201168"/>
          </a:xfrm>
          <a:prstGeom prst="line">
            <a:avLst/>
          </a:prstGeom>
          <a:noFill/>
          <a:ln w="25400">
            <a:solidFill>
              <a:srgbClr val="0F766E"/>
            </a:solidFill>
            <a:prstDash val="solid"/>
            <a:tailEnd type="triangle"/>
          </a:ln>
        </p:spPr>
      </p:sp>
      <p:sp>
        <p:nvSpPr>
          <p:cNvPr id="17" name="Shape 15"/>
          <p:cNvSpPr/>
          <p:nvPr/>
        </p:nvSpPr>
        <p:spPr>
          <a:xfrm>
            <a:off x="566928" y="5669280"/>
            <a:ext cx="5852160" cy="502920"/>
          </a:xfrm>
          <a:prstGeom prst="roundRect">
            <a:avLst>
              <a:gd name="adj" fmla="val 12727"/>
            </a:avLst>
          </a:prstGeom>
          <a:solidFill>
            <a:srgbClr val="0B1B2E"/>
          </a:solidFill>
          <a:ln/>
          <a:effectLst>
            <a:outerShdw sx="100000" sy="100000" kx="0" ky="0" algn="bl" rotWithShape="0" blurRad="114300" dist="38100" dir="8100000">
              <a:srgbClr val="1E293B">
                <a:alpha val="12000"/>
              </a:srgbClr>
            </a:outerShdw>
          </a:effectLst>
        </p:spPr>
      </p:sp>
      <p:sp>
        <p:nvSpPr>
          <p:cNvPr id="18" name="Text 16"/>
          <p:cNvSpPr/>
          <p:nvPr/>
        </p:nvSpPr>
        <p:spPr>
          <a:xfrm>
            <a:off x="621792" y="5669280"/>
            <a:ext cx="5742432" cy="502920"/>
          </a:xfrm>
          <a:prstGeom prst="rect">
            <a:avLst/>
          </a:prstGeom>
          <a:noFill/>
          <a:ln/>
        </p:spPr>
        <p:txBody>
          <a:bodyPr wrap="square" lIns="0" tIns="0" rIns="0" bIns="0" rtlCol="0" anchor="ctr"/>
          <a:lstStyle/>
          <a:p>
            <a:pPr algn="ctr" indent="0" marL="0">
              <a:lnSpc>
                <a:spcPts val="1224"/>
              </a:lnSpc>
              <a:buNone/>
            </a:pPr>
            <a:r>
              <a:rPr lang="en-US" sz="1200" b="1" dirty="0">
                <a:solidFill>
                  <a:srgbClr val="5EEAD4"/>
                </a:solidFill>
                <a:latin typeface="Calibri" pitchFamily="34" charset="0"/>
                <a:ea typeface="Calibri" pitchFamily="34" charset="-122"/>
                <a:cs typeface="Calibri" pitchFamily="34" charset="-120"/>
              </a:rPr>
              <a:t>Answer in ~10 seconds  ·  no SQL, no ticket</a:t>
            </a:r>
            <a:endParaRPr lang="en-US" sz="1200" dirty="0"/>
          </a:p>
        </p:txBody>
      </p:sp>
      <p:sp>
        <p:nvSpPr>
          <p:cNvPr id="19" name="Text 17"/>
          <p:cNvSpPr/>
          <p:nvPr/>
        </p:nvSpPr>
        <p:spPr>
          <a:xfrm>
            <a:off x="6629400" y="1828800"/>
            <a:ext cx="4995367" cy="274320"/>
          </a:xfrm>
          <a:prstGeom prst="rect">
            <a:avLst/>
          </a:prstGeom>
          <a:noFill/>
          <a:ln/>
        </p:spPr>
        <p:txBody>
          <a:bodyPr wrap="square" lIns="0" tIns="0" rIns="0" bIns="0" rtlCol="0" anchor="ctr"/>
          <a:lstStyle/>
          <a:p>
            <a:pPr indent="0" marL="0">
              <a:buNone/>
            </a:pPr>
            <a:r>
              <a:rPr lang="en-US" sz="1050" b="1" spc="150" kern="0" dirty="0">
                <a:solidFill>
                  <a:srgbClr val="14B8A6"/>
                </a:solidFill>
                <a:latin typeface="Calibri" pitchFamily="34" charset="0"/>
                <a:ea typeface="Calibri" pitchFamily="34" charset="-122"/>
                <a:cs typeface="Calibri" pitchFamily="34" charset="-120"/>
              </a:rPr>
              <a:t>WHY IT'S ACCURATE</a:t>
            </a:r>
            <a:endParaRPr lang="en-US" sz="1050" dirty="0"/>
          </a:p>
        </p:txBody>
      </p:sp>
      <p:sp>
        <p:nvSpPr>
          <p:cNvPr id="20" name="Shape 18"/>
          <p:cNvSpPr/>
          <p:nvPr/>
        </p:nvSpPr>
        <p:spPr>
          <a:xfrm>
            <a:off x="6629400" y="2148840"/>
            <a:ext cx="4995367" cy="84124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1" name="Shape 19"/>
          <p:cNvSpPr/>
          <p:nvPr/>
        </p:nvSpPr>
        <p:spPr>
          <a:xfrm>
            <a:off x="6629400" y="2148840"/>
            <a:ext cx="82296" cy="841248"/>
          </a:xfrm>
          <a:prstGeom prst="rect">
            <a:avLst/>
          </a:prstGeom>
          <a:solidFill>
            <a:srgbClr val="14B8A6"/>
          </a:solidFill>
          <a:ln/>
        </p:spPr>
      </p:sp>
      <p:sp>
        <p:nvSpPr>
          <p:cNvPr id="22" name="Text 20"/>
          <p:cNvSpPr/>
          <p:nvPr/>
        </p:nvSpPr>
        <p:spPr>
          <a:xfrm>
            <a:off x="6848856" y="2267712"/>
            <a:ext cx="4629607" cy="292608"/>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Curated, not raw</a:t>
            </a:r>
            <a:endParaRPr lang="en-US" sz="1250" dirty="0"/>
          </a:p>
        </p:txBody>
      </p:sp>
      <p:sp>
        <p:nvSpPr>
          <p:cNvPr id="23" name="Text 21"/>
          <p:cNvSpPr/>
          <p:nvPr/>
        </p:nvSpPr>
        <p:spPr>
          <a:xfrm>
            <a:off x="6848856" y="2569464"/>
            <a:ext cx="4611319" cy="384048"/>
          </a:xfrm>
          <a:prstGeom prst="rect">
            <a:avLst/>
          </a:prstGeom>
          <a:noFill/>
          <a:ln/>
        </p:spPr>
        <p:txBody>
          <a:bodyPr wrap="square" lIns="0" tIns="0" rIns="0" bIns="0" rtlCol="0" anchor="t"/>
          <a:lstStyle/>
          <a:p>
            <a:pPr indent="0" marL="0">
              <a:lnSpc>
                <a:spcPts val="1350"/>
              </a:lnSpc>
              <a:buNone/>
            </a:pPr>
            <a:r>
              <a:rPr lang="en-US" sz="1050" dirty="0">
                <a:solidFill>
                  <a:srgbClr val="33415A"/>
                </a:solidFill>
                <a:latin typeface="Calibri" pitchFamily="34" charset="0"/>
                <a:ea typeface="Calibri" pitchFamily="34" charset="-122"/>
                <a:cs typeface="Calibri" pitchFamily="34" charset="-120"/>
              </a:rPr>
              <a:t>Genie sees a small, purpose-built set of tables — not 30+ raw ones.</a:t>
            </a:r>
            <a:endParaRPr lang="en-US" sz="1050" dirty="0"/>
          </a:p>
        </p:txBody>
      </p:sp>
      <p:sp>
        <p:nvSpPr>
          <p:cNvPr id="24" name="Shape 22"/>
          <p:cNvSpPr/>
          <p:nvPr/>
        </p:nvSpPr>
        <p:spPr>
          <a:xfrm>
            <a:off x="6629400" y="3099816"/>
            <a:ext cx="4995367" cy="84124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5" name="Shape 23"/>
          <p:cNvSpPr/>
          <p:nvPr/>
        </p:nvSpPr>
        <p:spPr>
          <a:xfrm>
            <a:off x="6629400" y="3099816"/>
            <a:ext cx="82296" cy="841248"/>
          </a:xfrm>
          <a:prstGeom prst="rect">
            <a:avLst/>
          </a:prstGeom>
          <a:solidFill>
            <a:srgbClr val="14B8A6"/>
          </a:solidFill>
          <a:ln/>
        </p:spPr>
      </p:sp>
      <p:sp>
        <p:nvSpPr>
          <p:cNvPr id="26" name="Text 24"/>
          <p:cNvSpPr/>
          <p:nvPr/>
        </p:nvSpPr>
        <p:spPr>
          <a:xfrm>
            <a:off x="6848856" y="3218688"/>
            <a:ext cx="4629607" cy="292608"/>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Business descriptions</a:t>
            </a:r>
            <a:endParaRPr lang="en-US" sz="1250" dirty="0"/>
          </a:p>
        </p:txBody>
      </p:sp>
      <p:sp>
        <p:nvSpPr>
          <p:cNvPr id="27" name="Text 25"/>
          <p:cNvSpPr/>
          <p:nvPr/>
        </p:nvSpPr>
        <p:spPr>
          <a:xfrm>
            <a:off x="6848856" y="3520440"/>
            <a:ext cx="4611319" cy="384048"/>
          </a:xfrm>
          <a:prstGeom prst="rect">
            <a:avLst/>
          </a:prstGeom>
          <a:noFill/>
          <a:ln/>
        </p:spPr>
        <p:txBody>
          <a:bodyPr wrap="square" lIns="0" tIns="0" rIns="0" bIns="0" rtlCol="0" anchor="t"/>
          <a:lstStyle/>
          <a:p>
            <a:pPr indent="0" marL="0">
              <a:lnSpc>
                <a:spcPts val="1350"/>
              </a:lnSpc>
              <a:buNone/>
            </a:pPr>
            <a:r>
              <a:rPr lang="en-US" sz="1050" dirty="0">
                <a:solidFill>
                  <a:srgbClr val="33415A"/>
                </a:solidFill>
                <a:latin typeface="Calibri" pitchFamily="34" charset="0"/>
                <a:ea typeface="Calibri" pitchFamily="34" charset="-122"/>
                <a:cs typeface="Calibri" pitchFamily="34" charset="-120"/>
              </a:rPr>
              <a:t>Plain-language column meaning guides correct SQL generation.</a:t>
            </a:r>
            <a:endParaRPr lang="en-US" sz="1050" dirty="0"/>
          </a:p>
        </p:txBody>
      </p:sp>
      <p:sp>
        <p:nvSpPr>
          <p:cNvPr id="28" name="Shape 26"/>
          <p:cNvSpPr/>
          <p:nvPr/>
        </p:nvSpPr>
        <p:spPr>
          <a:xfrm>
            <a:off x="6629400" y="4050792"/>
            <a:ext cx="4995367" cy="841248"/>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29" name="Shape 27"/>
          <p:cNvSpPr/>
          <p:nvPr/>
        </p:nvSpPr>
        <p:spPr>
          <a:xfrm>
            <a:off x="6629400" y="4050792"/>
            <a:ext cx="82296" cy="841248"/>
          </a:xfrm>
          <a:prstGeom prst="rect">
            <a:avLst/>
          </a:prstGeom>
          <a:solidFill>
            <a:srgbClr val="14B8A6"/>
          </a:solidFill>
          <a:ln/>
        </p:spPr>
      </p:sp>
      <p:sp>
        <p:nvSpPr>
          <p:cNvPr id="30" name="Text 28"/>
          <p:cNvSpPr/>
          <p:nvPr/>
        </p:nvSpPr>
        <p:spPr>
          <a:xfrm>
            <a:off x="6848856" y="4169664"/>
            <a:ext cx="4629607" cy="292608"/>
          </a:xfrm>
          <a:prstGeom prst="rect">
            <a:avLst/>
          </a:prstGeom>
          <a:noFill/>
          <a:ln/>
        </p:spPr>
        <p:txBody>
          <a:bodyPr wrap="square" lIns="0" tIns="0" rIns="0" bIns="0" rtlCol="0" anchor="ctr"/>
          <a:lstStyle/>
          <a:p>
            <a:pPr indent="0" marL="0">
              <a:buNone/>
            </a:pPr>
            <a:r>
              <a:rPr lang="en-US" sz="1250" b="1" dirty="0">
                <a:solidFill>
                  <a:srgbClr val="0B1B2E"/>
                </a:solidFill>
                <a:latin typeface="Calibri" pitchFamily="34" charset="0"/>
                <a:ea typeface="Calibri" pitchFamily="34" charset="-122"/>
                <a:cs typeface="Calibri" pitchFamily="34" charset="-120"/>
              </a:rPr>
              <a:t>Canonical names</a:t>
            </a:r>
            <a:endParaRPr lang="en-US" sz="1250" dirty="0"/>
          </a:p>
        </p:txBody>
      </p:sp>
      <p:sp>
        <p:nvSpPr>
          <p:cNvPr id="31" name="Text 29"/>
          <p:cNvSpPr/>
          <p:nvPr/>
        </p:nvSpPr>
        <p:spPr>
          <a:xfrm>
            <a:off x="6848856" y="4471416"/>
            <a:ext cx="4611319" cy="384048"/>
          </a:xfrm>
          <a:prstGeom prst="rect">
            <a:avLst/>
          </a:prstGeom>
          <a:noFill/>
          <a:ln/>
        </p:spPr>
        <p:txBody>
          <a:bodyPr wrap="square" lIns="0" tIns="0" rIns="0" bIns="0" rtlCol="0" anchor="t"/>
          <a:lstStyle/>
          <a:p>
            <a:pPr indent="0" marL="0">
              <a:lnSpc>
                <a:spcPts val="1350"/>
              </a:lnSpc>
              <a:buNone/>
            </a:pPr>
            <a:r>
              <a:rPr lang="en-US" sz="1050" dirty="0">
                <a:solidFill>
                  <a:srgbClr val="33415A"/>
                </a:solidFill>
                <a:latin typeface="Calibri" pitchFamily="34" charset="0"/>
                <a:ea typeface="Calibri" pitchFamily="34" charset="-122"/>
                <a:cs typeface="Calibri" pitchFamily="34" charset="-120"/>
              </a:rPr>
              <a:t>'Providence' resolves across every sub-entity automatically.</a:t>
            </a:r>
            <a:endParaRPr lang="en-US" sz="1050" dirty="0"/>
          </a:p>
        </p:txBody>
      </p:sp>
      <p:sp>
        <p:nvSpPr>
          <p:cNvPr id="32" name="Text 30"/>
          <p:cNvSpPr/>
          <p:nvPr/>
        </p:nvSpPr>
        <p:spPr>
          <a:xfrm>
            <a:off x="6629400" y="5029200"/>
            <a:ext cx="4995367" cy="274320"/>
          </a:xfrm>
          <a:prstGeom prst="rect">
            <a:avLst/>
          </a:prstGeom>
          <a:noFill/>
          <a:ln/>
        </p:spPr>
        <p:txBody>
          <a:bodyPr wrap="square" lIns="0" tIns="0" rIns="0" bIns="0" rtlCol="0" anchor="ctr"/>
          <a:lstStyle/>
          <a:p>
            <a:pPr indent="0" marL="0">
              <a:buNone/>
            </a:pPr>
            <a:r>
              <a:rPr lang="en-US" sz="1050" b="1" spc="150" kern="0" dirty="0">
                <a:solidFill>
                  <a:srgbClr val="14B8A6"/>
                </a:solidFill>
                <a:latin typeface="Calibri" pitchFamily="34" charset="0"/>
                <a:ea typeface="Calibri" pitchFamily="34" charset="-122"/>
                <a:cs typeface="Calibri" pitchFamily="34" charset="-120"/>
              </a:rPr>
              <a:t>SERVES EVERY PERSONA</a:t>
            </a:r>
            <a:endParaRPr lang="en-US" sz="1050" dirty="0"/>
          </a:p>
        </p:txBody>
      </p:sp>
      <p:sp>
        <p:nvSpPr>
          <p:cNvPr id="33" name="Shape 31"/>
          <p:cNvSpPr/>
          <p:nvPr/>
        </p:nvSpPr>
        <p:spPr>
          <a:xfrm>
            <a:off x="6629400" y="5349240"/>
            <a:ext cx="1567586" cy="411480"/>
          </a:xfrm>
          <a:prstGeom prst="roundRect">
            <a:avLst>
              <a:gd name="adj" fmla="val 15556"/>
            </a:avLst>
          </a:prstGeom>
          <a:solidFill>
            <a:srgbClr val="E7F6F4"/>
          </a:solidFill>
          <a:ln/>
          <a:effectLst>
            <a:outerShdw sx="100000" sy="100000" kx="0" ky="0" algn="bl" rotWithShape="0" blurRad="114300" dist="38100" dir="8100000">
              <a:srgbClr val="1E293B">
                <a:alpha val="12000"/>
              </a:srgbClr>
            </a:outerShdw>
          </a:effectLst>
        </p:spPr>
      </p:sp>
      <p:sp>
        <p:nvSpPr>
          <p:cNvPr id="34" name="Text 32"/>
          <p:cNvSpPr/>
          <p:nvPr/>
        </p:nvSpPr>
        <p:spPr>
          <a:xfrm>
            <a:off x="6684264" y="5349240"/>
            <a:ext cx="1457858" cy="411480"/>
          </a:xfrm>
          <a:prstGeom prst="rect">
            <a:avLst/>
          </a:prstGeom>
          <a:noFill/>
          <a:ln/>
        </p:spPr>
        <p:txBody>
          <a:bodyPr wrap="square" lIns="0" tIns="0" rIns="0" bIns="0" rtlCol="0" anchor="ctr"/>
          <a:lstStyle/>
          <a:p>
            <a:pPr algn="ctr" indent="0" marL="0">
              <a:lnSpc>
                <a:spcPts val="1071"/>
              </a:lnSpc>
              <a:buNone/>
            </a:pPr>
            <a:r>
              <a:rPr lang="en-US" sz="1050" b="1" dirty="0">
                <a:solidFill>
                  <a:srgbClr val="0F766E"/>
                </a:solidFill>
                <a:latin typeface="Calibri" pitchFamily="34" charset="0"/>
                <a:ea typeface="Calibri" pitchFamily="34" charset="-122"/>
                <a:cs typeface="Calibri" pitchFamily="34" charset="-120"/>
              </a:rPr>
              <a:t>Contracting</a:t>
            </a:r>
            <a:endParaRPr lang="en-US" sz="1050" dirty="0"/>
          </a:p>
        </p:txBody>
      </p:sp>
      <p:sp>
        <p:nvSpPr>
          <p:cNvPr id="35" name="Shape 33"/>
          <p:cNvSpPr/>
          <p:nvPr/>
        </p:nvSpPr>
        <p:spPr>
          <a:xfrm>
            <a:off x="8343290" y="5349240"/>
            <a:ext cx="1567586" cy="411480"/>
          </a:xfrm>
          <a:prstGeom prst="roundRect">
            <a:avLst>
              <a:gd name="adj" fmla="val 15556"/>
            </a:avLst>
          </a:prstGeom>
          <a:solidFill>
            <a:srgbClr val="E7F6F4"/>
          </a:solidFill>
          <a:ln/>
          <a:effectLst>
            <a:outerShdw sx="100000" sy="100000" kx="0" ky="0" algn="bl" rotWithShape="0" blurRad="114300" dist="38100" dir="8100000">
              <a:srgbClr val="1E293B">
                <a:alpha val="12000"/>
              </a:srgbClr>
            </a:outerShdw>
          </a:effectLst>
        </p:spPr>
      </p:sp>
      <p:sp>
        <p:nvSpPr>
          <p:cNvPr id="36" name="Text 34"/>
          <p:cNvSpPr/>
          <p:nvPr/>
        </p:nvSpPr>
        <p:spPr>
          <a:xfrm>
            <a:off x="8398154" y="5349240"/>
            <a:ext cx="1457858" cy="411480"/>
          </a:xfrm>
          <a:prstGeom prst="rect">
            <a:avLst/>
          </a:prstGeom>
          <a:noFill/>
          <a:ln/>
        </p:spPr>
        <p:txBody>
          <a:bodyPr wrap="square" lIns="0" tIns="0" rIns="0" bIns="0" rtlCol="0" anchor="ctr"/>
          <a:lstStyle/>
          <a:p>
            <a:pPr algn="ctr" indent="0" marL="0">
              <a:lnSpc>
                <a:spcPts val="1071"/>
              </a:lnSpc>
              <a:buNone/>
            </a:pPr>
            <a:r>
              <a:rPr lang="en-US" sz="1050" b="1" dirty="0">
                <a:solidFill>
                  <a:srgbClr val="0F766E"/>
                </a:solidFill>
                <a:latin typeface="Calibri" pitchFamily="34" charset="0"/>
                <a:ea typeface="Calibri" pitchFamily="34" charset="-122"/>
                <a:cs typeface="Calibri" pitchFamily="34" charset="-120"/>
              </a:rPr>
              <a:t>Finance</a:t>
            </a:r>
            <a:endParaRPr lang="en-US" sz="1050" dirty="0"/>
          </a:p>
        </p:txBody>
      </p:sp>
      <p:sp>
        <p:nvSpPr>
          <p:cNvPr id="37" name="Shape 35"/>
          <p:cNvSpPr/>
          <p:nvPr/>
        </p:nvSpPr>
        <p:spPr>
          <a:xfrm>
            <a:off x="10057181" y="5349240"/>
            <a:ext cx="1567586" cy="411480"/>
          </a:xfrm>
          <a:prstGeom prst="roundRect">
            <a:avLst>
              <a:gd name="adj" fmla="val 15556"/>
            </a:avLst>
          </a:prstGeom>
          <a:solidFill>
            <a:srgbClr val="E7F6F4"/>
          </a:solidFill>
          <a:ln/>
          <a:effectLst>
            <a:outerShdw sx="100000" sy="100000" kx="0" ky="0" algn="bl" rotWithShape="0" blurRad="114300" dist="38100" dir="8100000">
              <a:srgbClr val="1E293B">
                <a:alpha val="12000"/>
              </a:srgbClr>
            </a:outerShdw>
          </a:effectLst>
        </p:spPr>
      </p:sp>
      <p:sp>
        <p:nvSpPr>
          <p:cNvPr id="38" name="Text 36"/>
          <p:cNvSpPr/>
          <p:nvPr/>
        </p:nvSpPr>
        <p:spPr>
          <a:xfrm>
            <a:off x="10112045" y="5349240"/>
            <a:ext cx="1457858" cy="411480"/>
          </a:xfrm>
          <a:prstGeom prst="rect">
            <a:avLst/>
          </a:prstGeom>
          <a:noFill/>
          <a:ln/>
        </p:spPr>
        <p:txBody>
          <a:bodyPr wrap="square" lIns="0" tIns="0" rIns="0" bIns="0" rtlCol="0" anchor="ctr"/>
          <a:lstStyle/>
          <a:p>
            <a:pPr algn="ctr" indent="0" marL="0">
              <a:lnSpc>
                <a:spcPts val="1071"/>
              </a:lnSpc>
              <a:buNone/>
            </a:pPr>
            <a:r>
              <a:rPr lang="en-US" sz="1050" b="1" dirty="0">
                <a:solidFill>
                  <a:srgbClr val="0F766E"/>
                </a:solidFill>
                <a:latin typeface="Calibri" pitchFamily="34" charset="0"/>
                <a:ea typeface="Calibri" pitchFamily="34" charset="-122"/>
                <a:cs typeface="Calibri" pitchFamily="34" charset="-120"/>
              </a:rPr>
              <a:t>Network</a:t>
            </a:r>
            <a:endParaRPr lang="en-US" sz="1050" dirty="0"/>
          </a:p>
        </p:txBody>
      </p:sp>
      <p:sp>
        <p:nvSpPr>
          <p:cNvPr id="39" name="Shape 37"/>
          <p:cNvSpPr/>
          <p:nvPr/>
        </p:nvSpPr>
        <p:spPr>
          <a:xfrm>
            <a:off x="6629400" y="5852160"/>
            <a:ext cx="1567586" cy="411480"/>
          </a:xfrm>
          <a:prstGeom prst="roundRect">
            <a:avLst>
              <a:gd name="adj" fmla="val 15556"/>
            </a:avLst>
          </a:prstGeom>
          <a:solidFill>
            <a:srgbClr val="E7F6F4"/>
          </a:solidFill>
          <a:ln/>
          <a:effectLst>
            <a:outerShdw sx="100000" sy="100000" kx="0" ky="0" algn="bl" rotWithShape="0" blurRad="114300" dist="38100" dir="8100000">
              <a:srgbClr val="1E293B">
                <a:alpha val="12000"/>
              </a:srgbClr>
            </a:outerShdw>
          </a:effectLst>
        </p:spPr>
      </p:sp>
      <p:sp>
        <p:nvSpPr>
          <p:cNvPr id="40" name="Text 38"/>
          <p:cNvSpPr/>
          <p:nvPr/>
        </p:nvSpPr>
        <p:spPr>
          <a:xfrm>
            <a:off x="6684264" y="5852160"/>
            <a:ext cx="1457858" cy="411480"/>
          </a:xfrm>
          <a:prstGeom prst="rect">
            <a:avLst/>
          </a:prstGeom>
          <a:noFill/>
          <a:ln/>
        </p:spPr>
        <p:txBody>
          <a:bodyPr wrap="square" lIns="0" tIns="0" rIns="0" bIns="0" rtlCol="0" anchor="ctr"/>
          <a:lstStyle/>
          <a:p>
            <a:pPr algn="ctr" indent="0" marL="0">
              <a:lnSpc>
                <a:spcPts val="1071"/>
              </a:lnSpc>
              <a:buNone/>
            </a:pPr>
            <a:r>
              <a:rPr lang="en-US" sz="1050" b="1" dirty="0">
                <a:solidFill>
                  <a:srgbClr val="0F766E"/>
                </a:solidFill>
                <a:latin typeface="Calibri" pitchFamily="34" charset="0"/>
                <a:ea typeface="Calibri" pitchFamily="34" charset="-122"/>
                <a:cs typeface="Calibri" pitchFamily="34" charset="-120"/>
              </a:rPr>
              <a:t>Compliance</a:t>
            </a:r>
            <a:endParaRPr lang="en-US" sz="1050" dirty="0"/>
          </a:p>
        </p:txBody>
      </p:sp>
      <p:sp>
        <p:nvSpPr>
          <p:cNvPr id="41" name="Shape 39"/>
          <p:cNvSpPr/>
          <p:nvPr/>
        </p:nvSpPr>
        <p:spPr>
          <a:xfrm>
            <a:off x="8343290" y="5852160"/>
            <a:ext cx="1567586" cy="411480"/>
          </a:xfrm>
          <a:prstGeom prst="roundRect">
            <a:avLst>
              <a:gd name="adj" fmla="val 15556"/>
            </a:avLst>
          </a:prstGeom>
          <a:solidFill>
            <a:srgbClr val="E7F6F4"/>
          </a:solidFill>
          <a:ln/>
          <a:effectLst>
            <a:outerShdw sx="100000" sy="100000" kx="0" ky="0" algn="bl" rotWithShape="0" blurRad="114300" dist="38100" dir="8100000">
              <a:srgbClr val="1E293B">
                <a:alpha val="12000"/>
              </a:srgbClr>
            </a:outerShdw>
          </a:effectLst>
        </p:spPr>
      </p:sp>
      <p:sp>
        <p:nvSpPr>
          <p:cNvPr id="42" name="Text 40"/>
          <p:cNvSpPr/>
          <p:nvPr/>
        </p:nvSpPr>
        <p:spPr>
          <a:xfrm>
            <a:off x="8398154" y="5852160"/>
            <a:ext cx="1457858" cy="411480"/>
          </a:xfrm>
          <a:prstGeom prst="rect">
            <a:avLst/>
          </a:prstGeom>
          <a:noFill/>
          <a:ln/>
        </p:spPr>
        <p:txBody>
          <a:bodyPr wrap="square" lIns="0" tIns="0" rIns="0" bIns="0" rtlCol="0" anchor="ctr"/>
          <a:lstStyle/>
          <a:p>
            <a:pPr algn="ctr" indent="0" marL="0">
              <a:lnSpc>
                <a:spcPts val="1071"/>
              </a:lnSpc>
              <a:buNone/>
            </a:pPr>
            <a:r>
              <a:rPr lang="en-US" sz="1050" b="1" dirty="0">
                <a:solidFill>
                  <a:srgbClr val="0F766E"/>
                </a:solidFill>
                <a:latin typeface="Calibri" pitchFamily="34" charset="0"/>
                <a:ea typeface="Calibri" pitchFamily="34" charset="-122"/>
                <a:cs typeface="Calibri" pitchFamily="34" charset="-120"/>
              </a:rPr>
              <a:t>Leadership</a:t>
            </a:r>
            <a:endParaRPr lang="en-US" sz="1050" dirty="0"/>
          </a:p>
        </p:txBody>
      </p:sp>
      <p:sp>
        <p:nvSpPr>
          <p:cNvPr id="43" name="Text 41"/>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44" name="Text 42"/>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11 · TWO MODES OF INTELLIGENCE</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Genie for the business · RAG for the deep dive</a:t>
            </a:r>
            <a:endParaRPr lang="en-US" sz="2900" dirty="0"/>
          </a:p>
        </p:txBody>
      </p:sp>
      <p:sp>
        <p:nvSpPr>
          <p:cNvPr id="4" name="Shape 2"/>
          <p:cNvSpPr/>
          <p:nvPr/>
        </p:nvSpPr>
        <p:spPr>
          <a:xfrm>
            <a:off x="566928" y="1828800"/>
            <a:ext cx="5300320" cy="3200400"/>
          </a:xfrm>
          <a:prstGeom prst="rect">
            <a:avLst/>
          </a:prstGeom>
          <a:solidFill>
            <a:srgbClr val="0B1B2E"/>
          </a:solidFill>
          <a:ln w="12700">
            <a:solidFill>
              <a:srgbClr val="0B1B2E"/>
            </a:solidFill>
            <a:prstDash val="solid"/>
          </a:ln>
          <a:effectLst>
            <a:outerShdw sx="100000" sy="100000" kx="0" ky="0" algn="bl" rotWithShape="0" blurRad="177800" dist="50800" dir="8100000">
              <a:srgbClr val="0B1B2E">
                <a:alpha val="22000"/>
              </a:srgbClr>
            </a:outerShdw>
          </a:effectLst>
        </p:spPr>
      </p:sp>
      <p:sp>
        <p:nvSpPr>
          <p:cNvPr id="5" name="Shape 3"/>
          <p:cNvSpPr/>
          <p:nvPr/>
        </p:nvSpPr>
        <p:spPr>
          <a:xfrm>
            <a:off x="566928" y="1828800"/>
            <a:ext cx="5300320" cy="82296"/>
          </a:xfrm>
          <a:prstGeom prst="rect">
            <a:avLst/>
          </a:prstGeom>
          <a:solidFill>
            <a:srgbClr val="14B8A6"/>
          </a:solidFill>
          <a:ln/>
        </p:spPr>
      </p:sp>
      <p:sp>
        <p:nvSpPr>
          <p:cNvPr id="6" name="Text 4"/>
          <p:cNvSpPr/>
          <p:nvPr/>
        </p:nvSpPr>
        <p:spPr>
          <a:xfrm>
            <a:off x="841248" y="2057400"/>
            <a:ext cx="4751680" cy="320040"/>
          </a:xfrm>
          <a:prstGeom prst="rect">
            <a:avLst/>
          </a:prstGeom>
          <a:noFill/>
          <a:ln/>
        </p:spPr>
        <p:txBody>
          <a:bodyPr wrap="square" lIns="0" tIns="0" rIns="0" bIns="0" rtlCol="0" anchor="ctr"/>
          <a:lstStyle/>
          <a:p>
            <a:pPr indent="0" marL="0">
              <a:buNone/>
            </a:pPr>
            <a:r>
              <a:rPr lang="en-US" sz="1200" b="1" spc="200" kern="0" dirty="0">
                <a:solidFill>
                  <a:srgbClr val="5EEAD4"/>
                </a:solidFill>
                <a:latin typeface="Calibri" pitchFamily="34" charset="0"/>
                <a:ea typeface="Calibri" pitchFamily="34" charset="-122"/>
                <a:cs typeface="Calibri" pitchFamily="34" charset="-120"/>
              </a:rPr>
              <a:t>GENIE SPACE</a:t>
            </a:r>
            <a:endParaRPr lang="en-US" sz="1200" dirty="0"/>
          </a:p>
        </p:txBody>
      </p:sp>
      <p:sp>
        <p:nvSpPr>
          <p:cNvPr id="7" name="Text 5"/>
          <p:cNvSpPr/>
          <p:nvPr/>
        </p:nvSpPr>
        <p:spPr>
          <a:xfrm>
            <a:off x="841248" y="2359152"/>
            <a:ext cx="475168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Conversational analytics</a:t>
            </a:r>
            <a:endParaRPr lang="en-US" sz="1800" dirty="0"/>
          </a:p>
        </p:txBody>
      </p:sp>
      <p:sp>
        <p:nvSpPr>
          <p:cNvPr id="8" name="Text 6"/>
          <p:cNvSpPr/>
          <p:nvPr/>
        </p:nvSpPr>
        <p:spPr>
          <a:xfrm>
            <a:off x="841248" y="2971800"/>
            <a:ext cx="1417320" cy="457200"/>
          </a:xfrm>
          <a:prstGeom prst="rect">
            <a:avLst/>
          </a:prstGeom>
          <a:noFill/>
          <a:ln/>
        </p:spPr>
        <p:txBody>
          <a:bodyPr wrap="square" lIns="0" tIns="0" rIns="0" bIns="0" rtlCol="0" anchor="t"/>
          <a:lstStyle/>
          <a:p>
            <a:pPr indent="0" marL="0">
              <a:buNone/>
            </a:pPr>
            <a:r>
              <a:rPr lang="en-US" sz="950" b="1" spc="100" kern="0" dirty="0">
                <a:solidFill>
                  <a:srgbClr val="93A4BD"/>
                </a:solidFill>
                <a:latin typeface="Calibri" pitchFamily="34" charset="0"/>
                <a:ea typeface="Calibri" pitchFamily="34" charset="-122"/>
                <a:cs typeface="Calibri" pitchFamily="34" charset="-120"/>
              </a:rPr>
              <a:t>BEST FOR</a:t>
            </a:r>
            <a:endParaRPr lang="en-US" sz="950" dirty="0"/>
          </a:p>
        </p:txBody>
      </p:sp>
      <p:sp>
        <p:nvSpPr>
          <p:cNvPr id="9" name="Text 7"/>
          <p:cNvSpPr/>
          <p:nvPr/>
        </p:nvSpPr>
        <p:spPr>
          <a:xfrm>
            <a:off x="2350008" y="2971800"/>
            <a:ext cx="3242920" cy="457200"/>
          </a:xfrm>
          <a:prstGeom prst="rect">
            <a:avLst/>
          </a:prstGeom>
          <a:noFill/>
          <a:ln/>
        </p:spPr>
        <p:txBody>
          <a:bodyPr wrap="square" lIns="0" tIns="0" rIns="0" bIns="0" rtlCol="0" anchor="t"/>
          <a:lstStyle/>
          <a:p>
            <a:pPr indent="0" marL="0">
              <a:lnSpc>
                <a:spcPts val="1400"/>
              </a:lnSpc>
              <a:buNone/>
            </a:pPr>
            <a:r>
              <a:rPr lang="en-US" sz="1150" dirty="0">
                <a:solidFill>
                  <a:srgbClr val="FFFFFF"/>
                </a:solidFill>
                <a:latin typeface="Calibri" pitchFamily="34" charset="0"/>
                <a:ea typeface="Calibri" pitchFamily="34" charset="-122"/>
                <a:cs typeface="Calibri" pitchFamily="34" charset="-120"/>
              </a:rPr>
              <a:t>Fast, structured answers &amp; portfolio metrics</a:t>
            </a:r>
            <a:endParaRPr lang="en-US" sz="1150" dirty="0"/>
          </a:p>
        </p:txBody>
      </p:sp>
      <p:sp>
        <p:nvSpPr>
          <p:cNvPr id="10" name="Text 8"/>
          <p:cNvSpPr/>
          <p:nvPr/>
        </p:nvSpPr>
        <p:spPr>
          <a:xfrm>
            <a:off x="841248" y="3474720"/>
            <a:ext cx="1417320" cy="457200"/>
          </a:xfrm>
          <a:prstGeom prst="rect">
            <a:avLst/>
          </a:prstGeom>
          <a:noFill/>
          <a:ln/>
        </p:spPr>
        <p:txBody>
          <a:bodyPr wrap="square" lIns="0" tIns="0" rIns="0" bIns="0" rtlCol="0" anchor="t"/>
          <a:lstStyle/>
          <a:p>
            <a:pPr indent="0" marL="0">
              <a:buNone/>
            </a:pPr>
            <a:r>
              <a:rPr lang="en-US" sz="950" b="1" spc="100" kern="0" dirty="0">
                <a:solidFill>
                  <a:srgbClr val="93A4BD"/>
                </a:solidFill>
                <a:latin typeface="Calibri" pitchFamily="34" charset="0"/>
                <a:ea typeface="Calibri" pitchFamily="34" charset="-122"/>
                <a:cs typeface="Calibri" pitchFamily="34" charset="-120"/>
              </a:rPr>
              <a:t>WORKS OVER</a:t>
            </a:r>
            <a:endParaRPr lang="en-US" sz="950" dirty="0"/>
          </a:p>
        </p:txBody>
      </p:sp>
      <p:sp>
        <p:nvSpPr>
          <p:cNvPr id="11" name="Text 9"/>
          <p:cNvSpPr/>
          <p:nvPr/>
        </p:nvSpPr>
        <p:spPr>
          <a:xfrm>
            <a:off x="2350008" y="3474720"/>
            <a:ext cx="3242920" cy="457200"/>
          </a:xfrm>
          <a:prstGeom prst="rect">
            <a:avLst/>
          </a:prstGeom>
          <a:noFill/>
          <a:ln/>
        </p:spPr>
        <p:txBody>
          <a:bodyPr wrap="square" lIns="0" tIns="0" rIns="0" bIns="0" rtlCol="0" anchor="t"/>
          <a:lstStyle/>
          <a:p>
            <a:pPr indent="0" marL="0">
              <a:lnSpc>
                <a:spcPts val="1400"/>
              </a:lnSpc>
              <a:buNone/>
            </a:pPr>
            <a:r>
              <a:rPr lang="en-US" sz="1150" dirty="0">
                <a:solidFill>
                  <a:srgbClr val="FFFFFF"/>
                </a:solidFill>
                <a:latin typeface="Calibri" pitchFamily="34" charset="0"/>
                <a:ea typeface="Calibri" pitchFamily="34" charset="-122"/>
                <a:cs typeface="Calibri" pitchFamily="34" charset="-120"/>
              </a:rPr>
              <a:t>Curated gold tables (NL → SQL)</a:t>
            </a:r>
            <a:endParaRPr lang="en-US" sz="1150" dirty="0"/>
          </a:p>
        </p:txBody>
      </p:sp>
      <p:sp>
        <p:nvSpPr>
          <p:cNvPr id="12" name="Text 10"/>
          <p:cNvSpPr/>
          <p:nvPr/>
        </p:nvSpPr>
        <p:spPr>
          <a:xfrm>
            <a:off x="841248" y="3977640"/>
            <a:ext cx="1417320" cy="457200"/>
          </a:xfrm>
          <a:prstGeom prst="rect">
            <a:avLst/>
          </a:prstGeom>
          <a:noFill/>
          <a:ln/>
        </p:spPr>
        <p:txBody>
          <a:bodyPr wrap="square" lIns="0" tIns="0" rIns="0" bIns="0" rtlCol="0" anchor="t"/>
          <a:lstStyle/>
          <a:p>
            <a:pPr indent="0" marL="0">
              <a:buNone/>
            </a:pPr>
            <a:r>
              <a:rPr lang="en-US" sz="950" b="1" spc="100" kern="0" dirty="0">
                <a:solidFill>
                  <a:srgbClr val="93A4BD"/>
                </a:solidFill>
                <a:latin typeface="Calibri" pitchFamily="34" charset="0"/>
                <a:ea typeface="Calibri" pitchFamily="34" charset="-122"/>
                <a:cs typeface="Calibri" pitchFamily="34" charset="-120"/>
              </a:rPr>
              <a:t>RETURNS</a:t>
            </a:r>
            <a:endParaRPr lang="en-US" sz="950" dirty="0"/>
          </a:p>
        </p:txBody>
      </p:sp>
      <p:sp>
        <p:nvSpPr>
          <p:cNvPr id="13" name="Text 11"/>
          <p:cNvSpPr/>
          <p:nvPr/>
        </p:nvSpPr>
        <p:spPr>
          <a:xfrm>
            <a:off x="2350008" y="3977640"/>
            <a:ext cx="3242920" cy="457200"/>
          </a:xfrm>
          <a:prstGeom prst="rect">
            <a:avLst/>
          </a:prstGeom>
          <a:noFill/>
          <a:ln/>
        </p:spPr>
        <p:txBody>
          <a:bodyPr wrap="square" lIns="0" tIns="0" rIns="0" bIns="0" rtlCol="0" anchor="t"/>
          <a:lstStyle/>
          <a:p>
            <a:pPr indent="0" marL="0">
              <a:lnSpc>
                <a:spcPts val="1400"/>
              </a:lnSpc>
              <a:buNone/>
            </a:pPr>
            <a:r>
              <a:rPr lang="en-US" sz="1150" dirty="0">
                <a:solidFill>
                  <a:srgbClr val="FFFFFF"/>
                </a:solidFill>
                <a:latin typeface="Calibri" pitchFamily="34" charset="0"/>
                <a:ea typeface="Calibri" pitchFamily="34" charset="-122"/>
                <a:cs typeface="Calibri" pitchFamily="34" charset="-120"/>
              </a:rPr>
              <a:t>Numbers, lists, comparisons</a:t>
            </a:r>
            <a:endParaRPr lang="en-US" sz="1150" dirty="0"/>
          </a:p>
        </p:txBody>
      </p:sp>
      <p:sp>
        <p:nvSpPr>
          <p:cNvPr id="14" name="Text 12"/>
          <p:cNvSpPr/>
          <p:nvPr/>
        </p:nvSpPr>
        <p:spPr>
          <a:xfrm>
            <a:off x="841248" y="4480560"/>
            <a:ext cx="1417320" cy="457200"/>
          </a:xfrm>
          <a:prstGeom prst="rect">
            <a:avLst/>
          </a:prstGeom>
          <a:noFill/>
          <a:ln/>
        </p:spPr>
        <p:txBody>
          <a:bodyPr wrap="square" lIns="0" tIns="0" rIns="0" bIns="0" rtlCol="0" anchor="t"/>
          <a:lstStyle/>
          <a:p>
            <a:pPr indent="0" marL="0">
              <a:buNone/>
            </a:pPr>
            <a:r>
              <a:rPr lang="en-US" sz="950" b="1" spc="100" kern="0" dirty="0">
                <a:solidFill>
                  <a:srgbClr val="93A4BD"/>
                </a:solidFill>
                <a:latin typeface="Calibri" pitchFamily="34" charset="0"/>
                <a:ea typeface="Calibri" pitchFamily="34" charset="-122"/>
                <a:cs typeface="Calibri" pitchFamily="34" charset="-120"/>
              </a:rPr>
              <a:t>AUDIENCE</a:t>
            </a:r>
            <a:endParaRPr lang="en-US" sz="950" dirty="0"/>
          </a:p>
        </p:txBody>
      </p:sp>
      <p:sp>
        <p:nvSpPr>
          <p:cNvPr id="15" name="Text 13"/>
          <p:cNvSpPr/>
          <p:nvPr/>
        </p:nvSpPr>
        <p:spPr>
          <a:xfrm>
            <a:off x="2350008" y="4480560"/>
            <a:ext cx="3242920" cy="457200"/>
          </a:xfrm>
          <a:prstGeom prst="rect">
            <a:avLst/>
          </a:prstGeom>
          <a:noFill/>
          <a:ln/>
        </p:spPr>
        <p:txBody>
          <a:bodyPr wrap="square" lIns="0" tIns="0" rIns="0" bIns="0" rtlCol="0" anchor="t"/>
          <a:lstStyle/>
          <a:p>
            <a:pPr indent="0" marL="0">
              <a:lnSpc>
                <a:spcPts val="1400"/>
              </a:lnSpc>
              <a:buNone/>
            </a:pPr>
            <a:r>
              <a:rPr lang="en-US" sz="1150" dirty="0">
                <a:solidFill>
                  <a:srgbClr val="FFFFFF"/>
                </a:solidFill>
                <a:latin typeface="Calibri" pitchFamily="34" charset="0"/>
                <a:ea typeface="Calibri" pitchFamily="34" charset="-122"/>
                <a:cs typeface="Calibri" pitchFamily="34" charset="-120"/>
              </a:rPr>
              <a:t>Any business user, self-serve</a:t>
            </a:r>
            <a:endParaRPr lang="en-US" sz="1150" dirty="0"/>
          </a:p>
        </p:txBody>
      </p:sp>
      <p:sp>
        <p:nvSpPr>
          <p:cNvPr id="16" name="Shape 14"/>
          <p:cNvSpPr/>
          <p:nvPr/>
        </p:nvSpPr>
        <p:spPr>
          <a:xfrm>
            <a:off x="6324448" y="1828800"/>
            <a:ext cx="5300320" cy="320040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7" name="Shape 15"/>
          <p:cNvSpPr/>
          <p:nvPr/>
        </p:nvSpPr>
        <p:spPr>
          <a:xfrm>
            <a:off x="6324448" y="1828800"/>
            <a:ext cx="5300320" cy="82296"/>
          </a:xfrm>
          <a:prstGeom prst="rect">
            <a:avLst/>
          </a:prstGeom>
          <a:solidFill>
            <a:srgbClr val="F26A4B"/>
          </a:solidFill>
          <a:ln/>
        </p:spPr>
      </p:sp>
      <p:sp>
        <p:nvSpPr>
          <p:cNvPr id="18" name="Text 16"/>
          <p:cNvSpPr/>
          <p:nvPr/>
        </p:nvSpPr>
        <p:spPr>
          <a:xfrm>
            <a:off x="6598768" y="2057400"/>
            <a:ext cx="4751680" cy="320040"/>
          </a:xfrm>
          <a:prstGeom prst="rect">
            <a:avLst/>
          </a:prstGeom>
          <a:noFill/>
          <a:ln/>
        </p:spPr>
        <p:txBody>
          <a:bodyPr wrap="square" lIns="0" tIns="0" rIns="0" bIns="0" rtlCol="0" anchor="ctr"/>
          <a:lstStyle/>
          <a:p>
            <a:pPr indent="0" marL="0">
              <a:buNone/>
            </a:pPr>
            <a:r>
              <a:rPr lang="en-US" sz="1200" b="1" spc="200" kern="0" dirty="0">
                <a:solidFill>
                  <a:srgbClr val="F26A4B"/>
                </a:solidFill>
                <a:latin typeface="Calibri" pitchFamily="34" charset="0"/>
                <a:ea typeface="Calibri" pitchFamily="34" charset="-122"/>
                <a:cs typeface="Calibri" pitchFamily="34" charset="-120"/>
              </a:rPr>
              <a:t>RAG NOTEBOOK</a:t>
            </a:r>
            <a:endParaRPr lang="en-US" sz="1200" dirty="0"/>
          </a:p>
        </p:txBody>
      </p:sp>
      <p:sp>
        <p:nvSpPr>
          <p:cNvPr id="19" name="Text 17"/>
          <p:cNvSpPr/>
          <p:nvPr/>
        </p:nvSpPr>
        <p:spPr>
          <a:xfrm>
            <a:off x="6598768" y="2359152"/>
            <a:ext cx="4751680" cy="457200"/>
          </a:xfrm>
          <a:prstGeom prst="rect">
            <a:avLst/>
          </a:prstGeom>
          <a:noFill/>
          <a:ln/>
        </p:spPr>
        <p:txBody>
          <a:bodyPr wrap="square" lIns="0" tIns="0" rIns="0" bIns="0" rtlCol="0" anchor="ctr"/>
          <a:lstStyle/>
          <a:p>
            <a:pPr indent="0" marL="0">
              <a:buNone/>
            </a:pPr>
            <a:r>
              <a:rPr lang="en-US" sz="1800" b="1" dirty="0">
                <a:solidFill>
                  <a:srgbClr val="0B1B2E"/>
                </a:solidFill>
                <a:latin typeface="Georgia" pitchFamily="34" charset="0"/>
                <a:ea typeface="Georgia" pitchFamily="34" charset="-122"/>
                <a:cs typeface="Georgia" pitchFamily="34" charset="-120"/>
              </a:rPr>
              <a:t>Deep legal retrieval</a:t>
            </a:r>
            <a:endParaRPr lang="en-US" sz="1800" dirty="0"/>
          </a:p>
        </p:txBody>
      </p:sp>
      <p:sp>
        <p:nvSpPr>
          <p:cNvPr id="20" name="Text 18"/>
          <p:cNvSpPr/>
          <p:nvPr/>
        </p:nvSpPr>
        <p:spPr>
          <a:xfrm>
            <a:off x="6598768" y="2971800"/>
            <a:ext cx="1417320" cy="457200"/>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BEST FOR</a:t>
            </a:r>
            <a:endParaRPr lang="en-US" sz="950" dirty="0"/>
          </a:p>
        </p:txBody>
      </p:sp>
      <p:sp>
        <p:nvSpPr>
          <p:cNvPr id="21" name="Text 19"/>
          <p:cNvSpPr/>
          <p:nvPr/>
        </p:nvSpPr>
        <p:spPr>
          <a:xfrm>
            <a:off x="8107528" y="2971800"/>
            <a:ext cx="3242920" cy="457200"/>
          </a:xfrm>
          <a:prstGeom prst="rect">
            <a:avLst/>
          </a:prstGeom>
          <a:noFill/>
          <a:ln/>
        </p:spPr>
        <p:txBody>
          <a:bodyPr wrap="square" lIns="0" tIns="0" rIns="0" bIns="0" rtlCol="0" anchor="t"/>
          <a:lstStyle/>
          <a:p>
            <a:pPr indent="0" marL="0">
              <a:lnSpc>
                <a:spcPts val="1400"/>
              </a:lnSpc>
              <a:buNone/>
            </a:pPr>
            <a:r>
              <a:rPr lang="en-US" sz="1150" dirty="0">
                <a:solidFill>
                  <a:srgbClr val="33415A"/>
                </a:solidFill>
                <a:latin typeface="Calibri" pitchFamily="34" charset="0"/>
                <a:ea typeface="Calibri" pitchFamily="34" charset="-122"/>
                <a:cs typeface="Calibri" pitchFamily="34" charset="-120"/>
              </a:rPr>
              <a:t>Clause-level legal &amp; compliance questions</a:t>
            </a:r>
            <a:endParaRPr lang="en-US" sz="1150" dirty="0"/>
          </a:p>
        </p:txBody>
      </p:sp>
      <p:sp>
        <p:nvSpPr>
          <p:cNvPr id="22" name="Text 20"/>
          <p:cNvSpPr/>
          <p:nvPr/>
        </p:nvSpPr>
        <p:spPr>
          <a:xfrm>
            <a:off x="6598768" y="3474720"/>
            <a:ext cx="1417320" cy="457200"/>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WORKS OVER</a:t>
            </a:r>
            <a:endParaRPr lang="en-US" sz="950" dirty="0"/>
          </a:p>
        </p:txBody>
      </p:sp>
      <p:sp>
        <p:nvSpPr>
          <p:cNvPr id="23" name="Text 21"/>
          <p:cNvSpPr/>
          <p:nvPr/>
        </p:nvSpPr>
        <p:spPr>
          <a:xfrm>
            <a:off x="8107528" y="3474720"/>
            <a:ext cx="3242920" cy="457200"/>
          </a:xfrm>
          <a:prstGeom prst="rect">
            <a:avLst/>
          </a:prstGeom>
          <a:noFill/>
          <a:ln/>
        </p:spPr>
        <p:txBody>
          <a:bodyPr wrap="square" lIns="0" tIns="0" rIns="0" bIns="0" rtlCol="0" anchor="t"/>
          <a:lstStyle/>
          <a:p>
            <a:pPr indent="0" marL="0">
              <a:lnSpc>
                <a:spcPts val="1400"/>
              </a:lnSpc>
              <a:buNone/>
            </a:pPr>
            <a:r>
              <a:rPr lang="en-US" sz="1150" dirty="0">
                <a:solidFill>
                  <a:srgbClr val="33415A"/>
                </a:solidFill>
                <a:latin typeface="Calibri" pitchFamily="34" charset="0"/>
                <a:ea typeface="Calibri" pitchFamily="34" charset="-122"/>
                <a:cs typeface="Calibri" pitchFamily="34" charset="-120"/>
              </a:rPr>
              <a:t>Full contract text, semantically indexed</a:t>
            </a:r>
            <a:endParaRPr lang="en-US" sz="1150" dirty="0"/>
          </a:p>
        </p:txBody>
      </p:sp>
      <p:sp>
        <p:nvSpPr>
          <p:cNvPr id="24" name="Text 22"/>
          <p:cNvSpPr/>
          <p:nvPr/>
        </p:nvSpPr>
        <p:spPr>
          <a:xfrm>
            <a:off x="6598768" y="3977640"/>
            <a:ext cx="1417320" cy="457200"/>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RETURNS</a:t>
            </a:r>
            <a:endParaRPr lang="en-US" sz="950" dirty="0"/>
          </a:p>
        </p:txBody>
      </p:sp>
      <p:sp>
        <p:nvSpPr>
          <p:cNvPr id="25" name="Text 23"/>
          <p:cNvSpPr/>
          <p:nvPr/>
        </p:nvSpPr>
        <p:spPr>
          <a:xfrm>
            <a:off x="8107528" y="3977640"/>
            <a:ext cx="3242920" cy="457200"/>
          </a:xfrm>
          <a:prstGeom prst="rect">
            <a:avLst/>
          </a:prstGeom>
          <a:noFill/>
          <a:ln/>
        </p:spPr>
        <p:txBody>
          <a:bodyPr wrap="square" lIns="0" tIns="0" rIns="0" bIns="0" rtlCol="0" anchor="t"/>
          <a:lstStyle/>
          <a:p>
            <a:pPr indent="0" marL="0">
              <a:lnSpc>
                <a:spcPts val="1400"/>
              </a:lnSpc>
              <a:buNone/>
            </a:pPr>
            <a:r>
              <a:rPr lang="en-US" sz="1150" dirty="0">
                <a:solidFill>
                  <a:srgbClr val="33415A"/>
                </a:solidFill>
                <a:latin typeface="Calibri" pitchFamily="34" charset="0"/>
                <a:ea typeface="Calibri" pitchFamily="34" charset="-122"/>
                <a:cs typeface="Calibri" pitchFamily="34" charset="-120"/>
              </a:rPr>
              <a:t>Cited evidence with source passages</a:t>
            </a:r>
            <a:endParaRPr lang="en-US" sz="1150" dirty="0"/>
          </a:p>
        </p:txBody>
      </p:sp>
      <p:sp>
        <p:nvSpPr>
          <p:cNvPr id="26" name="Text 24"/>
          <p:cNvSpPr/>
          <p:nvPr/>
        </p:nvSpPr>
        <p:spPr>
          <a:xfrm>
            <a:off x="6598768" y="4480560"/>
            <a:ext cx="1417320" cy="457200"/>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AUDIENCE</a:t>
            </a:r>
            <a:endParaRPr lang="en-US" sz="950" dirty="0"/>
          </a:p>
        </p:txBody>
      </p:sp>
      <p:sp>
        <p:nvSpPr>
          <p:cNvPr id="27" name="Text 25"/>
          <p:cNvSpPr/>
          <p:nvPr/>
        </p:nvSpPr>
        <p:spPr>
          <a:xfrm>
            <a:off x="8107528" y="4480560"/>
            <a:ext cx="3242920" cy="457200"/>
          </a:xfrm>
          <a:prstGeom prst="rect">
            <a:avLst/>
          </a:prstGeom>
          <a:noFill/>
          <a:ln/>
        </p:spPr>
        <p:txBody>
          <a:bodyPr wrap="square" lIns="0" tIns="0" rIns="0" bIns="0" rtlCol="0" anchor="t"/>
          <a:lstStyle/>
          <a:p>
            <a:pPr indent="0" marL="0">
              <a:lnSpc>
                <a:spcPts val="1400"/>
              </a:lnSpc>
              <a:buNone/>
            </a:pPr>
            <a:r>
              <a:rPr lang="en-US" sz="1150" dirty="0">
                <a:solidFill>
                  <a:srgbClr val="33415A"/>
                </a:solidFill>
                <a:latin typeface="Calibri" pitchFamily="34" charset="0"/>
                <a:ea typeface="Calibri" pitchFamily="34" charset="-122"/>
                <a:cs typeface="Calibri" pitchFamily="34" charset="-120"/>
              </a:rPr>
              <a:t>Analysts, legal, compliance</a:t>
            </a:r>
            <a:endParaRPr lang="en-US" sz="1150" dirty="0"/>
          </a:p>
        </p:txBody>
      </p:sp>
      <p:sp>
        <p:nvSpPr>
          <p:cNvPr id="28" name="Shape 26"/>
          <p:cNvSpPr/>
          <p:nvPr/>
        </p:nvSpPr>
        <p:spPr>
          <a:xfrm>
            <a:off x="566928" y="5257800"/>
            <a:ext cx="11057839" cy="777240"/>
          </a:xfrm>
          <a:prstGeom prst="rect">
            <a:avLst/>
          </a:prstGeom>
          <a:solidFill>
            <a:srgbClr val="E7F6F4"/>
          </a:solidFill>
          <a:ln/>
        </p:spPr>
      </p:sp>
      <p:sp>
        <p:nvSpPr>
          <p:cNvPr id="29" name="Shape 27"/>
          <p:cNvSpPr/>
          <p:nvPr/>
        </p:nvSpPr>
        <p:spPr>
          <a:xfrm>
            <a:off x="566928" y="5257800"/>
            <a:ext cx="82296" cy="777240"/>
          </a:xfrm>
          <a:prstGeom prst="rect">
            <a:avLst/>
          </a:prstGeom>
          <a:solidFill>
            <a:srgbClr val="0F766E"/>
          </a:solidFill>
          <a:ln/>
        </p:spPr>
      </p:sp>
      <p:sp>
        <p:nvSpPr>
          <p:cNvPr id="30" name="Text 28"/>
          <p:cNvSpPr/>
          <p:nvPr/>
        </p:nvSpPr>
        <p:spPr>
          <a:xfrm>
            <a:off x="886968" y="5257800"/>
            <a:ext cx="10417759" cy="777240"/>
          </a:xfrm>
          <a:prstGeom prst="rect">
            <a:avLst/>
          </a:prstGeom>
          <a:noFill/>
          <a:ln/>
        </p:spPr>
        <p:txBody>
          <a:bodyPr wrap="square" lIns="0" tIns="0" rIns="0" bIns="0" rtlCol="0" anchor="ctr"/>
          <a:lstStyle/>
          <a:p>
            <a:pPr indent="0" marL="0">
              <a:lnSpc>
                <a:spcPts val="1700"/>
              </a:lnSpc>
              <a:buNone/>
            </a:pPr>
            <a:r>
              <a:rPr lang="en-US" sz="1300" b="1" dirty="0">
                <a:solidFill>
                  <a:srgbClr val="0F766E"/>
                </a:solidFill>
                <a:latin typeface="Calibri" pitchFamily="34" charset="0"/>
                <a:ea typeface="Calibri" pitchFamily="34" charset="-122"/>
                <a:cs typeface="Calibri" pitchFamily="34" charset="-120"/>
              </a:rPr>
              <a:t>One platform, two front doors.  </a:t>
            </a:r>
            <a:pPr indent="0" marL="0">
              <a:lnSpc>
                <a:spcPts val="1700"/>
              </a:lnSpc>
              <a:buNone/>
            </a:pPr>
            <a:r>
              <a:rPr lang="en-US" sz="1300" dirty="0">
                <a:solidFill>
                  <a:srgbClr val="33415A"/>
                </a:solidFill>
                <a:latin typeface="Calibri" pitchFamily="34" charset="0"/>
                <a:ea typeface="Calibri" pitchFamily="34" charset="-122"/>
                <a:cs typeface="Calibri" pitchFamily="34" charset="-120"/>
              </a:rPr>
              <a:t>Both read from the same governed, validated foundation — so answers are consistent no matter how you ask.</a:t>
            </a:r>
            <a:endParaRPr lang="en-US" sz="1300" dirty="0"/>
          </a:p>
        </p:txBody>
      </p:sp>
      <p:sp>
        <p:nvSpPr>
          <p:cNvPr id="31" name="Text 29"/>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32" name="Text 30"/>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B2E"/>
        </a:solidFill>
      </p:bgPr>
    </p:bg>
    <p:spTree>
      <p:nvGrpSpPr>
        <p:cNvPr id="1" name=""/>
        <p:cNvGrpSpPr/>
        <p:nvPr/>
      </p:nvGrpSpPr>
      <p:grpSpPr>
        <a:xfrm>
          <a:off x="0" y="0"/>
          <a:ext cx="0" cy="0"/>
          <a:chOff x="0" y="0"/>
          <a:chExt cx="0" cy="0"/>
        </a:xfrm>
      </p:grpSpPr>
      <p:sp>
        <p:nvSpPr>
          <p:cNvPr id="2" name="Text 0"/>
          <p:cNvSpPr/>
          <p:nvPr/>
        </p:nvSpPr>
        <p:spPr>
          <a:xfrm>
            <a:off x="566928" y="1371600"/>
            <a:ext cx="5486400" cy="457200"/>
          </a:xfrm>
          <a:prstGeom prst="rect">
            <a:avLst/>
          </a:prstGeom>
          <a:noFill/>
          <a:ln/>
        </p:spPr>
        <p:txBody>
          <a:bodyPr wrap="square" lIns="0" tIns="0" rIns="0" bIns="0" rtlCol="0" anchor="ctr"/>
          <a:lstStyle/>
          <a:p>
            <a:pPr indent="0" marL="0">
              <a:buNone/>
            </a:pPr>
            <a:r>
              <a:rPr lang="en-US" sz="1400" b="1" spc="600" kern="0" dirty="0">
                <a:solidFill>
                  <a:srgbClr val="F26A4B"/>
                </a:solidFill>
                <a:latin typeface="Calibri" pitchFamily="34" charset="0"/>
                <a:ea typeface="Calibri" pitchFamily="34" charset="-122"/>
                <a:cs typeface="Calibri" pitchFamily="34" charset="-120"/>
              </a:rPr>
              <a:t>LIVE</a:t>
            </a:r>
            <a:endParaRPr lang="en-US" sz="1400" dirty="0"/>
          </a:p>
        </p:txBody>
      </p:sp>
      <p:sp>
        <p:nvSpPr>
          <p:cNvPr id="3" name="Text 1"/>
          <p:cNvSpPr/>
          <p:nvPr/>
        </p:nvSpPr>
        <p:spPr>
          <a:xfrm>
            <a:off x="566928" y="182880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See it answer in real time</a:t>
            </a:r>
            <a:endParaRPr lang="en-US" sz="4000" dirty="0"/>
          </a:p>
        </p:txBody>
      </p:sp>
      <p:sp>
        <p:nvSpPr>
          <p:cNvPr id="4" name="Shape 2"/>
          <p:cNvSpPr/>
          <p:nvPr/>
        </p:nvSpPr>
        <p:spPr>
          <a:xfrm>
            <a:off x="585216" y="2788920"/>
            <a:ext cx="777240" cy="54864"/>
          </a:xfrm>
          <a:prstGeom prst="rect">
            <a:avLst/>
          </a:prstGeom>
          <a:solidFill>
            <a:srgbClr val="F26A4B"/>
          </a:solidFill>
          <a:ln/>
        </p:spPr>
      </p:sp>
      <p:sp>
        <p:nvSpPr>
          <p:cNvPr id="5" name="Shape 3"/>
          <p:cNvSpPr/>
          <p:nvPr/>
        </p:nvSpPr>
        <p:spPr>
          <a:xfrm>
            <a:off x="566928" y="3246120"/>
            <a:ext cx="2593010" cy="173736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6" name="Shape 4"/>
          <p:cNvSpPr/>
          <p:nvPr/>
        </p:nvSpPr>
        <p:spPr>
          <a:xfrm>
            <a:off x="566928" y="3246120"/>
            <a:ext cx="2593010" cy="73152"/>
          </a:xfrm>
          <a:prstGeom prst="rect">
            <a:avLst/>
          </a:prstGeom>
          <a:solidFill>
            <a:srgbClr val="14B8A6"/>
          </a:solidFill>
          <a:ln/>
        </p:spPr>
      </p:sp>
      <p:sp>
        <p:nvSpPr>
          <p:cNvPr id="7" name="Text 5"/>
          <p:cNvSpPr/>
          <p:nvPr/>
        </p:nvSpPr>
        <p:spPr>
          <a:xfrm>
            <a:off x="768096" y="3429000"/>
            <a:ext cx="2227250" cy="365760"/>
          </a:xfrm>
          <a:prstGeom prst="rect">
            <a:avLst/>
          </a:prstGeom>
          <a:noFill/>
          <a:ln/>
        </p:spPr>
        <p:txBody>
          <a:bodyPr wrap="square" lIns="0" tIns="0" rIns="0" bIns="0" rtlCol="0" anchor="ctr"/>
          <a:lstStyle/>
          <a:p>
            <a:pPr indent="0" marL="0">
              <a:buNone/>
            </a:pPr>
            <a:r>
              <a:rPr lang="en-US" sz="1200" b="1" dirty="0">
                <a:solidFill>
                  <a:srgbClr val="5EEAD4"/>
                </a:solidFill>
                <a:latin typeface="Calibri" pitchFamily="34" charset="0"/>
                <a:ea typeface="Calibri" pitchFamily="34" charset="-122"/>
                <a:cs typeface="Calibri" pitchFamily="34" charset="-120"/>
              </a:rPr>
              <a:t>01 · The problem</a:t>
            </a:r>
            <a:endParaRPr lang="en-US" sz="1200" dirty="0"/>
          </a:p>
        </p:txBody>
      </p:sp>
      <p:sp>
        <p:nvSpPr>
          <p:cNvPr id="8" name="Text 6"/>
          <p:cNvSpPr/>
          <p:nvPr/>
        </p:nvSpPr>
        <p:spPr>
          <a:xfrm>
            <a:off x="768096" y="3840480"/>
            <a:ext cx="2208962" cy="1005840"/>
          </a:xfrm>
          <a:prstGeom prst="rect">
            <a:avLst/>
          </a:prstGeom>
          <a:noFill/>
          <a:ln/>
        </p:spPr>
        <p:txBody>
          <a:bodyPr wrap="square" lIns="0" tIns="0" rIns="0" bIns="0" rtlCol="0" anchor="t"/>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Open one complex contract PDF — “an analyst reads this for hours.”</a:t>
            </a:r>
            <a:endParaRPr lang="en-US" sz="1100" dirty="0"/>
          </a:p>
        </p:txBody>
      </p:sp>
      <p:sp>
        <p:nvSpPr>
          <p:cNvPr id="9" name="Shape 7"/>
          <p:cNvSpPr/>
          <p:nvPr/>
        </p:nvSpPr>
        <p:spPr>
          <a:xfrm>
            <a:off x="3388538" y="3246120"/>
            <a:ext cx="2593010" cy="173736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0" name="Shape 8"/>
          <p:cNvSpPr/>
          <p:nvPr/>
        </p:nvSpPr>
        <p:spPr>
          <a:xfrm>
            <a:off x="3388538" y="3246120"/>
            <a:ext cx="2593010" cy="73152"/>
          </a:xfrm>
          <a:prstGeom prst="rect">
            <a:avLst/>
          </a:prstGeom>
          <a:solidFill>
            <a:srgbClr val="F26A4B"/>
          </a:solidFill>
          <a:ln/>
        </p:spPr>
      </p:sp>
      <p:sp>
        <p:nvSpPr>
          <p:cNvPr id="11" name="Text 9"/>
          <p:cNvSpPr/>
          <p:nvPr/>
        </p:nvSpPr>
        <p:spPr>
          <a:xfrm>
            <a:off x="3589706" y="3429000"/>
            <a:ext cx="2227250" cy="365760"/>
          </a:xfrm>
          <a:prstGeom prst="rect">
            <a:avLst/>
          </a:prstGeom>
          <a:noFill/>
          <a:ln/>
        </p:spPr>
        <p:txBody>
          <a:bodyPr wrap="square" lIns="0" tIns="0" rIns="0" bIns="0" rtlCol="0" anchor="ctr"/>
          <a:lstStyle/>
          <a:p>
            <a:pPr indent="0" marL="0">
              <a:buNone/>
            </a:pPr>
            <a:r>
              <a:rPr lang="en-US" sz="1200" b="1" dirty="0">
                <a:solidFill>
                  <a:srgbClr val="F26A4B"/>
                </a:solidFill>
                <a:latin typeface="Calibri" pitchFamily="34" charset="0"/>
                <a:ea typeface="Calibri" pitchFamily="34" charset="-122"/>
                <a:cs typeface="Calibri" pitchFamily="34" charset="-120"/>
              </a:rPr>
              <a:t>02 · The answer</a:t>
            </a:r>
            <a:endParaRPr lang="en-US" sz="1200" dirty="0"/>
          </a:p>
        </p:txBody>
      </p:sp>
      <p:sp>
        <p:nvSpPr>
          <p:cNvPr id="12" name="Text 10"/>
          <p:cNvSpPr/>
          <p:nvPr/>
        </p:nvSpPr>
        <p:spPr>
          <a:xfrm>
            <a:off x="3589706" y="3840480"/>
            <a:ext cx="2208962" cy="1005840"/>
          </a:xfrm>
          <a:prstGeom prst="rect">
            <a:avLst/>
          </a:prstGeom>
          <a:noFill/>
          <a:ln/>
        </p:spPr>
        <p:txBody>
          <a:bodyPr wrap="square" lIns="0" tIns="0" rIns="0" bIns="0" rtlCol="0" anchor="t"/>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Ask Genie a rate question — answer in ~10 seconds.</a:t>
            </a:r>
            <a:endParaRPr lang="en-US" sz="1100" dirty="0"/>
          </a:p>
        </p:txBody>
      </p:sp>
      <p:sp>
        <p:nvSpPr>
          <p:cNvPr id="13" name="Shape 11"/>
          <p:cNvSpPr/>
          <p:nvPr/>
        </p:nvSpPr>
        <p:spPr>
          <a:xfrm>
            <a:off x="6210148" y="3246120"/>
            <a:ext cx="2593010" cy="173736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4" name="Shape 12"/>
          <p:cNvSpPr/>
          <p:nvPr/>
        </p:nvSpPr>
        <p:spPr>
          <a:xfrm>
            <a:off x="6210148" y="3246120"/>
            <a:ext cx="2593010" cy="73152"/>
          </a:xfrm>
          <a:prstGeom prst="rect">
            <a:avLst/>
          </a:prstGeom>
          <a:solidFill>
            <a:srgbClr val="14B8A6"/>
          </a:solidFill>
          <a:ln/>
        </p:spPr>
      </p:sp>
      <p:sp>
        <p:nvSpPr>
          <p:cNvPr id="15" name="Text 13"/>
          <p:cNvSpPr/>
          <p:nvPr/>
        </p:nvSpPr>
        <p:spPr>
          <a:xfrm>
            <a:off x="6411316" y="3429000"/>
            <a:ext cx="2227250" cy="365760"/>
          </a:xfrm>
          <a:prstGeom prst="rect">
            <a:avLst/>
          </a:prstGeom>
          <a:noFill/>
          <a:ln/>
        </p:spPr>
        <p:txBody>
          <a:bodyPr wrap="square" lIns="0" tIns="0" rIns="0" bIns="0" rtlCol="0" anchor="ctr"/>
          <a:lstStyle/>
          <a:p>
            <a:pPr indent="0" marL="0">
              <a:buNone/>
            </a:pPr>
            <a:r>
              <a:rPr lang="en-US" sz="1200" b="1" dirty="0">
                <a:solidFill>
                  <a:srgbClr val="5EEAD4"/>
                </a:solidFill>
                <a:latin typeface="Calibri" pitchFamily="34" charset="0"/>
                <a:ea typeface="Calibri" pitchFamily="34" charset="-122"/>
                <a:cs typeface="Calibri" pitchFamily="34" charset="-120"/>
              </a:rPr>
              <a:t>03 · The intelligence</a:t>
            </a:r>
            <a:endParaRPr lang="en-US" sz="1200" dirty="0"/>
          </a:p>
        </p:txBody>
      </p:sp>
      <p:sp>
        <p:nvSpPr>
          <p:cNvPr id="16" name="Text 14"/>
          <p:cNvSpPr/>
          <p:nvPr/>
        </p:nvSpPr>
        <p:spPr>
          <a:xfrm>
            <a:off x="6411316" y="3840480"/>
            <a:ext cx="2208962" cy="1005840"/>
          </a:xfrm>
          <a:prstGeom prst="rect">
            <a:avLst/>
          </a:prstGeom>
          <a:noFill/>
          <a:ln/>
        </p:spPr>
        <p:txBody>
          <a:bodyPr wrap="square" lIns="0" tIns="0" rIns="0" bIns="0" rtlCol="0" anchor="t"/>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Compare providers; show an amendment timeline.</a:t>
            </a:r>
            <a:endParaRPr lang="en-US" sz="1100" dirty="0"/>
          </a:p>
        </p:txBody>
      </p:sp>
      <p:sp>
        <p:nvSpPr>
          <p:cNvPr id="17" name="Shape 15"/>
          <p:cNvSpPr/>
          <p:nvPr/>
        </p:nvSpPr>
        <p:spPr>
          <a:xfrm>
            <a:off x="9031757" y="3246120"/>
            <a:ext cx="2593010" cy="173736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8" name="Shape 16"/>
          <p:cNvSpPr/>
          <p:nvPr/>
        </p:nvSpPr>
        <p:spPr>
          <a:xfrm>
            <a:off x="9031757" y="3246120"/>
            <a:ext cx="2593010" cy="73152"/>
          </a:xfrm>
          <a:prstGeom prst="rect">
            <a:avLst/>
          </a:prstGeom>
          <a:solidFill>
            <a:srgbClr val="14B8A6"/>
          </a:solidFill>
          <a:ln/>
        </p:spPr>
      </p:sp>
      <p:sp>
        <p:nvSpPr>
          <p:cNvPr id="19" name="Text 17"/>
          <p:cNvSpPr/>
          <p:nvPr/>
        </p:nvSpPr>
        <p:spPr>
          <a:xfrm>
            <a:off x="9232925" y="3429000"/>
            <a:ext cx="2227250" cy="365760"/>
          </a:xfrm>
          <a:prstGeom prst="rect">
            <a:avLst/>
          </a:prstGeom>
          <a:noFill/>
          <a:ln/>
        </p:spPr>
        <p:txBody>
          <a:bodyPr wrap="square" lIns="0" tIns="0" rIns="0" bIns="0" rtlCol="0" anchor="ctr"/>
          <a:lstStyle/>
          <a:p>
            <a:pPr indent="0" marL="0">
              <a:buNone/>
            </a:pPr>
            <a:r>
              <a:rPr lang="en-US" sz="1200" b="1" dirty="0">
                <a:solidFill>
                  <a:srgbClr val="5EEAD4"/>
                </a:solidFill>
                <a:latin typeface="Calibri" pitchFamily="34" charset="0"/>
                <a:ea typeface="Calibri" pitchFamily="34" charset="-122"/>
                <a:cs typeface="Calibri" pitchFamily="34" charset="-120"/>
              </a:rPr>
              <a:t>04 · The depth</a:t>
            </a:r>
            <a:endParaRPr lang="en-US" sz="1200" dirty="0"/>
          </a:p>
        </p:txBody>
      </p:sp>
      <p:sp>
        <p:nvSpPr>
          <p:cNvPr id="20" name="Text 18"/>
          <p:cNvSpPr/>
          <p:nvPr/>
        </p:nvSpPr>
        <p:spPr>
          <a:xfrm>
            <a:off x="9232925" y="3840480"/>
            <a:ext cx="2208962" cy="1005840"/>
          </a:xfrm>
          <a:prstGeom prst="rect">
            <a:avLst/>
          </a:prstGeom>
          <a:noFill/>
          <a:ln/>
        </p:spPr>
        <p:txBody>
          <a:bodyPr wrap="square" lIns="0" tIns="0" rIns="0" bIns="0" rtlCol="0" anchor="t"/>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RAG notebook: a cited, clause-level legal answer.</a:t>
            </a:r>
            <a:endParaRPr lang="en-US" sz="1100" dirty="0"/>
          </a:p>
        </p:txBody>
      </p:sp>
      <p:sp>
        <p:nvSpPr>
          <p:cNvPr id="21" name="Text 19"/>
          <p:cNvSpPr/>
          <p:nvPr/>
        </p:nvSpPr>
        <p:spPr>
          <a:xfrm>
            <a:off x="566928" y="5257800"/>
            <a:ext cx="11057839" cy="548640"/>
          </a:xfrm>
          <a:prstGeom prst="rect">
            <a:avLst/>
          </a:prstGeom>
          <a:noFill/>
          <a:ln/>
        </p:spPr>
        <p:txBody>
          <a:bodyPr wrap="square" lIns="0" tIns="0" rIns="0" bIns="0" rtlCol="0" anchor="ctr"/>
          <a:lstStyle/>
          <a:p>
            <a:pPr indent="0" marL="0">
              <a:lnSpc>
                <a:spcPts val="1600"/>
              </a:lnSpc>
              <a:buNone/>
            </a:pPr>
            <a:r>
              <a:rPr lang="en-US" sz="1200" b="1" i="1" dirty="0">
                <a:solidFill>
                  <a:srgbClr val="5EEAD4"/>
                </a:solidFill>
                <a:latin typeface="Calibri" pitchFamily="34" charset="0"/>
                <a:ea typeface="Calibri" pitchFamily="34" charset="-122"/>
                <a:cs typeface="Calibri" pitchFamily="34" charset="-120"/>
              </a:rPr>
              <a:t>Fallback ready:  </a:t>
            </a:r>
            <a:pPr indent="0" marL="0">
              <a:lnSpc>
                <a:spcPts val="1600"/>
              </a:lnSpc>
              <a:buNone/>
            </a:pPr>
            <a:r>
              <a:rPr lang="en-US" sz="1200" i="1" dirty="0">
                <a:solidFill>
                  <a:srgbClr val="93A4BD"/>
                </a:solidFill>
                <a:latin typeface="Calibri" pitchFamily="34" charset="0"/>
                <a:ea typeface="Calibri" pitchFamily="34" charset="-122"/>
                <a:cs typeface="Calibri" pitchFamily="34" charset="-120"/>
              </a:rPr>
              <a:t>warehouse pre-warmed, questions pre-tested, and a backup screenshot deck on standby — the story never depends on a live system.</a:t>
            </a:r>
            <a:endParaRPr lang="en-US" sz="1200" dirty="0"/>
          </a:p>
        </p:txBody>
      </p:sp>
      <p:sp>
        <p:nvSpPr>
          <p:cNvPr id="22" name="Text 20"/>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93A4BD"/>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93A4BD"/>
                </a:solidFill>
                <a:latin typeface="Calibri" pitchFamily="34" charset="0"/>
                <a:ea typeface="Calibri" pitchFamily="34" charset="-122"/>
                <a:cs typeface="Calibri" pitchFamily="34" charset="-120"/>
              </a:rPr>
              <a:t>   ·   Confidential — Internal</a:t>
            </a:r>
            <a:endParaRPr lang="en-US" sz="800" dirty="0"/>
          </a:p>
        </p:txBody>
      </p:sp>
      <p:sp>
        <p:nvSpPr>
          <p:cNvPr id="23" name="Text 21"/>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93A4B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13 · COST &amp; FINOPS</a:t>
            </a:r>
            <a:endParaRPr lang="en-US" sz="1150" dirty="0"/>
          </a:p>
        </p:txBody>
      </p:sp>
      <p:sp>
        <p:nvSpPr>
          <p:cNvPr id="3" name="Text 1"/>
          <p:cNvSpPr/>
          <p:nvPr/>
        </p:nvSpPr>
        <p:spPr>
          <a:xfrm>
            <a:off x="566928" y="777240"/>
            <a:ext cx="7863840"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Heavy lifting is one-time; serving is lightweight</a:t>
            </a:r>
            <a:endParaRPr lang="en-US" sz="2900" dirty="0"/>
          </a:p>
        </p:txBody>
      </p:sp>
      <p:sp>
        <p:nvSpPr>
          <p:cNvPr id="4" name="Shape 2"/>
          <p:cNvSpPr/>
          <p:nvPr/>
        </p:nvSpPr>
        <p:spPr>
          <a:xfrm>
            <a:off x="566928" y="1828800"/>
            <a:ext cx="2569464" cy="13258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5" name="Shape 3"/>
          <p:cNvSpPr/>
          <p:nvPr/>
        </p:nvSpPr>
        <p:spPr>
          <a:xfrm>
            <a:off x="566928" y="1828800"/>
            <a:ext cx="82296" cy="1325880"/>
          </a:xfrm>
          <a:prstGeom prst="rect">
            <a:avLst/>
          </a:prstGeom>
          <a:solidFill>
            <a:srgbClr val="14B8A6"/>
          </a:solidFill>
          <a:ln/>
        </p:spPr>
      </p:sp>
      <p:sp>
        <p:nvSpPr>
          <p:cNvPr id="6" name="Text 4"/>
          <p:cNvSpPr/>
          <p:nvPr/>
        </p:nvSpPr>
        <p:spPr>
          <a:xfrm>
            <a:off x="786384" y="1975104"/>
            <a:ext cx="2203704"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One-time build</a:t>
            </a:r>
            <a:endParaRPr lang="en-US" sz="1300" dirty="0"/>
          </a:p>
        </p:txBody>
      </p:sp>
      <p:sp>
        <p:nvSpPr>
          <p:cNvPr id="7" name="Text 5"/>
          <p:cNvSpPr/>
          <p:nvPr/>
        </p:nvSpPr>
        <p:spPr>
          <a:xfrm>
            <a:off x="786384" y="2340864"/>
            <a:ext cx="2185416" cy="749808"/>
          </a:xfrm>
          <a:prstGeom prst="rect">
            <a:avLst/>
          </a:prstGeom>
          <a:noFill/>
          <a:ln/>
        </p:spPr>
        <p:txBody>
          <a:bodyPr wrap="square" lIns="0" tIns="0" rIns="0" bIns="0" rtlCol="0" anchor="t"/>
          <a:lstStyle/>
          <a:p>
            <a:pPr indent="0" marL="0">
              <a:lnSpc>
                <a:spcPts val="1450"/>
              </a:lnSpc>
              <a:buNone/>
            </a:pPr>
            <a:r>
              <a:rPr lang="en-US" sz="1100" dirty="0">
                <a:solidFill>
                  <a:srgbClr val="33415A"/>
                </a:solidFill>
                <a:latin typeface="Calibri" pitchFamily="34" charset="0"/>
                <a:ea typeface="Calibri" pitchFamily="34" charset="-122"/>
                <a:cs typeface="Calibri" pitchFamily="34" charset="-120"/>
              </a:rPr>
              <a:t>Reading the corpus is a bounded, one-off investment — not a recurring bill.</a:t>
            </a:r>
            <a:endParaRPr lang="en-US" sz="1100" dirty="0"/>
          </a:p>
        </p:txBody>
      </p:sp>
      <p:sp>
        <p:nvSpPr>
          <p:cNvPr id="8" name="Shape 6"/>
          <p:cNvSpPr/>
          <p:nvPr/>
        </p:nvSpPr>
        <p:spPr>
          <a:xfrm>
            <a:off x="3364992" y="1828800"/>
            <a:ext cx="2569464" cy="13258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9" name="Shape 7"/>
          <p:cNvSpPr/>
          <p:nvPr/>
        </p:nvSpPr>
        <p:spPr>
          <a:xfrm>
            <a:off x="3364992" y="1828800"/>
            <a:ext cx="82296" cy="1325880"/>
          </a:xfrm>
          <a:prstGeom prst="rect">
            <a:avLst/>
          </a:prstGeom>
          <a:solidFill>
            <a:srgbClr val="14B8A6"/>
          </a:solidFill>
          <a:ln/>
        </p:spPr>
      </p:sp>
      <p:sp>
        <p:nvSpPr>
          <p:cNvPr id="10" name="Text 8"/>
          <p:cNvSpPr/>
          <p:nvPr/>
        </p:nvSpPr>
        <p:spPr>
          <a:xfrm>
            <a:off x="3584448" y="1975104"/>
            <a:ext cx="2203704"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Scalable serving</a:t>
            </a:r>
            <a:endParaRPr lang="en-US" sz="1300" dirty="0"/>
          </a:p>
        </p:txBody>
      </p:sp>
      <p:sp>
        <p:nvSpPr>
          <p:cNvPr id="11" name="Text 9"/>
          <p:cNvSpPr/>
          <p:nvPr/>
        </p:nvSpPr>
        <p:spPr>
          <a:xfrm>
            <a:off x="3584448" y="2340864"/>
            <a:ext cx="2185416" cy="749808"/>
          </a:xfrm>
          <a:prstGeom prst="rect">
            <a:avLst/>
          </a:prstGeom>
          <a:noFill/>
          <a:ln/>
        </p:spPr>
        <p:txBody>
          <a:bodyPr wrap="square" lIns="0" tIns="0" rIns="0" bIns="0" rtlCol="0" anchor="t"/>
          <a:lstStyle/>
          <a:p>
            <a:pPr indent="0" marL="0">
              <a:lnSpc>
                <a:spcPts val="1450"/>
              </a:lnSpc>
              <a:buNone/>
            </a:pPr>
            <a:r>
              <a:rPr lang="en-US" sz="1100" dirty="0">
                <a:solidFill>
                  <a:srgbClr val="33415A"/>
                </a:solidFill>
                <a:latin typeface="Calibri" pitchFamily="34" charset="0"/>
                <a:ea typeface="Calibri" pitchFamily="34" charset="-122"/>
                <a:cs typeface="Calibri" pitchFamily="34" charset="-120"/>
              </a:rPr>
              <a:t>Day-to-day cost is dominated by lightweight queries and managed compute.</a:t>
            </a:r>
            <a:endParaRPr lang="en-US" sz="1100" dirty="0"/>
          </a:p>
        </p:txBody>
      </p:sp>
      <p:sp>
        <p:nvSpPr>
          <p:cNvPr id="12" name="Shape 10"/>
          <p:cNvSpPr/>
          <p:nvPr/>
        </p:nvSpPr>
        <p:spPr>
          <a:xfrm>
            <a:off x="566928" y="3355848"/>
            <a:ext cx="2569464" cy="13258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13" name="Shape 11"/>
          <p:cNvSpPr/>
          <p:nvPr/>
        </p:nvSpPr>
        <p:spPr>
          <a:xfrm>
            <a:off x="566928" y="3355848"/>
            <a:ext cx="82296" cy="1325880"/>
          </a:xfrm>
          <a:prstGeom prst="rect">
            <a:avLst/>
          </a:prstGeom>
          <a:solidFill>
            <a:srgbClr val="14B8A6"/>
          </a:solidFill>
          <a:ln/>
        </p:spPr>
      </p:sp>
      <p:sp>
        <p:nvSpPr>
          <p:cNvPr id="14" name="Text 12"/>
          <p:cNvSpPr/>
          <p:nvPr/>
        </p:nvSpPr>
        <p:spPr>
          <a:xfrm>
            <a:off x="786384" y="3502152"/>
            <a:ext cx="2203704"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Vector economics</a:t>
            </a:r>
            <a:endParaRPr lang="en-US" sz="1300" dirty="0"/>
          </a:p>
        </p:txBody>
      </p:sp>
      <p:sp>
        <p:nvSpPr>
          <p:cNvPr id="15" name="Text 13"/>
          <p:cNvSpPr/>
          <p:nvPr/>
        </p:nvSpPr>
        <p:spPr>
          <a:xfrm>
            <a:off x="786384" y="3867912"/>
            <a:ext cx="2185416" cy="749808"/>
          </a:xfrm>
          <a:prstGeom prst="rect">
            <a:avLst/>
          </a:prstGeom>
          <a:noFill/>
          <a:ln/>
        </p:spPr>
        <p:txBody>
          <a:bodyPr wrap="square" lIns="0" tIns="0" rIns="0" bIns="0" rtlCol="0" anchor="t"/>
          <a:lstStyle/>
          <a:p>
            <a:pPr indent="0" marL="0">
              <a:lnSpc>
                <a:spcPts val="1450"/>
              </a:lnSpc>
              <a:buNone/>
            </a:pPr>
            <a:r>
              <a:rPr lang="en-US" sz="1100" dirty="0">
                <a:solidFill>
                  <a:srgbClr val="33415A"/>
                </a:solidFill>
                <a:latin typeface="Calibri" pitchFamily="34" charset="0"/>
                <a:ea typeface="Calibri" pitchFamily="34" charset="-122"/>
                <a:cs typeface="Calibri" pitchFamily="34" charset="-120"/>
              </a:rPr>
              <a:t>Semantic search runs on a managed endpoint, scheduled to demand.</a:t>
            </a:r>
            <a:endParaRPr lang="en-US" sz="1100" dirty="0"/>
          </a:p>
        </p:txBody>
      </p:sp>
      <p:sp>
        <p:nvSpPr>
          <p:cNvPr id="16" name="Shape 14"/>
          <p:cNvSpPr/>
          <p:nvPr/>
        </p:nvSpPr>
        <p:spPr>
          <a:xfrm>
            <a:off x="3364992" y="3355848"/>
            <a:ext cx="2569464" cy="1325880"/>
          </a:xfrm>
          <a:prstGeom prst="rect">
            <a:avLst/>
          </a:prstGeom>
          <a:solidFill>
            <a:srgbClr val="F8FAFC"/>
          </a:solidFill>
          <a:ln/>
          <a:effectLst>
            <a:outerShdw sx="100000" sy="100000" kx="0" ky="0" algn="bl" rotWithShape="0" blurRad="114300" dist="38100" dir="8100000">
              <a:srgbClr val="1E293B">
                <a:alpha val="12000"/>
              </a:srgbClr>
            </a:outerShdw>
          </a:effectLst>
        </p:spPr>
      </p:sp>
      <p:sp>
        <p:nvSpPr>
          <p:cNvPr id="17" name="Shape 15"/>
          <p:cNvSpPr/>
          <p:nvPr/>
        </p:nvSpPr>
        <p:spPr>
          <a:xfrm>
            <a:off x="3364992" y="3355848"/>
            <a:ext cx="82296" cy="1325880"/>
          </a:xfrm>
          <a:prstGeom prst="rect">
            <a:avLst/>
          </a:prstGeom>
          <a:solidFill>
            <a:srgbClr val="14B8A6"/>
          </a:solidFill>
          <a:ln/>
        </p:spPr>
      </p:sp>
      <p:sp>
        <p:nvSpPr>
          <p:cNvPr id="18" name="Text 16"/>
          <p:cNvSpPr/>
          <p:nvPr/>
        </p:nvSpPr>
        <p:spPr>
          <a:xfrm>
            <a:off x="3584448" y="3502152"/>
            <a:ext cx="2203704" cy="365760"/>
          </a:xfrm>
          <a:prstGeom prst="rect">
            <a:avLst/>
          </a:prstGeom>
          <a:noFill/>
          <a:ln/>
        </p:spPr>
        <p:txBody>
          <a:bodyPr wrap="square" lIns="0" tIns="0" rIns="0" bIns="0" rtlCol="0" anchor="ctr"/>
          <a:lstStyle/>
          <a:p>
            <a:pPr indent="0" marL="0">
              <a:buNone/>
            </a:pPr>
            <a:r>
              <a:rPr lang="en-US" sz="1300" b="1" dirty="0">
                <a:solidFill>
                  <a:srgbClr val="0B1B2E"/>
                </a:solidFill>
                <a:latin typeface="Calibri" pitchFamily="34" charset="0"/>
                <a:ea typeface="Calibri" pitchFamily="34" charset="-122"/>
                <a:cs typeface="Calibri" pitchFamily="34" charset="-120"/>
              </a:rPr>
              <a:t>Cost governance</a:t>
            </a:r>
            <a:endParaRPr lang="en-US" sz="1300" dirty="0"/>
          </a:p>
        </p:txBody>
      </p:sp>
      <p:sp>
        <p:nvSpPr>
          <p:cNvPr id="19" name="Text 17"/>
          <p:cNvSpPr/>
          <p:nvPr/>
        </p:nvSpPr>
        <p:spPr>
          <a:xfrm>
            <a:off x="3584448" y="3867912"/>
            <a:ext cx="2185416" cy="749808"/>
          </a:xfrm>
          <a:prstGeom prst="rect">
            <a:avLst/>
          </a:prstGeom>
          <a:noFill/>
          <a:ln/>
        </p:spPr>
        <p:txBody>
          <a:bodyPr wrap="square" lIns="0" tIns="0" rIns="0" bIns="0" rtlCol="0" anchor="t"/>
          <a:lstStyle/>
          <a:p>
            <a:pPr indent="0" marL="0">
              <a:lnSpc>
                <a:spcPts val="1450"/>
              </a:lnSpc>
              <a:buNone/>
            </a:pPr>
            <a:r>
              <a:rPr lang="en-US" sz="1100" dirty="0">
                <a:solidFill>
                  <a:srgbClr val="33415A"/>
                </a:solidFill>
                <a:latin typeface="Calibri" pitchFamily="34" charset="0"/>
                <a:ea typeface="Calibri" pitchFamily="34" charset="-122"/>
                <a:cs typeface="Calibri" pitchFamily="34" charset="-120"/>
              </a:rPr>
              <a:t>Tagging, budgets and auto-stop keep spend predictable and attributable.</a:t>
            </a:r>
            <a:endParaRPr lang="en-US" sz="1100" dirty="0"/>
          </a:p>
        </p:txBody>
      </p:sp>
      <p:sp>
        <p:nvSpPr>
          <p:cNvPr id="20" name="Text 18"/>
          <p:cNvSpPr/>
          <p:nvPr/>
        </p:nvSpPr>
        <p:spPr>
          <a:xfrm>
            <a:off x="6309360" y="1783080"/>
            <a:ext cx="5486400" cy="274320"/>
          </a:xfrm>
          <a:prstGeom prst="rect">
            <a:avLst/>
          </a:prstGeom>
          <a:noFill/>
          <a:ln/>
        </p:spPr>
        <p:txBody>
          <a:bodyPr wrap="square" lIns="0" tIns="0" rIns="0" bIns="0" rtlCol="0" anchor="ctr"/>
          <a:lstStyle/>
          <a:p>
            <a:pPr indent="0" marL="0">
              <a:buNone/>
            </a:pPr>
            <a:r>
              <a:rPr lang="en-US" sz="1000" b="1" spc="100" kern="0" dirty="0">
                <a:solidFill>
                  <a:srgbClr val="14B8A6"/>
                </a:solidFill>
                <a:latin typeface="Calibri" pitchFamily="34" charset="0"/>
                <a:ea typeface="Calibri" pitchFamily="34" charset="-122"/>
                <a:cs typeface="Calibri" pitchFamily="34" charset="-120"/>
              </a:rPr>
              <a:t>MONTHLY OPERATING COST BY CATEGORY (ENTERPRISE)</a:t>
            </a:r>
            <a:endParaRPr lang="en-US" sz="1000" dirty="0"/>
          </a:p>
        </p:txBody>
      </p:sp>
      <p:graphicFrame>
        <p:nvGraphicFramePr>
          <p:cNvPr id="21" name="Chart 0" descr=""/>
          <p:cNvGraphicFramePr/>
          <p:nvPr/>
        </p:nvGraphicFramePr>
        <p:xfrm>
          <a:off x="6217920" y="2103120"/>
          <a:ext cx="5452567" cy="2697480"/>
        </p:xfrm>
        <a:graphic xmlns:a="http://schemas.openxmlformats.org/drawingml/2006/main">
          <a:graphicData uri="http://schemas.openxmlformats.org/drawingml/2006/chart">
            <c:chart xmlns:c="http://schemas.openxmlformats.org/drawingml/2006/chart" r:id="rId1"/>
          </a:graphicData>
        </a:graphic>
      </p:graphicFrame>
      <p:sp>
        <p:nvSpPr>
          <p:cNvPr id="22" name="Shape 19"/>
          <p:cNvSpPr/>
          <p:nvPr/>
        </p:nvSpPr>
        <p:spPr>
          <a:xfrm>
            <a:off x="566928" y="5029200"/>
            <a:ext cx="3411626" cy="91440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23" name="Shape 20"/>
          <p:cNvSpPr/>
          <p:nvPr/>
        </p:nvSpPr>
        <p:spPr>
          <a:xfrm>
            <a:off x="566928" y="5029200"/>
            <a:ext cx="73152" cy="914400"/>
          </a:xfrm>
          <a:prstGeom prst="rect">
            <a:avLst/>
          </a:prstGeom>
          <a:solidFill>
            <a:srgbClr val="F26A4B"/>
          </a:solidFill>
          <a:ln/>
        </p:spPr>
      </p:sp>
      <p:sp>
        <p:nvSpPr>
          <p:cNvPr id="24" name="Text 21"/>
          <p:cNvSpPr/>
          <p:nvPr/>
        </p:nvSpPr>
        <p:spPr>
          <a:xfrm>
            <a:off x="841248" y="5120640"/>
            <a:ext cx="3137306" cy="502920"/>
          </a:xfrm>
          <a:prstGeom prst="rect">
            <a:avLst/>
          </a:prstGeom>
          <a:noFill/>
          <a:ln/>
        </p:spPr>
        <p:txBody>
          <a:bodyPr wrap="square" lIns="0" tIns="0" rIns="0" bIns="0" rtlCol="0" anchor="ctr"/>
          <a:lstStyle/>
          <a:p>
            <a:pPr indent="0" marL="0">
              <a:buNone/>
            </a:pPr>
            <a:r>
              <a:rPr lang="en-US" sz="2600" b="1" dirty="0">
                <a:solidFill>
                  <a:srgbClr val="F26A4B"/>
                </a:solidFill>
                <a:latin typeface="Georgia" pitchFamily="34" charset="0"/>
                <a:ea typeface="Georgia" pitchFamily="34" charset="-122"/>
                <a:cs typeface="Georgia" pitchFamily="34" charset="-120"/>
              </a:rPr>
              <a:t>$6.63</a:t>
            </a:r>
            <a:endParaRPr lang="en-US" sz="2600" dirty="0"/>
          </a:p>
        </p:txBody>
      </p:sp>
      <p:sp>
        <p:nvSpPr>
          <p:cNvPr id="25" name="Text 22"/>
          <p:cNvSpPr/>
          <p:nvPr/>
        </p:nvSpPr>
        <p:spPr>
          <a:xfrm>
            <a:off x="841248" y="5623560"/>
            <a:ext cx="3137306" cy="274320"/>
          </a:xfrm>
          <a:prstGeom prst="rect">
            <a:avLst/>
          </a:prstGeom>
          <a:noFill/>
          <a:ln/>
        </p:spPr>
        <p:txBody>
          <a:bodyPr wrap="square" lIns="0" tIns="0" rIns="0" bIns="0" rtlCol="0" anchor="ctr"/>
          <a:lstStyle/>
          <a:p>
            <a:pPr indent="0" marL="0">
              <a:buNone/>
            </a:pPr>
            <a:r>
              <a:rPr lang="en-US" sz="900" b="1" spc="100" kern="0" dirty="0">
                <a:solidFill>
                  <a:srgbClr val="93A4BD"/>
                </a:solidFill>
                <a:latin typeface="Calibri" pitchFamily="34" charset="0"/>
                <a:ea typeface="Calibri" pitchFamily="34" charset="-122"/>
                <a:cs typeface="Calibri" pitchFamily="34" charset="-120"/>
              </a:rPr>
              <a:t>PER USER / MONTH</a:t>
            </a:r>
            <a:endParaRPr lang="en-US" sz="900" dirty="0"/>
          </a:p>
        </p:txBody>
      </p:sp>
      <p:sp>
        <p:nvSpPr>
          <p:cNvPr id="26" name="Shape 23"/>
          <p:cNvSpPr/>
          <p:nvPr/>
        </p:nvSpPr>
        <p:spPr>
          <a:xfrm>
            <a:off x="4252874" y="5029200"/>
            <a:ext cx="3411626" cy="91440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27" name="Shape 24"/>
          <p:cNvSpPr/>
          <p:nvPr/>
        </p:nvSpPr>
        <p:spPr>
          <a:xfrm>
            <a:off x="4252874" y="5029200"/>
            <a:ext cx="73152" cy="914400"/>
          </a:xfrm>
          <a:prstGeom prst="rect">
            <a:avLst/>
          </a:prstGeom>
          <a:solidFill>
            <a:srgbClr val="14B8A6"/>
          </a:solidFill>
          <a:ln/>
        </p:spPr>
      </p:sp>
      <p:sp>
        <p:nvSpPr>
          <p:cNvPr id="28" name="Text 25"/>
          <p:cNvSpPr/>
          <p:nvPr/>
        </p:nvSpPr>
        <p:spPr>
          <a:xfrm>
            <a:off x="4527194" y="5120640"/>
            <a:ext cx="3137306" cy="502920"/>
          </a:xfrm>
          <a:prstGeom prst="rect">
            <a:avLst/>
          </a:prstGeom>
          <a:noFill/>
          <a:ln/>
        </p:spPr>
        <p:txBody>
          <a:bodyPr wrap="square" lIns="0" tIns="0" rIns="0" bIns="0" rtlCol="0" anchor="ctr"/>
          <a:lstStyle/>
          <a:p>
            <a:pPr indent="0" marL="0">
              <a:buNone/>
            </a:pPr>
            <a:r>
              <a:rPr lang="en-US" sz="2600" b="1" dirty="0">
                <a:solidFill>
                  <a:srgbClr val="5EEAD4"/>
                </a:solidFill>
                <a:latin typeface="Georgia" pitchFamily="34" charset="0"/>
                <a:ea typeface="Georgia" pitchFamily="34" charset="-122"/>
                <a:cs typeface="Georgia" pitchFamily="34" charset="-120"/>
              </a:rPr>
              <a:t>~$0.01</a:t>
            </a:r>
            <a:endParaRPr lang="en-US" sz="2600" dirty="0"/>
          </a:p>
        </p:txBody>
      </p:sp>
      <p:sp>
        <p:nvSpPr>
          <p:cNvPr id="29" name="Text 26"/>
          <p:cNvSpPr/>
          <p:nvPr/>
        </p:nvSpPr>
        <p:spPr>
          <a:xfrm>
            <a:off x="4527194" y="5623560"/>
            <a:ext cx="3137306" cy="274320"/>
          </a:xfrm>
          <a:prstGeom prst="rect">
            <a:avLst/>
          </a:prstGeom>
          <a:noFill/>
          <a:ln/>
        </p:spPr>
        <p:txBody>
          <a:bodyPr wrap="square" lIns="0" tIns="0" rIns="0" bIns="0" rtlCol="0" anchor="ctr"/>
          <a:lstStyle/>
          <a:p>
            <a:pPr indent="0" marL="0">
              <a:buNone/>
            </a:pPr>
            <a:r>
              <a:rPr lang="en-US" sz="900" b="1" spc="100" kern="0" dirty="0">
                <a:solidFill>
                  <a:srgbClr val="93A4BD"/>
                </a:solidFill>
                <a:latin typeface="Calibri" pitchFamily="34" charset="0"/>
                <a:ea typeface="Calibri" pitchFamily="34" charset="-122"/>
                <a:cs typeface="Calibri" pitchFamily="34" charset="-120"/>
              </a:rPr>
              <a:t>PER QUESTION</a:t>
            </a:r>
            <a:endParaRPr lang="en-US" sz="900" dirty="0"/>
          </a:p>
        </p:txBody>
      </p:sp>
      <p:sp>
        <p:nvSpPr>
          <p:cNvPr id="30" name="Shape 27"/>
          <p:cNvSpPr/>
          <p:nvPr/>
        </p:nvSpPr>
        <p:spPr>
          <a:xfrm>
            <a:off x="7938821" y="5029200"/>
            <a:ext cx="3411626" cy="91440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31" name="Shape 28"/>
          <p:cNvSpPr/>
          <p:nvPr/>
        </p:nvSpPr>
        <p:spPr>
          <a:xfrm>
            <a:off x="7938821" y="5029200"/>
            <a:ext cx="73152" cy="914400"/>
          </a:xfrm>
          <a:prstGeom prst="rect">
            <a:avLst/>
          </a:prstGeom>
          <a:solidFill>
            <a:srgbClr val="14B8A6"/>
          </a:solidFill>
          <a:ln/>
        </p:spPr>
      </p:sp>
      <p:sp>
        <p:nvSpPr>
          <p:cNvPr id="32" name="Text 29"/>
          <p:cNvSpPr/>
          <p:nvPr/>
        </p:nvSpPr>
        <p:spPr>
          <a:xfrm>
            <a:off x="8213141" y="5120640"/>
            <a:ext cx="3137306" cy="502920"/>
          </a:xfrm>
          <a:prstGeom prst="rect">
            <a:avLst/>
          </a:prstGeom>
          <a:noFill/>
          <a:ln/>
        </p:spPr>
        <p:txBody>
          <a:bodyPr wrap="square" lIns="0" tIns="0" rIns="0" bIns="0" rtlCol="0" anchor="ctr"/>
          <a:lstStyle/>
          <a:p>
            <a:pPr indent="0" marL="0">
              <a:buNone/>
            </a:pPr>
            <a:r>
              <a:rPr lang="en-US" sz="2600" b="1" dirty="0">
                <a:solidFill>
                  <a:srgbClr val="5EEAD4"/>
                </a:solidFill>
                <a:latin typeface="Georgia" pitchFamily="34" charset="0"/>
                <a:ea typeface="Georgia" pitchFamily="34" charset="-122"/>
                <a:cs typeface="Georgia" pitchFamily="34" charset="-120"/>
              </a:rPr>
              <a:t>&lt;0.1%</a:t>
            </a:r>
            <a:endParaRPr lang="en-US" sz="2600" dirty="0"/>
          </a:p>
        </p:txBody>
      </p:sp>
      <p:sp>
        <p:nvSpPr>
          <p:cNvPr id="33" name="Text 30"/>
          <p:cNvSpPr/>
          <p:nvPr/>
        </p:nvSpPr>
        <p:spPr>
          <a:xfrm>
            <a:off x="8213141" y="5623560"/>
            <a:ext cx="3137306" cy="274320"/>
          </a:xfrm>
          <a:prstGeom prst="rect">
            <a:avLst/>
          </a:prstGeom>
          <a:noFill/>
          <a:ln/>
        </p:spPr>
        <p:txBody>
          <a:bodyPr wrap="square" lIns="0" tIns="0" rIns="0" bIns="0" rtlCol="0" anchor="ctr"/>
          <a:lstStyle/>
          <a:p>
            <a:pPr indent="0" marL="0">
              <a:buNone/>
            </a:pPr>
            <a:r>
              <a:rPr lang="en-US" sz="900" b="1" spc="100" kern="0" dirty="0">
                <a:solidFill>
                  <a:srgbClr val="93A4BD"/>
                </a:solidFill>
                <a:latin typeface="Calibri" pitchFamily="34" charset="0"/>
                <a:ea typeface="Calibri" pitchFamily="34" charset="-122"/>
                <a:cs typeface="Calibri" pitchFamily="34" charset="-120"/>
              </a:rPr>
              <a:t>SPEND ON STORAGE</a:t>
            </a:r>
            <a:endParaRPr lang="en-US" sz="900" dirty="0"/>
          </a:p>
        </p:txBody>
      </p:sp>
      <p:sp>
        <p:nvSpPr>
          <p:cNvPr id="34" name="Text 31"/>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35" name="Text 32"/>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13 · RETURN ON INVESTMENT</a:t>
            </a:r>
            <a:endParaRPr lang="en-US" sz="1150" dirty="0"/>
          </a:p>
        </p:txBody>
      </p:sp>
      <p:sp>
        <p:nvSpPr>
          <p:cNvPr id="3" name="Text 1"/>
          <p:cNvSpPr/>
          <p:nvPr/>
        </p:nvSpPr>
        <p:spPr>
          <a:xfrm>
            <a:off x="566928" y="777240"/>
            <a:ext cx="7863840"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Built-in advantage, at a fraction of the cost</a:t>
            </a:r>
            <a:endParaRPr lang="en-US" sz="2900" dirty="0"/>
          </a:p>
        </p:txBody>
      </p:sp>
      <p:sp>
        <p:nvSpPr>
          <p:cNvPr id="4" name="Text 2"/>
          <p:cNvSpPr/>
          <p:nvPr/>
        </p:nvSpPr>
        <p:spPr>
          <a:xfrm>
            <a:off x="566928" y="1874520"/>
            <a:ext cx="2103120" cy="640080"/>
          </a:xfrm>
          <a:prstGeom prst="rect">
            <a:avLst/>
          </a:prstGeom>
          <a:noFill/>
          <a:ln/>
        </p:spPr>
        <p:txBody>
          <a:bodyPr wrap="square" lIns="0" tIns="0" rIns="0" bIns="0" rtlCol="0" anchor="ctr"/>
          <a:lstStyle/>
          <a:p>
            <a:pPr indent="0" marL="0">
              <a:buNone/>
            </a:pPr>
            <a:r>
              <a:rPr lang="en-US" sz="3600" b="1" dirty="0">
                <a:solidFill>
                  <a:srgbClr val="F26A4B"/>
                </a:solidFill>
                <a:latin typeface="Georgia" pitchFamily="34" charset="0"/>
                <a:ea typeface="Georgia" pitchFamily="34" charset="-122"/>
                <a:cs typeface="Georgia" pitchFamily="34" charset="-120"/>
              </a:rPr>
              <a:t>~800%</a:t>
            </a:r>
            <a:endParaRPr lang="en-US" sz="3600" dirty="0"/>
          </a:p>
        </p:txBody>
      </p:sp>
      <p:sp>
        <p:nvSpPr>
          <p:cNvPr id="5" name="Text 3"/>
          <p:cNvSpPr/>
          <p:nvPr/>
        </p:nvSpPr>
        <p:spPr>
          <a:xfrm>
            <a:off x="566928" y="2542032"/>
            <a:ext cx="2103120" cy="365760"/>
          </a:xfrm>
          <a:prstGeom prst="rect">
            <a:avLst/>
          </a:prstGeom>
          <a:noFill/>
          <a:ln/>
        </p:spPr>
        <p:txBody>
          <a:bodyPr wrap="square" lIns="0" tIns="0" rIns="0" bIns="0" rtlCol="0" anchor="ctr"/>
          <a:lstStyle/>
          <a:p>
            <a:pPr indent="0" marL="0">
              <a:buNone/>
            </a:pPr>
            <a:r>
              <a:rPr lang="en-US" sz="950" b="1" spc="120" kern="0" dirty="0">
                <a:solidFill>
                  <a:srgbClr val="64748B"/>
                </a:solidFill>
                <a:latin typeface="Calibri" pitchFamily="34" charset="0"/>
                <a:ea typeface="Calibri" pitchFamily="34" charset="-122"/>
                <a:cs typeface="Calibri" pitchFamily="34" charset="-120"/>
              </a:rPr>
              <a:t>CONSERVATIVE ROI</a:t>
            </a:r>
            <a:endParaRPr lang="en-US" sz="950" dirty="0"/>
          </a:p>
        </p:txBody>
      </p:sp>
      <p:sp>
        <p:nvSpPr>
          <p:cNvPr id="6" name="Text 4"/>
          <p:cNvSpPr/>
          <p:nvPr/>
        </p:nvSpPr>
        <p:spPr>
          <a:xfrm>
            <a:off x="2898648" y="1874520"/>
            <a:ext cx="2103120" cy="640080"/>
          </a:xfrm>
          <a:prstGeom prst="rect">
            <a:avLst/>
          </a:prstGeom>
          <a:noFill/>
          <a:ln/>
        </p:spPr>
        <p:txBody>
          <a:bodyPr wrap="square" lIns="0" tIns="0" rIns="0" bIns="0" rtlCol="0" anchor="ctr"/>
          <a:lstStyle/>
          <a:p>
            <a:pPr indent="0" marL="0">
              <a:buNone/>
            </a:pPr>
            <a:r>
              <a:rPr lang="en-US" sz="3600" b="1" dirty="0">
                <a:solidFill>
                  <a:srgbClr val="0F766E"/>
                </a:solidFill>
                <a:latin typeface="Georgia" pitchFamily="34" charset="0"/>
                <a:ea typeface="Georgia" pitchFamily="34" charset="-122"/>
                <a:cs typeface="Georgia" pitchFamily="34" charset="-120"/>
              </a:rPr>
              <a:t>Weeks</a:t>
            </a:r>
            <a:endParaRPr lang="en-US" sz="3600" dirty="0"/>
          </a:p>
        </p:txBody>
      </p:sp>
      <p:sp>
        <p:nvSpPr>
          <p:cNvPr id="7" name="Text 5"/>
          <p:cNvSpPr/>
          <p:nvPr/>
        </p:nvSpPr>
        <p:spPr>
          <a:xfrm>
            <a:off x="2898648" y="2542032"/>
            <a:ext cx="2103120" cy="365760"/>
          </a:xfrm>
          <a:prstGeom prst="rect">
            <a:avLst/>
          </a:prstGeom>
          <a:noFill/>
          <a:ln/>
        </p:spPr>
        <p:txBody>
          <a:bodyPr wrap="square" lIns="0" tIns="0" rIns="0" bIns="0" rtlCol="0" anchor="ctr"/>
          <a:lstStyle/>
          <a:p>
            <a:pPr indent="0" marL="0">
              <a:buNone/>
            </a:pPr>
            <a:r>
              <a:rPr lang="en-US" sz="950" b="1" spc="120" kern="0" dirty="0">
                <a:solidFill>
                  <a:srgbClr val="64748B"/>
                </a:solidFill>
                <a:latin typeface="Calibri" pitchFamily="34" charset="0"/>
                <a:ea typeface="Calibri" pitchFamily="34" charset="-122"/>
                <a:cs typeface="Calibri" pitchFamily="34" charset="-120"/>
              </a:rPr>
              <a:t>TO PAYBACK</a:t>
            </a:r>
            <a:endParaRPr lang="en-US" sz="950" dirty="0"/>
          </a:p>
        </p:txBody>
      </p:sp>
      <p:sp>
        <p:nvSpPr>
          <p:cNvPr id="8" name="Text 6"/>
          <p:cNvSpPr/>
          <p:nvPr/>
        </p:nvSpPr>
        <p:spPr>
          <a:xfrm>
            <a:off x="5230368" y="1874520"/>
            <a:ext cx="2103120" cy="640080"/>
          </a:xfrm>
          <a:prstGeom prst="rect">
            <a:avLst/>
          </a:prstGeom>
          <a:noFill/>
          <a:ln/>
        </p:spPr>
        <p:txBody>
          <a:bodyPr wrap="square" lIns="0" tIns="0" rIns="0" bIns="0" rtlCol="0" anchor="ctr"/>
          <a:lstStyle/>
          <a:p>
            <a:pPr indent="0" marL="0">
              <a:buNone/>
            </a:pPr>
            <a:r>
              <a:rPr lang="en-US" sz="3600" b="1" dirty="0">
                <a:solidFill>
                  <a:srgbClr val="0F766E"/>
                </a:solidFill>
                <a:latin typeface="Georgia" pitchFamily="34" charset="0"/>
                <a:ea typeface="Georgia" pitchFamily="34" charset="-122"/>
                <a:cs typeface="Georgia" pitchFamily="34" charset="-120"/>
              </a:rPr>
              <a:t>18×</a:t>
            </a:r>
            <a:endParaRPr lang="en-US" sz="3600" dirty="0"/>
          </a:p>
        </p:txBody>
      </p:sp>
      <p:sp>
        <p:nvSpPr>
          <p:cNvPr id="9" name="Text 7"/>
          <p:cNvSpPr/>
          <p:nvPr/>
        </p:nvSpPr>
        <p:spPr>
          <a:xfrm>
            <a:off x="5230368" y="2542032"/>
            <a:ext cx="2103120" cy="365760"/>
          </a:xfrm>
          <a:prstGeom prst="rect">
            <a:avLst/>
          </a:prstGeom>
          <a:noFill/>
          <a:ln/>
        </p:spPr>
        <p:txBody>
          <a:bodyPr wrap="square" lIns="0" tIns="0" rIns="0" bIns="0" rtlCol="0" anchor="ctr"/>
          <a:lstStyle/>
          <a:p>
            <a:pPr indent="0" marL="0">
              <a:buNone/>
            </a:pPr>
            <a:r>
              <a:rPr lang="en-US" sz="950" b="1" spc="120" kern="0" dirty="0">
                <a:solidFill>
                  <a:srgbClr val="64748B"/>
                </a:solidFill>
                <a:latin typeface="Calibri" pitchFamily="34" charset="0"/>
                <a:ea typeface="Calibri" pitchFamily="34" charset="-122"/>
                <a:cs typeface="Calibri" pitchFamily="34" charset="-120"/>
              </a:rPr>
              <a:t>CHEAPER THAN MANUAL</a:t>
            </a:r>
            <a:endParaRPr lang="en-US" sz="950" dirty="0"/>
          </a:p>
        </p:txBody>
      </p:sp>
      <p:sp>
        <p:nvSpPr>
          <p:cNvPr id="10" name="Text 8"/>
          <p:cNvSpPr/>
          <p:nvPr/>
        </p:nvSpPr>
        <p:spPr>
          <a:xfrm>
            <a:off x="566928" y="3246120"/>
            <a:ext cx="7040880" cy="1005840"/>
          </a:xfrm>
          <a:prstGeom prst="rect">
            <a:avLst/>
          </a:prstGeom>
          <a:noFill/>
          <a:ln/>
        </p:spPr>
        <p:txBody>
          <a:bodyPr wrap="square" lIns="0" tIns="0" rIns="0" bIns="0" rtlCol="0" anchor="t"/>
          <a:lstStyle/>
          <a:p>
            <a:pPr indent="0" marL="0">
              <a:lnSpc>
                <a:spcPts val="1900"/>
              </a:lnSpc>
              <a:buNone/>
            </a:pPr>
            <a:r>
              <a:rPr lang="en-US" sz="1300" dirty="0">
                <a:solidFill>
                  <a:srgbClr val="33415A"/>
                </a:solidFill>
                <a:latin typeface="Calibri" pitchFamily="34" charset="0"/>
                <a:ea typeface="Calibri" pitchFamily="34" charset="-122"/>
                <a:cs typeface="Calibri" pitchFamily="34" charset="-120"/>
              </a:rPr>
              <a:t>Value comes from three places: analyst time returned, faster negotiations, and surfacing rate leakage that was previously invisible across thousands of contracts.</a:t>
            </a:r>
            <a:endParaRPr lang="en-US" sz="1300" dirty="0"/>
          </a:p>
        </p:txBody>
      </p:sp>
      <p:sp>
        <p:nvSpPr>
          <p:cNvPr id="11" name="Shape 9"/>
          <p:cNvSpPr/>
          <p:nvPr/>
        </p:nvSpPr>
        <p:spPr>
          <a:xfrm>
            <a:off x="566928" y="4471416"/>
            <a:ext cx="146304" cy="146304"/>
          </a:xfrm>
          <a:prstGeom prst="ellipse">
            <a:avLst/>
          </a:prstGeom>
          <a:solidFill>
            <a:srgbClr val="14B8A6"/>
          </a:solidFill>
          <a:ln/>
        </p:spPr>
      </p:sp>
      <p:sp>
        <p:nvSpPr>
          <p:cNvPr id="12" name="Text 10"/>
          <p:cNvSpPr/>
          <p:nvPr/>
        </p:nvSpPr>
        <p:spPr>
          <a:xfrm>
            <a:off x="841248" y="4389120"/>
            <a:ext cx="6858000" cy="365760"/>
          </a:xfrm>
          <a:prstGeom prst="rect">
            <a:avLst/>
          </a:prstGeom>
          <a:noFill/>
          <a:ln/>
        </p:spPr>
        <p:txBody>
          <a:bodyPr wrap="square" lIns="0" tIns="0" rIns="0" bIns="0" rtlCol="0" anchor="t"/>
          <a:lstStyle/>
          <a:p>
            <a:pPr indent="0" marL="0">
              <a:buNone/>
            </a:pPr>
            <a:r>
              <a:rPr lang="en-US" sz="1200" b="1" dirty="0">
                <a:solidFill>
                  <a:srgbClr val="0B1B2E"/>
                </a:solidFill>
                <a:latin typeface="Calibri" pitchFamily="34" charset="0"/>
                <a:ea typeface="Calibri" pitchFamily="34" charset="-122"/>
                <a:cs typeface="Calibri" pitchFamily="34" charset="-120"/>
              </a:rPr>
              <a:t>Analyst time  —  </a:t>
            </a:r>
            <a:pPr indent="0" marL="0">
              <a:buNone/>
            </a:pPr>
            <a:r>
              <a:rPr lang="en-US" sz="1200" dirty="0">
                <a:solidFill>
                  <a:srgbClr val="64748B"/>
                </a:solidFill>
                <a:latin typeface="Calibri" pitchFamily="34" charset="0"/>
                <a:ea typeface="Calibri" pitchFamily="34" charset="-122"/>
                <a:cs typeface="Calibri" pitchFamily="34" charset="-120"/>
              </a:rPr>
              <a:t>Hours of lookup returned to analysis</a:t>
            </a:r>
            <a:endParaRPr lang="en-US" sz="1200" dirty="0"/>
          </a:p>
        </p:txBody>
      </p:sp>
      <p:sp>
        <p:nvSpPr>
          <p:cNvPr id="13" name="Shape 11"/>
          <p:cNvSpPr/>
          <p:nvPr/>
        </p:nvSpPr>
        <p:spPr>
          <a:xfrm>
            <a:off x="566928" y="4928616"/>
            <a:ext cx="146304" cy="146304"/>
          </a:xfrm>
          <a:prstGeom prst="ellipse">
            <a:avLst/>
          </a:prstGeom>
          <a:solidFill>
            <a:srgbClr val="14B8A6"/>
          </a:solidFill>
          <a:ln/>
        </p:spPr>
      </p:sp>
      <p:sp>
        <p:nvSpPr>
          <p:cNvPr id="14" name="Text 12"/>
          <p:cNvSpPr/>
          <p:nvPr/>
        </p:nvSpPr>
        <p:spPr>
          <a:xfrm>
            <a:off x="841248" y="4846320"/>
            <a:ext cx="6858000" cy="365760"/>
          </a:xfrm>
          <a:prstGeom prst="rect">
            <a:avLst/>
          </a:prstGeom>
          <a:noFill/>
          <a:ln/>
        </p:spPr>
        <p:txBody>
          <a:bodyPr wrap="square" lIns="0" tIns="0" rIns="0" bIns="0" rtlCol="0" anchor="t"/>
          <a:lstStyle/>
          <a:p>
            <a:pPr indent="0" marL="0">
              <a:buNone/>
            </a:pPr>
            <a:r>
              <a:rPr lang="en-US" sz="1200" b="1" dirty="0">
                <a:solidFill>
                  <a:srgbClr val="0B1B2E"/>
                </a:solidFill>
                <a:latin typeface="Calibri" pitchFamily="34" charset="0"/>
                <a:ea typeface="Calibri" pitchFamily="34" charset="-122"/>
                <a:cs typeface="Calibri" pitchFamily="34" charset="-120"/>
              </a:rPr>
              <a:t>Negotiation speed  —  </a:t>
            </a:r>
            <a:pPr indent="0" marL="0">
              <a:buNone/>
            </a:pPr>
            <a:r>
              <a:rPr lang="en-US" sz="1200" dirty="0">
                <a:solidFill>
                  <a:srgbClr val="64748B"/>
                </a:solidFill>
                <a:latin typeface="Calibri" pitchFamily="34" charset="0"/>
                <a:ea typeface="Calibri" pitchFamily="34" charset="-122"/>
                <a:cs typeface="Calibri" pitchFamily="34" charset="-120"/>
              </a:rPr>
              <a:t>Days of prep compressed to minutes</a:t>
            </a:r>
            <a:endParaRPr lang="en-US" sz="1200" dirty="0"/>
          </a:p>
        </p:txBody>
      </p:sp>
      <p:sp>
        <p:nvSpPr>
          <p:cNvPr id="15" name="Shape 13"/>
          <p:cNvSpPr/>
          <p:nvPr/>
        </p:nvSpPr>
        <p:spPr>
          <a:xfrm>
            <a:off x="566928" y="5385816"/>
            <a:ext cx="146304" cy="146304"/>
          </a:xfrm>
          <a:prstGeom prst="ellipse">
            <a:avLst/>
          </a:prstGeom>
          <a:solidFill>
            <a:srgbClr val="14B8A6"/>
          </a:solidFill>
          <a:ln/>
        </p:spPr>
      </p:sp>
      <p:sp>
        <p:nvSpPr>
          <p:cNvPr id="16" name="Text 14"/>
          <p:cNvSpPr/>
          <p:nvPr/>
        </p:nvSpPr>
        <p:spPr>
          <a:xfrm>
            <a:off x="841248" y="5303520"/>
            <a:ext cx="6858000" cy="365760"/>
          </a:xfrm>
          <a:prstGeom prst="rect">
            <a:avLst/>
          </a:prstGeom>
          <a:noFill/>
          <a:ln/>
        </p:spPr>
        <p:txBody>
          <a:bodyPr wrap="square" lIns="0" tIns="0" rIns="0" bIns="0" rtlCol="0" anchor="t"/>
          <a:lstStyle/>
          <a:p>
            <a:pPr indent="0" marL="0">
              <a:buNone/>
            </a:pPr>
            <a:r>
              <a:rPr lang="en-US" sz="1200" b="1" dirty="0">
                <a:solidFill>
                  <a:srgbClr val="0B1B2E"/>
                </a:solidFill>
                <a:latin typeface="Calibri" pitchFamily="34" charset="0"/>
                <a:ea typeface="Calibri" pitchFamily="34" charset="-122"/>
                <a:cs typeface="Calibri" pitchFamily="34" charset="-120"/>
              </a:rPr>
              <a:t>Rate-leakage visibility  —  </a:t>
            </a:r>
            <a:pPr indent="0" marL="0">
              <a:buNone/>
            </a:pPr>
            <a:r>
              <a:rPr lang="en-US" sz="1200" dirty="0">
                <a:solidFill>
                  <a:srgbClr val="64748B"/>
                </a:solidFill>
                <a:latin typeface="Calibri" pitchFamily="34" charset="0"/>
                <a:ea typeface="Calibri" pitchFamily="34" charset="-122"/>
                <a:cs typeface="Calibri" pitchFamily="34" charset="-120"/>
              </a:rPr>
              <a:t>Portfolio-wide outliers surfaced instantly</a:t>
            </a:r>
            <a:endParaRPr lang="en-US" sz="1200" dirty="0"/>
          </a:p>
        </p:txBody>
      </p:sp>
      <p:sp>
        <p:nvSpPr>
          <p:cNvPr id="17" name="Text 15"/>
          <p:cNvSpPr/>
          <p:nvPr/>
        </p:nvSpPr>
        <p:spPr>
          <a:xfrm>
            <a:off x="7726680" y="1783080"/>
            <a:ext cx="4572000" cy="274320"/>
          </a:xfrm>
          <a:prstGeom prst="rect">
            <a:avLst/>
          </a:prstGeom>
          <a:noFill/>
          <a:ln/>
        </p:spPr>
        <p:txBody>
          <a:bodyPr wrap="square" lIns="0" tIns="0" rIns="0" bIns="0" rtlCol="0" anchor="ctr"/>
          <a:lstStyle/>
          <a:p>
            <a:pPr indent="0" marL="0">
              <a:buNone/>
            </a:pPr>
            <a:r>
              <a:rPr lang="en-US" sz="1000" b="1" spc="100" kern="0" dirty="0">
                <a:solidFill>
                  <a:srgbClr val="14B8A6"/>
                </a:solidFill>
                <a:latin typeface="Calibri" pitchFamily="34" charset="0"/>
                <a:ea typeface="Calibri" pitchFamily="34" charset="-122"/>
                <a:cs typeface="Calibri" pitchFamily="34" charset="-120"/>
              </a:rPr>
              <a:t>3-YEAR TOTAL COST OF OWNERSHIP ($M)</a:t>
            </a:r>
            <a:endParaRPr lang="en-US" sz="1000" dirty="0"/>
          </a:p>
        </p:txBody>
      </p:sp>
      <p:graphicFrame>
        <p:nvGraphicFramePr>
          <p:cNvPr id="18" name="Chart 0" descr=""/>
          <p:cNvGraphicFramePr/>
          <p:nvPr/>
        </p:nvGraphicFramePr>
        <p:xfrm>
          <a:off x="7635240" y="2103120"/>
          <a:ext cx="4035247" cy="365760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20" name="Text 17"/>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14 · SCALABILITY &amp; ENTERPRISE EXPANSION</a:t>
            </a:r>
            <a:endParaRPr lang="en-US" sz="1150" dirty="0"/>
          </a:p>
        </p:txBody>
      </p:sp>
      <p:sp>
        <p:nvSpPr>
          <p:cNvPr id="3" name="Text 1"/>
          <p:cNvSpPr/>
          <p:nvPr/>
        </p:nvSpPr>
        <p:spPr>
          <a:xfrm>
            <a:off x="566928" y="777240"/>
            <a:ext cx="7863840"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Built for one plan — designed for many</a:t>
            </a:r>
            <a:endParaRPr lang="en-US" sz="2900" dirty="0"/>
          </a:p>
        </p:txBody>
      </p:sp>
      <p:sp>
        <p:nvSpPr>
          <p:cNvPr id="4" name="Text 2"/>
          <p:cNvSpPr/>
          <p:nvPr/>
        </p:nvSpPr>
        <p:spPr>
          <a:xfrm>
            <a:off x="566928" y="1783080"/>
            <a:ext cx="5943600" cy="274320"/>
          </a:xfrm>
          <a:prstGeom prst="rect">
            <a:avLst/>
          </a:prstGeom>
          <a:noFill/>
          <a:ln/>
        </p:spPr>
        <p:txBody>
          <a:bodyPr wrap="square" lIns="0" tIns="0" rIns="0" bIns="0" rtlCol="0" anchor="ctr"/>
          <a:lstStyle/>
          <a:p>
            <a:pPr indent="0" marL="0">
              <a:buNone/>
            </a:pPr>
            <a:r>
              <a:rPr lang="en-US" sz="1050" b="1" spc="100" kern="0" dirty="0">
                <a:solidFill>
                  <a:srgbClr val="14B8A6"/>
                </a:solidFill>
                <a:latin typeface="Calibri" pitchFamily="34" charset="0"/>
                <a:ea typeface="Calibri" pitchFamily="34" charset="-122"/>
                <a:cs typeface="Calibri" pitchFamily="34" charset="-120"/>
              </a:rPr>
              <a:t>SAME ARCHITECTURE, ISOLATED PER PLAN</a:t>
            </a:r>
            <a:endParaRPr lang="en-US" sz="1050" dirty="0"/>
          </a:p>
        </p:txBody>
      </p:sp>
      <p:sp>
        <p:nvSpPr>
          <p:cNvPr id="5" name="Shape 3"/>
          <p:cNvSpPr/>
          <p:nvPr/>
        </p:nvSpPr>
        <p:spPr>
          <a:xfrm>
            <a:off x="566928" y="2148840"/>
            <a:ext cx="1828800" cy="1143000"/>
          </a:xfrm>
          <a:prstGeom prst="rect">
            <a:avLst/>
          </a:prstGeom>
          <a:solidFill>
            <a:srgbClr val="0B1B2E"/>
          </a:solidFill>
          <a:ln w="12700">
            <a:solidFill>
              <a:srgbClr val="0B1B2E"/>
            </a:solidFill>
            <a:prstDash val="solid"/>
          </a:ln>
          <a:effectLst>
            <a:outerShdw sx="100000" sy="100000" kx="0" ky="0" algn="bl" rotWithShape="0" blurRad="177800" dist="50800" dir="8100000">
              <a:srgbClr val="0B1B2E">
                <a:alpha val="22000"/>
              </a:srgbClr>
            </a:outerShdw>
          </a:effectLst>
        </p:spPr>
      </p:sp>
      <p:sp>
        <p:nvSpPr>
          <p:cNvPr id="6" name="Shape 4"/>
          <p:cNvSpPr/>
          <p:nvPr/>
        </p:nvSpPr>
        <p:spPr>
          <a:xfrm>
            <a:off x="566928" y="2148840"/>
            <a:ext cx="1828800" cy="73152"/>
          </a:xfrm>
          <a:prstGeom prst="rect">
            <a:avLst/>
          </a:prstGeom>
          <a:solidFill>
            <a:srgbClr val="14B8A6"/>
          </a:solidFill>
          <a:ln/>
        </p:spPr>
      </p:sp>
      <p:sp>
        <p:nvSpPr>
          <p:cNvPr id="7" name="Text 5"/>
          <p:cNvSpPr/>
          <p:nvPr/>
        </p:nvSpPr>
        <p:spPr>
          <a:xfrm>
            <a:off x="713232" y="2313432"/>
            <a:ext cx="1554480" cy="411480"/>
          </a:xfrm>
          <a:prstGeom prst="rect">
            <a:avLst/>
          </a:prstGeom>
          <a:noFill/>
          <a:ln/>
        </p:spPr>
        <p:txBody>
          <a:bodyPr wrap="square" lIns="0" tIns="0" rIns="0" bIns="0" rtlCol="0" anchor="ctr"/>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BSC · California</a:t>
            </a:r>
            <a:endParaRPr lang="en-US" sz="1200" dirty="0"/>
          </a:p>
        </p:txBody>
      </p:sp>
      <p:sp>
        <p:nvSpPr>
          <p:cNvPr id="8" name="Text 6"/>
          <p:cNvSpPr/>
          <p:nvPr/>
        </p:nvSpPr>
        <p:spPr>
          <a:xfrm>
            <a:off x="713232" y="2752344"/>
            <a:ext cx="1554480" cy="502920"/>
          </a:xfrm>
          <a:prstGeom prst="rect">
            <a:avLst/>
          </a:prstGeom>
          <a:noFill/>
          <a:ln/>
        </p:spPr>
        <p:txBody>
          <a:bodyPr wrap="square" lIns="0" tIns="0" rIns="0" bIns="0" rtlCol="0" anchor="ctr"/>
          <a:lstStyle/>
          <a:p>
            <a:pPr indent="0" marL="0">
              <a:lnSpc>
                <a:spcPts val="1150"/>
              </a:lnSpc>
              <a:buNone/>
            </a:pPr>
            <a:r>
              <a:rPr lang="en-US" sz="900" dirty="0">
                <a:solidFill>
                  <a:srgbClr val="93A4BD"/>
                </a:solidFill>
                <a:latin typeface="Calibri" pitchFamily="34" charset="0"/>
                <a:ea typeface="Calibri" pitchFamily="34" charset="-122"/>
                <a:cs typeface="Calibri" pitchFamily="34" charset="-120"/>
              </a:rPr>
              <a:t>same pipeline</a:t>
            </a:r>
            <a:endParaRPr lang="en-US" sz="900" dirty="0"/>
          </a:p>
          <a:p>
            <a:pPr indent="0" marL="0">
              <a:lnSpc>
                <a:spcPts val="1150"/>
              </a:lnSpc>
              <a:buNone/>
            </a:pPr>
            <a:r>
              <a:rPr lang="en-US" sz="900" dirty="0">
                <a:solidFill>
                  <a:srgbClr val="93A4BD"/>
                </a:solidFill>
                <a:latin typeface="Calibri" pitchFamily="34" charset="0"/>
                <a:ea typeface="Calibri" pitchFamily="34" charset="-122"/>
                <a:cs typeface="Calibri" pitchFamily="34" charset="-120"/>
              </a:rPr>
              <a:t>own schema · own data</a:t>
            </a:r>
            <a:endParaRPr lang="en-US" sz="900" dirty="0"/>
          </a:p>
        </p:txBody>
      </p:sp>
      <p:sp>
        <p:nvSpPr>
          <p:cNvPr id="9" name="Shape 7"/>
          <p:cNvSpPr/>
          <p:nvPr/>
        </p:nvSpPr>
        <p:spPr>
          <a:xfrm>
            <a:off x="2596896" y="2148840"/>
            <a:ext cx="1828800" cy="114300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0" name="Shape 8"/>
          <p:cNvSpPr/>
          <p:nvPr/>
        </p:nvSpPr>
        <p:spPr>
          <a:xfrm>
            <a:off x="2596896" y="2148840"/>
            <a:ext cx="1828800" cy="73152"/>
          </a:xfrm>
          <a:prstGeom prst="rect">
            <a:avLst/>
          </a:prstGeom>
          <a:solidFill>
            <a:srgbClr val="64748B"/>
          </a:solidFill>
          <a:ln/>
        </p:spPr>
      </p:sp>
      <p:sp>
        <p:nvSpPr>
          <p:cNvPr id="11" name="Text 9"/>
          <p:cNvSpPr/>
          <p:nvPr/>
        </p:nvSpPr>
        <p:spPr>
          <a:xfrm>
            <a:off x="2743200" y="2313432"/>
            <a:ext cx="1554480" cy="41148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Plan B</a:t>
            </a:r>
            <a:endParaRPr lang="en-US" sz="1200" dirty="0"/>
          </a:p>
        </p:txBody>
      </p:sp>
      <p:sp>
        <p:nvSpPr>
          <p:cNvPr id="12" name="Text 10"/>
          <p:cNvSpPr/>
          <p:nvPr/>
        </p:nvSpPr>
        <p:spPr>
          <a:xfrm>
            <a:off x="2743200" y="2752344"/>
            <a:ext cx="1554480" cy="502920"/>
          </a:xfrm>
          <a:prstGeom prst="rect">
            <a:avLst/>
          </a:prstGeom>
          <a:noFill/>
          <a:ln/>
        </p:spPr>
        <p:txBody>
          <a:bodyPr wrap="square" lIns="0" tIns="0" rIns="0" bIns="0" rtlCol="0" anchor="ctr"/>
          <a:lstStyle/>
          <a:p>
            <a:pPr indent="0" marL="0">
              <a:lnSpc>
                <a:spcPts val="1150"/>
              </a:lnSpc>
              <a:buNone/>
            </a:pPr>
            <a:r>
              <a:rPr lang="en-US" sz="900" dirty="0">
                <a:solidFill>
                  <a:srgbClr val="64748B"/>
                </a:solidFill>
                <a:latin typeface="Calibri" pitchFamily="34" charset="0"/>
                <a:ea typeface="Calibri" pitchFamily="34" charset="-122"/>
                <a:cs typeface="Calibri" pitchFamily="34" charset="-120"/>
              </a:rPr>
              <a:t>same pipeline</a:t>
            </a:r>
            <a:endParaRPr lang="en-US" sz="900" dirty="0"/>
          </a:p>
          <a:p>
            <a:pPr indent="0" marL="0">
              <a:lnSpc>
                <a:spcPts val="1150"/>
              </a:lnSpc>
              <a:buNone/>
            </a:pPr>
            <a:r>
              <a:rPr lang="en-US" sz="900" dirty="0">
                <a:solidFill>
                  <a:srgbClr val="64748B"/>
                </a:solidFill>
                <a:latin typeface="Calibri" pitchFamily="34" charset="0"/>
                <a:ea typeface="Calibri" pitchFamily="34" charset="-122"/>
                <a:cs typeface="Calibri" pitchFamily="34" charset="-120"/>
              </a:rPr>
              <a:t>own schema · own data</a:t>
            </a:r>
            <a:endParaRPr lang="en-US" sz="900" dirty="0"/>
          </a:p>
        </p:txBody>
      </p:sp>
      <p:sp>
        <p:nvSpPr>
          <p:cNvPr id="13" name="Shape 11"/>
          <p:cNvSpPr/>
          <p:nvPr/>
        </p:nvSpPr>
        <p:spPr>
          <a:xfrm>
            <a:off x="4626864" y="2148840"/>
            <a:ext cx="1828800" cy="1143000"/>
          </a:xfrm>
          <a:prstGeom prst="rect">
            <a:avLst/>
          </a:prstGeom>
          <a:solidFill>
            <a:srgbClr val="F8FAFC"/>
          </a:solidFill>
          <a:ln w="12700">
            <a:solidFill>
              <a:srgbClr val="E3E9F0"/>
            </a:solidFill>
            <a:prstDash val="solid"/>
          </a:ln>
          <a:effectLst>
            <a:outerShdw sx="100000" sy="100000" kx="0" ky="0" algn="bl" rotWithShape="0" blurRad="114300" dist="38100" dir="8100000">
              <a:srgbClr val="1E293B">
                <a:alpha val="12000"/>
              </a:srgbClr>
            </a:outerShdw>
          </a:effectLst>
        </p:spPr>
      </p:sp>
      <p:sp>
        <p:nvSpPr>
          <p:cNvPr id="14" name="Shape 12"/>
          <p:cNvSpPr/>
          <p:nvPr/>
        </p:nvSpPr>
        <p:spPr>
          <a:xfrm>
            <a:off x="4626864" y="2148840"/>
            <a:ext cx="1828800" cy="73152"/>
          </a:xfrm>
          <a:prstGeom prst="rect">
            <a:avLst/>
          </a:prstGeom>
          <a:solidFill>
            <a:srgbClr val="64748B"/>
          </a:solidFill>
          <a:ln/>
        </p:spPr>
      </p:sp>
      <p:sp>
        <p:nvSpPr>
          <p:cNvPr id="15" name="Text 13"/>
          <p:cNvSpPr/>
          <p:nvPr/>
        </p:nvSpPr>
        <p:spPr>
          <a:xfrm>
            <a:off x="4773168" y="2313432"/>
            <a:ext cx="1554480" cy="411480"/>
          </a:xfrm>
          <a:prstGeom prst="rect">
            <a:avLst/>
          </a:prstGeom>
          <a:noFill/>
          <a:ln/>
        </p:spPr>
        <p:txBody>
          <a:bodyPr wrap="square" lIns="0" tIns="0" rIns="0" bIns="0" rtlCol="0" anchor="ctr"/>
          <a:lstStyle/>
          <a:p>
            <a:pPr indent="0" marL="0">
              <a:lnSpc>
                <a:spcPts val="1400"/>
              </a:lnSpc>
              <a:buNone/>
            </a:pPr>
            <a:r>
              <a:rPr lang="en-US" sz="1200" b="1" dirty="0">
                <a:solidFill>
                  <a:srgbClr val="0B1B2E"/>
                </a:solidFill>
                <a:latin typeface="Calibri" pitchFamily="34" charset="0"/>
                <a:ea typeface="Calibri" pitchFamily="34" charset="-122"/>
                <a:cs typeface="Calibri" pitchFamily="34" charset="-120"/>
              </a:rPr>
              <a:t>Plan C</a:t>
            </a:r>
            <a:endParaRPr lang="en-US" sz="1200" dirty="0"/>
          </a:p>
        </p:txBody>
      </p:sp>
      <p:sp>
        <p:nvSpPr>
          <p:cNvPr id="16" name="Text 14"/>
          <p:cNvSpPr/>
          <p:nvPr/>
        </p:nvSpPr>
        <p:spPr>
          <a:xfrm>
            <a:off x="4773168" y="2752344"/>
            <a:ext cx="1554480" cy="502920"/>
          </a:xfrm>
          <a:prstGeom prst="rect">
            <a:avLst/>
          </a:prstGeom>
          <a:noFill/>
          <a:ln/>
        </p:spPr>
        <p:txBody>
          <a:bodyPr wrap="square" lIns="0" tIns="0" rIns="0" bIns="0" rtlCol="0" anchor="ctr"/>
          <a:lstStyle/>
          <a:p>
            <a:pPr indent="0" marL="0">
              <a:lnSpc>
                <a:spcPts val="1150"/>
              </a:lnSpc>
              <a:buNone/>
            </a:pPr>
            <a:r>
              <a:rPr lang="en-US" sz="900" dirty="0">
                <a:solidFill>
                  <a:srgbClr val="64748B"/>
                </a:solidFill>
                <a:latin typeface="Calibri" pitchFamily="34" charset="0"/>
                <a:ea typeface="Calibri" pitchFamily="34" charset="-122"/>
                <a:cs typeface="Calibri" pitchFamily="34" charset="-120"/>
              </a:rPr>
              <a:t>same pipeline</a:t>
            </a:r>
            <a:endParaRPr lang="en-US" sz="900" dirty="0"/>
          </a:p>
          <a:p>
            <a:pPr indent="0" marL="0">
              <a:lnSpc>
                <a:spcPts val="1150"/>
              </a:lnSpc>
              <a:buNone/>
            </a:pPr>
            <a:r>
              <a:rPr lang="en-US" sz="900" dirty="0">
                <a:solidFill>
                  <a:srgbClr val="64748B"/>
                </a:solidFill>
                <a:latin typeface="Calibri" pitchFamily="34" charset="0"/>
                <a:ea typeface="Calibri" pitchFamily="34" charset="-122"/>
                <a:cs typeface="Calibri" pitchFamily="34" charset="-120"/>
              </a:rPr>
              <a:t>own schema · own data</a:t>
            </a:r>
            <a:endParaRPr lang="en-US" sz="900" dirty="0"/>
          </a:p>
        </p:txBody>
      </p:sp>
      <p:sp>
        <p:nvSpPr>
          <p:cNvPr id="17" name="Shape 15"/>
          <p:cNvSpPr/>
          <p:nvPr/>
        </p:nvSpPr>
        <p:spPr>
          <a:xfrm>
            <a:off x="566928" y="3520440"/>
            <a:ext cx="5888736" cy="566928"/>
          </a:xfrm>
          <a:prstGeom prst="rect">
            <a:avLst/>
          </a:prstGeom>
          <a:solidFill>
            <a:srgbClr val="E7F6F4"/>
          </a:solidFill>
          <a:ln/>
        </p:spPr>
      </p:sp>
      <p:sp>
        <p:nvSpPr>
          <p:cNvPr id="18" name="Shape 16"/>
          <p:cNvSpPr/>
          <p:nvPr/>
        </p:nvSpPr>
        <p:spPr>
          <a:xfrm>
            <a:off x="566928" y="3520440"/>
            <a:ext cx="73152" cy="566928"/>
          </a:xfrm>
          <a:prstGeom prst="rect">
            <a:avLst/>
          </a:prstGeom>
          <a:solidFill>
            <a:srgbClr val="0F766E"/>
          </a:solidFill>
          <a:ln/>
        </p:spPr>
      </p:sp>
      <p:sp>
        <p:nvSpPr>
          <p:cNvPr id="19" name="Text 17"/>
          <p:cNvSpPr/>
          <p:nvPr/>
        </p:nvSpPr>
        <p:spPr>
          <a:xfrm>
            <a:off x="795528" y="3520440"/>
            <a:ext cx="5522976" cy="566928"/>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Shared dimensions  ·  cross-plan benchmarking view</a:t>
            </a:r>
            <a:endParaRPr lang="en-US" sz="1100" dirty="0"/>
          </a:p>
        </p:txBody>
      </p:sp>
      <p:sp>
        <p:nvSpPr>
          <p:cNvPr id="20" name="Text 18"/>
          <p:cNvSpPr/>
          <p:nvPr/>
        </p:nvSpPr>
        <p:spPr>
          <a:xfrm>
            <a:off x="566928" y="4343400"/>
            <a:ext cx="5943600" cy="1188720"/>
          </a:xfrm>
          <a:prstGeom prst="rect">
            <a:avLst/>
          </a:prstGeom>
          <a:noFill/>
          <a:ln/>
        </p:spPr>
        <p:txBody>
          <a:bodyPr wrap="square" lIns="0" tIns="0" rIns="0" bIns="0" rtlCol="0" anchor="t"/>
          <a:lstStyle/>
          <a:p>
            <a:pPr indent="0" marL="0">
              <a:lnSpc>
                <a:spcPts val="1700"/>
              </a:lnSpc>
              <a:buNone/>
            </a:pPr>
            <a:r>
              <a:rPr lang="en-US" sz="1200" dirty="0">
                <a:solidFill>
                  <a:srgbClr val="33415A"/>
                </a:solidFill>
                <a:latin typeface="Calibri" pitchFamily="34" charset="0"/>
                <a:ea typeface="Calibri" pitchFamily="34" charset="-122"/>
                <a:cs typeface="Calibri" pitchFamily="34" charset="-120"/>
              </a:rPr>
              <a:t>Each plan is isolated for governance, yet shares one codebase and a cross-plan view for network-wide intelligence. New-plan onboarding is measured in weeks.</a:t>
            </a:r>
            <a:endParaRPr lang="en-US" sz="1200" dirty="0"/>
          </a:p>
        </p:txBody>
      </p:sp>
      <p:sp>
        <p:nvSpPr>
          <p:cNvPr id="21" name="Text 19"/>
          <p:cNvSpPr/>
          <p:nvPr/>
        </p:nvSpPr>
        <p:spPr>
          <a:xfrm>
            <a:off x="6675120" y="1783080"/>
            <a:ext cx="5486400" cy="274320"/>
          </a:xfrm>
          <a:prstGeom prst="rect">
            <a:avLst/>
          </a:prstGeom>
          <a:noFill/>
          <a:ln/>
        </p:spPr>
        <p:txBody>
          <a:bodyPr wrap="square" lIns="0" tIns="0" rIns="0" bIns="0" rtlCol="0" anchor="ctr"/>
          <a:lstStyle/>
          <a:p>
            <a:pPr indent="0" marL="0">
              <a:buNone/>
            </a:pPr>
            <a:r>
              <a:rPr lang="en-US" sz="1000" b="1" spc="100" kern="0" dirty="0">
                <a:solidFill>
                  <a:srgbClr val="14B8A6"/>
                </a:solidFill>
                <a:latin typeface="Calibri" pitchFamily="34" charset="0"/>
                <a:ea typeface="Calibri" pitchFamily="34" charset="-122"/>
                <a:cs typeface="Calibri" pitchFamily="34" charset="-120"/>
              </a:rPr>
              <a:t>COST PER PLAN FALLS AS YOU SCALE ($K / YR)</a:t>
            </a:r>
            <a:endParaRPr lang="en-US" sz="1000" dirty="0"/>
          </a:p>
        </p:txBody>
      </p:sp>
      <p:graphicFrame>
        <p:nvGraphicFramePr>
          <p:cNvPr id="22" name="Chart 0" descr=""/>
          <p:cNvGraphicFramePr/>
          <p:nvPr/>
        </p:nvGraphicFramePr>
        <p:xfrm>
          <a:off x="6583680" y="2103120"/>
          <a:ext cx="5086807" cy="2743200"/>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6583680" y="5074920"/>
            <a:ext cx="5041087" cy="868680"/>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24" name="Shape 21"/>
          <p:cNvSpPr/>
          <p:nvPr/>
        </p:nvSpPr>
        <p:spPr>
          <a:xfrm>
            <a:off x="6583680" y="5074920"/>
            <a:ext cx="73152" cy="868680"/>
          </a:xfrm>
          <a:prstGeom prst="rect">
            <a:avLst/>
          </a:prstGeom>
          <a:solidFill>
            <a:srgbClr val="F26A4B"/>
          </a:solidFill>
          <a:ln/>
        </p:spPr>
      </p:sp>
      <p:sp>
        <p:nvSpPr>
          <p:cNvPr id="25" name="Text 22"/>
          <p:cNvSpPr/>
          <p:nvPr/>
        </p:nvSpPr>
        <p:spPr>
          <a:xfrm>
            <a:off x="6858000" y="5074920"/>
            <a:ext cx="4583887" cy="868680"/>
          </a:xfrm>
          <a:prstGeom prst="rect">
            <a:avLst/>
          </a:prstGeom>
          <a:noFill/>
          <a:ln/>
        </p:spPr>
        <p:txBody>
          <a:bodyPr wrap="square" lIns="0" tIns="0" rIns="0" bIns="0" rtlCol="0" anchor="ctr"/>
          <a:lstStyle/>
          <a:p>
            <a:pPr indent="0" marL="0">
              <a:lnSpc>
                <a:spcPts val="1600"/>
              </a:lnSpc>
              <a:buNone/>
            </a:pPr>
            <a:r>
              <a:rPr lang="en-US" sz="1200" b="1" dirty="0">
                <a:solidFill>
                  <a:srgbClr val="5EEAD4"/>
                </a:solidFill>
                <a:latin typeface="Calibri" pitchFamily="34" charset="0"/>
                <a:ea typeface="Calibri" pitchFamily="34" charset="-122"/>
                <a:cs typeface="Calibri" pitchFamily="34" charset="-120"/>
              </a:rPr>
              <a:t>Software-like economics.  </a:t>
            </a:r>
            <a:pPr indent="0" marL="0">
              <a:lnSpc>
                <a:spcPts val="1600"/>
              </a:lnSpc>
              <a:buNone/>
            </a:pPr>
            <a:r>
              <a:rPr lang="en-US" sz="1200" dirty="0">
                <a:solidFill>
                  <a:srgbClr val="FFFFFF"/>
                </a:solidFill>
                <a:latin typeface="Calibri" pitchFamily="34" charset="0"/>
                <a:ea typeface="Calibri" pitchFamily="34" charset="-122"/>
                <a:cs typeface="Calibri" pitchFamily="34" charset="-120"/>
              </a:rPr>
              <a:t>Shared infrastructure means each additional plan is dramatically cheaper than the first.</a:t>
            </a:r>
            <a:endParaRPr lang="en-US" sz="1200" dirty="0"/>
          </a:p>
        </p:txBody>
      </p:sp>
      <p:sp>
        <p:nvSpPr>
          <p:cNvPr id="26" name="Text 23"/>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27" name="Text 24"/>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15 · ROADMAP</a:t>
            </a:r>
            <a:endParaRPr lang="en-US" sz="1150" dirty="0"/>
          </a:p>
        </p:txBody>
      </p:sp>
      <p:sp>
        <p:nvSpPr>
          <p:cNvPr id="3" name="Text 1"/>
          <p:cNvSpPr/>
          <p:nvPr/>
        </p:nvSpPr>
        <p:spPr>
          <a:xfrm>
            <a:off x="566928" y="777240"/>
            <a:ext cx="11057839" cy="914400"/>
          </a:xfrm>
          <a:prstGeom prst="rect">
            <a:avLst/>
          </a:prstGeom>
          <a:noFill/>
          <a:ln/>
        </p:spPr>
        <p:txBody>
          <a:bodyPr wrap="square" lIns="0" tIns="0" rIns="0" bIns="0" rtlCol="0" anchor="t"/>
          <a:lstStyle/>
          <a:p>
            <a:pPr algn="l" indent="0" marL="0">
              <a:lnSpc>
                <a:spcPts val="3016"/>
              </a:lnSpc>
              <a:buNone/>
            </a:pPr>
            <a:r>
              <a:rPr lang="en-US" sz="2900" b="1" dirty="0">
                <a:solidFill>
                  <a:srgbClr val="0B1B2E"/>
                </a:solidFill>
                <a:latin typeface="Georgia" pitchFamily="34" charset="0"/>
                <a:ea typeface="Georgia" pitchFamily="34" charset="-122"/>
                <a:cs typeface="Georgia" pitchFamily="34" charset="-120"/>
              </a:rPr>
              <a:t>From production-hardening to negotiation copilots</a:t>
            </a:r>
            <a:endParaRPr lang="en-US" sz="2900" dirty="0"/>
          </a:p>
        </p:txBody>
      </p:sp>
      <p:sp>
        <p:nvSpPr>
          <p:cNvPr id="4" name="Shape 2"/>
          <p:cNvSpPr/>
          <p:nvPr/>
        </p:nvSpPr>
        <p:spPr>
          <a:xfrm>
            <a:off x="566928" y="1920240"/>
            <a:ext cx="2558720" cy="566928"/>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5" name="Text 3"/>
          <p:cNvSpPr/>
          <p:nvPr/>
        </p:nvSpPr>
        <p:spPr>
          <a:xfrm>
            <a:off x="749808" y="1920240"/>
            <a:ext cx="1535232" cy="566928"/>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NOW</a:t>
            </a:r>
            <a:endParaRPr lang="en-US" sz="1300" dirty="0"/>
          </a:p>
        </p:txBody>
      </p:sp>
      <p:sp>
        <p:nvSpPr>
          <p:cNvPr id="6" name="Text 4"/>
          <p:cNvSpPr/>
          <p:nvPr/>
        </p:nvSpPr>
        <p:spPr>
          <a:xfrm>
            <a:off x="749808" y="2542032"/>
            <a:ext cx="2284400" cy="457200"/>
          </a:xfrm>
          <a:prstGeom prst="rect">
            <a:avLst/>
          </a:prstGeom>
          <a:noFill/>
          <a:ln/>
        </p:spPr>
        <p:txBody>
          <a:bodyPr wrap="square" lIns="0" tIns="0" rIns="0" bIns="0" rtlCol="0" anchor="ctr"/>
          <a:lstStyle/>
          <a:p>
            <a:pPr indent="0" marL="0">
              <a:lnSpc>
                <a:spcPts val="1600"/>
              </a:lnSpc>
              <a:buNone/>
            </a:pPr>
            <a:r>
              <a:rPr lang="en-US" sz="1400" b="1" dirty="0">
                <a:solidFill>
                  <a:srgbClr val="0B1B2E"/>
                </a:solidFill>
                <a:latin typeface="Georgia" pitchFamily="34" charset="0"/>
                <a:ea typeface="Georgia" pitchFamily="34" charset="-122"/>
                <a:cs typeface="Georgia" pitchFamily="34" charset="-120"/>
              </a:rPr>
              <a:t>Production hardening</a:t>
            </a:r>
            <a:endParaRPr lang="en-US" sz="1400" dirty="0"/>
          </a:p>
        </p:txBody>
      </p:sp>
      <p:sp>
        <p:nvSpPr>
          <p:cNvPr id="7" name="Shape 5"/>
          <p:cNvSpPr/>
          <p:nvPr/>
        </p:nvSpPr>
        <p:spPr>
          <a:xfrm>
            <a:off x="749808" y="3200400"/>
            <a:ext cx="118872" cy="118872"/>
          </a:xfrm>
          <a:prstGeom prst="ellipse">
            <a:avLst/>
          </a:prstGeom>
          <a:solidFill>
            <a:srgbClr val="14B8A6"/>
          </a:solidFill>
          <a:ln/>
        </p:spPr>
      </p:sp>
      <p:sp>
        <p:nvSpPr>
          <p:cNvPr id="8" name="Text 6"/>
          <p:cNvSpPr/>
          <p:nvPr/>
        </p:nvSpPr>
        <p:spPr>
          <a:xfrm>
            <a:off x="950976" y="3099816"/>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Complete full corpus</a:t>
            </a:r>
            <a:endParaRPr lang="en-US" sz="1100" dirty="0"/>
          </a:p>
        </p:txBody>
      </p:sp>
      <p:sp>
        <p:nvSpPr>
          <p:cNvPr id="9" name="Shape 7"/>
          <p:cNvSpPr/>
          <p:nvPr/>
        </p:nvSpPr>
        <p:spPr>
          <a:xfrm>
            <a:off x="749808" y="3858768"/>
            <a:ext cx="118872" cy="118872"/>
          </a:xfrm>
          <a:prstGeom prst="ellipse">
            <a:avLst/>
          </a:prstGeom>
          <a:solidFill>
            <a:srgbClr val="14B8A6"/>
          </a:solidFill>
          <a:ln/>
        </p:spPr>
      </p:sp>
      <p:sp>
        <p:nvSpPr>
          <p:cNvPr id="10" name="Text 8"/>
          <p:cNvSpPr/>
          <p:nvPr/>
        </p:nvSpPr>
        <p:spPr>
          <a:xfrm>
            <a:off x="950976" y="3758184"/>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Job orchestration &amp; alerting</a:t>
            </a:r>
            <a:endParaRPr lang="en-US" sz="1100" dirty="0"/>
          </a:p>
        </p:txBody>
      </p:sp>
      <p:sp>
        <p:nvSpPr>
          <p:cNvPr id="11" name="Shape 9"/>
          <p:cNvSpPr/>
          <p:nvPr/>
        </p:nvSpPr>
        <p:spPr>
          <a:xfrm>
            <a:off x="749808" y="4517136"/>
            <a:ext cx="118872" cy="118872"/>
          </a:xfrm>
          <a:prstGeom prst="ellipse">
            <a:avLst/>
          </a:prstGeom>
          <a:solidFill>
            <a:srgbClr val="14B8A6"/>
          </a:solidFill>
          <a:ln/>
        </p:spPr>
      </p:sp>
      <p:sp>
        <p:nvSpPr>
          <p:cNvPr id="12" name="Text 10"/>
          <p:cNvSpPr/>
          <p:nvPr/>
        </p:nvSpPr>
        <p:spPr>
          <a:xfrm>
            <a:off x="950976" y="4416552"/>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Access masking &amp; row-level security</a:t>
            </a:r>
            <a:endParaRPr lang="en-US" sz="1100" dirty="0"/>
          </a:p>
        </p:txBody>
      </p:sp>
      <p:sp>
        <p:nvSpPr>
          <p:cNvPr id="13" name="Shape 11"/>
          <p:cNvSpPr/>
          <p:nvPr/>
        </p:nvSpPr>
        <p:spPr>
          <a:xfrm>
            <a:off x="3162224" y="2203704"/>
            <a:ext cx="201168" cy="0"/>
          </a:xfrm>
          <a:prstGeom prst="line">
            <a:avLst/>
          </a:prstGeom>
          <a:noFill/>
          <a:ln w="25400">
            <a:solidFill>
              <a:srgbClr val="0F766E"/>
            </a:solidFill>
            <a:prstDash val="solid"/>
            <a:tailEnd type="triangle"/>
          </a:ln>
        </p:spPr>
      </p:sp>
      <p:sp>
        <p:nvSpPr>
          <p:cNvPr id="14" name="Shape 12"/>
          <p:cNvSpPr/>
          <p:nvPr/>
        </p:nvSpPr>
        <p:spPr>
          <a:xfrm>
            <a:off x="3399968" y="1920240"/>
            <a:ext cx="2558720" cy="566928"/>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15" name="Text 13"/>
          <p:cNvSpPr/>
          <p:nvPr/>
        </p:nvSpPr>
        <p:spPr>
          <a:xfrm>
            <a:off x="3582848" y="1920240"/>
            <a:ext cx="1535232" cy="566928"/>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NEXT</a:t>
            </a:r>
            <a:endParaRPr lang="en-US" sz="1300" dirty="0"/>
          </a:p>
        </p:txBody>
      </p:sp>
      <p:sp>
        <p:nvSpPr>
          <p:cNvPr id="16" name="Text 14"/>
          <p:cNvSpPr/>
          <p:nvPr/>
        </p:nvSpPr>
        <p:spPr>
          <a:xfrm>
            <a:off x="3582848" y="2542032"/>
            <a:ext cx="2284400" cy="457200"/>
          </a:xfrm>
          <a:prstGeom prst="rect">
            <a:avLst/>
          </a:prstGeom>
          <a:noFill/>
          <a:ln/>
        </p:spPr>
        <p:txBody>
          <a:bodyPr wrap="square" lIns="0" tIns="0" rIns="0" bIns="0" rtlCol="0" anchor="ctr"/>
          <a:lstStyle/>
          <a:p>
            <a:pPr indent="0" marL="0">
              <a:lnSpc>
                <a:spcPts val="1600"/>
              </a:lnSpc>
              <a:buNone/>
            </a:pPr>
            <a:r>
              <a:rPr lang="en-US" sz="1400" b="1" dirty="0">
                <a:solidFill>
                  <a:srgbClr val="0B1B2E"/>
                </a:solidFill>
                <a:latin typeface="Georgia" pitchFamily="34" charset="0"/>
                <a:ea typeface="Georgia" pitchFamily="34" charset="-122"/>
                <a:cs typeface="Georgia" pitchFamily="34" charset="-120"/>
              </a:rPr>
              <a:t>Quality &amp; monitoring</a:t>
            </a:r>
            <a:endParaRPr lang="en-US" sz="1400" dirty="0"/>
          </a:p>
        </p:txBody>
      </p:sp>
      <p:sp>
        <p:nvSpPr>
          <p:cNvPr id="17" name="Shape 15"/>
          <p:cNvSpPr/>
          <p:nvPr/>
        </p:nvSpPr>
        <p:spPr>
          <a:xfrm>
            <a:off x="3582848" y="3200400"/>
            <a:ext cx="118872" cy="118872"/>
          </a:xfrm>
          <a:prstGeom prst="ellipse">
            <a:avLst/>
          </a:prstGeom>
          <a:solidFill>
            <a:srgbClr val="14B8A6"/>
          </a:solidFill>
          <a:ln/>
        </p:spPr>
      </p:sp>
      <p:sp>
        <p:nvSpPr>
          <p:cNvPr id="18" name="Text 16"/>
          <p:cNvSpPr/>
          <p:nvPr/>
        </p:nvSpPr>
        <p:spPr>
          <a:xfrm>
            <a:off x="3784016" y="3099816"/>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Enterprise monitoring</a:t>
            </a:r>
            <a:endParaRPr lang="en-US" sz="1100" dirty="0"/>
          </a:p>
        </p:txBody>
      </p:sp>
      <p:sp>
        <p:nvSpPr>
          <p:cNvPr id="19" name="Shape 17"/>
          <p:cNvSpPr/>
          <p:nvPr/>
        </p:nvSpPr>
        <p:spPr>
          <a:xfrm>
            <a:off x="3582848" y="3858768"/>
            <a:ext cx="118872" cy="118872"/>
          </a:xfrm>
          <a:prstGeom prst="ellipse">
            <a:avLst/>
          </a:prstGeom>
          <a:solidFill>
            <a:srgbClr val="14B8A6"/>
          </a:solidFill>
          <a:ln/>
        </p:spPr>
      </p:sp>
      <p:sp>
        <p:nvSpPr>
          <p:cNvPr id="20" name="Text 18"/>
          <p:cNvSpPr/>
          <p:nvPr/>
        </p:nvSpPr>
        <p:spPr>
          <a:xfrm>
            <a:off x="3784016" y="3758184"/>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Cross-encoder reranker</a:t>
            </a:r>
            <a:endParaRPr lang="en-US" sz="1100" dirty="0"/>
          </a:p>
        </p:txBody>
      </p:sp>
      <p:sp>
        <p:nvSpPr>
          <p:cNvPr id="21" name="Shape 19"/>
          <p:cNvSpPr/>
          <p:nvPr/>
        </p:nvSpPr>
        <p:spPr>
          <a:xfrm>
            <a:off x="3582848" y="4517136"/>
            <a:ext cx="118872" cy="118872"/>
          </a:xfrm>
          <a:prstGeom prst="ellipse">
            <a:avLst/>
          </a:prstGeom>
          <a:solidFill>
            <a:srgbClr val="14B8A6"/>
          </a:solidFill>
          <a:ln/>
        </p:spPr>
      </p:sp>
      <p:sp>
        <p:nvSpPr>
          <p:cNvPr id="22" name="Text 20"/>
          <p:cNvSpPr/>
          <p:nvPr/>
        </p:nvSpPr>
        <p:spPr>
          <a:xfrm>
            <a:off x="3784016" y="4416552"/>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Golden-query regression</a:t>
            </a:r>
            <a:endParaRPr lang="en-US" sz="1100" dirty="0"/>
          </a:p>
        </p:txBody>
      </p:sp>
      <p:sp>
        <p:nvSpPr>
          <p:cNvPr id="23" name="Shape 21"/>
          <p:cNvSpPr/>
          <p:nvPr/>
        </p:nvSpPr>
        <p:spPr>
          <a:xfrm>
            <a:off x="5995264" y="2203704"/>
            <a:ext cx="201168" cy="0"/>
          </a:xfrm>
          <a:prstGeom prst="line">
            <a:avLst/>
          </a:prstGeom>
          <a:noFill/>
          <a:ln w="25400">
            <a:solidFill>
              <a:srgbClr val="0F766E"/>
            </a:solidFill>
            <a:prstDash val="solid"/>
            <a:tailEnd type="triangle"/>
          </a:ln>
        </p:spPr>
      </p:sp>
      <p:sp>
        <p:nvSpPr>
          <p:cNvPr id="24" name="Shape 22"/>
          <p:cNvSpPr/>
          <p:nvPr/>
        </p:nvSpPr>
        <p:spPr>
          <a:xfrm>
            <a:off x="6233008" y="1920240"/>
            <a:ext cx="2558720" cy="566928"/>
          </a:xfrm>
          <a:prstGeom prst="rect">
            <a:avLst/>
          </a:prstGeom>
          <a:solidFill>
            <a:srgbClr val="0B1B2E"/>
          </a:solidFill>
          <a:ln/>
          <a:effectLst>
            <a:outerShdw sx="100000" sy="100000" kx="0" ky="0" algn="bl" rotWithShape="0" blurRad="177800" dist="50800" dir="8100000">
              <a:srgbClr val="0B1B2E">
                <a:alpha val="22000"/>
              </a:srgbClr>
            </a:outerShdw>
          </a:effectLst>
        </p:spPr>
      </p:sp>
      <p:sp>
        <p:nvSpPr>
          <p:cNvPr id="25" name="Text 23"/>
          <p:cNvSpPr/>
          <p:nvPr/>
        </p:nvSpPr>
        <p:spPr>
          <a:xfrm>
            <a:off x="6415888" y="1920240"/>
            <a:ext cx="1535232" cy="566928"/>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THEN</a:t>
            </a:r>
            <a:endParaRPr lang="en-US" sz="1300" dirty="0"/>
          </a:p>
        </p:txBody>
      </p:sp>
      <p:sp>
        <p:nvSpPr>
          <p:cNvPr id="26" name="Text 24"/>
          <p:cNvSpPr/>
          <p:nvPr/>
        </p:nvSpPr>
        <p:spPr>
          <a:xfrm>
            <a:off x="6415888" y="2542032"/>
            <a:ext cx="2284400" cy="457200"/>
          </a:xfrm>
          <a:prstGeom prst="rect">
            <a:avLst/>
          </a:prstGeom>
          <a:noFill/>
          <a:ln/>
        </p:spPr>
        <p:txBody>
          <a:bodyPr wrap="square" lIns="0" tIns="0" rIns="0" bIns="0" rtlCol="0" anchor="ctr"/>
          <a:lstStyle/>
          <a:p>
            <a:pPr indent="0" marL="0">
              <a:lnSpc>
                <a:spcPts val="1600"/>
              </a:lnSpc>
              <a:buNone/>
            </a:pPr>
            <a:r>
              <a:rPr lang="en-US" sz="1400" b="1" dirty="0">
                <a:solidFill>
                  <a:srgbClr val="0B1B2E"/>
                </a:solidFill>
                <a:latin typeface="Georgia" pitchFamily="34" charset="0"/>
                <a:ea typeface="Georgia" pitchFamily="34" charset="-122"/>
                <a:cs typeface="Georgia" pitchFamily="34" charset="-120"/>
              </a:rPr>
              <a:t>Connected intelligence</a:t>
            </a:r>
            <a:endParaRPr lang="en-US" sz="1400" dirty="0"/>
          </a:p>
        </p:txBody>
      </p:sp>
      <p:sp>
        <p:nvSpPr>
          <p:cNvPr id="27" name="Shape 25"/>
          <p:cNvSpPr/>
          <p:nvPr/>
        </p:nvSpPr>
        <p:spPr>
          <a:xfrm>
            <a:off x="6415888" y="3200400"/>
            <a:ext cx="118872" cy="118872"/>
          </a:xfrm>
          <a:prstGeom prst="ellipse">
            <a:avLst/>
          </a:prstGeom>
          <a:solidFill>
            <a:srgbClr val="14B8A6"/>
          </a:solidFill>
          <a:ln/>
        </p:spPr>
      </p:sp>
      <p:sp>
        <p:nvSpPr>
          <p:cNvPr id="28" name="Text 26"/>
          <p:cNvSpPr/>
          <p:nvPr/>
        </p:nvSpPr>
        <p:spPr>
          <a:xfrm>
            <a:off x="6617056" y="3099816"/>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Claims / utilization integration</a:t>
            </a:r>
            <a:endParaRPr lang="en-US" sz="1100" dirty="0"/>
          </a:p>
        </p:txBody>
      </p:sp>
      <p:sp>
        <p:nvSpPr>
          <p:cNvPr id="29" name="Shape 27"/>
          <p:cNvSpPr/>
          <p:nvPr/>
        </p:nvSpPr>
        <p:spPr>
          <a:xfrm>
            <a:off x="6415888" y="3858768"/>
            <a:ext cx="118872" cy="118872"/>
          </a:xfrm>
          <a:prstGeom prst="ellipse">
            <a:avLst/>
          </a:prstGeom>
          <a:solidFill>
            <a:srgbClr val="14B8A6"/>
          </a:solidFill>
          <a:ln/>
        </p:spPr>
      </p:sp>
      <p:sp>
        <p:nvSpPr>
          <p:cNvPr id="30" name="Text 28"/>
          <p:cNvSpPr/>
          <p:nvPr/>
        </p:nvSpPr>
        <p:spPr>
          <a:xfrm>
            <a:off x="6617056" y="3758184"/>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Spend-weighted benchmarks</a:t>
            </a:r>
            <a:endParaRPr lang="en-US" sz="1100" dirty="0"/>
          </a:p>
        </p:txBody>
      </p:sp>
      <p:sp>
        <p:nvSpPr>
          <p:cNvPr id="31" name="Shape 29"/>
          <p:cNvSpPr/>
          <p:nvPr/>
        </p:nvSpPr>
        <p:spPr>
          <a:xfrm>
            <a:off x="6415888" y="4517136"/>
            <a:ext cx="118872" cy="118872"/>
          </a:xfrm>
          <a:prstGeom prst="ellipse">
            <a:avLst/>
          </a:prstGeom>
          <a:solidFill>
            <a:srgbClr val="14B8A6"/>
          </a:solidFill>
          <a:ln/>
        </p:spPr>
      </p:sp>
      <p:sp>
        <p:nvSpPr>
          <p:cNvPr id="32" name="Text 30"/>
          <p:cNvSpPr/>
          <p:nvPr/>
        </p:nvSpPr>
        <p:spPr>
          <a:xfrm>
            <a:off x="6617056" y="4416552"/>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Multi-plan onboarding</a:t>
            </a:r>
            <a:endParaRPr lang="en-US" sz="1100" dirty="0"/>
          </a:p>
        </p:txBody>
      </p:sp>
      <p:sp>
        <p:nvSpPr>
          <p:cNvPr id="33" name="Shape 31"/>
          <p:cNvSpPr/>
          <p:nvPr/>
        </p:nvSpPr>
        <p:spPr>
          <a:xfrm>
            <a:off x="8828303" y="2203704"/>
            <a:ext cx="201168" cy="0"/>
          </a:xfrm>
          <a:prstGeom prst="line">
            <a:avLst/>
          </a:prstGeom>
          <a:noFill/>
          <a:ln w="25400">
            <a:solidFill>
              <a:srgbClr val="0F766E"/>
            </a:solidFill>
            <a:prstDash val="solid"/>
            <a:tailEnd type="triangle"/>
          </a:ln>
        </p:spPr>
      </p:sp>
      <p:sp>
        <p:nvSpPr>
          <p:cNvPr id="34" name="Shape 32"/>
          <p:cNvSpPr/>
          <p:nvPr/>
        </p:nvSpPr>
        <p:spPr>
          <a:xfrm>
            <a:off x="9066047" y="1920240"/>
            <a:ext cx="2558720" cy="566928"/>
          </a:xfrm>
          <a:prstGeom prst="rect">
            <a:avLst/>
          </a:prstGeom>
          <a:solidFill>
            <a:srgbClr val="F26A4B"/>
          </a:solidFill>
          <a:ln/>
          <a:effectLst>
            <a:outerShdw sx="100000" sy="100000" kx="0" ky="0" algn="bl" rotWithShape="0" blurRad="177800" dist="50800" dir="8100000">
              <a:srgbClr val="0B1B2E">
                <a:alpha val="22000"/>
              </a:srgbClr>
            </a:outerShdw>
          </a:effectLst>
        </p:spPr>
      </p:sp>
      <p:sp>
        <p:nvSpPr>
          <p:cNvPr id="35" name="Text 33"/>
          <p:cNvSpPr/>
          <p:nvPr/>
        </p:nvSpPr>
        <p:spPr>
          <a:xfrm>
            <a:off x="9248927" y="1920240"/>
            <a:ext cx="1535232" cy="566928"/>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HORIZON</a:t>
            </a:r>
            <a:endParaRPr lang="en-US" sz="1300" dirty="0"/>
          </a:p>
        </p:txBody>
      </p:sp>
      <p:sp>
        <p:nvSpPr>
          <p:cNvPr id="36" name="Text 34"/>
          <p:cNvSpPr/>
          <p:nvPr/>
        </p:nvSpPr>
        <p:spPr>
          <a:xfrm>
            <a:off x="9248927" y="2542032"/>
            <a:ext cx="2284400" cy="457200"/>
          </a:xfrm>
          <a:prstGeom prst="rect">
            <a:avLst/>
          </a:prstGeom>
          <a:noFill/>
          <a:ln/>
        </p:spPr>
        <p:txBody>
          <a:bodyPr wrap="square" lIns="0" tIns="0" rIns="0" bIns="0" rtlCol="0" anchor="ctr"/>
          <a:lstStyle/>
          <a:p>
            <a:pPr indent="0" marL="0">
              <a:lnSpc>
                <a:spcPts val="1600"/>
              </a:lnSpc>
              <a:buNone/>
            </a:pPr>
            <a:r>
              <a:rPr lang="en-US" sz="1400" b="1" dirty="0">
                <a:solidFill>
                  <a:srgbClr val="0B1B2E"/>
                </a:solidFill>
                <a:latin typeface="Georgia" pitchFamily="34" charset="0"/>
                <a:ea typeface="Georgia" pitchFamily="34" charset="-122"/>
                <a:cs typeface="Georgia" pitchFamily="34" charset="-120"/>
              </a:rPr>
              <a:t>AI copilots at scale</a:t>
            </a:r>
            <a:endParaRPr lang="en-US" sz="1400" dirty="0"/>
          </a:p>
        </p:txBody>
      </p:sp>
      <p:sp>
        <p:nvSpPr>
          <p:cNvPr id="37" name="Shape 35"/>
          <p:cNvSpPr/>
          <p:nvPr/>
        </p:nvSpPr>
        <p:spPr>
          <a:xfrm>
            <a:off x="9248927" y="3200400"/>
            <a:ext cx="118872" cy="118872"/>
          </a:xfrm>
          <a:prstGeom prst="ellipse">
            <a:avLst/>
          </a:prstGeom>
          <a:solidFill>
            <a:srgbClr val="F26A4B"/>
          </a:solidFill>
          <a:ln/>
        </p:spPr>
      </p:sp>
      <p:sp>
        <p:nvSpPr>
          <p:cNvPr id="38" name="Text 36"/>
          <p:cNvSpPr/>
          <p:nvPr/>
        </p:nvSpPr>
        <p:spPr>
          <a:xfrm>
            <a:off x="9450095" y="3099816"/>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Negotiation copilots</a:t>
            </a:r>
            <a:endParaRPr lang="en-US" sz="1100" dirty="0"/>
          </a:p>
        </p:txBody>
      </p:sp>
      <p:sp>
        <p:nvSpPr>
          <p:cNvPr id="39" name="Shape 37"/>
          <p:cNvSpPr/>
          <p:nvPr/>
        </p:nvSpPr>
        <p:spPr>
          <a:xfrm>
            <a:off x="9248927" y="3858768"/>
            <a:ext cx="118872" cy="118872"/>
          </a:xfrm>
          <a:prstGeom prst="ellipse">
            <a:avLst/>
          </a:prstGeom>
          <a:solidFill>
            <a:srgbClr val="F26A4B"/>
          </a:solidFill>
          <a:ln/>
        </p:spPr>
      </p:sp>
      <p:sp>
        <p:nvSpPr>
          <p:cNvPr id="40" name="Text 38"/>
          <p:cNvSpPr/>
          <p:nvPr/>
        </p:nvSpPr>
        <p:spPr>
          <a:xfrm>
            <a:off x="9450095" y="3758184"/>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Provider intelligence expansion</a:t>
            </a:r>
            <a:endParaRPr lang="en-US" sz="1100" dirty="0"/>
          </a:p>
        </p:txBody>
      </p:sp>
      <p:sp>
        <p:nvSpPr>
          <p:cNvPr id="41" name="Shape 39"/>
          <p:cNvSpPr/>
          <p:nvPr/>
        </p:nvSpPr>
        <p:spPr>
          <a:xfrm>
            <a:off x="9248927" y="4517136"/>
            <a:ext cx="118872" cy="118872"/>
          </a:xfrm>
          <a:prstGeom prst="ellipse">
            <a:avLst/>
          </a:prstGeom>
          <a:solidFill>
            <a:srgbClr val="F26A4B"/>
          </a:solidFill>
          <a:ln/>
        </p:spPr>
      </p:sp>
      <p:sp>
        <p:nvSpPr>
          <p:cNvPr id="42" name="Text 40"/>
          <p:cNvSpPr/>
          <p:nvPr/>
        </p:nvSpPr>
        <p:spPr>
          <a:xfrm>
            <a:off x="9450095" y="4416552"/>
            <a:ext cx="2055800" cy="548640"/>
          </a:xfrm>
          <a:prstGeom prst="rect">
            <a:avLst/>
          </a:prstGeom>
          <a:noFill/>
          <a:ln/>
        </p:spPr>
        <p:txBody>
          <a:bodyPr wrap="square" lIns="0" tIns="0" rIns="0" bIns="0" rtlCol="0" anchor="t"/>
          <a:lstStyle/>
          <a:p>
            <a:pPr indent="0" marL="0">
              <a:lnSpc>
                <a:spcPts val="1350"/>
              </a:lnSpc>
              <a:buNone/>
            </a:pPr>
            <a:r>
              <a:rPr lang="en-US" sz="1100" dirty="0">
                <a:solidFill>
                  <a:srgbClr val="33415A"/>
                </a:solidFill>
                <a:latin typeface="Calibri" pitchFamily="34" charset="0"/>
                <a:ea typeface="Calibri" pitchFamily="34" charset="-122"/>
                <a:cs typeface="Calibri" pitchFamily="34" charset="-120"/>
              </a:rPr>
              <a:t>Enterprise-wide rollout</a:t>
            </a:r>
            <a:endParaRPr lang="en-US" sz="1100" dirty="0"/>
          </a:p>
        </p:txBody>
      </p:sp>
      <p:sp>
        <p:nvSpPr>
          <p:cNvPr id="43" name="Shape 41"/>
          <p:cNvSpPr/>
          <p:nvPr/>
        </p:nvSpPr>
        <p:spPr>
          <a:xfrm>
            <a:off x="566928" y="5532120"/>
            <a:ext cx="11057839" cy="0"/>
          </a:xfrm>
          <a:prstGeom prst="line">
            <a:avLst/>
          </a:prstGeom>
          <a:noFill/>
          <a:ln w="19050">
            <a:solidFill>
              <a:srgbClr val="E3E9F0"/>
            </a:solidFill>
            <a:prstDash val="solid"/>
            <a:tailEnd type="triangle"/>
          </a:ln>
        </p:spPr>
      </p:sp>
      <p:sp>
        <p:nvSpPr>
          <p:cNvPr id="44" name="Text 42"/>
          <p:cNvSpPr/>
          <p:nvPr/>
        </p:nvSpPr>
        <p:spPr>
          <a:xfrm>
            <a:off x="566928" y="5623560"/>
            <a:ext cx="11057839" cy="274320"/>
          </a:xfrm>
          <a:prstGeom prst="rect">
            <a:avLst/>
          </a:prstGeom>
          <a:noFill/>
          <a:ln/>
        </p:spPr>
        <p:txBody>
          <a:bodyPr wrap="square" lIns="0" tIns="0" rIns="0" bIns="0" rtlCol="0" anchor="ctr"/>
          <a:lstStyle/>
          <a:p>
            <a:pPr algn="r" indent="0" marL="0">
              <a:buNone/>
            </a:pPr>
            <a:r>
              <a:rPr lang="en-US" sz="950" b="1" spc="200" kern="0" dirty="0">
                <a:solidFill>
                  <a:srgbClr val="64748B"/>
                </a:solidFill>
                <a:latin typeface="Calibri" pitchFamily="34" charset="0"/>
                <a:ea typeface="Calibri" pitchFamily="34" charset="-122"/>
                <a:cs typeface="Calibri" pitchFamily="34" charset="-120"/>
              </a:rPr>
              <a:t>TIME  ·  EACH PHASE COMPOUNDS ON THE LAST</a:t>
            </a:r>
            <a:endParaRPr lang="en-US" sz="950" dirty="0"/>
          </a:p>
        </p:txBody>
      </p:sp>
      <p:sp>
        <p:nvSpPr>
          <p:cNvPr id="45" name="Text 43"/>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64748B"/>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64748B"/>
                </a:solidFill>
                <a:latin typeface="Calibri" pitchFamily="34" charset="0"/>
                <a:ea typeface="Calibri" pitchFamily="34" charset="-122"/>
                <a:cs typeface="Calibri" pitchFamily="34" charset="-120"/>
              </a:rPr>
              <a:t>   ·   Confidential — Internal</a:t>
            </a:r>
            <a:endParaRPr lang="en-US" sz="800" dirty="0"/>
          </a:p>
        </p:txBody>
      </p:sp>
      <p:sp>
        <p:nvSpPr>
          <p:cNvPr id="46" name="Text 44"/>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B2E"/>
        </a:solidFill>
      </p:bgPr>
    </p:bg>
    <p:spTree>
      <p:nvGrpSpPr>
        <p:cNvPr id="1" name=""/>
        <p:cNvGrpSpPr/>
        <p:nvPr/>
      </p:nvGrpSpPr>
      <p:grpSpPr>
        <a:xfrm>
          <a:off x="0" y="0"/>
          <a:ext cx="0" cy="0"/>
          <a:chOff x="0" y="0"/>
          <a:chExt cx="0" cy="0"/>
        </a:xfrm>
      </p:grpSpPr>
      <p:sp>
        <p:nvSpPr>
          <p:cNvPr id="2" name="Shape 0"/>
          <p:cNvSpPr/>
          <p:nvPr/>
        </p:nvSpPr>
        <p:spPr>
          <a:xfrm>
            <a:off x="0" y="914400"/>
            <a:ext cx="164592" cy="640080"/>
          </a:xfrm>
          <a:prstGeom prst="rect">
            <a:avLst/>
          </a:prstGeom>
          <a:solidFill>
            <a:srgbClr val="14B8A6"/>
          </a:solidFill>
          <a:ln/>
        </p:spPr>
      </p:sp>
      <p:sp>
        <p:nvSpPr>
          <p:cNvPr id="3" name="Shape 1"/>
          <p:cNvSpPr/>
          <p:nvPr/>
        </p:nvSpPr>
        <p:spPr>
          <a:xfrm>
            <a:off x="0" y="1783080"/>
            <a:ext cx="164592" cy="640080"/>
          </a:xfrm>
          <a:prstGeom prst="rect">
            <a:avLst/>
          </a:prstGeom>
          <a:solidFill>
            <a:srgbClr val="14B8A6"/>
          </a:solidFill>
          <a:ln/>
        </p:spPr>
      </p:sp>
      <p:sp>
        <p:nvSpPr>
          <p:cNvPr id="4" name="Shape 2"/>
          <p:cNvSpPr/>
          <p:nvPr/>
        </p:nvSpPr>
        <p:spPr>
          <a:xfrm>
            <a:off x="0" y="2651760"/>
            <a:ext cx="164592" cy="640080"/>
          </a:xfrm>
          <a:prstGeom prst="rect">
            <a:avLst/>
          </a:prstGeom>
          <a:solidFill>
            <a:srgbClr val="F26A4B"/>
          </a:solidFill>
          <a:ln/>
        </p:spPr>
      </p:sp>
      <p:sp>
        <p:nvSpPr>
          <p:cNvPr id="5" name="Shape 3"/>
          <p:cNvSpPr/>
          <p:nvPr/>
        </p:nvSpPr>
        <p:spPr>
          <a:xfrm>
            <a:off x="0" y="3520440"/>
            <a:ext cx="164592" cy="640080"/>
          </a:xfrm>
          <a:prstGeom prst="rect">
            <a:avLst/>
          </a:prstGeom>
          <a:solidFill>
            <a:srgbClr val="14B8A6"/>
          </a:solidFill>
          <a:ln/>
        </p:spPr>
      </p:sp>
      <p:sp>
        <p:nvSpPr>
          <p:cNvPr id="6" name="Shape 4"/>
          <p:cNvSpPr/>
          <p:nvPr/>
        </p:nvSpPr>
        <p:spPr>
          <a:xfrm>
            <a:off x="0" y="4389120"/>
            <a:ext cx="164592" cy="640080"/>
          </a:xfrm>
          <a:prstGeom prst="rect">
            <a:avLst/>
          </a:prstGeom>
          <a:solidFill>
            <a:srgbClr val="14B8A6"/>
          </a:solidFill>
          <a:ln/>
        </p:spPr>
      </p:sp>
      <p:sp>
        <p:nvSpPr>
          <p:cNvPr id="7" name="Text 5"/>
          <p:cNvSpPr/>
          <p:nvPr/>
        </p:nvSpPr>
        <p:spPr>
          <a:xfrm>
            <a:off x="566928" y="640080"/>
            <a:ext cx="7315200" cy="274320"/>
          </a:xfrm>
          <a:prstGeom prst="rect">
            <a:avLst/>
          </a:prstGeom>
          <a:noFill/>
          <a:ln/>
        </p:spPr>
        <p:txBody>
          <a:bodyPr wrap="square" lIns="0" tIns="0" rIns="0" bIns="0" rtlCol="0" anchor="ctr"/>
          <a:lstStyle/>
          <a:p>
            <a:pPr algn="l" indent="0" marL="0">
              <a:buNone/>
            </a:pPr>
            <a:r>
              <a:rPr lang="en-US" sz="1150" b="1" spc="300" kern="0" dirty="0">
                <a:solidFill>
                  <a:srgbClr val="14B8A6"/>
                </a:solidFill>
                <a:latin typeface="Calibri" pitchFamily="34" charset="0"/>
                <a:ea typeface="Calibri" pitchFamily="34" charset="-122"/>
                <a:cs typeface="Calibri" pitchFamily="34" charset="-120"/>
              </a:rPr>
              <a:t>SECTION 16 · STRATEGIC CLOSE</a:t>
            </a:r>
            <a:endParaRPr lang="en-US" sz="1150" dirty="0"/>
          </a:p>
        </p:txBody>
      </p:sp>
      <p:sp>
        <p:nvSpPr>
          <p:cNvPr id="8" name="Text 6"/>
          <p:cNvSpPr/>
          <p:nvPr/>
        </p:nvSpPr>
        <p:spPr>
          <a:xfrm>
            <a:off x="566928" y="1051560"/>
            <a:ext cx="8595360" cy="1645920"/>
          </a:xfrm>
          <a:prstGeom prst="rect">
            <a:avLst/>
          </a:prstGeom>
          <a:noFill/>
          <a:ln/>
        </p:spPr>
        <p:txBody>
          <a:bodyPr wrap="square" lIns="0" tIns="0" rIns="0" bIns="0" rtlCol="0" anchor="t"/>
          <a:lstStyle/>
          <a:p>
            <a:pPr indent="0" marL="0">
              <a:lnSpc>
                <a:spcPts val="4000"/>
              </a:lnSpc>
              <a:buNone/>
            </a:pPr>
            <a:r>
              <a:rPr lang="en-US" sz="3100" b="1" dirty="0">
                <a:solidFill>
                  <a:srgbClr val="FFFFFF"/>
                </a:solidFill>
                <a:latin typeface="Georgia" pitchFamily="34" charset="0"/>
                <a:ea typeface="Georgia" pitchFamily="34" charset="-122"/>
                <a:cs typeface="Georgia" pitchFamily="34" charset="-120"/>
              </a:rPr>
              <a:t>We turned our contracts into </a:t>
            </a:r>
            <a:pPr indent="0" marL="0">
              <a:lnSpc>
                <a:spcPts val="4000"/>
              </a:lnSpc>
              <a:buNone/>
            </a:pPr>
            <a:r>
              <a:rPr lang="en-US" sz="3100" b="1" dirty="0">
                <a:solidFill>
                  <a:srgbClr val="5EEAD4"/>
                </a:solidFill>
                <a:latin typeface="Georgia" pitchFamily="34" charset="0"/>
                <a:ea typeface="Georgia" pitchFamily="34" charset="-122"/>
                <a:cs typeface="Georgia" pitchFamily="34" charset="-120"/>
              </a:rPr>
              <a:t>a governed intelligence asset</a:t>
            </a:r>
            <a:pPr indent="0" marL="0">
              <a:lnSpc>
                <a:spcPts val="4000"/>
              </a:lnSpc>
              <a:buNone/>
            </a:pPr>
            <a:r>
              <a:rPr lang="en-US" sz="3100" b="1" dirty="0">
                <a:solidFill>
                  <a:srgbClr val="FFFFFF"/>
                </a:solidFill>
                <a:latin typeface="Georgia" pitchFamily="34" charset="0"/>
                <a:ea typeface="Georgia" pitchFamily="34" charset="-122"/>
                <a:cs typeface="Georgia" pitchFamily="34" charset="-120"/>
              </a:rPr>
              <a:t> — and a platform every Blue plan could run on.</a:t>
            </a:r>
            <a:endParaRPr lang="en-US" sz="3100" dirty="0"/>
          </a:p>
        </p:txBody>
      </p:sp>
      <p:sp>
        <p:nvSpPr>
          <p:cNvPr id="9" name="Text 7"/>
          <p:cNvSpPr/>
          <p:nvPr/>
        </p:nvSpPr>
        <p:spPr>
          <a:xfrm>
            <a:off x="566928" y="2971800"/>
            <a:ext cx="3291840" cy="502920"/>
          </a:xfrm>
          <a:prstGeom prst="rect">
            <a:avLst/>
          </a:prstGeom>
          <a:noFill/>
          <a:ln/>
        </p:spPr>
        <p:txBody>
          <a:bodyPr wrap="square" lIns="0" tIns="0" rIns="0" bIns="0" rtlCol="0" anchor="ctr"/>
          <a:lstStyle/>
          <a:p>
            <a:pPr indent="0" marL="0">
              <a:buNone/>
            </a:pPr>
            <a:r>
              <a:rPr lang="en-US" sz="2000" b="1" dirty="0">
                <a:solidFill>
                  <a:srgbClr val="5EEAD4"/>
                </a:solidFill>
                <a:latin typeface="Georgia" pitchFamily="34" charset="0"/>
                <a:ea typeface="Georgia" pitchFamily="34" charset="-122"/>
                <a:cs typeface="Georgia" pitchFamily="34" charset="-120"/>
              </a:rPr>
              <a:t>Hours → seconds</a:t>
            </a:r>
            <a:endParaRPr lang="en-US" sz="2000" dirty="0"/>
          </a:p>
        </p:txBody>
      </p:sp>
      <p:sp>
        <p:nvSpPr>
          <p:cNvPr id="10" name="Text 8"/>
          <p:cNvSpPr/>
          <p:nvPr/>
        </p:nvSpPr>
        <p:spPr>
          <a:xfrm>
            <a:off x="566928" y="3493008"/>
            <a:ext cx="3291840" cy="365760"/>
          </a:xfrm>
          <a:prstGeom prst="rect">
            <a:avLst/>
          </a:prstGeom>
          <a:noFill/>
          <a:ln/>
        </p:spPr>
        <p:txBody>
          <a:bodyPr wrap="square" lIns="0" tIns="0" rIns="0" bIns="0" rtlCol="0" anchor="ctr"/>
          <a:lstStyle/>
          <a:p>
            <a:pPr indent="0" marL="0">
              <a:buNone/>
            </a:pPr>
            <a:r>
              <a:rPr lang="en-US" sz="950" b="1" spc="120" kern="0" dirty="0">
                <a:solidFill>
                  <a:srgbClr val="93A4BD"/>
                </a:solidFill>
                <a:latin typeface="Calibri" pitchFamily="34" charset="0"/>
                <a:ea typeface="Calibri" pitchFamily="34" charset="-122"/>
                <a:cs typeface="Calibri" pitchFamily="34" charset="-120"/>
              </a:rPr>
              <a:t>TIME TO AN ANSWER</a:t>
            </a:r>
            <a:endParaRPr lang="en-US" sz="950" dirty="0"/>
          </a:p>
        </p:txBody>
      </p:sp>
      <p:sp>
        <p:nvSpPr>
          <p:cNvPr id="11" name="Text 9"/>
          <p:cNvSpPr/>
          <p:nvPr/>
        </p:nvSpPr>
        <p:spPr>
          <a:xfrm>
            <a:off x="4224528" y="2971800"/>
            <a:ext cx="3291840" cy="502920"/>
          </a:xfrm>
          <a:prstGeom prst="rect">
            <a:avLst/>
          </a:prstGeom>
          <a:noFill/>
          <a:ln/>
        </p:spPr>
        <p:txBody>
          <a:bodyPr wrap="square" lIns="0" tIns="0" rIns="0" bIns="0" rtlCol="0" anchor="ctr"/>
          <a:lstStyle/>
          <a:p>
            <a:pPr indent="0" marL="0">
              <a:buNone/>
            </a:pPr>
            <a:r>
              <a:rPr lang="en-US" sz="2000" b="1" dirty="0">
                <a:solidFill>
                  <a:srgbClr val="5EEAD4"/>
                </a:solidFill>
                <a:latin typeface="Georgia" pitchFamily="34" charset="0"/>
                <a:ea typeface="Georgia" pitchFamily="34" charset="-122"/>
                <a:cs typeface="Georgia" pitchFamily="34" charset="-120"/>
              </a:rPr>
              <a:t>Governed by design</a:t>
            </a:r>
            <a:endParaRPr lang="en-US" sz="2000" dirty="0"/>
          </a:p>
        </p:txBody>
      </p:sp>
      <p:sp>
        <p:nvSpPr>
          <p:cNvPr id="12" name="Text 10"/>
          <p:cNvSpPr/>
          <p:nvPr/>
        </p:nvSpPr>
        <p:spPr>
          <a:xfrm>
            <a:off x="4224528" y="3493008"/>
            <a:ext cx="3291840" cy="365760"/>
          </a:xfrm>
          <a:prstGeom prst="rect">
            <a:avLst/>
          </a:prstGeom>
          <a:noFill/>
          <a:ln/>
        </p:spPr>
        <p:txBody>
          <a:bodyPr wrap="square" lIns="0" tIns="0" rIns="0" bIns="0" rtlCol="0" anchor="ctr"/>
          <a:lstStyle/>
          <a:p>
            <a:pPr indent="0" marL="0">
              <a:buNone/>
            </a:pPr>
            <a:r>
              <a:rPr lang="en-US" sz="950" b="1" spc="120" kern="0" dirty="0">
                <a:solidFill>
                  <a:srgbClr val="93A4BD"/>
                </a:solidFill>
                <a:latin typeface="Calibri" pitchFamily="34" charset="0"/>
                <a:ea typeface="Calibri" pitchFamily="34" charset="-122"/>
                <a:cs typeface="Calibri" pitchFamily="34" charset="-120"/>
              </a:rPr>
              <a:t>TRUST, LINEAGE, AUDIT</a:t>
            </a:r>
            <a:endParaRPr lang="en-US" sz="950" dirty="0"/>
          </a:p>
        </p:txBody>
      </p:sp>
      <p:sp>
        <p:nvSpPr>
          <p:cNvPr id="13" name="Text 11"/>
          <p:cNvSpPr/>
          <p:nvPr/>
        </p:nvSpPr>
        <p:spPr>
          <a:xfrm>
            <a:off x="7882128" y="2971800"/>
            <a:ext cx="3291840" cy="502920"/>
          </a:xfrm>
          <a:prstGeom prst="rect">
            <a:avLst/>
          </a:prstGeom>
          <a:noFill/>
          <a:ln/>
        </p:spPr>
        <p:txBody>
          <a:bodyPr wrap="square" lIns="0" tIns="0" rIns="0" bIns="0" rtlCol="0" anchor="ctr"/>
          <a:lstStyle/>
          <a:p>
            <a:pPr indent="0" marL="0">
              <a:buNone/>
            </a:pPr>
            <a:r>
              <a:rPr lang="en-US" sz="2000" b="1" dirty="0">
                <a:solidFill>
                  <a:srgbClr val="F26A4B"/>
                </a:solidFill>
                <a:latin typeface="Georgia" pitchFamily="34" charset="0"/>
                <a:ea typeface="Georgia" pitchFamily="34" charset="-122"/>
                <a:cs typeface="Georgia" pitchFamily="34" charset="-120"/>
              </a:rPr>
              <a:t>Weeks to payback</a:t>
            </a:r>
            <a:endParaRPr lang="en-US" sz="2000" dirty="0"/>
          </a:p>
        </p:txBody>
      </p:sp>
      <p:sp>
        <p:nvSpPr>
          <p:cNvPr id="14" name="Text 12"/>
          <p:cNvSpPr/>
          <p:nvPr/>
        </p:nvSpPr>
        <p:spPr>
          <a:xfrm>
            <a:off x="7882128" y="3493008"/>
            <a:ext cx="3291840" cy="365760"/>
          </a:xfrm>
          <a:prstGeom prst="rect">
            <a:avLst/>
          </a:prstGeom>
          <a:noFill/>
          <a:ln/>
        </p:spPr>
        <p:txBody>
          <a:bodyPr wrap="square" lIns="0" tIns="0" rIns="0" bIns="0" rtlCol="0" anchor="ctr"/>
          <a:lstStyle/>
          <a:p>
            <a:pPr indent="0" marL="0">
              <a:buNone/>
            </a:pPr>
            <a:r>
              <a:rPr lang="en-US" sz="950" b="1" spc="120" kern="0" dirty="0">
                <a:solidFill>
                  <a:srgbClr val="93A4BD"/>
                </a:solidFill>
                <a:latin typeface="Calibri" pitchFamily="34" charset="0"/>
                <a:ea typeface="Calibri" pitchFamily="34" charset="-122"/>
                <a:cs typeface="Calibri" pitchFamily="34" charset="-120"/>
              </a:rPr>
              <a:t>CONSERVATIVE ROI ~800%</a:t>
            </a:r>
            <a:endParaRPr lang="en-US" sz="950" dirty="0"/>
          </a:p>
        </p:txBody>
      </p:sp>
      <p:sp>
        <p:nvSpPr>
          <p:cNvPr id="15" name="Shape 13"/>
          <p:cNvSpPr/>
          <p:nvPr/>
        </p:nvSpPr>
        <p:spPr>
          <a:xfrm>
            <a:off x="566928" y="4160520"/>
            <a:ext cx="11057839" cy="1417320"/>
          </a:xfrm>
          <a:prstGeom prst="rect">
            <a:avLst/>
          </a:prstGeom>
          <a:solidFill>
            <a:srgbClr val="13283F"/>
          </a:solidFill>
          <a:ln/>
          <a:effectLst>
            <a:outerShdw sx="100000" sy="100000" kx="0" ky="0" algn="bl" rotWithShape="0" blurRad="177800" dist="50800" dir="8100000">
              <a:srgbClr val="0B1B2E">
                <a:alpha val="22000"/>
              </a:srgbClr>
            </a:outerShdw>
          </a:effectLst>
        </p:spPr>
      </p:sp>
      <p:sp>
        <p:nvSpPr>
          <p:cNvPr id="16" name="Shape 14"/>
          <p:cNvSpPr/>
          <p:nvPr/>
        </p:nvSpPr>
        <p:spPr>
          <a:xfrm>
            <a:off x="566928" y="4160520"/>
            <a:ext cx="91440" cy="1417320"/>
          </a:xfrm>
          <a:prstGeom prst="rect">
            <a:avLst/>
          </a:prstGeom>
          <a:solidFill>
            <a:srgbClr val="F26A4B"/>
          </a:solidFill>
          <a:ln/>
        </p:spPr>
      </p:sp>
      <p:sp>
        <p:nvSpPr>
          <p:cNvPr id="17" name="Text 15"/>
          <p:cNvSpPr/>
          <p:nvPr/>
        </p:nvSpPr>
        <p:spPr>
          <a:xfrm>
            <a:off x="886968" y="4343400"/>
            <a:ext cx="3657600" cy="274320"/>
          </a:xfrm>
          <a:prstGeom prst="rect">
            <a:avLst/>
          </a:prstGeom>
          <a:noFill/>
          <a:ln/>
        </p:spPr>
        <p:txBody>
          <a:bodyPr wrap="square" lIns="0" tIns="0" rIns="0" bIns="0" rtlCol="0" anchor="ctr"/>
          <a:lstStyle/>
          <a:p>
            <a:pPr indent="0" marL="0">
              <a:buNone/>
            </a:pPr>
            <a:r>
              <a:rPr lang="en-US" sz="1100" b="1" spc="250" kern="0" dirty="0">
                <a:solidFill>
                  <a:srgbClr val="F26A4B"/>
                </a:solidFill>
                <a:latin typeface="Calibri" pitchFamily="34" charset="0"/>
                <a:ea typeface="Calibri" pitchFamily="34" charset="-122"/>
                <a:cs typeface="Calibri" pitchFamily="34" charset="-120"/>
              </a:rPr>
              <a:t>THE ASK</a:t>
            </a:r>
            <a:endParaRPr lang="en-US" sz="1100" dirty="0"/>
          </a:p>
        </p:txBody>
      </p:sp>
      <p:sp>
        <p:nvSpPr>
          <p:cNvPr id="18" name="Shape 16"/>
          <p:cNvSpPr/>
          <p:nvPr/>
        </p:nvSpPr>
        <p:spPr>
          <a:xfrm>
            <a:off x="886968" y="4754880"/>
            <a:ext cx="384048" cy="384048"/>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19" name="Text 17"/>
          <p:cNvSpPr/>
          <p:nvPr/>
        </p:nvSpPr>
        <p:spPr>
          <a:xfrm>
            <a:off x="886968" y="4754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Text 18"/>
          <p:cNvSpPr/>
          <p:nvPr/>
        </p:nvSpPr>
        <p:spPr>
          <a:xfrm>
            <a:off x="1417320" y="4736592"/>
            <a:ext cx="2832506" cy="548640"/>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Executive sponsorship</a:t>
            </a:r>
            <a:endParaRPr lang="en-US" sz="1350" dirty="0"/>
          </a:p>
        </p:txBody>
      </p:sp>
      <p:sp>
        <p:nvSpPr>
          <p:cNvPr id="21" name="Shape 19"/>
          <p:cNvSpPr/>
          <p:nvPr/>
        </p:nvSpPr>
        <p:spPr>
          <a:xfrm>
            <a:off x="4359554" y="4754880"/>
            <a:ext cx="384048" cy="384048"/>
          </a:xfrm>
          <a:prstGeom prst="ellipse">
            <a:avLst/>
          </a:prstGeom>
          <a:solidFill>
            <a:srgbClr val="14B8A6"/>
          </a:solidFill>
          <a:ln/>
          <a:effectLst>
            <a:outerShdw sx="100000" sy="100000" kx="0" ky="0" algn="bl" rotWithShape="0" blurRad="114300" dist="38100" dir="8100000">
              <a:srgbClr val="1E293B">
                <a:alpha val="12000"/>
              </a:srgbClr>
            </a:outerShdw>
          </a:effectLst>
        </p:spPr>
      </p:sp>
      <p:sp>
        <p:nvSpPr>
          <p:cNvPr id="22" name="Text 20"/>
          <p:cNvSpPr/>
          <p:nvPr/>
        </p:nvSpPr>
        <p:spPr>
          <a:xfrm>
            <a:off x="4359554" y="4754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1"/>
          <p:cNvSpPr/>
          <p:nvPr/>
        </p:nvSpPr>
        <p:spPr>
          <a:xfrm>
            <a:off x="4889906" y="4736592"/>
            <a:ext cx="2832506" cy="548640"/>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Pilot approval — 30 users</a:t>
            </a:r>
            <a:endParaRPr lang="en-US" sz="1350" dirty="0"/>
          </a:p>
        </p:txBody>
      </p:sp>
      <p:sp>
        <p:nvSpPr>
          <p:cNvPr id="24" name="Shape 22"/>
          <p:cNvSpPr/>
          <p:nvPr/>
        </p:nvSpPr>
        <p:spPr>
          <a:xfrm>
            <a:off x="7832141" y="4754880"/>
            <a:ext cx="384048" cy="384048"/>
          </a:xfrm>
          <a:prstGeom prst="ellipse">
            <a:avLst/>
          </a:prstGeom>
          <a:solidFill>
            <a:srgbClr val="F26A4B"/>
          </a:solidFill>
          <a:ln/>
          <a:effectLst>
            <a:outerShdw sx="100000" sy="100000" kx="0" ky="0" algn="bl" rotWithShape="0" blurRad="114300" dist="38100" dir="8100000">
              <a:srgbClr val="1E293B">
                <a:alpha val="12000"/>
              </a:srgbClr>
            </a:outerShdw>
          </a:effectLst>
        </p:spPr>
      </p:sp>
      <p:sp>
        <p:nvSpPr>
          <p:cNvPr id="25" name="Text 23"/>
          <p:cNvSpPr/>
          <p:nvPr/>
        </p:nvSpPr>
        <p:spPr>
          <a:xfrm>
            <a:off x="7832141" y="4754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p:nvPr/>
        </p:nvSpPr>
        <p:spPr>
          <a:xfrm>
            <a:off x="8362493" y="4736592"/>
            <a:ext cx="2832506" cy="548640"/>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0.5 FTE to operate &amp; extend</a:t>
            </a:r>
            <a:endParaRPr lang="en-US" sz="1350" dirty="0"/>
          </a:p>
        </p:txBody>
      </p:sp>
      <p:sp>
        <p:nvSpPr>
          <p:cNvPr id="27" name="Text 25"/>
          <p:cNvSpPr/>
          <p:nvPr/>
        </p:nvSpPr>
        <p:spPr>
          <a:xfrm>
            <a:off x="566928" y="5852160"/>
            <a:ext cx="11057839" cy="365760"/>
          </a:xfrm>
          <a:prstGeom prst="rect">
            <a:avLst/>
          </a:prstGeom>
          <a:noFill/>
          <a:ln/>
        </p:spPr>
        <p:txBody>
          <a:bodyPr wrap="square" lIns="0" tIns="0" rIns="0" bIns="0" rtlCol="0" anchor="ctr"/>
          <a:lstStyle/>
          <a:p>
            <a:pPr indent="0" marL="0">
              <a:buNone/>
            </a:pPr>
            <a:r>
              <a:rPr lang="en-US" sz="1400" i="1" dirty="0">
                <a:solidFill>
                  <a:srgbClr val="5EEAD4"/>
                </a:solidFill>
                <a:latin typeface="Calibri" pitchFamily="34" charset="0"/>
                <a:ea typeface="Calibri" pitchFamily="34" charset="-122"/>
                <a:cs typeface="Calibri" pitchFamily="34" charset="-120"/>
              </a:rPr>
              <a:t>The technology is proven. The economics are decisive. The next move is organizational.</a:t>
            </a:r>
            <a:endParaRPr lang="en-US" sz="1400" dirty="0"/>
          </a:p>
        </p:txBody>
      </p:sp>
      <p:sp>
        <p:nvSpPr>
          <p:cNvPr id="28" name="Text 26"/>
          <p:cNvSpPr/>
          <p:nvPr/>
        </p:nvSpPr>
        <p:spPr>
          <a:xfrm>
            <a:off x="566928" y="6473952"/>
            <a:ext cx="8229600" cy="274320"/>
          </a:xfrm>
          <a:prstGeom prst="rect">
            <a:avLst/>
          </a:prstGeom>
          <a:noFill/>
          <a:ln/>
        </p:spPr>
        <p:txBody>
          <a:bodyPr wrap="square" lIns="0" tIns="0" rIns="0" bIns="0" rtlCol="0" anchor="ctr"/>
          <a:lstStyle/>
          <a:p>
            <a:pPr algn="l" indent="0" marL="0">
              <a:buNone/>
            </a:pPr>
            <a:r>
              <a:rPr lang="en-US" sz="800" b="1" spc="100" kern="0" dirty="0">
                <a:solidFill>
                  <a:srgbClr val="93A4BD"/>
                </a:solidFill>
                <a:latin typeface="Calibri" pitchFamily="34" charset="0"/>
                <a:ea typeface="Calibri" pitchFamily="34" charset="-122"/>
                <a:cs typeface="Calibri" pitchFamily="34" charset="-120"/>
              </a:rPr>
              <a:t>PROVIDER CONTRACT INTELLIGENCE PLATFORM</a:t>
            </a:r>
            <a:pPr algn="l" indent="0" marL="0">
              <a:buNone/>
            </a:pPr>
            <a:r>
              <a:rPr lang="en-US" sz="800" spc="100" kern="0" dirty="0">
                <a:solidFill>
                  <a:srgbClr val="93A4BD"/>
                </a:solidFill>
                <a:latin typeface="Calibri" pitchFamily="34" charset="0"/>
                <a:ea typeface="Calibri" pitchFamily="34" charset="-122"/>
                <a:cs typeface="Calibri" pitchFamily="34" charset="-120"/>
              </a:rPr>
              <a:t>   ·   Confidential — Internal</a:t>
            </a:r>
            <a:endParaRPr lang="en-US" sz="800" dirty="0"/>
          </a:p>
        </p:txBody>
      </p:sp>
      <p:sp>
        <p:nvSpPr>
          <p:cNvPr id="29" name="Text 27"/>
          <p:cNvSpPr/>
          <p:nvPr/>
        </p:nvSpPr>
        <p:spPr>
          <a:xfrm>
            <a:off x="10710367" y="6473952"/>
            <a:ext cx="914400" cy="274320"/>
          </a:xfrm>
          <a:prstGeom prst="rect">
            <a:avLst/>
          </a:prstGeom>
          <a:noFill/>
          <a:ln/>
        </p:spPr>
        <p:txBody>
          <a:bodyPr wrap="square" lIns="0" tIns="0" rIns="0" bIns="0" rtlCol="0" anchor="ctr"/>
          <a:lstStyle/>
          <a:p>
            <a:pPr algn="r" indent="0" marL="0">
              <a:buNone/>
            </a:pPr>
            <a:r>
              <a:rPr lang="en-US" sz="900" dirty="0">
                <a:solidFill>
                  <a:srgbClr val="93A4BD"/>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Blue Shield of California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Provider Contract Intelligence Platform</dc:title>
  <dc:subject>PptxGenJS Presentation</dc:subject>
  <dc:creator>Provider Contracting Analytics</dc:creator>
  <cp:lastModifiedBy>Provider Contracting Analytics</cp:lastModifiedBy>
  <cp:revision>1</cp:revision>
  <dcterms:created xsi:type="dcterms:W3CDTF">2026-05-26T11:56:20Z</dcterms:created>
  <dcterms:modified xsi:type="dcterms:W3CDTF">2026-05-26T11:56:20Z</dcterms:modified>
</cp:coreProperties>
</file>